
<file path=[Content_Types].xml><?xml version="1.0" encoding="utf-8"?>
<Types xmlns="http://schemas.openxmlformats.org/package/2006/content-types">
  <Default Extension="png" ContentType="image/png"/>
  <Default Extension="bin" ContentType="application/vnd.openxmlformats-officedocument.oleObject"/>
  <Default Extension="tmp" ContentType="image/png"/>
  <Default Extension="jpeg" ContentType="image/jpeg"/>
  <Default Extension="wmf" ContentType="image/x-wmf"/>
  <Default Extension="xls" ContentType="application/vnd.ms-excel"/>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6" r:id="rId1"/>
  </p:sldMasterIdLst>
  <p:notesMasterIdLst>
    <p:notesMasterId r:id="rId25"/>
  </p:notesMasterIdLst>
  <p:handoutMasterIdLst>
    <p:handoutMasterId r:id="rId26"/>
  </p:handoutMasterIdLst>
  <p:sldIdLst>
    <p:sldId id="371" r:id="rId2"/>
    <p:sldId id="398" r:id="rId3"/>
    <p:sldId id="374" r:id="rId4"/>
    <p:sldId id="381" r:id="rId5"/>
    <p:sldId id="382" r:id="rId6"/>
    <p:sldId id="383" r:id="rId7"/>
    <p:sldId id="384" r:id="rId8"/>
    <p:sldId id="385" r:id="rId9"/>
    <p:sldId id="389" r:id="rId10"/>
    <p:sldId id="375" r:id="rId11"/>
    <p:sldId id="392" r:id="rId12"/>
    <p:sldId id="394" r:id="rId13"/>
    <p:sldId id="376" r:id="rId14"/>
    <p:sldId id="377" r:id="rId15"/>
    <p:sldId id="379" r:id="rId16"/>
    <p:sldId id="380" r:id="rId17"/>
    <p:sldId id="395" r:id="rId18"/>
    <p:sldId id="396" r:id="rId19"/>
    <p:sldId id="397" r:id="rId20"/>
    <p:sldId id="391" r:id="rId21"/>
    <p:sldId id="378" r:id="rId22"/>
    <p:sldId id="387" r:id="rId23"/>
    <p:sldId id="388" r:id="rId24"/>
  </p:sldIdLst>
  <p:sldSz cx="9144000" cy="6858000" type="screen4x3"/>
  <p:notesSz cx="6797675" cy="9926638"/>
  <p:defaultTextStyle>
    <a:defPPr>
      <a:defRPr lang="zh-TW"/>
    </a:defPPr>
    <a:lvl1pPr algn="l" rtl="0" fontAlgn="base">
      <a:spcBef>
        <a:spcPct val="0"/>
      </a:spcBef>
      <a:spcAft>
        <a:spcPct val="0"/>
      </a:spcAft>
      <a:defRPr kumimoji="1" kern="1200">
        <a:solidFill>
          <a:schemeClr val="tx1"/>
        </a:solidFill>
        <a:latin typeface="Times New Roman" pitchFamily="18" charset="0"/>
        <a:ea typeface="新細明體" pitchFamily="18" charset="-120"/>
        <a:cs typeface="+mn-cs"/>
      </a:defRPr>
    </a:lvl1pPr>
    <a:lvl2pPr marL="457200" algn="l" rtl="0" fontAlgn="base">
      <a:spcBef>
        <a:spcPct val="0"/>
      </a:spcBef>
      <a:spcAft>
        <a:spcPct val="0"/>
      </a:spcAft>
      <a:defRPr kumimoji="1" kern="1200">
        <a:solidFill>
          <a:schemeClr val="tx1"/>
        </a:solidFill>
        <a:latin typeface="Times New Roman" pitchFamily="18" charset="0"/>
        <a:ea typeface="新細明體" pitchFamily="18" charset="-120"/>
        <a:cs typeface="+mn-cs"/>
      </a:defRPr>
    </a:lvl2pPr>
    <a:lvl3pPr marL="914400" algn="l" rtl="0" fontAlgn="base">
      <a:spcBef>
        <a:spcPct val="0"/>
      </a:spcBef>
      <a:spcAft>
        <a:spcPct val="0"/>
      </a:spcAft>
      <a:defRPr kumimoji="1" kern="1200">
        <a:solidFill>
          <a:schemeClr val="tx1"/>
        </a:solidFill>
        <a:latin typeface="Times New Roman" pitchFamily="18" charset="0"/>
        <a:ea typeface="新細明體" pitchFamily="18" charset="-120"/>
        <a:cs typeface="+mn-cs"/>
      </a:defRPr>
    </a:lvl3pPr>
    <a:lvl4pPr marL="1371600" algn="l" rtl="0" fontAlgn="base">
      <a:spcBef>
        <a:spcPct val="0"/>
      </a:spcBef>
      <a:spcAft>
        <a:spcPct val="0"/>
      </a:spcAft>
      <a:defRPr kumimoji="1" kern="1200">
        <a:solidFill>
          <a:schemeClr val="tx1"/>
        </a:solidFill>
        <a:latin typeface="Times New Roman" pitchFamily="18" charset="0"/>
        <a:ea typeface="新細明體" pitchFamily="18" charset="-120"/>
        <a:cs typeface="+mn-cs"/>
      </a:defRPr>
    </a:lvl4pPr>
    <a:lvl5pPr marL="1828800" algn="l" rtl="0" fontAlgn="base">
      <a:spcBef>
        <a:spcPct val="0"/>
      </a:spcBef>
      <a:spcAft>
        <a:spcPct val="0"/>
      </a:spcAft>
      <a:defRPr kumimoji="1" kern="1200">
        <a:solidFill>
          <a:schemeClr val="tx1"/>
        </a:solidFill>
        <a:latin typeface="Times New Roman" pitchFamily="18" charset="0"/>
        <a:ea typeface="新細明體" pitchFamily="18" charset="-120"/>
        <a:cs typeface="+mn-cs"/>
      </a:defRPr>
    </a:lvl5pPr>
    <a:lvl6pPr marL="2286000" algn="l" defTabSz="914400" rtl="0" eaLnBrk="1" latinLnBrk="0" hangingPunct="1">
      <a:defRPr kumimoji="1" kern="1200">
        <a:solidFill>
          <a:schemeClr val="tx1"/>
        </a:solidFill>
        <a:latin typeface="Times New Roman" pitchFamily="18" charset="0"/>
        <a:ea typeface="新細明體" pitchFamily="18" charset="-120"/>
        <a:cs typeface="+mn-cs"/>
      </a:defRPr>
    </a:lvl6pPr>
    <a:lvl7pPr marL="2743200" algn="l" defTabSz="914400" rtl="0" eaLnBrk="1" latinLnBrk="0" hangingPunct="1">
      <a:defRPr kumimoji="1" kern="1200">
        <a:solidFill>
          <a:schemeClr val="tx1"/>
        </a:solidFill>
        <a:latin typeface="Times New Roman" pitchFamily="18" charset="0"/>
        <a:ea typeface="新細明體" pitchFamily="18" charset="-120"/>
        <a:cs typeface="+mn-cs"/>
      </a:defRPr>
    </a:lvl7pPr>
    <a:lvl8pPr marL="3200400" algn="l" defTabSz="914400" rtl="0" eaLnBrk="1" latinLnBrk="0" hangingPunct="1">
      <a:defRPr kumimoji="1" kern="1200">
        <a:solidFill>
          <a:schemeClr val="tx1"/>
        </a:solidFill>
        <a:latin typeface="Times New Roman" pitchFamily="18" charset="0"/>
        <a:ea typeface="新細明體" pitchFamily="18" charset="-120"/>
        <a:cs typeface="+mn-cs"/>
      </a:defRPr>
    </a:lvl8pPr>
    <a:lvl9pPr marL="3657600" algn="l" defTabSz="914400" rtl="0" eaLnBrk="1" latinLnBrk="0" hangingPunct="1">
      <a:defRPr kumimoji="1" kern="1200">
        <a:solidFill>
          <a:schemeClr val="tx1"/>
        </a:solidFill>
        <a:latin typeface="Times New Roman" pitchFamily="18" charset="0"/>
        <a:ea typeface="新細明體" pitchFamily="18" charset="-12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88">
          <p15:clr>
            <a:srgbClr val="A4A3A4"/>
          </p15:clr>
        </p15:guide>
        <p15:guide id="2" pos="292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FFCC99"/>
    <a:srgbClr val="99FF99"/>
    <a:srgbClr val="A6A6A6"/>
    <a:srgbClr val="FFFF00"/>
    <a:srgbClr val="9933FF"/>
    <a:srgbClr val="162B52"/>
    <a:srgbClr val="FF9999"/>
    <a:srgbClr val="0000CC"/>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佈景主題樣式 1 - 輔色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佈景主題樣式 1 - 輔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245" autoAdjust="0"/>
    <p:restoredTop sz="58528" autoAdjust="0"/>
  </p:normalViewPr>
  <p:slideViewPr>
    <p:cSldViewPr>
      <p:cViewPr varScale="1">
        <p:scale>
          <a:sx n="74" d="100"/>
          <a:sy n="74" d="100"/>
        </p:scale>
        <p:origin x="1398"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7699"/>
    </p:cViewPr>
  </p:sorterViewPr>
  <p:notesViewPr>
    <p:cSldViewPr>
      <p:cViewPr>
        <p:scale>
          <a:sx n="89" d="100"/>
          <a:sy n="89" d="100"/>
        </p:scale>
        <p:origin x="-1133" y="-62"/>
      </p:cViewPr>
      <p:guideLst>
        <p:guide orient="horz" pos="2188"/>
        <p:guide pos="292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2342258" y="164460"/>
            <a:ext cx="2111557" cy="662627"/>
          </a:xfrm>
          <a:prstGeom prst="rect">
            <a:avLst/>
          </a:prstGeom>
          <a:noFill/>
          <a:ln w="9525">
            <a:noFill/>
            <a:miter lim="800000"/>
            <a:headEnd/>
            <a:tailEnd/>
          </a:ln>
          <a:effectLst/>
        </p:spPr>
        <p:txBody>
          <a:bodyPr vert="horz" wrap="none" lIns="92416" tIns="46207" rIns="92416" bIns="46207" numCol="1" anchor="ctr" anchorCtr="0" compatLnSpc="1">
            <a:prstTxWarp prst="textNoShape">
              <a:avLst/>
            </a:prstTxWarp>
          </a:bodyPr>
          <a:lstStyle>
            <a:lvl1pPr algn="ctr" defTabSz="917695" eaLnBrk="0" hangingPunct="0">
              <a:defRPr sz="1400">
                <a:ea typeface="標楷體" pitchFamily="65" charset="-120"/>
              </a:defRPr>
            </a:lvl1pPr>
          </a:lstStyle>
          <a:p>
            <a:pPr>
              <a:defRPr/>
            </a:pPr>
            <a:endParaRPr lang="en-US" altLang="zh-TW"/>
          </a:p>
        </p:txBody>
      </p:sp>
      <p:sp>
        <p:nvSpPr>
          <p:cNvPr id="4099" name="Rectangle 3"/>
          <p:cNvSpPr>
            <a:spLocks noGrp="1" noChangeArrowheads="1"/>
          </p:cNvSpPr>
          <p:nvPr>
            <p:ph type="dt" sz="quarter" idx="1"/>
          </p:nvPr>
        </p:nvSpPr>
        <p:spPr bwMode="auto">
          <a:xfrm>
            <a:off x="528690" y="9016523"/>
            <a:ext cx="1661369" cy="745655"/>
          </a:xfrm>
          <a:prstGeom prst="rect">
            <a:avLst/>
          </a:prstGeom>
          <a:noFill/>
          <a:ln w="9525">
            <a:noFill/>
            <a:miter lim="800000"/>
            <a:headEnd/>
            <a:tailEnd/>
          </a:ln>
          <a:effectLst/>
        </p:spPr>
        <p:txBody>
          <a:bodyPr vert="horz" wrap="none" lIns="92416" tIns="46207" rIns="92416" bIns="46207" numCol="1" anchor="ctr" anchorCtr="0" compatLnSpc="1">
            <a:prstTxWarp prst="textNoShape">
              <a:avLst/>
            </a:prstTxWarp>
          </a:bodyPr>
          <a:lstStyle>
            <a:lvl1pPr defTabSz="917695" eaLnBrk="0" hangingPunct="0">
              <a:defRPr sz="1400">
                <a:ea typeface="標楷體" pitchFamily="65" charset="-120"/>
              </a:defRPr>
            </a:lvl1pPr>
          </a:lstStyle>
          <a:p>
            <a:pPr>
              <a:defRPr/>
            </a:pPr>
            <a:endParaRPr lang="en-US" altLang="zh-TW"/>
          </a:p>
        </p:txBody>
      </p:sp>
      <p:sp>
        <p:nvSpPr>
          <p:cNvPr id="4100" name="Rectangle 4"/>
          <p:cNvSpPr>
            <a:spLocks noGrp="1" noChangeArrowheads="1"/>
          </p:cNvSpPr>
          <p:nvPr>
            <p:ph type="ftr" sz="quarter" idx="2"/>
          </p:nvPr>
        </p:nvSpPr>
        <p:spPr bwMode="auto">
          <a:xfrm>
            <a:off x="2342258" y="9016523"/>
            <a:ext cx="2111557" cy="745655"/>
          </a:xfrm>
          <a:prstGeom prst="rect">
            <a:avLst/>
          </a:prstGeom>
          <a:noFill/>
          <a:ln w="9525">
            <a:noFill/>
            <a:miter lim="800000"/>
            <a:headEnd/>
            <a:tailEnd/>
          </a:ln>
          <a:effectLst/>
        </p:spPr>
        <p:txBody>
          <a:bodyPr vert="horz" wrap="none" lIns="92416" tIns="46207" rIns="92416" bIns="46207" numCol="1" anchor="ctr" anchorCtr="0" compatLnSpc="1">
            <a:prstTxWarp prst="textNoShape">
              <a:avLst/>
            </a:prstTxWarp>
          </a:bodyPr>
          <a:lstStyle>
            <a:lvl1pPr algn="ctr" defTabSz="917695" eaLnBrk="0" hangingPunct="0">
              <a:defRPr sz="1400">
                <a:ea typeface="標楷體" pitchFamily="65" charset="-120"/>
              </a:defRPr>
            </a:lvl1pPr>
          </a:lstStyle>
          <a:p>
            <a:pPr>
              <a:defRPr/>
            </a:pPr>
            <a:endParaRPr lang="en-US" altLang="zh-TW"/>
          </a:p>
        </p:txBody>
      </p:sp>
      <p:sp>
        <p:nvSpPr>
          <p:cNvPr id="4101" name="Rectangle 5"/>
          <p:cNvSpPr>
            <a:spLocks noGrp="1" noChangeArrowheads="1"/>
          </p:cNvSpPr>
          <p:nvPr>
            <p:ph type="sldNum" sz="quarter" idx="3"/>
          </p:nvPr>
        </p:nvSpPr>
        <p:spPr bwMode="auto">
          <a:xfrm>
            <a:off x="4606014" y="9016523"/>
            <a:ext cx="1661368" cy="745655"/>
          </a:xfrm>
          <a:prstGeom prst="rect">
            <a:avLst/>
          </a:prstGeom>
          <a:noFill/>
          <a:ln w="9525">
            <a:noFill/>
            <a:miter lim="800000"/>
            <a:headEnd/>
            <a:tailEnd/>
          </a:ln>
          <a:effectLst/>
        </p:spPr>
        <p:txBody>
          <a:bodyPr vert="horz" wrap="none" lIns="92416" tIns="46207" rIns="92416" bIns="46207" numCol="1" anchor="ctr" anchorCtr="0" compatLnSpc="1">
            <a:prstTxWarp prst="textNoShape">
              <a:avLst/>
            </a:prstTxWarp>
          </a:bodyPr>
          <a:lstStyle>
            <a:lvl1pPr algn="r" defTabSz="917695" eaLnBrk="0" hangingPunct="0">
              <a:defRPr sz="1400">
                <a:ea typeface="標楷體" pitchFamily="65" charset="-120"/>
              </a:defRPr>
            </a:lvl1pPr>
          </a:lstStyle>
          <a:p>
            <a:pPr>
              <a:defRPr/>
            </a:pPr>
            <a:fld id="{FF21356B-62FB-479B-9A47-4CF826F4E954}" type="slidenum">
              <a:rPr lang="en-US" altLang="zh-TW"/>
              <a:pPr>
                <a:defRPr/>
              </a:pPr>
              <a:t>‹#›</a:t>
            </a:fld>
            <a:endParaRPr lang="en-US" altLang="zh-TW"/>
          </a:p>
        </p:txBody>
      </p:sp>
    </p:spTree>
    <p:extLst>
      <p:ext uri="{BB962C8B-B14F-4D97-AF65-F5344CB8AC3E}">
        <p14:creationId xmlns:p14="http://schemas.microsoft.com/office/powerpoint/2010/main" val="37667619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2342258" y="164460"/>
            <a:ext cx="2111557" cy="415140"/>
          </a:xfrm>
          <a:prstGeom prst="rect">
            <a:avLst/>
          </a:prstGeom>
          <a:noFill/>
          <a:ln w="9525">
            <a:noFill/>
            <a:miter lim="800000"/>
            <a:headEnd/>
            <a:tailEnd/>
          </a:ln>
          <a:effectLst/>
        </p:spPr>
        <p:txBody>
          <a:bodyPr vert="horz" wrap="none" lIns="92416" tIns="46207" rIns="92416" bIns="46207" numCol="1" anchor="ctr" anchorCtr="0" compatLnSpc="1">
            <a:prstTxWarp prst="textNoShape">
              <a:avLst/>
            </a:prstTxWarp>
          </a:bodyPr>
          <a:lstStyle>
            <a:lvl1pPr algn="ctr" defTabSz="917695" eaLnBrk="0" hangingPunct="0">
              <a:defRPr sz="1400">
                <a:ea typeface="標楷體" pitchFamily="65" charset="-120"/>
              </a:defRPr>
            </a:lvl1pPr>
          </a:lstStyle>
          <a:p>
            <a:pPr>
              <a:defRPr/>
            </a:pPr>
            <a:endParaRPr lang="en-US" altLang="zh-TW" dirty="0"/>
          </a:p>
        </p:txBody>
      </p:sp>
      <p:sp>
        <p:nvSpPr>
          <p:cNvPr id="2051" name="Rectangle 3"/>
          <p:cNvSpPr>
            <a:spLocks noGrp="1" noChangeArrowheads="1"/>
          </p:cNvSpPr>
          <p:nvPr>
            <p:ph type="dt" idx="1"/>
          </p:nvPr>
        </p:nvSpPr>
        <p:spPr bwMode="auto">
          <a:xfrm>
            <a:off x="528690" y="9262415"/>
            <a:ext cx="1661369" cy="499764"/>
          </a:xfrm>
          <a:prstGeom prst="rect">
            <a:avLst/>
          </a:prstGeom>
          <a:noFill/>
          <a:ln w="9525">
            <a:noFill/>
            <a:miter lim="800000"/>
            <a:headEnd/>
            <a:tailEnd/>
          </a:ln>
          <a:effectLst/>
        </p:spPr>
        <p:txBody>
          <a:bodyPr vert="horz" wrap="none" lIns="92416" tIns="46207" rIns="92416" bIns="46207" numCol="1" anchor="ctr" anchorCtr="0" compatLnSpc="1">
            <a:prstTxWarp prst="textNoShape">
              <a:avLst/>
            </a:prstTxWarp>
          </a:bodyPr>
          <a:lstStyle>
            <a:lvl1pPr defTabSz="917695" eaLnBrk="0" hangingPunct="0">
              <a:defRPr sz="1400">
                <a:ea typeface="標楷體" pitchFamily="65" charset="-120"/>
              </a:defRPr>
            </a:lvl1pPr>
          </a:lstStyle>
          <a:p>
            <a:pPr>
              <a:defRPr/>
            </a:pPr>
            <a:endParaRPr lang="en-US" altLang="zh-TW"/>
          </a:p>
        </p:txBody>
      </p:sp>
      <p:sp>
        <p:nvSpPr>
          <p:cNvPr id="2052" name="Rectangle 4"/>
          <p:cNvSpPr>
            <a:spLocks noGrp="1" noChangeArrowheads="1"/>
          </p:cNvSpPr>
          <p:nvPr>
            <p:ph type="ftr" sz="quarter" idx="4"/>
          </p:nvPr>
        </p:nvSpPr>
        <p:spPr bwMode="auto">
          <a:xfrm>
            <a:off x="2342258" y="9262415"/>
            <a:ext cx="2111557" cy="499764"/>
          </a:xfrm>
          <a:prstGeom prst="rect">
            <a:avLst/>
          </a:prstGeom>
          <a:noFill/>
          <a:ln w="9525">
            <a:noFill/>
            <a:miter lim="800000"/>
            <a:headEnd/>
            <a:tailEnd/>
          </a:ln>
          <a:effectLst/>
        </p:spPr>
        <p:txBody>
          <a:bodyPr vert="horz" wrap="none" lIns="92416" tIns="46207" rIns="92416" bIns="46207" numCol="1" anchor="ctr" anchorCtr="0" compatLnSpc="1">
            <a:prstTxWarp prst="textNoShape">
              <a:avLst/>
            </a:prstTxWarp>
          </a:bodyPr>
          <a:lstStyle>
            <a:lvl1pPr algn="ctr" defTabSz="917695" eaLnBrk="0" hangingPunct="0">
              <a:defRPr sz="1400">
                <a:ea typeface="標楷體" pitchFamily="65" charset="-120"/>
              </a:defRPr>
            </a:lvl1pPr>
          </a:lstStyle>
          <a:p>
            <a:pPr>
              <a:defRPr/>
            </a:pPr>
            <a:endParaRPr lang="en-US" altLang="zh-TW"/>
          </a:p>
        </p:txBody>
      </p:sp>
      <p:sp>
        <p:nvSpPr>
          <p:cNvPr id="2053" name="Rectangle 5"/>
          <p:cNvSpPr>
            <a:spLocks noGrp="1" noChangeArrowheads="1"/>
          </p:cNvSpPr>
          <p:nvPr>
            <p:ph type="sldNum" sz="quarter" idx="5"/>
          </p:nvPr>
        </p:nvSpPr>
        <p:spPr bwMode="auto">
          <a:xfrm>
            <a:off x="4606014" y="9262415"/>
            <a:ext cx="1661368" cy="499764"/>
          </a:xfrm>
          <a:prstGeom prst="rect">
            <a:avLst/>
          </a:prstGeom>
          <a:noFill/>
          <a:ln w="9525">
            <a:noFill/>
            <a:miter lim="800000"/>
            <a:headEnd/>
            <a:tailEnd/>
          </a:ln>
          <a:effectLst/>
        </p:spPr>
        <p:txBody>
          <a:bodyPr vert="horz" wrap="none" lIns="92416" tIns="46207" rIns="92416" bIns="46207" numCol="1" anchor="ctr" anchorCtr="0" compatLnSpc="1">
            <a:prstTxWarp prst="textNoShape">
              <a:avLst/>
            </a:prstTxWarp>
          </a:bodyPr>
          <a:lstStyle>
            <a:lvl1pPr algn="r" defTabSz="917695" eaLnBrk="0" hangingPunct="0">
              <a:defRPr sz="1400">
                <a:ea typeface="標楷體" pitchFamily="65" charset="-120"/>
              </a:defRPr>
            </a:lvl1pPr>
          </a:lstStyle>
          <a:p>
            <a:pPr>
              <a:defRPr/>
            </a:pPr>
            <a:fld id="{F0BF87E3-74A3-4034-994F-83655DC1415A}" type="slidenum">
              <a:rPr lang="en-US" altLang="zh-TW"/>
              <a:pPr>
                <a:defRPr/>
              </a:pPr>
              <a:t>‹#›</a:t>
            </a:fld>
            <a:endParaRPr lang="en-US" altLang="zh-TW"/>
          </a:p>
        </p:txBody>
      </p:sp>
      <p:sp>
        <p:nvSpPr>
          <p:cNvPr id="2054" name="Rectangle 6"/>
          <p:cNvSpPr>
            <a:spLocks noGrp="1" noChangeArrowheads="1"/>
          </p:cNvSpPr>
          <p:nvPr>
            <p:ph type="body" sz="quarter" idx="3"/>
          </p:nvPr>
        </p:nvSpPr>
        <p:spPr bwMode="auto">
          <a:xfrm>
            <a:off x="906784" y="4715034"/>
            <a:ext cx="4982505" cy="4467546"/>
          </a:xfrm>
          <a:prstGeom prst="rect">
            <a:avLst/>
          </a:prstGeom>
          <a:noFill/>
          <a:ln w="9525">
            <a:noFill/>
            <a:miter lim="800000"/>
            <a:headEnd/>
            <a:tailEnd/>
          </a:ln>
          <a:effectLst/>
        </p:spPr>
        <p:txBody>
          <a:bodyPr vert="horz" wrap="square" lIns="92416" tIns="46207" rIns="92416" bIns="46207" numCol="1" anchor="t" anchorCtr="0" compatLnSpc="1">
            <a:prstTxWarp prst="textNoShape">
              <a:avLst/>
            </a:prstTxWarp>
          </a:bodyPr>
          <a:lstStyle/>
          <a:p>
            <a:pPr lvl="0"/>
            <a:r>
              <a:rPr lang="zh-TW" altLang="en-US" noProof="0" smtClean="0"/>
              <a:t>按一下以編輯母片備忘稿樣式</a:t>
            </a:r>
          </a:p>
          <a:p>
            <a:pPr lvl="1"/>
            <a:r>
              <a:rPr lang="zh-TW" altLang="en-US" noProof="0" smtClean="0"/>
              <a:t>第二層</a:t>
            </a:r>
          </a:p>
          <a:p>
            <a:pPr lvl="2"/>
            <a:r>
              <a:rPr lang="zh-TW" altLang="en-US" noProof="0" smtClean="0"/>
              <a:t>第三層</a:t>
            </a:r>
          </a:p>
          <a:p>
            <a:pPr lvl="3"/>
            <a:r>
              <a:rPr lang="zh-TW" altLang="en-US" noProof="0" smtClean="0"/>
              <a:t>第四層</a:t>
            </a:r>
          </a:p>
          <a:p>
            <a:pPr lvl="4"/>
            <a:r>
              <a:rPr lang="zh-TW" altLang="en-US" noProof="0" smtClean="0"/>
              <a:t>第五層</a:t>
            </a:r>
          </a:p>
        </p:txBody>
      </p:sp>
      <p:sp>
        <p:nvSpPr>
          <p:cNvPr id="8199" name="Rectangle 7"/>
          <p:cNvSpPr>
            <a:spLocks noGrp="1" noRot="1" noChangeAspect="1" noChangeArrowheads="1" noTextEdit="1"/>
          </p:cNvSpPr>
          <p:nvPr>
            <p:ph type="sldImg" idx="2"/>
          </p:nvPr>
        </p:nvSpPr>
        <p:spPr bwMode="auto">
          <a:xfrm>
            <a:off x="925513" y="752475"/>
            <a:ext cx="4945062" cy="3708400"/>
          </a:xfrm>
          <a:prstGeom prst="rect">
            <a:avLst/>
          </a:prstGeom>
          <a:noFill/>
          <a:ln w="12700">
            <a:solidFill>
              <a:schemeClr val="tx1"/>
            </a:solidFill>
            <a:miter lim="800000"/>
            <a:headEnd/>
            <a:tailEnd/>
          </a:ln>
        </p:spPr>
      </p:sp>
    </p:spTree>
    <p:extLst>
      <p:ext uri="{BB962C8B-B14F-4D97-AF65-F5344CB8AC3E}">
        <p14:creationId xmlns:p14="http://schemas.microsoft.com/office/powerpoint/2010/main" val="135679852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標楷體" pitchFamily="65" charset="-120"/>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標楷體" pitchFamily="65" charset="-120"/>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標楷體" pitchFamily="65" charset="-120"/>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標楷體" pitchFamily="65" charset="-120"/>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標楷體" pitchFamily="65"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smtClean="0"/>
              <a:t>實際上</a:t>
            </a:r>
            <a:r>
              <a:rPr lang="en-US" altLang="zh-TW" dirty="0" smtClean="0"/>
              <a:t>IOPS</a:t>
            </a:r>
            <a:endParaRPr lang="zh-TW" altLang="en-US" dirty="0" smtClean="0"/>
          </a:p>
          <a:p>
            <a:r>
              <a:rPr lang="zh-TW" altLang="en-US" dirty="0" smtClean="0"/>
              <a:t>我們先假設每個</a:t>
            </a:r>
            <a:r>
              <a:rPr lang="en-US" altLang="zh-TW" dirty="0" smtClean="0"/>
              <a:t>I/O</a:t>
            </a:r>
            <a:r>
              <a:rPr lang="zh-TW" altLang="en-US" dirty="0" smtClean="0"/>
              <a:t>讀寫</a:t>
            </a:r>
            <a:r>
              <a:rPr lang="en-US" altLang="zh-TW" dirty="0" smtClean="0"/>
              <a:t>64KBps</a:t>
            </a:r>
          </a:p>
          <a:p>
            <a:r>
              <a:rPr lang="en-US" altLang="zh-TW" b="1" dirty="0" smtClean="0"/>
              <a:t>IOPS</a:t>
            </a:r>
            <a:r>
              <a:rPr lang="en-US" altLang="zh-TW" dirty="0" smtClean="0"/>
              <a:t> = (</a:t>
            </a:r>
            <a:r>
              <a:rPr lang="en-US" altLang="zh-TW" dirty="0" err="1" smtClean="0"/>
              <a:t>MBps</a:t>
            </a:r>
            <a:r>
              <a:rPr lang="en-US" altLang="zh-TW" dirty="0" smtClean="0"/>
              <a:t> Throughput / KB per IO) * 1024</a:t>
            </a:r>
          </a:p>
          <a:p>
            <a:r>
              <a:rPr lang="en-US" altLang="zh-TW" b="1" dirty="0" smtClean="0"/>
              <a:t>IOPS</a:t>
            </a:r>
            <a:r>
              <a:rPr lang="en-US" altLang="zh-TW" dirty="0" smtClean="0"/>
              <a:t> = (</a:t>
            </a:r>
            <a:r>
              <a:rPr lang="en-US" altLang="zh-TW" dirty="0" err="1" smtClean="0"/>
              <a:t>MBps</a:t>
            </a:r>
            <a:r>
              <a:rPr lang="en-US" altLang="zh-TW" dirty="0" smtClean="0"/>
              <a:t> Throughput /64) * 1024</a:t>
            </a:r>
          </a:p>
          <a:p>
            <a:r>
              <a:rPr lang="en-US" altLang="zh-TW" dirty="0" smtClean="0"/>
              <a:t/>
            </a:r>
            <a:br>
              <a:rPr lang="en-US" altLang="zh-TW" dirty="0" smtClean="0"/>
            </a:br>
            <a:endParaRPr lang="en-US" altLang="zh-TW" dirty="0" smtClean="0"/>
          </a:p>
          <a:p>
            <a:r>
              <a:rPr lang="zh-TW" altLang="en-US" dirty="0" smtClean="0"/>
              <a:t>故</a:t>
            </a:r>
            <a:r>
              <a:rPr lang="en-US" altLang="zh-TW" dirty="0" smtClean="0"/>
              <a:t>175000 </a:t>
            </a:r>
            <a:r>
              <a:rPr lang="en-US" altLang="zh-TW" dirty="0" err="1" smtClean="0"/>
              <a:t>KBps</a:t>
            </a:r>
            <a:r>
              <a:rPr lang="zh-TW" altLang="en-US" dirty="0" smtClean="0"/>
              <a:t>等於每秒多少個</a:t>
            </a:r>
            <a:r>
              <a:rPr lang="en-US" altLang="zh-TW" dirty="0" smtClean="0"/>
              <a:t>IOPS= </a:t>
            </a:r>
          </a:p>
          <a:p>
            <a:r>
              <a:rPr lang="en-US" altLang="zh-TW" dirty="0" smtClean="0"/>
              <a:t>175000KBps =(175000/1024/64)*1024=175000KBps</a:t>
            </a:r>
          </a:p>
          <a:p>
            <a:r>
              <a:rPr lang="en-US" altLang="zh-TW" dirty="0" smtClean="0"/>
              <a:t/>
            </a:r>
            <a:br>
              <a:rPr lang="en-US" altLang="zh-TW" dirty="0" smtClean="0"/>
            </a:br>
            <a:endParaRPr lang="zh-TW" altLang="en-US" dirty="0"/>
          </a:p>
        </p:txBody>
      </p:sp>
      <p:sp>
        <p:nvSpPr>
          <p:cNvPr id="4" name="投影片編號版面配置區 3"/>
          <p:cNvSpPr>
            <a:spLocks noGrp="1"/>
          </p:cNvSpPr>
          <p:nvPr>
            <p:ph type="sldNum" sz="quarter" idx="10"/>
          </p:nvPr>
        </p:nvSpPr>
        <p:spPr/>
        <p:txBody>
          <a:bodyPr/>
          <a:lstStyle/>
          <a:p>
            <a:pPr>
              <a:defRPr/>
            </a:pPr>
            <a:fld id="{F0BF87E3-74A3-4034-994F-83655DC1415A}" type="slidenum">
              <a:rPr lang="en-US" altLang="zh-TW" smtClean="0"/>
              <a:pPr>
                <a:defRPr/>
              </a:pPr>
              <a:t>2</a:t>
            </a:fld>
            <a:endParaRPr lang="en-US" altLang="zh-TW"/>
          </a:p>
        </p:txBody>
      </p:sp>
    </p:spTree>
    <p:extLst>
      <p:ext uri="{BB962C8B-B14F-4D97-AF65-F5344CB8AC3E}">
        <p14:creationId xmlns:p14="http://schemas.microsoft.com/office/powerpoint/2010/main" val="2542282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baseline="0" dirty="0" smtClean="0"/>
              <a:t>8 x 8 =64</a:t>
            </a:r>
          </a:p>
          <a:p>
            <a:r>
              <a:rPr lang="en-US" altLang="zh-TW" baseline="0" dirty="0" smtClean="0"/>
              <a:t>P4530 =4</a:t>
            </a:r>
          </a:p>
          <a:p>
            <a:r>
              <a:rPr lang="en-US" altLang="zh-TW" baseline="0" dirty="0" smtClean="0"/>
              <a:t>FW 8 x 2=16</a:t>
            </a:r>
          </a:p>
          <a:p>
            <a:r>
              <a:rPr lang="en-US" altLang="zh-TW" baseline="0" dirty="0" smtClean="0"/>
              <a:t>BI2000s  8 x 2=16</a:t>
            </a:r>
          </a:p>
          <a:p>
            <a:endParaRPr lang="zh-TW" altLang="en-US" dirty="0"/>
          </a:p>
        </p:txBody>
      </p:sp>
      <p:sp>
        <p:nvSpPr>
          <p:cNvPr id="4" name="投影片編號版面配置區 3"/>
          <p:cNvSpPr>
            <a:spLocks noGrp="1"/>
          </p:cNvSpPr>
          <p:nvPr>
            <p:ph type="sldNum" sz="quarter" idx="10"/>
          </p:nvPr>
        </p:nvSpPr>
        <p:spPr/>
        <p:txBody>
          <a:bodyPr/>
          <a:lstStyle/>
          <a:p>
            <a:pPr>
              <a:defRPr/>
            </a:pPr>
            <a:fld id="{F0BF87E3-74A3-4034-994F-83655DC1415A}" type="slidenum">
              <a:rPr lang="en-US" altLang="zh-TW" smtClean="0"/>
              <a:pPr>
                <a:defRPr/>
              </a:pPr>
              <a:t>5</a:t>
            </a:fld>
            <a:endParaRPr lang="en-US" altLang="zh-TW"/>
          </a:p>
        </p:txBody>
      </p:sp>
    </p:spTree>
    <p:extLst>
      <p:ext uri="{BB962C8B-B14F-4D97-AF65-F5344CB8AC3E}">
        <p14:creationId xmlns:p14="http://schemas.microsoft.com/office/powerpoint/2010/main" val="15485997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baseline="0" dirty="0" smtClean="0"/>
              <a:t>8 x 8 =64</a:t>
            </a:r>
          </a:p>
          <a:p>
            <a:r>
              <a:rPr lang="en-US" altLang="zh-TW" baseline="0" dirty="0" smtClean="0"/>
              <a:t>P4530 =4</a:t>
            </a:r>
          </a:p>
          <a:p>
            <a:r>
              <a:rPr lang="en-US" altLang="zh-TW" baseline="0" dirty="0" smtClean="0"/>
              <a:t>FW 8 x 2=16</a:t>
            </a:r>
          </a:p>
          <a:p>
            <a:r>
              <a:rPr lang="en-US" altLang="zh-TW" baseline="0" dirty="0" smtClean="0"/>
              <a:t>BI2000s  8 x 2=16</a:t>
            </a:r>
          </a:p>
          <a:p>
            <a:endParaRPr lang="zh-TW" altLang="en-US" dirty="0"/>
          </a:p>
        </p:txBody>
      </p:sp>
      <p:sp>
        <p:nvSpPr>
          <p:cNvPr id="4" name="投影片編號版面配置區 3"/>
          <p:cNvSpPr>
            <a:spLocks noGrp="1"/>
          </p:cNvSpPr>
          <p:nvPr>
            <p:ph type="sldNum" sz="quarter" idx="10"/>
          </p:nvPr>
        </p:nvSpPr>
        <p:spPr/>
        <p:txBody>
          <a:bodyPr/>
          <a:lstStyle/>
          <a:p>
            <a:pPr>
              <a:defRPr/>
            </a:pPr>
            <a:fld id="{F0BF87E3-74A3-4034-994F-83655DC1415A}" type="slidenum">
              <a:rPr lang="en-US" altLang="zh-TW" smtClean="0"/>
              <a:pPr>
                <a:defRPr/>
              </a:pPr>
              <a:t>6</a:t>
            </a:fld>
            <a:endParaRPr lang="en-US" altLang="zh-TW"/>
          </a:p>
        </p:txBody>
      </p:sp>
    </p:spTree>
    <p:extLst>
      <p:ext uri="{BB962C8B-B14F-4D97-AF65-F5344CB8AC3E}">
        <p14:creationId xmlns:p14="http://schemas.microsoft.com/office/powerpoint/2010/main" val="1904435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baseline="0" dirty="0" smtClean="0"/>
              <a:t>8 x 8 =64</a:t>
            </a:r>
          </a:p>
          <a:p>
            <a:r>
              <a:rPr lang="en-US" altLang="zh-TW" baseline="0" dirty="0" smtClean="0"/>
              <a:t>P4530 =4</a:t>
            </a:r>
          </a:p>
          <a:p>
            <a:r>
              <a:rPr lang="en-US" altLang="zh-TW" baseline="0" dirty="0" smtClean="0"/>
              <a:t>FW 8 x 2=16</a:t>
            </a:r>
          </a:p>
          <a:p>
            <a:r>
              <a:rPr lang="en-US" altLang="zh-TW" baseline="0" dirty="0" smtClean="0"/>
              <a:t>BI2000s  8 x 2=16</a:t>
            </a:r>
          </a:p>
          <a:p>
            <a:endParaRPr lang="zh-TW" altLang="en-US" dirty="0"/>
          </a:p>
        </p:txBody>
      </p:sp>
      <p:sp>
        <p:nvSpPr>
          <p:cNvPr id="4" name="投影片編號版面配置區 3"/>
          <p:cNvSpPr>
            <a:spLocks noGrp="1"/>
          </p:cNvSpPr>
          <p:nvPr>
            <p:ph type="sldNum" sz="quarter" idx="10"/>
          </p:nvPr>
        </p:nvSpPr>
        <p:spPr/>
        <p:txBody>
          <a:bodyPr/>
          <a:lstStyle/>
          <a:p>
            <a:pPr>
              <a:defRPr/>
            </a:pPr>
            <a:fld id="{F0BF87E3-74A3-4034-994F-83655DC1415A}" type="slidenum">
              <a:rPr lang="en-US" altLang="zh-TW" smtClean="0"/>
              <a:pPr>
                <a:defRPr/>
              </a:pPr>
              <a:t>7</a:t>
            </a:fld>
            <a:endParaRPr lang="en-US" altLang="zh-TW"/>
          </a:p>
        </p:txBody>
      </p:sp>
    </p:spTree>
    <p:extLst>
      <p:ext uri="{BB962C8B-B14F-4D97-AF65-F5344CB8AC3E}">
        <p14:creationId xmlns:p14="http://schemas.microsoft.com/office/powerpoint/2010/main" val="37967614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baseline="0" dirty="0" smtClean="0"/>
              <a:t>8 x 8 =64</a:t>
            </a:r>
          </a:p>
          <a:p>
            <a:r>
              <a:rPr lang="en-US" altLang="zh-TW" baseline="0" dirty="0" smtClean="0"/>
              <a:t>P4530 =4</a:t>
            </a:r>
          </a:p>
          <a:p>
            <a:r>
              <a:rPr lang="en-US" altLang="zh-TW" baseline="0" dirty="0" smtClean="0"/>
              <a:t>FW 8 x 2=16</a:t>
            </a:r>
          </a:p>
          <a:p>
            <a:r>
              <a:rPr lang="en-US" altLang="zh-TW" baseline="0" dirty="0" smtClean="0"/>
              <a:t>BI2000s  8 x 2=16</a:t>
            </a:r>
          </a:p>
          <a:p>
            <a:endParaRPr lang="zh-TW" altLang="en-US" dirty="0"/>
          </a:p>
        </p:txBody>
      </p:sp>
      <p:sp>
        <p:nvSpPr>
          <p:cNvPr id="4" name="投影片編號版面配置區 3"/>
          <p:cNvSpPr>
            <a:spLocks noGrp="1"/>
          </p:cNvSpPr>
          <p:nvPr>
            <p:ph type="sldNum" sz="quarter" idx="10"/>
          </p:nvPr>
        </p:nvSpPr>
        <p:spPr/>
        <p:txBody>
          <a:bodyPr/>
          <a:lstStyle/>
          <a:p>
            <a:pPr>
              <a:defRPr/>
            </a:pPr>
            <a:fld id="{F0BF87E3-74A3-4034-994F-83655DC1415A}" type="slidenum">
              <a:rPr lang="en-US" altLang="zh-TW" smtClean="0"/>
              <a:pPr>
                <a:defRPr/>
              </a:pPr>
              <a:t>8</a:t>
            </a:fld>
            <a:endParaRPr lang="en-US" altLang="zh-TW"/>
          </a:p>
        </p:txBody>
      </p:sp>
    </p:spTree>
    <p:extLst>
      <p:ext uri="{BB962C8B-B14F-4D97-AF65-F5344CB8AC3E}">
        <p14:creationId xmlns:p14="http://schemas.microsoft.com/office/powerpoint/2010/main" val="257605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4924D603-707A-4BDD-80E8-BE96EF55EA81}" type="slidenum">
              <a:rPr lang="zh-TW" altLang="en-US" smtClean="0"/>
              <a:pPr/>
              <a:t>13</a:t>
            </a:fld>
            <a:endParaRPr lang="zh-TW" altLang="en-US"/>
          </a:p>
        </p:txBody>
      </p:sp>
    </p:spTree>
    <p:extLst>
      <p:ext uri="{BB962C8B-B14F-4D97-AF65-F5344CB8AC3E}">
        <p14:creationId xmlns:p14="http://schemas.microsoft.com/office/powerpoint/2010/main" val="6758295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pPr>
              <a:defRPr/>
            </a:pPr>
            <a:fld id="{F7FE8619-6CA2-4AB6-96B3-FA6736A591C2}" type="slidenum">
              <a:rPr lang="zh-TW" altLang="en-US" smtClean="0"/>
              <a:pPr>
                <a:defRPr/>
              </a:pPr>
              <a:t>14</a:t>
            </a:fld>
            <a:endParaRPr lang="zh-TW" altLang="en-US"/>
          </a:p>
        </p:txBody>
      </p:sp>
    </p:spTree>
    <p:extLst>
      <p:ext uri="{BB962C8B-B14F-4D97-AF65-F5344CB8AC3E}">
        <p14:creationId xmlns:p14="http://schemas.microsoft.com/office/powerpoint/2010/main" val="5060765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smtClean="0">
              <a:latin typeface="微軟正黑體" pitchFamily="34" charset="-120"/>
              <a:ea typeface="微軟正黑體" pitchFamily="34" charset="-120"/>
            </a:endParaRPr>
          </a:p>
        </p:txBody>
      </p:sp>
      <p:sp>
        <p:nvSpPr>
          <p:cNvPr id="4" name="投影片編號版面配置區 3"/>
          <p:cNvSpPr>
            <a:spLocks noGrp="1"/>
          </p:cNvSpPr>
          <p:nvPr>
            <p:ph type="sldNum" sz="quarter" idx="10"/>
          </p:nvPr>
        </p:nvSpPr>
        <p:spPr/>
        <p:txBody>
          <a:bodyPr/>
          <a:lstStyle/>
          <a:p>
            <a:fld id="{19AB4F55-CB93-44B3-B2CF-8BDE4B872491}" type="slidenum">
              <a:rPr lang="zh-TW" altLang="en-US" smtClean="0"/>
              <a:pPr/>
              <a:t>15</a:t>
            </a:fld>
            <a:endParaRPr lang="zh-TW" altLang="en-US"/>
          </a:p>
        </p:txBody>
      </p:sp>
    </p:spTree>
    <p:extLst>
      <p:ext uri="{BB962C8B-B14F-4D97-AF65-F5344CB8AC3E}">
        <p14:creationId xmlns:p14="http://schemas.microsoft.com/office/powerpoint/2010/main" val="7784576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buFont typeface="Arial" pitchFamily="34" charset="0"/>
              <a:buNone/>
            </a:pPr>
            <a:endParaRPr lang="en-US" altLang="zh-TW" sz="1400" dirty="0" smtClean="0">
              <a:solidFill>
                <a:schemeClr val="bg1">
                  <a:lumMod val="95000"/>
                </a:schemeClr>
              </a:solidFill>
              <a:latin typeface="微軟正黑體" pitchFamily="34" charset="-120"/>
              <a:ea typeface="微軟正黑體" pitchFamily="34" charset="-120"/>
            </a:endParaRPr>
          </a:p>
        </p:txBody>
      </p:sp>
      <p:sp>
        <p:nvSpPr>
          <p:cNvPr id="4" name="投影片編號版面配置區 3"/>
          <p:cNvSpPr>
            <a:spLocks noGrp="1"/>
          </p:cNvSpPr>
          <p:nvPr>
            <p:ph type="sldNum" sz="quarter" idx="10"/>
          </p:nvPr>
        </p:nvSpPr>
        <p:spPr/>
        <p:txBody>
          <a:bodyPr/>
          <a:lstStyle/>
          <a:p>
            <a:fld id="{19AB4F55-CB93-44B3-B2CF-8BDE4B872491}" type="slidenum">
              <a:rPr lang="zh-TW" altLang="en-US" smtClean="0"/>
              <a:pPr/>
              <a:t>16</a:t>
            </a:fld>
            <a:endParaRPr lang="zh-TW" altLang="en-US"/>
          </a:p>
        </p:txBody>
      </p:sp>
    </p:spTree>
    <p:extLst>
      <p:ext uri="{BB962C8B-B14F-4D97-AF65-F5344CB8AC3E}">
        <p14:creationId xmlns:p14="http://schemas.microsoft.com/office/powerpoint/2010/main" val="26920678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r" eaLnBrk="1" hangingPunct="1"/>
            <a:fld id="{EB893E84-33C1-423B-98E3-FE614F50DDB7}" type="slidenum">
              <a:rPr kumimoji="0" lang="zh-TW" altLang="en-US" sz="1200"/>
              <a:pPr algn="r" eaLnBrk="1" hangingPunct="1"/>
              <a:t>17</a:t>
            </a:fld>
            <a:endParaRPr kumimoji="0" lang="en-US" altLang="zh-TW" sz="1200"/>
          </a:p>
        </p:txBody>
      </p:sp>
      <p:sp>
        <p:nvSpPr>
          <p:cNvPr id="5529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3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TW" altLang="en-US" smtClean="0">
                <a:latin typeface="Arial" panose="020B0604020202020204" pitchFamily="34" charset="0"/>
              </a:rPr>
              <a:t>多層次過濾機制</a:t>
            </a:r>
            <a:r>
              <a:rPr lang="en-US" altLang="zh-TW" smtClean="0">
                <a:latin typeface="Arial" panose="020B0604020202020204" pitchFamily="34" charset="0"/>
              </a:rPr>
              <a:t>, </a:t>
            </a:r>
            <a:r>
              <a:rPr lang="zh-TW" altLang="en-US" smtClean="0">
                <a:latin typeface="Arial" panose="020B0604020202020204" pitchFamily="34" charset="0"/>
              </a:rPr>
              <a:t>有效防堵垃圾郵件</a:t>
            </a:r>
            <a:r>
              <a:rPr lang="en-US" altLang="zh-TW" smtClean="0">
                <a:latin typeface="Arial" panose="020B0604020202020204" pitchFamily="34" charset="0"/>
              </a:rPr>
              <a:t>, </a:t>
            </a:r>
            <a:r>
              <a:rPr lang="zh-TW" altLang="en-US" smtClean="0">
                <a:latin typeface="Arial" panose="020B0604020202020204" pitchFamily="34" charset="0"/>
              </a:rPr>
              <a:t>並搭配</a:t>
            </a:r>
            <a:r>
              <a:rPr lang="en-US" altLang="zh-TW" smtClean="0">
                <a:latin typeface="Arial" panose="020B0604020202020204" pitchFamily="34" charset="0"/>
              </a:rPr>
              <a:t>ASRC</a:t>
            </a:r>
            <a:r>
              <a:rPr lang="zh-TW" altLang="en-US" smtClean="0">
                <a:latin typeface="Arial" panose="020B0604020202020204" pitchFamily="34" charset="0"/>
              </a:rPr>
              <a:t>亞太垃圾訊息研究中心</a:t>
            </a:r>
            <a:r>
              <a:rPr lang="en-US" altLang="zh-TW" smtClean="0">
                <a:latin typeface="Arial" panose="020B0604020202020204" pitchFamily="34" charset="0"/>
              </a:rPr>
              <a:t>, </a:t>
            </a:r>
            <a:r>
              <a:rPr lang="zh-TW" altLang="en-US" smtClean="0">
                <a:latin typeface="Arial" panose="020B0604020202020204" pitchFamily="34" charset="0"/>
              </a:rPr>
              <a:t>蒐集分析最新的垃圾信發送手法</a:t>
            </a:r>
            <a:r>
              <a:rPr lang="en-US" altLang="zh-TW" smtClean="0">
                <a:latin typeface="Arial" panose="020B0604020202020204" pitchFamily="34" charset="0"/>
              </a:rPr>
              <a:t>, </a:t>
            </a:r>
            <a:r>
              <a:rPr lang="zh-TW" altLang="en-US" smtClean="0">
                <a:latin typeface="Arial" panose="020B0604020202020204" pitchFamily="34" charset="0"/>
              </a:rPr>
              <a:t>並更新至</a:t>
            </a:r>
            <a:r>
              <a:rPr lang="en-US" altLang="zh-TW" smtClean="0">
                <a:latin typeface="Arial" panose="020B0604020202020204" pitchFamily="34" charset="0"/>
              </a:rPr>
              <a:t>SPAM SQR</a:t>
            </a:r>
            <a:r>
              <a:rPr lang="zh-TW" altLang="en-US" smtClean="0">
                <a:latin typeface="Arial" panose="020B0604020202020204" pitchFamily="34" charset="0"/>
              </a:rPr>
              <a:t>的系統中</a:t>
            </a:r>
            <a:r>
              <a:rPr lang="en-US" altLang="zh-TW" smtClean="0">
                <a:latin typeface="Arial" panose="020B0604020202020204" pitchFamily="34" charset="0"/>
              </a:rPr>
              <a:t>, </a:t>
            </a:r>
            <a:r>
              <a:rPr lang="zh-TW" altLang="en-US" smtClean="0">
                <a:latin typeface="Arial" panose="020B0604020202020204" pitchFamily="34" charset="0"/>
              </a:rPr>
              <a:t>讓攔截率能保持在高水準</a:t>
            </a:r>
            <a:endParaRPr lang="en-US" altLang="zh-TW" smtClean="0">
              <a:latin typeface="Arial" panose="020B0604020202020204" pitchFamily="34" charset="0"/>
            </a:endParaRPr>
          </a:p>
          <a:p>
            <a:pPr eaLnBrk="1" hangingPunct="1">
              <a:spcBef>
                <a:spcPct val="0"/>
              </a:spcBef>
            </a:pPr>
            <a:endParaRPr lang="en-US" altLang="zh-TW" smtClean="0">
              <a:latin typeface="Arial" panose="020B0604020202020204" pitchFamily="34" charset="0"/>
            </a:endParaRPr>
          </a:p>
          <a:p>
            <a:pPr eaLnBrk="1" hangingPunct="1">
              <a:spcBef>
                <a:spcPct val="0"/>
              </a:spcBef>
            </a:pPr>
            <a:endParaRPr lang="en-US" altLang="zh-TW" smtClean="0">
              <a:latin typeface="Arial" panose="020B0604020202020204" pitchFamily="34" charset="0"/>
            </a:endParaRPr>
          </a:p>
        </p:txBody>
      </p:sp>
    </p:spTree>
    <p:extLst>
      <p:ext uri="{BB962C8B-B14F-4D97-AF65-F5344CB8AC3E}">
        <p14:creationId xmlns:p14="http://schemas.microsoft.com/office/powerpoint/2010/main" val="21438067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pic>
        <p:nvPicPr>
          <p:cNvPr id="7" name="Picture 2" descr="Title Main"/>
          <p:cNvPicPr>
            <a:picLocks noChangeAspect="1" noChangeArrowheads="1"/>
          </p:cNvPicPr>
          <p:nvPr userDrawn="1"/>
        </p:nvPicPr>
        <p:blipFill>
          <a:blip r:embed="rId2" cstate="print"/>
          <a:srcRect/>
          <a:stretch>
            <a:fillRect/>
          </a:stretch>
        </p:blipFill>
        <p:spPr bwMode="auto">
          <a:xfrm>
            <a:off x="0" y="0"/>
            <a:ext cx="6137294" cy="6858000"/>
          </a:xfrm>
          <a:prstGeom prst="rect">
            <a:avLst/>
          </a:prstGeom>
          <a:noFill/>
          <a:ln w="9525">
            <a:noFill/>
            <a:miter lim="800000"/>
            <a:headEnd/>
            <a:tailEnd/>
          </a:ln>
        </p:spPr>
      </p:pic>
      <p:sp>
        <p:nvSpPr>
          <p:cNvPr id="4" name="日期版面配置區 3"/>
          <p:cNvSpPr>
            <a:spLocks noGrp="1"/>
          </p:cNvSpPr>
          <p:nvPr userDrawn="1">
            <p:ph type="dt" sz="half" idx="10"/>
          </p:nvPr>
        </p:nvSpPr>
        <p:spPr/>
        <p:txBody>
          <a:bodyPr/>
          <a:lstStyle/>
          <a:p>
            <a:fld id="{2DE136EE-D3EA-4619-B5A6-0060910FC232}" type="datetimeFigureOut">
              <a:rPr lang="zh-TW" altLang="en-US" smtClean="0"/>
              <a:pPr/>
              <a:t>2016/5/10</a:t>
            </a:fld>
            <a:endParaRPr lang="zh-TW" altLang="en-US"/>
          </a:p>
        </p:txBody>
      </p:sp>
      <p:sp>
        <p:nvSpPr>
          <p:cNvPr id="5" name="頁尾版面配置區 4"/>
          <p:cNvSpPr>
            <a:spLocks noGrp="1"/>
          </p:cNvSpPr>
          <p:nvPr userDrawn="1">
            <p:ph type="ftr" sz="quarter" idx="11"/>
          </p:nvPr>
        </p:nvSpPr>
        <p:spPr/>
        <p:txBody>
          <a:bodyPr/>
          <a:lstStyle/>
          <a:p>
            <a:endParaRPr lang="zh-TW" altLang="en-US"/>
          </a:p>
        </p:txBody>
      </p:sp>
      <p:sp>
        <p:nvSpPr>
          <p:cNvPr id="6" name="投影片編號版面配置區 5"/>
          <p:cNvSpPr>
            <a:spLocks noGrp="1"/>
          </p:cNvSpPr>
          <p:nvPr userDrawn="1">
            <p:ph type="sldNum" sz="quarter" idx="12"/>
          </p:nvPr>
        </p:nvSpPr>
        <p:spPr/>
        <p:txBody>
          <a:bodyPr/>
          <a:lstStyle/>
          <a:p>
            <a:fld id="{A1A53B15-563B-4048-83D7-C7A468DBC05B}" type="slidenum">
              <a:rPr lang="zh-TW" altLang="en-US" smtClean="0"/>
              <a:pPr/>
              <a:t>‹#›</a:t>
            </a:fld>
            <a:endParaRPr lang="zh-TW" altLang="en-US"/>
          </a:p>
        </p:txBody>
      </p:sp>
      <p:sp>
        <p:nvSpPr>
          <p:cNvPr id="2" name="標題 1"/>
          <p:cNvSpPr>
            <a:spLocks noGrp="1"/>
          </p:cNvSpPr>
          <p:nvPr userDrawn="1">
            <p:ph type="ctrTitle"/>
          </p:nvPr>
        </p:nvSpPr>
        <p:spPr>
          <a:xfrm>
            <a:off x="539552" y="3645024"/>
            <a:ext cx="8136904" cy="1656184"/>
          </a:xfrm>
        </p:spPr>
        <p:txBody>
          <a:bodyPr/>
          <a:lstStyle>
            <a:lvl1pPr>
              <a:defRPr>
                <a:solidFill>
                  <a:schemeClr val="tx1">
                    <a:lumMod val="75000"/>
                    <a:lumOff val="25000"/>
                  </a:schemeClr>
                </a:solidFill>
                <a:latin typeface="+mj-lt"/>
                <a:cs typeface="Arial" pitchFamily="34" charset="0"/>
              </a:defRPr>
            </a:lvl1pPr>
          </a:lstStyle>
          <a:p>
            <a:r>
              <a:rPr lang="zh-TW" altLang="en-US" dirty="0" smtClean="0"/>
              <a:t>按一下以編輯母片標題樣式</a:t>
            </a:r>
            <a:endParaRPr lang="zh-TW" altLang="en-US" dirty="0"/>
          </a:p>
        </p:txBody>
      </p:sp>
      <p:sp>
        <p:nvSpPr>
          <p:cNvPr id="8" name="矩形 7"/>
          <p:cNvSpPr/>
          <p:nvPr userDrawn="1"/>
        </p:nvSpPr>
        <p:spPr>
          <a:xfrm>
            <a:off x="3419872" y="764704"/>
            <a:ext cx="5688632" cy="7200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副標題 2"/>
          <p:cNvSpPr>
            <a:spLocks noGrp="1"/>
          </p:cNvSpPr>
          <p:nvPr userDrawn="1">
            <p:ph type="subTitle" idx="1"/>
          </p:nvPr>
        </p:nvSpPr>
        <p:spPr>
          <a:xfrm>
            <a:off x="1371600" y="5661248"/>
            <a:ext cx="6400800" cy="648072"/>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DE136EE-D3EA-4619-B5A6-0060910FC232}" type="datetimeFigureOut">
              <a:rPr lang="zh-TW" altLang="en-US" smtClean="0"/>
              <a:pPr/>
              <a:t>2016/5/10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1A53B15-563B-4048-83D7-C7A468DBC05B}"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3600" b="1" cap="all"/>
            </a:lvl1pPr>
          </a:lstStyle>
          <a:p>
            <a:r>
              <a:rPr lang="zh-TW" altLang="en-US" dirty="0" smtClean="0"/>
              <a:t>按一下以編輯母片標題樣式</a:t>
            </a:r>
            <a:endParaRPr lang="zh-TW" altLang="en-US" dirty="0"/>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dirty="0" smtClean="0"/>
              <a:t>按一下以編輯母片文字樣式</a:t>
            </a:r>
          </a:p>
        </p:txBody>
      </p:sp>
      <p:sp>
        <p:nvSpPr>
          <p:cNvPr id="4" name="日期版面配置區 3"/>
          <p:cNvSpPr>
            <a:spLocks noGrp="1"/>
          </p:cNvSpPr>
          <p:nvPr>
            <p:ph type="dt" sz="half" idx="10"/>
          </p:nvPr>
        </p:nvSpPr>
        <p:spPr/>
        <p:txBody>
          <a:bodyPr/>
          <a:lstStyle/>
          <a:p>
            <a:fld id="{2DE136EE-D3EA-4619-B5A6-0060910FC232}" type="datetimeFigureOut">
              <a:rPr lang="zh-TW" altLang="en-US" smtClean="0"/>
              <a:pPr/>
              <a:t>2016/5/10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1A53B15-563B-4048-83D7-C7A468DBC05B}"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2DE136EE-D3EA-4619-B5A6-0060910FC232}" type="datetimeFigureOut">
              <a:rPr lang="zh-TW" altLang="en-US" smtClean="0"/>
              <a:pPr/>
              <a:t>2016/5/10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1A53B15-563B-4048-83D7-C7A468DBC05B}"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12474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1844824"/>
            <a:ext cx="4040188" cy="428133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5" name="文字版面配置區 4"/>
          <p:cNvSpPr>
            <a:spLocks noGrp="1"/>
          </p:cNvSpPr>
          <p:nvPr>
            <p:ph type="body" sz="quarter" idx="3"/>
          </p:nvPr>
        </p:nvSpPr>
        <p:spPr>
          <a:xfrm>
            <a:off x="4645025" y="112474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1844824"/>
            <a:ext cx="4041775" cy="428133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7" name="日期版面配置區 6"/>
          <p:cNvSpPr>
            <a:spLocks noGrp="1"/>
          </p:cNvSpPr>
          <p:nvPr>
            <p:ph type="dt" sz="half" idx="10"/>
          </p:nvPr>
        </p:nvSpPr>
        <p:spPr/>
        <p:txBody>
          <a:bodyPr/>
          <a:lstStyle/>
          <a:p>
            <a:fld id="{2DE136EE-D3EA-4619-B5A6-0060910FC232}" type="datetimeFigureOut">
              <a:rPr lang="zh-TW" altLang="en-US" smtClean="0"/>
              <a:pPr/>
              <a:t>2016/5/10</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A1A53B15-563B-4048-83D7-C7A468DBC05B}"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2DE136EE-D3EA-4619-B5A6-0060910FC232}" type="datetimeFigureOut">
              <a:rPr lang="zh-TW" altLang="en-US" smtClean="0"/>
              <a:pPr/>
              <a:t>2016/5/10</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A1A53B15-563B-4048-83D7-C7A468DBC05B}"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DE136EE-D3EA-4619-B5A6-0060910FC232}" type="datetimeFigureOut">
              <a:rPr lang="zh-TW" altLang="en-US" smtClean="0"/>
              <a:pPr/>
              <a:t>2016/5/10</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A1A53B15-563B-4048-83D7-C7A468DBC05B}"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67544" y="1052736"/>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1052736"/>
            <a:ext cx="5111750" cy="507342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文字版面配置區 3"/>
          <p:cNvSpPr>
            <a:spLocks noGrp="1"/>
          </p:cNvSpPr>
          <p:nvPr>
            <p:ph type="body" sz="half" idx="2"/>
          </p:nvPr>
        </p:nvSpPr>
        <p:spPr>
          <a:xfrm>
            <a:off x="457200" y="2276872"/>
            <a:ext cx="3008313" cy="384929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dirty="0" smtClean="0"/>
              <a:t>按一下以編輯母片文字樣式</a:t>
            </a:r>
          </a:p>
        </p:txBody>
      </p:sp>
      <p:sp>
        <p:nvSpPr>
          <p:cNvPr id="5" name="日期版面配置區 4"/>
          <p:cNvSpPr>
            <a:spLocks noGrp="1"/>
          </p:cNvSpPr>
          <p:nvPr>
            <p:ph type="dt" sz="half" idx="10"/>
          </p:nvPr>
        </p:nvSpPr>
        <p:spPr/>
        <p:txBody>
          <a:bodyPr/>
          <a:lstStyle/>
          <a:p>
            <a:fld id="{2DE136EE-D3EA-4619-B5A6-0060910FC232}" type="datetimeFigureOut">
              <a:rPr lang="zh-TW" altLang="en-US" smtClean="0"/>
              <a:pPr/>
              <a:t>2016/5/10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1A53B15-563B-4048-83D7-C7A468DBC05B}"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1052735"/>
            <a:ext cx="5486400" cy="36748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2DE136EE-D3EA-4619-B5A6-0060910FC232}" type="datetimeFigureOut">
              <a:rPr lang="zh-TW" altLang="en-US" smtClean="0"/>
              <a:pPr/>
              <a:t>2016/5/10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1A53B15-563B-4048-83D7-C7A468DBC05B}"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1124744"/>
            <a:ext cx="8229600" cy="5001419"/>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DE136EE-D3EA-4619-B5A6-0060910FC232}" type="datetimeFigureOut">
              <a:rPr lang="zh-TW" altLang="en-US" smtClean="0"/>
              <a:pPr/>
              <a:t>2016/5/10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1A53B15-563B-4048-83D7-C7A468DBC05B}"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1124744"/>
            <a:ext cx="2057400" cy="5001419"/>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1124744"/>
            <a:ext cx="6019800" cy="5001419"/>
          </a:xfrm>
        </p:spPr>
        <p:txBody>
          <a:bodyPr vert="eaVert"/>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日期版面配置區 3"/>
          <p:cNvSpPr>
            <a:spLocks noGrp="1"/>
          </p:cNvSpPr>
          <p:nvPr>
            <p:ph type="dt" sz="half" idx="10"/>
          </p:nvPr>
        </p:nvSpPr>
        <p:spPr/>
        <p:txBody>
          <a:bodyPr/>
          <a:lstStyle/>
          <a:p>
            <a:fld id="{2DE136EE-D3EA-4619-B5A6-0060910FC232}" type="datetimeFigureOut">
              <a:rPr lang="zh-TW" altLang="en-US" smtClean="0"/>
              <a:pPr/>
              <a:t>2016/5/10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1A53B15-563B-4048-83D7-C7A468DBC05B}"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2" descr="Untitled-4 copy"/>
          <p:cNvPicPr>
            <a:picLocks noChangeAspect="1" noChangeArrowheads="1"/>
          </p:cNvPicPr>
          <p:nvPr userDrawn="1"/>
        </p:nvPicPr>
        <p:blipFill>
          <a:blip r:embed="rId13" cstate="print"/>
          <a:srcRect/>
          <a:stretch>
            <a:fillRect/>
          </a:stretch>
        </p:blipFill>
        <p:spPr bwMode="auto">
          <a:xfrm>
            <a:off x="0" y="0"/>
            <a:ext cx="9144000" cy="1143000"/>
          </a:xfrm>
          <a:prstGeom prst="rect">
            <a:avLst/>
          </a:prstGeom>
          <a:noFill/>
          <a:ln w="9525">
            <a:noFill/>
            <a:miter lim="800000"/>
            <a:headEnd/>
            <a:tailEnd/>
          </a:ln>
        </p:spPr>
      </p:pic>
      <p:sp>
        <p:nvSpPr>
          <p:cNvPr id="2" name="標題版面配置區 1"/>
          <p:cNvSpPr>
            <a:spLocks noGrp="1"/>
          </p:cNvSpPr>
          <p:nvPr>
            <p:ph type="title"/>
          </p:nvPr>
        </p:nvSpPr>
        <p:spPr>
          <a:xfrm>
            <a:off x="1691680" y="274638"/>
            <a:ext cx="7200800" cy="634082"/>
          </a:xfrm>
          <a:prstGeom prst="rect">
            <a:avLst/>
          </a:prstGeom>
        </p:spPr>
        <p:txBody>
          <a:bodyPr vert="horz" lIns="91440" tIns="45720" rIns="91440" bIns="45720" rtlCol="0" anchor="ctr">
            <a:no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124744"/>
            <a:ext cx="8229600" cy="5001419"/>
          </a:xfrm>
          <a:prstGeom prst="rect">
            <a:avLst/>
          </a:prstGeom>
        </p:spPr>
        <p:txBody>
          <a:bodyPr vert="horz" lIns="91440" tIns="45720" rIns="91440" bIns="45720" rtlCol="0">
            <a:normAutofit/>
          </a:body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E136EE-D3EA-4619-B5A6-0060910FC232}" type="datetimeFigureOut">
              <a:rPr lang="zh-TW" altLang="en-US" smtClean="0"/>
              <a:pPr/>
              <a:t>2016/5/10</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A53B15-563B-4048-83D7-C7A468DBC05B}"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957" r:id="rId1"/>
    <p:sldLayoutId id="2147483958" r:id="rId2"/>
    <p:sldLayoutId id="2147483959" r:id="rId3"/>
    <p:sldLayoutId id="2147483960" r:id="rId4"/>
    <p:sldLayoutId id="2147483961" r:id="rId5"/>
    <p:sldLayoutId id="2147483962" r:id="rId6"/>
    <p:sldLayoutId id="2147483963" r:id="rId7"/>
    <p:sldLayoutId id="2147483964" r:id="rId8"/>
    <p:sldLayoutId id="2147483965" r:id="rId9"/>
    <p:sldLayoutId id="2147483966" r:id="rId10"/>
    <p:sldLayoutId id="2147483967" r:id="rId11"/>
  </p:sldLayoutIdLst>
  <p:txStyles>
    <p:titleStyle>
      <a:lvl1pPr algn="ctr" defTabSz="914400" rtl="0" eaLnBrk="1" latinLnBrk="0" hangingPunct="1">
        <a:spcBef>
          <a:spcPct val="0"/>
        </a:spcBef>
        <a:buNone/>
        <a:defRPr sz="3600" b="1" kern="1200">
          <a:solidFill>
            <a:schemeClr val="tx1">
              <a:lumMod val="75000"/>
              <a:lumOff val="25000"/>
            </a:schemeClr>
          </a:solidFill>
          <a:latin typeface="微軟正黑體" pitchFamily="34" charset="-120"/>
          <a:ea typeface="微軟正黑體" pitchFamily="34" charset="-120"/>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lumMod val="75000"/>
              <a:lumOff val="25000"/>
            </a:schemeClr>
          </a:solidFill>
          <a:latin typeface="微軟正黑體" pitchFamily="34" charset="-120"/>
          <a:ea typeface="微軟正黑體" pitchFamily="34" charset="-120"/>
          <a:cs typeface="+mn-cs"/>
        </a:defRPr>
      </a:lvl1pPr>
      <a:lvl2pPr marL="742950" indent="-285750" algn="l" defTabSz="914400" rtl="0" eaLnBrk="1" latinLnBrk="0" hangingPunct="1">
        <a:spcBef>
          <a:spcPct val="20000"/>
        </a:spcBef>
        <a:buFont typeface="Arial" pitchFamily="34" charset="0"/>
        <a:buChar char="–"/>
        <a:defRPr sz="2800" kern="1200">
          <a:solidFill>
            <a:schemeClr val="tx1">
              <a:lumMod val="75000"/>
              <a:lumOff val="25000"/>
            </a:schemeClr>
          </a:solidFill>
          <a:latin typeface="微軟正黑體" pitchFamily="34" charset="-120"/>
          <a:ea typeface="微軟正黑體" pitchFamily="34" charset="-120"/>
          <a:cs typeface="+mn-cs"/>
        </a:defRPr>
      </a:lvl2pPr>
      <a:lvl3pPr marL="1143000" indent="-228600" algn="l" defTabSz="914400" rtl="0" eaLnBrk="1" latinLnBrk="0" hangingPunct="1">
        <a:spcBef>
          <a:spcPct val="20000"/>
        </a:spcBef>
        <a:buFont typeface="Arial" pitchFamily="34" charset="0"/>
        <a:buChar char="•"/>
        <a:defRPr sz="2400" kern="1200">
          <a:solidFill>
            <a:schemeClr val="tx1">
              <a:lumMod val="75000"/>
              <a:lumOff val="25000"/>
            </a:schemeClr>
          </a:solidFill>
          <a:latin typeface="微軟正黑體" pitchFamily="34" charset="-120"/>
          <a:ea typeface="微軟正黑體" pitchFamily="34" charset="-120"/>
          <a:cs typeface="+mn-cs"/>
        </a:defRPr>
      </a:lvl3pPr>
      <a:lvl4pPr marL="1600200" indent="-228600" algn="l" defTabSz="914400" rtl="0" eaLnBrk="1" latinLnBrk="0" hangingPunct="1">
        <a:spcBef>
          <a:spcPct val="20000"/>
        </a:spcBef>
        <a:buFont typeface="Arial" pitchFamily="34" charset="0"/>
        <a:buChar char="–"/>
        <a:defRPr sz="2000" kern="1200">
          <a:solidFill>
            <a:schemeClr val="tx1">
              <a:lumMod val="75000"/>
              <a:lumOff val="25000"/>
            </a:schemeClr>
          </a:solidFill>
          <a:latin typeface="微軟正黑體" pitchFamily="34" charset="-120"/>
          <a:ea typeface="微軟正黑體" pitchFamily="34" charset="-120"/>
          <a:cs typeface="+mn-cs"/>
        </a:defRPr>
      </a:lvl4pPr>
      <a:lvl5pPr marL="2057400" indent="-228600" algn="l" defTabSz="914400" rtl="0" eaLnBrk="1" latinLnBrk="0" hangingPunct="1">
        <a:spcBef>
          <a:spcPct val="20000"/>
        </a:spcBef>
        <a:buFont typeface="Arial" pitchFamily="34" charset="0"/>
        <a:buChar char="»"/>
        <a:defRPr sz="2000" kern="1200">
          <a:solidFill>
            <a:schemeClr val="tx1">
              <a:lumMod val="75000"/>
              <a:lumOff val="25000"/>
            </a:schemeClr>
          </a:solidFill>
          <a:latin typeface="微軟正黑體" pitchFamily="34" charset="-120"/>
          <a:ea typeface="微軟正黑體" pitchFamily="34" charset="-12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2.wmf"/><Relationship Id="rId4" Type="http://schemas.openxmlformats.org/officeDocument/2006/relationships/oleObject" Target="../embeddings/Microsoft_Excel_97-2003____1.xls"/></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4.png"/><Relationship Id="rId7" Type="http://schemas.openxmlformats.org/officeDocument/2006/relationships/slide" Target="slide13.xml"/><Relationship Id="rId12" Type="http://schemas.openxmlformats.org/officeDocument/2006/relationships/image" Target="../media/image22.png"/><Relationship Id="rId2" Type="http://schemas.openxmlformats.org/officeDocument/2006/relationships/image" Target="../media/image13.png"/><Relationship Id="rId1" Type="http://schemas.openxmlformats.org/officeDocument/2006/relationships/slideLayout" Target="../slideLayouts/slideLayout6.xml"/><Relationship Id="rId6" Type="http://schemas.openxmlformats.org/officeDocument/2006/relationships/image" Target="../media/image17.png"/><Relationship Id="rId11" Type="http://schemas.openxmlformats.org/officeDocument/2006/relationships/image" Target="../media/image21.png"/><Relationship Id="rId5" Type="http://schemas.openxmlformats.org/officeDocument/2006/relationships/image" Target="../media/image16.png"/><Relationship Id="rId10" Type="http://schemas.openxmlformats.org/officeDocument/2006/relationships/image" Target="../media/image20.png"/><Relationship Id="rId4" Type="http://schemas.openxmlformats.org/officeDocument/2006/relationships/image" Target="../media/image15.pn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3" Type="http://schemas.openxmlformats.org/officeDocument/2006/relationships/image" Target="../media/image25.png"/><Relationship Id="rId7" Type="http://schemas.openxmlformats.org/officeDocument/2006/relationships/image" Target="../media/image29.wmf"/><Relationship Id="rId12" Type="http://schemas.openxmlformats.org/officeDocument/2006/relationships/image" Target="../media/image34.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wmf"/><Relationship Id="rId11" Type="http://schemas.openxmlformats.org/officeDocument/2006/relationships/image" Target="../media/image33.png"/><Relationship Id="rId5" Type="http://schemas.openxmlformats.org/officeDocument/2006/relationships/image" Target="../media/image27.wmf"/><Relationship Id="rId15" Type="http://schemas.openxmlformats.org/officeDocument/2006/relationships/image" Target="../media/image37.png"/><Relationship Id="rId10" Type="http://schemas.openxmlformats.org/officeDocument/2006/relationships/image" Target="../media/image32.png"/><Relationship Id="rId4" Type="http://schemas.openxmlformats.org/officeDocument/2006/relationships/image" Target="../media/image26.jpeg"/><Relationship Id="rId9" Type="http://schemas.openxmlformats.org/officeDocument/2006/relationships/image" Target="../media/image31.png"/><Relationship Id="rId14" Type="http://schemas.openxmlformats.org/officeDocument/2006/relationships/image" Target="../media/image36.jpeg"/></Relationships>
</file>

<file path=ppt/slides/_rels/slide13.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38.wmf"/><Relationship Id="rId3" Type="http://schemas.openxmlformats.org/officeDocument/2006/relationships/notesSlide" Target="../notesSlides/notesSlide6.xml"/><Relationship Id="rId7" Type="http://schemas.openxmlformats.org/officeDocument/2006/relationships/image" Target="../media/image42.png"/><Relationship Id="rId12" Type="http://schemas.openxmlformats.org/officeDocument/2006/relationships/package" Target="../embeddings/Microsoft_Word___1.docx"/><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image" Target="../media/image41.png"/><Relationship Id="rId11" Type="http://schemas.openxmlformats.org/officeDocument/2006/relationships/oleObject" Target="../embeddings/oleObject2.bin"/><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1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5.png"/><Relationship Id="rId3" Type="http://schemas.openxmlformats.org/officeDocument/2006/relationships/notesSlide" Target="../notesSlides/notesSlide8.xml"/><Relationship Id="rId7" Type="http://schemas.openxmlformats.org/officeDocument/2006/relationships/image" Target="../media/image51.png"/><Relationship Id="rId12" Type="http://schemas.openxmlformats.org/officeDocument/2006/relationships/image" Target="../media/image54.png"/><Relationship Id="rId2" Type="http://schemas.openxmlformats.org/officeDocument/2006/relationships/slideLayout" Target="../slideLayouts/slideLayout2.xml"/><Relationship Id="rId16" Type="http://schemas.openxmlformats.org/officeDocument/2006/relationships/image" Target="../media/image58.png"/><Relationship Id="rId1" Type="http://schemas.openxmlformats.org/officeDocument/2006/relationships/vmlDrawing" Target="../drawings/vmlDrawing3.vml"/><Relationship Id="rId6" Type="http://schemas.openxmlformats.org/officeDocument/2006/relationships/image" Target="../media/image50.jpeg"/><Relationship Id="rId11" Type="http://schemas.openxmlformats.org/officeDocument/2006/relationships/image" Target="../media/image47.emf"/><Relationship Id="rId5" Type="http://schemas.openxmlformats.org/officeDocument/2006/relationships/image" Target="../media/image49.png"/><Relationship Id="rId15" Type="http://schemas.openxmlformats.org/officeDocument/2006/relationships/image" Target="../media/image57.png"/><Relationship Id="rId10" Type="http://schemas.openxmlformats.org/officeDocument/2006/relationships/oleObject" Target="../embeddings/oleObject3.bin"/><Relationship Id="rId4" Type="http://schemas.openxmlformats.org/officeDocument/2006/relationships/image" Target="../media/image48.png"/><Relationship Id="rId9" Type="http://schemas.openxmlformats.org/officeDocument/2006/relationships/image" Target="../media/image53.png"/><Relationship Id="rId14" Type="http://schemas.openxmlformats.org/officeDocument/2006/relationships/image" Target="../media/image5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61.wmf"/><Relationship Id="rId4" Type="http://schemas.openxmlformats.org/officeDocument/2006/relationships/oleObject" Target="../embeddings/Microsoft_Excel_97-2003____2.xls"/></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62.tmp"/><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標題 1"/>
          <p:cNvSpPr>
            <a:spLocks noGrp="1"/>
          </p:cNvSpPr>
          <p:nvPr>
            <p:ph type="ctrTitle"/>
          </p:nvPr>
        </p:nvSpPr>
        <p:spPr>
          <a:xfrm>
            <a:off x="3779912" y="4293096"/>
            <a:ext cx="5038725" cy="1470025"/>
          </a:xfrm>
        </p:spPr>
        <p:txBody>
          <a:bodyPr/>
          <a:lstStyle/>
          <a:p>
            <a:pPr eaLnBrk="1" hangingPunct="1">
              <a:defRPr/>
            </a:pPr>
            <a:r>
              <a:rPr lang="en-US" altLang="zh-TW" dirty="0" smtClean="0">
                <a:solidFill>
                  <a:schemeClr val="bg1"/>
                </a:solidFill>
                <a:effectLst>
                  <a:outerShdw blurRad="38100" dist="38100" dir="2700000" algn="tl">
                    <a:srgbClr val="000000">
                      <a:alpha val="43137"/>
                    </a:srgbClr>
                  </a:outerShdw>
                </a:effectLst>
              </a:rPr>
              <a:t/>
            </a:r>
            <a:br>
              <a:rPr lang="en-US" altLang="zh-TW" dirty="0" smtClean="0">
                <a:solidFill>
                  <a:schemeClr val="bg1"/>
                </a:solidFill>
                <a:effectLst>
                  <a:outerShdw blurRad="38100" dist="38100" dir="2700000" algn="tl">
                    <a:srgbClr val="000000">
                      <a:alpha val="43137"/>
                    </a:srgbClr>
                  </a:outerShdw>
                </a:effectLst>
              </a:rPr>
            </a:br>
            <a:endParaRPr lang="zh-TW" altLang="en-US" dirty="0" smtClean="0">
              <a:solidFill>
                <a:schemeClr val="bg1"/>
              </a:solidFill>
              <a:effectLst>
                <a:outerShdw blurRad="38100" dist="38100" dir="2700000" algn="tl">
                  <a:srgbClr val="000000">
                    <a:alpha val="43137"/>
                  </a:srgbClr>
                </a:outerShdw>
              </a:effectLst>
            </a:endParaRPr>
          </a:p>
        </p:txBody>
      </p:sp>
      <p:sp>
        <p:nvSpPr>
          <p:cNvPr id="4" name="標題 1"/>
          <p:cNvSpPr txBox="1">
            <a:spLocks/>
          </p:cNvSpPr>
          <p:nvPr/>
        </p:nvSpPr>
        <p:spPr>
          <a:xfrm>
            <a:off x="722313" y="4406900"/>
            <a:ext cx="7772400" cy="136207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b="1" kern="1200">
                <a:solidFill>
                  <a:schemeClr val="tx1">
                    <a:lumMod val="75000"/>
                    <a:lumOff val="25000"/>
                  </a:schemeClr>
                </a:solidFill>
                <a:latin typeface="+mj-lt"/>
                <a:ea typeface="微軟正黑體" pitchFamily="34" charset="-120"/>
                <a:cs typeface="Arial" pitchFamily="34" charset="0"/>
              </a:defRPr>
            </a:lvl1pPr>
          </a:lstStyle>
          <a:p>
            <a:pPr fontAlgn="auto">
              <a:spcAft>
                <a:spcPts val="0"/>
              </a:spcAft>
            </a:pPr>
            <a:r>
              <a:rPr kumimoji="0" lang="zh-TW" altLang="en-US" dirty="0" smtClean="0"/>
              <a:t>新世紀整體架構調整方案</a:t>
            </a:r>
            <a:endParaRPr kumimoji="0" lang="zh-TW" altLang="en-US" dirty="0"/>
          </a:p>
        </p:txBody>
      </p:sp>
    </p:spTree>
    <p:extLst>
      <p:ext uri="{BB962C8B-B14F-4D97-AF65-F5344CB8AC3E}">
        <p14:creationId xmlns:p14="http://schemas.microsoft.com/office/powerpoint/2010/main" val="818228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線接點 13"/>
          <p:cNvCxnSpPr>
            <a:endCxn id="12" idx="1"/>
          </p:cNvCxnSpPr>
          <p:nvPr/>
        </p:nvCxnSpPr>
        <p:spPr bwMode="auto">
          <a:xfrm>
            <a:off x="3131840" y="2060848"/>
            <a:ext cx="909896" cy="61131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8" name="直線接點 17"/>
          <p:cNvCxnSpPr>
            <a:endCxn id="12" idx="7"/>
          </p:cNvCxnSpPr>
          <p:nvPr/>
        </p:nvCxnSpPr>
        <p:spPr bwMode="auto">
          <a:xfrm flipH="1">
            <a:off x="4958248" y="1988840"/>
            <a:ext cx="1053912" cy="68332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 name="標題 1"/>
          <p:cNvSpPr>
            <a:spLocks noGrp="1"/>
          </p:cNvSpPr>
          <p:nvPr>
            <p:ph type="title"/>
          </p:nvPr>
        </p:nvSpPr>
        <p:spPr/>
        <p:txBody>
          <a:bodyPr>
            <a:normAutofit fontScale="90000"/>
          </a:bodyPr>
          <a:lstStyle/>
          <a:p>
            <a:pPr algn="l"/>
            <a:r>
              <a:rPr lang="zh-TW" altLang="en-US" dirty="0" smtClean="0"/>
              <a:t>現況</a:t>
            </a:r>
            <a:r>
              <a:rPr lang="en-US" altLang="zh-TW" dirty="0" smtClean="0"/>
              <a:t>-</a:t>
            </a:r>
            <a:r>
              <a:rPr lang="zh-TW" altLang="en-US" dirty="0" smtClean="0"/>
              <a:t>主機清單</a:t>
            </a:r>
            <a:r>
              <a:rPr lang="en-US" altLang="zh-TW" dirty="0" smtClean="0"/>
              <a:t>(</a:t>
            </a:r>
            <a:r>
              <a:rPr lang="zh-TW" altLang="en-US" dirty="0" smtClean="0"/>
              <a:t>營運端</a:t>
            </a:r>
            <a:r>
              <a:rPr lang="en-US" altLang="zh-TW" dirty="0" smtClean="0"/>
              <a:t>)</a:t>
            </a:r>
            <a:endParaRPr lang="zh-TW" altLang="en-US" dirty="0"/>
          </a:p>
        </p:txBody>
      </p:sp>
      <p:graphicFrame>
        <p:nvGraphicFramePr>
          <p:cNvPr id="6" name="表格 5"/>
          <p:cNvGraphicFramePr>
            <a:graphicFrameLocks noGrp="1"/>
          </p:cNvGraphicFramePr>
          <p:nvPr/>
        </p:nvGraphicFramePr>
        <p:xfrm>
          <a:off x="0" y="1340768"/>
          <a:ext cx="3197920" cy="4419600"/>
        </p:xfrm>
        <a:graphic>
          <a:graphicData uri="http://schemas.openxmlformats.org/drawingml/2006/table">
            <a:tbl>
              <a:tblPr>
                <a:tableStyleId>{2D5ABB26-0587-4C30-8999-92F81FD0307C}</a:tableStyleId>
              </a:tblPr>
              <a:tblGrid>
                <a:gridCol w="1061379"/>
                <a:gridCol w="2136541"/>
              </a:tblGrid>
              <a:tr h="118492">
                <a:tc gridSpan="2">
                  <a:txBody>
                    <a:bodyPr/>
                    <a:lstStyle/>
                    <a:p>
                      <a:pPr algn="ctr" fontAlgn="ctr"/>
                      <a:r>
                        <a:rPr lang="en-US" altLang="zh-TW" sz="1400" b="0" i="0" u="none" strike="noStrike" dirty="0" smtClean="0">
                          <a:solidFill>
                            <a:srgbClr val="000000"/>
                          </a:solidFill>
                          <a:latin typeface="新細明體"/>
                        </a:rPr>
                        <a:t>AP</a:t>
                      </a:r>
                      <a:r>
                        <a:rPr lang="zh-TW" altLang="en-US" sz="1400" b="0" i="0" u="none" strike="noStrike" dirty="0" smtClean="0">
                          <a:solidFill>
                            <a:srgbClr val="000000"/>
                          </a:solidFill>
                          <a:latin typeface="新細明體"/>
                        </a:rPr>
                        <a:t>主機</a:t>
                      </a:r>
                      <a:endParaRPr lang="zh-TW" alt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hMerge="1">
                  <a:txBody>
                    <a:bodyPr/>
                    <a:lstStyle/>
                    <a:p>
                      <a:pPr algn="ctr" fontAlgn="ctr"/>
                      <a:endParaRPr lang="zh-TW" altLang="en-US" sz="1100" b="0" i="0" u="none" strike="noStrike" dirty="0">
                        <a:solidFill>
                          <a:srgbClr val="000000"/>
                        </a:solidFill>
                        <a:latin typeface="新細明體"/>
                      </a:endParaRPr>
                    </a:p>
                  </a:txBody>
                  <a:tcPr marL="7620" marR="7620" marT="7620" marB="0" anchor="ctr"/>
                </a:tc>
              </a:tr>
              <a:tr h="118492">
                <a:tc>
                  <a:txBody>
                    <a:bodyPr/>
                    <a:lstStyle/>
                    <a:p>
                      <a:pPr algn="ctr" fontAlgn="ctr"/>
                      <a:r>
                        <a:rPr lang="zh-TW" altLang="en-US" sz="1400" u="none" strike="noStrike" dirty="0"/>
                        <a:t>服务器配置</a:t>
                      </a:r>
                      <a:endParaRPr lang="zh-TW" alt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zh-TW" altLang="en-US" sz="1400" u="none" strike="noStrike" dirty="0"/>
                        <a:t>用途</a:t>
                      </a:r>
                      <a:endParaRPr lang="zh-TW" alt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90500">
                <a:tc>
                  <a:txBody>
                    <a:bodyPr/>
                    <a:lstStyle/>
                    <a:p>
                      <a:pPr algn="ctr" fontAlgn="ctr"/>
                      <a:r>
                        <a:rPr lang="en-US" sz="1400" u="none" strike="noStrike"/>
                        <a:t>I3-2100-4G</a:t>
                      </a:r>
                      <a:endParaRPr lang="en-US" sz="1400" b="0" i="0" u="none" strike="noStrike">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zh-TW" altLang="en-US" sz="1400" u="none" strike="noStrike"/>
                        <a:t>网站服务器</a:t>
                      </a:r>
                      <a:endParaRPr lang="zh-TW" altLang="en-US" sz="1400" b="0" i="0" u="none" strike="noStrike">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90500">
                <a:tc>
                  <a:txBody>
                    <a:bodyPr/>
                    <a:lstStyle/>
                    <a:p>
                      <a:pPr algn="ctr" fontAlgn="ctr"/>
                      <a:r>
                        <a:rPr lang="en-US" sz="1400" u="none" strike="noStrike" dirty="0"/>
                        <a:t>VPS-1G</a:t>
                      </a:r>
                      <a:endParaRPr 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b"/>
                      <a:r>
                        <a:rPr lang="zh-TW" altLang="en-US" sz="1400" u="none" strike="noStrike" dirty="0"/>
                        <a:t>资讯平台</a:t>
                      </a:r>
                      <a:endParaRPr lang="zh-TW" altLang="en-US" sz="1400" b="0" i="0" u="none" strike="noStrike" dirty="0">
                        <a:solidFill>
                          <a:srgbClr val="000000"/>
                        </a:solidFill>
                        <a:latin typeface="新細明體"/>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r h="190500">
                <a:tc>
                  <a:txBody>
                    <a:bodyPr/>
                    <a:lstStyle/>
                    <a:p>
                      <a:pPr algn="ctr" fontAlgn="ctr"/>
                      <a:r>
                        <a:rPr lang="en-US" sz="1400" u="none" strike="noStrike" dirty="0"/>
                        <a:t>VPS-1G</a:t>
                      </a:r>
                      <a:endParaRPr 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ctr"/>
                      <a:endParaRPr lang="zh-TW" alt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r h="190500">
                <a:tc>
                  <a:txBody>
                    <a:bodyPr/>
                    <a:lstStyle/>
                    <a:p>
                      <a:pPr algn="ctr" fontAlgn="ctr"/>
                      <a:r>
                        <a:rPr lang="en-US" sz="1400" u="none" strike="noStrike"/>
                        <a:t>VPS-1G</a:t>
                      </a:r>
                      <a:endParaRPr lang="en-US" sz="1400" b="0" i="0" u="none" strike="noStrike">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ctr"/>
                      <a:r>
                        <a:rPr lang="zh-TW" altLang="en-US" sz="1400" u="none" strike="noStrike" dirty="0"/>
                        <a:t>市场部使用</a:t>
                      </a:r>
                      <a:endParaRPr lang="zh-TW" alt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r h="190500">
                <a:tc>
                  <a:txBody>
                    <a:bodyPr/>
                    <a:lstStyle/>
                    <a:p>
                      <a:pPr algn="ctr" fontAlgn="ctr"/>
                      <a:r>
                        <a:rPr lang="en-US" sz="1400" u="none" strike="noStrike" dirty="0"/>
                        <a:t>E3-8G</a:t>
                      </a:r>
                      <a:endParaRPr 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zh-CN" altLang="en-US" sz="1400" u="none" strike="noStrike" dirty="0"/>
                        <a:t>和记代理服务器</a:t>
                      </a:r>
                      <a:endParaRPr lang="zh-CN" alt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90500">
                <a:tc>
                  <a:txBody>
                    <a:bodyPr/>
                    <a:lstStyle/>
                    <a:p>
                      <a:pPr algn="ctr" fontAlgn="ctr"/>
                      <a:r>
                        <a:rPr lang="en-US" sz="1400" u="none" strike="noStrike" dirty="0"/>
                        <a:t>E3-8G</a:t>
                      </a:r>
                      <a:endParaRPr 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zh-TW" altLang="en-US" sz="1400" u="none" strike="noStrike"/>
                        <a:t>和记前台</a:t>
                      </a:r>
                      <a:endParaRPr lang="zh-TW" altLang="en-US" sz="1400" b="0" i="0" u="none" strike="noStrike">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90500">
                <a:tc>
                  <a:txBody>
                    <a:bodyPr/>
                    <a:lstStyle/>
                    <a:p>
                      <a:pPr algn="ctr" fontAlgn="ctr"/>
                      <a:r>
                        <a:rPr lang="en-US" sz="1400" u="none" strike="noStrike"/>
                        <a:t>E3-8G</a:t>
                      </a:r>
                      <a:endParaRPr lang="en-US" sz="1400" b="0" i="0" u="none" strike="noStrike">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zh-TW" altLang="en-US" sz="1400" u="none" strike="noStrike"/>
                        <a:t>和记网站</a:t>
                      </a:r>
                      <a:endParaRPr lang="zh-TW" altLang="en-US" sz="1400" b="0" i="0" u="none" strike="noStrike">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90500">
                <a:tc>
                  <a:txBody>
                    <a:bodyPr/>
                    <a:lstStyle/>
                    <a:p>
                      <a:pPr algn="ctr" fontAlgn="ctr"/>
                      <a:r>
                        <a:rPr lang="en-US" sz="1400" u="none" strike="noStrike" dirty="0"/>
                        <a:t>E5-16G</a:t>
                      </a:r>
                      <a:endParaRPr 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zh-TW" altLang="en-US" sz="1400" u="none" strike="noStrike" dirty="0"/>
                        <a:t>和记后台</a:t>
                      </a:r>
                      <a:endParaRPr lang="zh-TW" alt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90500">
                <a:tc>
                  <a:txBody>
                    <a:bodyPr/>
                    <a:lstStyle/>
                    <a:p>
                      <a:pPr algn="ctr" fontAlgn="ctr"/>
                      <a:r>
                        <a:rPr lang="en-US" sz="1400" u="none" strike="noStrike" dirty="0"/>
                        <a:t>E5620-8G</a:t>
                      </a:r>
                      <a:endParaRPr 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400" u="none" strike="noStrike"/>
                        <a:t>MG</a:t>
                      </a:r>
                      <a:r>
                        <a:rPr lang="zh-TW" altLang="en-US" sz="1400" u="none" strike="noStrike"/>
                        <a:t>的</a:t>
                      </a:r>
                      <a:r>
                        <a:rPr lang="en-US" sz="1400" u="none" strike="noStrike"/>
                        <a:t>API</a:t>
                      </a:r>
                      <a:r>
                        <a:rPr lang="zh-TW" altLang="en-US" sz="1400" u="none" strike="noStrike"/>
                        <a:t>服务器</a:t>
                      </a:r>
                      <a:endParaRPr lang="zh-TW" altLang="en-US" sz="1400" b="0" i="0" u="none" strike="noStrike">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90500">
                <a:tc>
                  <a:txBody>
                    <a:bodyPr/>
                    <a:lstStyle/>
                    <a:p>
                      <a:pPr algn="ctr" fontAlgn="ctr"/>
                      <a:r>
                        <a:rPr lang="en-US" sz="1400" u="none" strike="noStrike"/>
                        <a:t>E6500-4G</a:t>
                      </a:r>
                      <a:endParaRPr lang="en-US" sz="1400" b="0" i="0" u="none" strike="noStrike">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zh-CN" altLang="en-US" sz="1400" u="none" strike="noStrike"/>
                        <a:t>和记图片服务器</a:t>
                      </a:r>
                      <a:r>
                        <a:rPr lang="en-US" altLang="zh-CN" sz="1400" u="none" strike="noStrike"/>
                        <a:t>linux</a:t>
                      </a:r>
                      <a:endParaRPr lang="en-US" altLang="zh-CN" sz="1400" b="0" i="0" u="none" strike="noStrike">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90500">
                <a:tc>
                  <a:txBody>
                    <a:bodyPr/>
                    <a:lstStyle/>
                    <a:p>
                      <a:pPr algn="ctr" fontAlgn="ctr"/>
                      <a:r>
                        <a:rPr lang="en-US" sz="1400" u="none" strike="noStrike" dirty="0"/>
                        <a:t>E5-2640-16G</a:t>
                      </a:r>
                      <a:endParaRPr 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zh-CN" altLang="en-US" sz="1400" u="none" strike="noStrike"/>
                        <a:t>客户追踪系统</a:t>
                      </a:r>
                      <a:endParaRPr lang="zh-CN" altLang="en-US" sz="1400" b="0" i="0" u="none" strike="noStrike">
                        <a:solidFill>
                          <a:srgbClr val="000000"/>
                        </a:solidFill>
                        <a:latin typeface="新細明體"/>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90500">
                <a:tc>
                  <a:txBody>
                    <a:bodyPr/>
                    <a:lstStyle/>
                    <a:p>
                      <a:pPr algn="ctr" fontAlgn="ctr"/>
                      <a:r>
                        <a:rPr lang="en-US" sz="1400" u="none" strike="noStrike"/>
                        <a:t>X3430-2G</a:t>
                      </a:r>
                      <a:endParaRPr lang="en-US" sz="1400" b="0" i="0" u="none" strike="noStrike">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zh-TW" altLang="en-US" sz="1400" u="none" strike="noStrike" dirty="0"/>
                        <a:t>主站</a:t>
                      </a:r>
                      <a:endParaRPr lang="zh-TW" alt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90500">
                <a:tc>
                  <a:txBody>
                    <a:bodyPr/>
                    <a:lstStyle/>
                    <a:p>
                      <a:pPr algn="ctr" fontAlgn="ctr"/>
                      <a:r>
                        <a:rPr lang="en-US" sz="1400" u="none" strike="noStrike" dirty="0"/>
                        <a:t>X3430-2G</a:t>
                      </a:r>
                      <a:endParaRPr 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400" u="none" strike="noStrike" dirty="0"/>
                        <a:t>DDOS</a:t>
                      </a:r>
                      <a:endParaRPr 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90500">
                <a:tc>
                  <a:txBody>
                    <a:bodyPr/>
                    <a:lstStyle/>
                    <a:p>
                      <a:pPr algn="ctr" fontAlgn="ctr"/>
                      <a:r>
                        <a:rPr lang="en-US" sz="1400" u="none" strike="noStrike"/>
                        <a:t>X3430-4G</a:t>
                      </a:r>
                      <a:endParaRPr lang="en-US" sz="1400" b="0" i="0" u="none" strike="noStrike">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zh-TW" altLang="en-US" sz="1400" u="none" strike="noStrike"/>
                        <a:t>和记网站</a:t>
                      </a:r>
                      <a:endParaRPr lang="zh-TW" altLang="en-US" sz="1400" b="0" i="0" u="none" strike="noStrike">
                        <a:solidFill>
                          <a:srgbClr val="000000"/>
                        </a:solidFill>
                        <a:latin typeface="新細明體"/>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90500">
                <a:tc>
                  <a:txBody>
                    <a:bodyPr/>
                    <a:lstStyle/>
                    <a:p>
                      <a:pPr algn="ctr" fontAlgn="ctr"/>
                      <a:r>
                        <a:rPr lang="en-US" sz="1400" u="none" strike="noStrike"/>
                        <a:t>E3-1230-4G</a:t>
                      </a:r>
                      <a:endParaRPr lang="en-US" sz="1400" b="0" i="0" u="none" strike="noStrike">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zh-CN" altLang="en-US" sz="1400" u="none" strike="noStrike"/>
                        <a:t>和记后台（同步用）</a:t>
                      </a:r>
                      <a:endParaRPr lang="zh-CN" altLang="en-US" sz="1400" b="0" i="0" u="none" strike="noStrike">
                        <a:solidFill>
                          <a:srgbClr val="000000"/>
                        </a:solidFill>
                        <a:latin typeface="新細明體"/>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90500">
                <a:tc>
                  <a:txBody>
                    <a:bodyPr/>
                    <a:lstStyle/>
                    <a:p>
                      <a:pPr algn="ctr" fontAlgn="ctr"/>
                      <a:r>
                        <a:rPr lang="en-US" sz="1400" u="none" strike="noStrike"/>
                        <a:t>E3-1230-8G</a:t>
                      </a:r>
                      <a:endParaRPr lang="en-US" sz="1400" b="0" i="0" u="none" strike="noStrike">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endParaRPr lang="zh-TW" altLang="en-US" sz="1400" b="0" i="0" u="none" strike="noStrike">
                        <a:solidFill>
                          <a:srgbClr val="000000"/>
                        </a:solidFill>
                        <a:latin typeface="新細明體"/>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90500">
                <a:tc>
                  <a:txBody>
                    <a:bodyPr/>
                    <a:lstStyle/>
                    <a:p>
                      <a:pPr algn="ctr" fontAlgn="ctr"/>
                      <a:r>
                        <a:rPr lang="en-US" sz="1400" u="none" strike="noStrike" dirty="0"/>
                        <a:t>E6500-4G</a:t>
                      </a:r>
                      <a:endParaRPr 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zh-TW" altLang="en-US" sz="1400" u="none" strike="noStrike" dirty="0"/>
                        <a:t>图片</a:t>
                      </a:r>
                      <a:endParaRPr lang="zh-TW" altLang="en-US" sz="1400" b="0" i="0" u="none" strike="noStrike" dirty="0">
                        <a:solidFill>
                          <a:srgbClr val="000000"/>
                        </a:solidFill>
                        <a:latin typeface="新細明體"/>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90500">
                <a:tc>
                  <a:txBody>
                    <a:bodyPr/>
                    <a:lstStyle/>
                    <a:p>
                      <a:pPr algn="ctr" fontAlgn="ctr"/>
                      <a:r>
                        <a:rPr lang="en-US" sz="1400" u="none" strike="noStrike" dirty="0"/>
                        <a:t>L5420-8G</a:t>
                      </a:r>
                      <a:endParaRPr 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endParaRPr lang="zh-TW" alt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bl>
          </a:graphicData>
        </a:graphic>
      </p:graphicFrame>
      <p:graphicFrame>
        <p:nvGraphicFramePr>
          <p:cNvPr id="7" name="表格 6"/>
          <p:cNvGraphicFramePr>
            <a:graphicFrameLocks noGrp="1"/>
          </p:cNvGraphicFramePr>
          <p:nvPr/>
        </p:nvGraphicFramePr>
        <p:xfrm>
          <a:off x="5652120" y="1124744"/>
          <a:ext cx="3491880" cy="1767840"/>
        </p:xfrm>
        <a:graphic>
          <a:graphicData uri="http://schemas.openxmlformats.org/drawingml/2006/table">
            <a:tbl>
              <a:tblPr/>
              <a:tblGrid>
                <a:gridCol w="1431670"/>
                <a:gridCol w="2060210"/>
              </a:tblGrid>
              <a:tr h="190500">
                <a:tc gridSpan="2">
                  <a:txBody>
                    <a:bodyPr/>
                    <a:lstStyle/>
                    <a:p>
                      <a:pPr algn="ctr" fontAlgn="ctr"/>
                      <a:r>
                        <a:rPr lang="zh-TW" altLang="en-US" sz="1400" b="0" i="0" u="none" strike="noStrike" dirty="0" smtClean="0">
                          <a:solidFill>
                            <a:srgbClr val="000000"/>
                          </a:solidFill>
                          <a:latin typeface="新細明體"/>
                        </a:rPr>
                        <a:t>測試主機</a:t>
                      </a:r>
                      <a:endParaRPr lang="zh-TW" alt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xBody>
                    <a:bodyPr/>
                    <a:lstStyle/>
                    <a:p>
                      <a:pPr algn="ctr" fontAlgn="ctr"/>
                      <a:endParaRPr lang="zh-TW" altLang="en-US" sz="1100" b="0" i="0" u="none" strike="noStrike" dirty="0">
                        <a:solidFill>
                          <a:srgbClr val="000000"/>
                        </a:solidFill>
                        <a:latin typeface="新細明體"/>
                      </a:endParaRPr>
                    </a:p>
                  </a:txBody>
                  <a:tcPr marL="7620" marR="7620" marT="7620" marB="0" anchor="ctr">
                    <a:lnL>
                      <a:noFill/>
                    </a:lnL>
                    <a:lnR>
                      <a:noFill/>
                    </a:lnR>
                    <a:lnT>
                      <a:noFill/>
                    </a:lnT>
                    <a:lnB>
                      <a:noFill/>
                    </a:lnB>
                  </a:tcPr>
                </a:tc>
              </a:tr>
              <a:tr h="190500">
                <a:tc>
                  <a:txBody>
                    <a:bodyPr/>
                    <a:lstStyle/>
                    <a:p>
                      <a:pPr algn="ctr" fontAlgn="ctr"/>
                      <a:r>
                        <a:rPr lang="zh-TW" altLang="en-US" sz="1400" b="0" i="0" u="none" strike="noStrike" dirty="0">
                          <a:solidFill>
                            <a:srgbClr val="000000"/>
                          </a:solidFill>
                          <a:latin typeface="新細明體"/>
                        </a:rPr>
                        <a:t>服务器配置</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zh-TW" altLang="en-US" sz="1400" b="0" i="0" u="none" strike="noStrike" dirty="0">
                          <a:solidFill>
                            <a:srgbClr val="000000"/>
                          </a:solidFill>
                          <a:latin typeface="新細明體"/>
                        </a:rPr>
                        <a:t>用途</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r>
              <a:tr h="190500">
                <a:tc>
                  <a:txBody>
                    <a:bodyPr/>
                    <a:lstStyle/>
                    <a:p>
                      <a:pPr algn="ctr" fontAlgn="ctr"/>
                      <a:r>
                        <a:rPr lang="en-US" altLang="en-US" sz="1400" b="0" i="0" u="none" strike="noStrike" kern="1200" dirty="0">
                          <a:solidFill>
                            <a:srgbClr val="000000"/>
                          </a:solidFill>
                          <a:latin typeface="新細明體"/>
                          <a:ea typeface="+mn-ea"/>
                          <a:cs typeface="+mn-cs"/>
                        </a:rPr>
                        <a:t>E6500-2G</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zh-TW" altLang="en-US" sz="1400" b="0" i="0" u="none" strike="noStrike">
                          <a:solidFill>
                            <a:srgbClr val="000000"/>
                          </a:solidFill>
                          <a:latin typeface="新細明體"/>
                        </a:rPr>
                        <a:t>财务</a:t>
                      </a:r>
                      <a:r>
                        <a:rPr lang="en-US" sz="1400" b="0" i="0" u="none" strike="noStrike">
                          <a:solidFill>
                            <a:srgbClr val="000000"/>
                          </a:solidFill>
                          <a:latin typeface="新細明體"/>
                        </a:rPr>
                        <a:t>VPN</a:t>
                      </a:r>
                      <a:r>
                        <a:rPr lang="zh-TW" altLang="en-US" sz="1400" b="0" i="0" u="none" strike="noStrike">
                          <a:solidFill>
                            <a:srgbClr val="000000"/>
                          </a:solidFill>
                          <a:latin typeface="新細明體"/>
                        </a:rPr>
                        <a:t>服务器</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r>
              <a:tr h="190500">
                <a:tc>
                  <a:txBody>
                    <a:bodyPr/>
                    <a:lstStyle/>
                    <a:p>
                      <a:pPr algn="ctr" fontAlgn="ctr"/>
                      <a:r>
                        <a:rPr lang="en-US" sz="1400" b="0" i="0" u="none" strike="noStrike">
                          <a:solidFill>
                            <a:srgbClr val="000000"/>
                          </a:solidFill>
                          <a:latin typeface="新細明體"/>
                        </a:rPr>
                        <a:t>E6500-2G</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zh-TW" altLang="en-US" sz="1400" b="0" i="0" u="none" strike="noStrike" dirty="0">
                          <a:solidFill>
                            <a:srgbClr val="000000"/>
                          </a:solidFill>
                          <a:latin typeface="新細明體"/>
                        </a:rPr>
                        <a:t>财务</a:t>
                      </a:r>
                      <a:r>
                        <a:rPr lang="en-US" sz="1400" b="0" i="0" u="none" strike="noStrike" dirty="0">
                          <a:solidFill>
                            <a:srgbClr val="000000"/>
                          </a:solidFill>
                          <a:latin typeface="新細明體"/>
                        </a:rPr>
                        <a:t>VPN</a:t>
                      </a:r>
                      <a:r>
                        <a:rPr lang="zh-TW" altLang="en-US" sz="1400" b="0" i="0" u="none" strike="noStrike" dirty="0">
                          <a:solidFill>
                            <a:srgbClr val="000000"/>
                          </a:solidFill>
                          <a:latin typeface="新細明體"/>
                        </a:rPr>
                        <a:t>服务器</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r>
              <a:tr h="190500">
                <a:tc>
                  <a:txBody>
                    <a:bodyPr/>
                    <a:lstStyle/>
                    <a:p>
                      <a:pPr algn="ctr" fontAlgn="ctr"/>
                      <a:r>
                        <a:rPr lang="en-US" sz="1400" b="0" i="0" u="none" strike="noStrike">
                          <a:solidFill>
                            <a:srgbClr val="000000"/>
                          </a:solidFill>
                          <a:latin typeface="新細明體"/>
                        </a:rPr>
                        <a:t>E6500-2G</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zh-TW" altLang="en-US" sz="1400" b="0" i="0" u="none" strike="noStrike">
                          <a:solidFill>
                            <a:srgbClr val="000000"/>
                          </a:solidFill>
                          <a:latin typeface="新細明體"/>
                        </a:rPr>
                        <a:t>财务</a:t>
                      </a:r>
                      <a:r>
                        <a:rPr lang="en-US" sz="1400" b="0" i="0" u="none" strike="noStrike">
                          <a:solidFill>
                            <a:srgbClr val="000000"/>
                          </a:solidFill>
                          <a:latin typeface="新細明體"/>
                        </a:rPr>
                        <a:t>VPN</a:t>
                      </a:r>
                      <a:r>
                        <a:rPr lang="zh-TW" altLang="en-US" sz="1400" b="0" i="0" u="none" strike="noStrike">
                          <a:solidFill>
                            <a:srgbClr val="000000"/>
                          </a:solidFill>
                          <a:latin typeface="新細明體"/>
                        </a:rPr>
                        <a:t>服务器</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r>
              <a:tr h="190500">
                <a:tc>
                  <a:txBody>
                    <a:bodyPr/>
                    <a:lstStyle/>
                    <a:p>
                      <a:pPr algn="ctr" fontAlgn="ctr"/>
                      <a:r>
                        <a:rPr lang="en-US" sz="1400" b="0" i="0" u="none" strike="noStrike">
                          <a:solidFill>
                            <a:srgbClr val="000000"/>
                          </a:solidFill>
                          <a:latin typeface="新細明體"/>
                        </a:rPr>
                        <a:t>E6550-2G</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zh-TW" altLang="en-US" sz="1400" b="0" i="0" u="none" strike="noStrike">
                          <a:solidFill>
                            <a:srgbClr val="000000"/>
                          </a:solidFill>
                          <a:latin typeface="新細明體"/>
                        </a:rPr>
                        <a:t>财务</a:t>
                      </a:r>
                      <a:r>
                        <a:rPr lang="en-US" sz="1400" b="0" i="0" u="none" strike="noStrike">
                          <a:solidFill>
                            <a:srgbClr val="000000"/>
                          </a:solidFill>
                          <a:latin typeface="新細明體"/>
                        </a:rPr>
                        <a:t>VPN</a:t>
                      </a:r>
                      <a:r>
                        <a:rPr lang="zh-TW" altLang="en-US" sz="1400" b="0" i="0" u="none" strike="noStrike">
                          <a:solidFill>
                            <a:srgbClr val="000000"/>
                          </a:solidFill>
                          <a:latin typeface="新細明體"/>
                        </a:rPr>
                        <a:t>服务器</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r>
              <a:tr h="198120">
                <a:tc>
                  <a:txBody>
                    <a:bodyPr/>
                    <a:lstStyle/>
                    <a:p>
                      <a:pPr algn="ctr" fontAlgn="ctr"/>
                      <a:r>
                        <a:rPr lang="en-US" sz="1400" b="0" i="0" u="none" strike="noStrike" dirty="0">
                          <a:solidFill>
                            <a:srgbClr val="000000"/>
                          </a:solidFill>
                          <a:latin typeface="新細明體"/>
                        </a:rPr>
                        <a:t>VPS-1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ctr"/>
                      <a:r>
                        <a:rPr lang="en-US" sz="1400" b="0" i="0" u="none" strike="noStrike" dirty="0" err="1">
                          <a:solidFill>
                            <a:srgbClr val="FFFFFF"/>
                          </a:solidFill>
                          <a:latin typeface="宋体"/>
                        </a:rPr>
                        <a:t>knney</a:t>
                      </a:r>
                      <a:r>
                        <a:rPr lang="zh-TW" altLang="en-US" sz="1400" b="0" i="0" u="none" strike="noStrike" dirty="0">
                          <a:solidFill>
                            <a:srgbClr val="FFFFFF"/>
                          </a:solidFill>
                          <a:latin typeface="宋体"/>
                        </a:rPr>
                        <a:t>香港</a:t>
                      </a:r>
                      <a:r>
                        <a:rPr lang="en-US" sz="1400" b="0" i="0" u="none" strike="noStrike" dirty="0" err="1">
                          <a:solidFill>
                            <a:srgbClr val="FFFFFF"/>
                          </a:solidFill>
                          <a:latin typeface="宋体"/>
                        </a:rPr>
                        <a:t>vpn</a:t>
                      </a:r>
                      <a:endParaRPr lang="en-US" sz="1400" b="0" i="0" u="none" strike="noStrike" dirty="0">
                        <a:solidFill>
                          <a:srgbClr val="FFFFFF"/>
                        </a:solidFill>
                        <a:latin typeface="宋体"/>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r h="198120">
                <a:tc>
                  <a:txBody>
                    <a:bodyPr/>
                    <a:lstStyle/>
                    <a:p>
                      <a:pPr algn="ctr" fontAlgn="ctr"/>
                      <a:r>
                        <a:rPr lang="en-US" sz="1400" b="0" i="0" u="none" strike="noStrike">
                          <a:solidFill>
                            <a:srgbClr val="000000"/>
                          </a:solidFill>
                          <a:latin typeface="新細明體"/>
                        </a:rPr>
                        <a:t>E6550-2G</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r>
                        <a:rPr lang="zh-TW" altLang="en-US" sz="1400" b="0" i="0" u="none" strike="noStrike" dirty="0">
                          <a:solidFill>
                            <a:srgbClr val="000000"/>
                          </a:solidFill>
                          <a:latin typeface="新細明體"/>
                        </a:rPr>
                        <a:t>香港</a:t>
                      </a:r>
                      <a:r>
                        <a:rPr lang="en-US" sz="1400" b="0" i="0" u="none" strike="noStrike" dirty="0">
                          <a:solidFill>
                            <a:srgbClr val="000000"/>
                          </a:solidFill>
                          <a:latin typeface="新細明體"/>
                        </a:rPr>
                        <a:t>VPN</a:t>
                      </a:r>
                      <a:r>
                        <a:rPr lang="zh-TW" altLang="en-US" sz="1400" b="0" i="0" u="none" strike="noStrike" dirty="0">
                          <a:solidFill>
                            <a:srgbClr val="000000"/>
                          </a:solidFill>
                          <a:latin typeface="新細明體"/>
                        </a:rPr>
                        <a:t>服务器</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r>
            </a:tbl>
          </a:graphicData>
        </a:graphic>
      </p:graphicFrame>
      <p:graphicFrame>
        <p:nvGraphicFramePr>
          <p:cNvPr id="8" name="表格 7"/>
          <p:cNvGraphicFramePr>
            <a:graphicFrameLocks noGrp="1"/>
          </p:cNvGraphicFramePr>
          <p:nvPr/>
        </p:nvGraphicFramePr>
        <p:xfrm>
          <a:off x="3365996" y="5013176"/>
          <a:ext cx="2142108" cy="1767840"/>
        </p:xfrm>
        <a:graphic>
          <a:graphicData uri="http://schemas.openxmlformats.org/drawingml/2006/table">
            <a:tbl>
              <a:tblPr/>
              <a:tblGrid>
                <a:gridCol w="1090767"/>
                <a:gridCol w="1051341"/>
              </a:tblGrid>
              <a:tr h="187832">
                <a:tc gridSpan="2">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TW" sz="1400" dirty="0" smtClean="0"/>
                        <a:t>DB</a:t>
                      </a:r>
                      <a:r>
                        <a:rPr lang="zh-TW" altLang="en-US" sz="1400" dirty="0" smtClean="0"/>
                        <a:t>主機</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hMerge="1">
                  <a:txBody>
                    <a:bodyPr/>
                    <a:lstStyle/>
                    <a:p>
                      <a:pPr algn="ctr" fontAlgn="ctr"/>
                      <a:endParaRPr lang="zh-TW" altLang="en-US" sz="1100" b="0" i="0" u="none" strike="noStrike" dirty="0">
                        <a:solidFill>
                          <a:srgbClr val="000000"/>
                        </a:solidFill>
                        <a:latin typeface="新細明體"/>
                      </a:endParaRPr>
                    </a:p>
                  </a:txBody>
                  <a:tcPr marL="7620" marR="7620" marT="7620" marB="0" anchor="ctr">
                    <a:lnL>
                      <a:noFill/>
                    </a:lnL>
                    <a:lnR>
                      <a:noFill/>
                    </a:lnR>
                    <a:lnT>
                      <a:noFill/>
                    </a:lnT>
                    <a:lnB>
                      <a:noFill/>
                    </a:lnB>
                  </a:tcPr>
                </a:tc>
              </a:tr>
              <a:tr h="187832">
                <a:tc>
                  <a:txBody>
                    <a:bodyPr/>
                    <a:lstStyle/>
                    <a:p>
                      <a:pPr algn="ctr" fontAlgn="ctr"/>
                      <a:r>
                        <a:rPr lang="zh-TW" altLang="en-US" sz="1400" b="0" i="0" u="none" strike="noStrike" dirty="0">
                          <a:solidFill>
                            <a:srgbClr val="000000"/>
                          </a:solidFill>
                          <a:latin typeface="新細明體"/>
                        </a:rPr>
                        <a:t>服务器配置</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zh-TW" altLang="en-US" sz="1400" b="0" i="0" u="none" strike="noStrike" dirty="0">
                          <a:solidFill>
                            <a:srgbClr val="000000"/>
                          </a:solidFill>
                          <a:latin typeface="新細明體"/>
                        </a:rPr>
                        <a:t>用途</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7832">
                <a:tc>
                  <a:txBody>
                    <a:bodyPr/>
                    <a:lstStyle/>
                    <a:p>
                      <a:pPr algn="ctr" fontAlgn="ctr"/>
                      <a:r>
                        <a:rPr lang="en-US" sz="1400" b="0" i="0" u="none" strike="noStrike">
                          <a:solidFill>
                            <a:srgbClr val="000000"/>
                          </a:solidFill>
                          <a:latin typeface="新細明體"/>
                        </a:rPr>
                        <a:t>E5410-16G</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zh-TW" altLang="en-US" sz="1400" b="0" i="0" u="none" strike="noStrike">
                          <a:solidFill>
                            <a:srgbClr val="000000"/>
                          </a:solidFill>
                          <a:latin typeface="新細明體"/>
                        </a:rPr>
                        <a:t>管端数据</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7832">
                <a:tc>
                  <a:txBody>
                    <a:bodyPr/>
                    <a:lstStyle/>
                    <a:p>
                      <a:pPr algn="ctr" fontAlgn="ctr"/>
                      <a:r>
                        <a:rPr lang="en-US" sz="1400" b="0" i="0" u="none" strike="noStrike">
                          <a:solidFill>
                            <a:srgbClr val="000000"/>
                          </a:solidFill>
                          <a:latin typeface="新細明體"/>
                        </a:rPr>
                        <a:t>I5-750-8G</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1400" b="0" i="0" u="none" strike="noStrike">
                          <a:solidFill>
                            <a:srgbClr val="000000"/>
                          </a:solidFill>
                          <a:latin typeface="新細明體"/>
                        </a:rPr>
                        <a:t>DATABAK</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7832">
                <a:tc>
                  <a:txBody>
                    <a:bodyPr/>
                    <a:lstStyle/>
                    <a:p>
                      <a:pPr algn="ctr" fontAlgn="ctr"/>
                      <a:r>
                        <a:rPr lang="en-US" sz="1400" b="0" i="0" u="none" strike="noStrike" dirty="0">
                          <a:solidFill>
                            <a:srgbClr val="000000"/>
                          </a:solidFill>
                          <a:latin typeface="新細明體"/>
                        </a:rPr>
                        <a:t>E5-2620-16G</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1400" b="0" i="0" u="none" strike="noStrike">
                          <a:solidFill>
                            <a:srgbClr val="000000"/>
                          </a:solidFill>
                          <a:latin typeface="新細明體"/>
                        </a:rPr>
                        <a:t>DATABAK</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7832">
                <a:tc>
                  <a:txBody>
                    <a:bodyPr/>
                    <a:lstStyle/>
                    <a:p>
                      <a:pPr algn="ctr" fontAlgn="ctr"/>
                      <a:r>
                        <a:rPr lang="en-US" sz="1400" b="0" i="0" u="none" strike="noStrike" dirty="0">
                          <a:solidFill>
                            <a:srgbClr val="000000"/>
                          </a:solidFill>
                          <a:latin typeface="新細明體"/>
                        </a:rPr>
                        <a:t>E5-16G</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zh-TW" altLang="en-US" sz="1400" b="0" i="0" u="none" strike="noStrike">
                          <a:solidFill>
                            <a:srgbClr val="000000"/>
                          </a:solidFill>
                          <a:latin typeface="新細明體"/>
                        </a:rPr>
                        <a:t> 和记数据库</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7832">
                <a:tc>
                  <a:txBody>
                    <a:bodyPr/>
                    <a:lstStyle/>
                    <a:p>
                      <a:pPr algn="ctr" fontAlgn="ctr"/>
                      <a:r>
                        <a:rPr lang="en-US" sz="1400" b="0" i="0" u="none" strike="noStrike">
                          <a:solidFill>
                            <a:srgbClr val="000000"/>
                          </a:solidFill>
                          <a:latin typeface="新細明體"/>
                        </a:rPr>
                        <a:t>X3430-8G</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zh-TW" altLang="en-US" sz="1400" b="0" i="0" u="none" strike="noStrike">
                          <a:solidFill>
                            <a:srgbClr val="000000"/>
                          </a:solidFill>
                          <a:latin typeface="新細明體"/>
                        </a:rPr>
                        <a:t>数据库</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7832">
                <a:tc>
                  <a:txBody>
                    <a:bodyPr/>
                    <a:lstStyle/>
                    <a:p>
                      <a:pPr algn="ctr" fontAlgn="ctr"/>
                      <a:r>
                        <a:rPr lang="en-US" sz="1400" b="0" i="0" u="none" strike="noStrike" dirty="0">
                          <a:solidFill>
                            <a:srgbClr val="000000"/>
                          </a:solidFill>
                          <a:latin typeface="新細明體"/>
                        </a:rPr>
                        <a:t>E3-1230-4G</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b"/>
                      <a:r>
                        <a:rPr lang="zh-TW" altLang="en-US" sz="1400" b="0" i="0" u="none" strike="noStrike" dirty="0">
                          <a:solidFill>
                            <a:srgbClr val="000000"/>
                          </a:solidFill>
                          <a:latin typeface="新細明體"/>
                        </a:rPr>
                        <a:t>数据库</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bl>
          </a:graphicData>
        </a:graphic>
      </p:graphicFrame>
      <p:graphicFrame>
        <p:nvGraphicFramePr>
          <p:cNvPr id="9" name="表格 8"/>
          <p:cNvGraphicFramePr>
            <a:graphicFrameLocks noGrp="1"/>
          </p:cNvGraphicFramePr>
          <p:nvPr/>
        </p:nvGraphicFramePr>
        <p:xfrm>
          <a:off x="5652121" y="3212976"/>
          <a:ext cx="3456383" cy="3307080"/>
        </p:xfrm>
        <a:graphic>
          <a:graphicData uri="http://schemas.openxmlformats.org/drawingml/2006/table">
            <a:tbl>
              <a:tblPr/>
              <a:tblGrid>
                <a:gridCol w="1249295"/>
                <a:gridCol w="1221533"/>
                <a:gridCol w="985555"/>
              </a:tblGrid>
              <a:tr h="190500">
                <a:tc gridSpan="3">
                  <a:txBody>
                    <a:bodyPr/>
                    <a:lstStyle/>
                    <a:p>
                      <a:pPr algn="ctr" fontAlgn="ctr"/>
                      <a:r>
                        <a:rPr lang="en-US" altLang="zh-TW" sz="1400" b="0" i="0" u="none" strike="noStrike" dirty="0" smtClean="0">
                          <a:solidFill>
                            <a:srgbClr val="000000"/>
                          </a:solidFill>
                          <a:latin typeface="新細明體"/>
                        </a:rPr>
                        <a:t>OA</a:t>
                      </a:r>
                      <a:r>
                        <a:rPr lang="zh-TW" altLang="en-US" sz="1400" b="0" i="0" u="none" strike="noStrike" dirty="0" smtClean="0">
                          <a:solidFill>
                            <a:srgbClr val="000000"/>
                          </a:solidFill>
                          <a:latin typeface="新細明體"/>
                        </a:rPr>
                        <a:t>主機</a:t>
                      </a:r>
                      <a:endParaRPr lang="zh-TW" alt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pPr algn="ctr" fontAlgn="ctr"/>
                      <a:endParaRPr lang="zh-TW" altLang="en-US" sz="11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l" fontAlgn="ctr"/>
                      <a:endParaRPr lang="zh-TW" altLang="en-US" sz="11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90500">
                <a:tc>
                  <a:txBody>
                    <a:bodyPr/>
                    <a:lstStyle/>
                    <a:p>
                      <a:pPr algn="ctr" fontAlgn="ctr"/>
                      <a:r>
                        <a:rPr lang="zh-TW" altLang="en-US" sz="1400" b="0" i="0" u="none" strike="noStrike" dirty="0">
                          <a:solidFill>
                            <a:srgbClr val="000000"/>
                          </a:solidFill>
                          <a:latin typeface="新細明體"/>
                        </a:rPr>
                        <a:t>服务器配置</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zh-TW" altLang="en-US" sz="1400" b="0" i="0" u="none" strike="noStrike" dirty="0">
                          <a:solidFill>
                            <a:srgbClr val="000000"/>
                          </a:solidFill>
                          <a:latin typeface="新細明體"/>
                        </a:rPr>
                        <a:t>用途</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l" fontAlgn="ctr"/>
                      <a:endParaRPr lang="zh-TW" alt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r>
              <a:tr h="190500">
                <a:tc>
                  <a:txBody>
                    <a:bodyPr/>
                    <a:lstStyle/>
                    <a:p>
                      <a:pPr algn="ctr" fontAlgn="ctr"/>
                      <a:r>
                        <a:rPr lang="en-US" sz="1400" b="0" i="0" u="none" strike="noStrike" dirty="0">
                          <a:solidFill>
                            <a:srgbClr val="000000"/>
                          </a:solidFill>
                          <a:latin typeface="新細明體"/>
                        </a:rPr>
                        <a:t>VPS-A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ctr"/>
                      <a:r>
                        <a:rPr lang="en-US" sz="1400" b="0" i="0" u="none" strike="noStrike" dirty="0">
                          <a:solidFill>
                            <a:srgbClr val="000000"/>
                          </a:solidFill>
                          <a:latin typeface="新細明體"/>
                        </a:rPr>
                        <a:t>VPS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ctr"/>
                      <a:endParaRPr lang="zh-TW" altLang="en-US" sz="1400" b="0" i="0" u="none" strike="noStrike">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r h="190500">
                <a:tc>
                  <a:txBody>
                    <a:bodyPr/>
                    <a:lstStyle/>
                    <a:p>
                      <a:pPr algn="ctr" fontAlgn="ctr"/>
                      <a:r>
                        <a:rPr lang="en-US" sz="1400" b="0" i="0" u="none" strike="noStrike">
                          <a:solidFill>
                            <a:srgbClr val="000000"/>
                          </a:solidFill>
                          <a:latin typeface="新細明體"/>
                        </a:rPr>
                        <a:t>VPS-A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ctr"/>
                      <a:r>
                        <a:rPr lang="en-US" sz="1400" b="0" i="0" u="none" strike="noStrike">
                          <a:solidFill>
                            <a:srgbClr val="000000"/>
                          </a:solidFill>
                          <a:latin typeface="新細明體"/>
                        </a:rPr>
                        <a:t>VPS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ctr"/>
                      <a:endParaRPr lang="zh-TW" alt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r h="190500">
                <a:tc>
                  <a:txBody>
                    <a:bodyPr/>
                    <a:lstStyle/>
                    <a:p>
                      <a:pPr algn="ctr" fontAlgn="ctr"/>
                      <a:r>
                        <a:rPr lang="en-US" sz="1400" b="0" i="0" u="none" strike="noStrike">
                          <a:solidFill>
                            <a:srgbClr val="000000"/>
                          </a:solidFill>
                          <a:latin typeface="新細明體"/>
                        </a:rPr>
                        <a:t>VPS-A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ctr"/>
                      <a:r>
                        <a:rPr lang="en-US" sz="1400" b="0" i="0" u="none" strike="noStrike">
                          <a:solidFill>
                            <a:srgbClr val="000000"/>
                          </a:solidFill>
                          <a:latin typeface="新細明體"/>
                        </a:rPr>
                        <a:t>VPS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ctr"/>
                      <a:endParaRPr lang="zh-TW" alt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r h="190500">
                <a:tc>
                  <a:txBody>
                    <a:bodyPr/>
                    <a:lstStyle/>
                    <a:p>
                      <a:pPr algn="ctr" fontAlgn="ctr"/>
                      <a:r>
                        <a:rPr lang="en-US" sz="1400" b="0" i="0" u="none" strike="noStrike">
                          <a:solidFill>
                            <a:srgbClr val="000000"/>
                          </a:solidFill>
                          <a:latin typeface="新細明體"/>
                        </a:rPr>
                        <a:t>VPS-A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ctr"/>
                      <a:r>
                        <a:rPr lang="en-US" sz="1400" b="0" i="0" u="none" strike="noStrike">
                          <a:solidFill>
                            <a:srgbClr val="000000"/>
                          </a:solidFill>
                          <a:latin typeface="新細明體"/>
                        </a:rPr>
                        <a:t>VPS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ctr"/>
                      <a:endParaRPr lang="zh-TW" alt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r h="190500">
                <a:tc>
                  <a:txBody>
                    <a:bodyPr/>
                    <a:lstStyle/>
                    <a:p>
                      <a:pPr algn="ctr" fontAlgn="ctr"/>
                      <a:r>
                        <a:rPr lang="en-US" sz="1400" b="0" i="0" u="none" strike="noStrike">
                          <a:solidFill>
                            <a:srgbClr val="000000"/>
                          </a:solidFill>
                          <a:latin typeface="新細明體"/>
                        </a:rPr>
                        <a:t>VPS-A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ctr"/>
                      <a:r>
                        <a:rPr lang="en-US" sz="1400" b="0" i="0" u="none" strike="noStrike">
                          <a:solidFill>
                            <a:srgbClr val="000000"/>
                          </a:solidFill>
                          <a:latin typeface="新細明體"/>
                        </a:rPr>
                        <a:t>VPS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ctr"/>
                      <a:endParaRPr lang="zh-TW" alt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r h="190500">
                <a:tc>
                  <a:txBody>
                    <a:bodyPr/>
                    <a:lstStyle/>
                    <a:p>
                      <a:pPr algn="ctr" fontAlgn="ctr"/>
                      <a:r>
                        <a:rPr lang="en-US" sz="1400" b="0" i="0" u="none" strike="noStrike">
                          <a:solidFill>
                            <a:srgbClr val="000000"/>
                          </a:solidFill>
                          <a:latin typeface="新細明體"/>
                        </a:rPr>
                        <a:t>VPS-A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ctr"/>
                      <a:r>
                        <a:rPr lang="en-US" sz="1400" b="0" i="0" u="none" strike="noStrike">
                          <a:solidFill>
                            <a:srgbClr val="000000"/>
                          </a:solidFill>
                          <a:latin typeface="新細明體"/>
                        </a:rPr>
                        <a:t>VPS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ctr"/>
                      <a:endParaRPr lang="zh-TW" alt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r h="190500">
                <a:tc>
                  <a:txBody>
                    <a:bodyPr/>
                    <a:lstStyle/>
                    <a:p>
                      <a:pPr algn="ctr" fontAlgn="ctr"/>
                      <a:r>
                        <a:rPr lang="en-US" sz="1400" b="0" i="0" u="none" strike="noStrike">
                          <a:solidFill>
                            <a:srgbClr val="000000"/>
                          </a:solidFill>
                          <a:latin typeface="新細明體"/>
                        </a:rPr>
                        <a:t>VPS-A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ctr"/>
                      <a:r>
                        <a:rPr lang="en-US" sz="1400" b="0" i="0" u="none" strike="noStrike">
                          <a:solidFill>
                            <a:srgbClr val="000000"/>
                          </a:solidFill>
                          <a:latin typeface="新細明體"/>
                        </a:rPr>
                        <a:t>VPS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ctr"/>
                      <a:endParaRPr lang="zh-TW" alt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r h="190500">
                <a:tc>
                  <a:txBody>
                    <a:bodyPr/>
                    <a:lstStyle/>
                    <a:p>
                      <a:pPr algn="ctr" fontAlgn="ctr"/>
                      <a:r>
                        <a:rPr lang="en-US" sz="1400" b="0" i="0" u="none" strike="noStrike">
                          <a:solidFill>
                            <a:srgbClr val="000000"/>
                          </a:solidFill>
                          <a:latin typeface="新細明體"/>
                        </a:rPr>
                        <a:t>I3-8G</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1400" b="0" i="0" u="none" strike="noStrike">
                          <a:solidFill>
                            <a:srgbClr val="000000"/>
                          </a:solidFill>
                          <a:latin typeface="新細明體"/>
                        </a:rPr>
                        <a:t>技术测试服务器</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endParaRPr lang="zh-TW" altLang="en-US" sz="1400" b="0" i="0" u="none" strike="noStrike">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r>
              <a:tr h="190500">
                <a:tc>
                  <a:txBody>
                    <a:bodyPr/>
                    <a:lstStyle/>
                    <a:p>
                      <a:pPr algn="ctr" fontAlgn="ctr"/>
                      <a:r>
                        <a:rPr lang="en-US" sz="1400" b="0" i="0" u="none" strike="noStrike" dirty="0">
                          <a:solidFill>
                            <a:srgbClr val="000000"/>
                          </a:solidFill>
                          <a:latin typeface="新細明體"/>
                        </a:rPr>
                        <a:t>VPS-A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ctr"/>
                      <a:r>
                        <a:rPr lang="en-US" sz="1400" b="0" i="0" u="none" strike="noStrike" dirty="0">
                          <a:solidFill>
                            <a:srgbClr val="000000"/>
                          </a:solidFill>
                          <a:latin typeface="新細明體"/>
                        </a:rPr>
                        <a:t>VPS(</a:t>
                      </a:r>
                      <a:r>
                        <a:rPr lang="zh-TW" altLang="en-US" sz="1400" b="0" i="0" u="none" strike="noStrike" dirty="0">
                          <a:solidFill>
                            <a:srgbClr val="000000"/>
                          </a:solidFill>
                          <a:latin typeface="新細明體"/>
                        </a:rPr>
                        <a:t>市场部用</a:t>
                      </a:r>
                      <a:r>
                        <a:rPr lang="en-US" altLang="zh-TW" sz="1400" b="0" i="0" u="none" strike="noStrike" dirty="0">
                          <a:solidFill>
                            <a:srgbClr val="000000"/>
                          </a:solidFill>
                          <a:latin typeface="新細明體"/>
                        </a:rPr>
                        <a: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ctr"/>
                      <a:endParaRPr lang="zh-TW" altLang="en-US" sz="1400" b="0" i="0" u="none" strike="noStrike" dirty="0">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r h="190500">
                <a:tc>
                  <a:txBody>
                    <a:bodyPr/>
                    <a:lstStyle/>
                    <a:p>
                      <a:pPr algn="ctr" fontAlgn="ctr"/>
                      <a:r>
                        <a:rPr lang="en-US" sz="1400" b="0" i="0" u="none" strike="noStrike">
                          <a:solidFill>
                            <a:srgbClr val="000000"/>
                          </a:solidFill>
                          <a:latin typeface="新細明體"/>
                        </a:rPr>
                        <a:t>I3-4G</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zh-CN" altLang="en-US" sz="1400" b="0" i="0" u="none" strike="noStrike">
                          <a:solidFill>
                            <a:srgbClr val="000000"/>
                          </a:solidFill>
                          <a:latin typeface="新細明體"/>
                        </a:rPr>
                        <a:t>财务资金平台</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endParaRPr lang="zh-TW" altLang="en-US" sz="1400" b="0" i="0" u="none" strike="noStrike">
                        <a:solidFill>
                          <a:srgbClr val="000000"/>
                        </a:solidFill>
                        <a:latin typeface="新細明體"/>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r>
              <a:tr h="190500">
                <a:tc>
                  <a:txBody>
                    <a:bodyPr/>
                    <a:lstStyle/>
                    <a:p>
                      <a:pPr algn="ctr" fontAlgn="ctr"/>
                      <a:r>
                        <a:rPr lang="en-US" sz="1400" b="0" i="0" u="none" strike="noStrike">
                          <a:solidFill>
                            <a:srgbClr val="000000"/>
                          </a:solidFill>
                          <a:latin typeface="新細明體"/>
                        </a:rPr>
                        <a:t>X3430-4G</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zh-TW" altLang="en-US" sz="1400" b="0" i="0" u="none" strike="noStrike">
                          <a:solidFill>
                            <a:srgbClr val="000000"/>
                          </a:solidFill>
                          <a:latin typeface="新細明體"/>
                        </a:rPr>
                        <a:t>客服系統</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zh-TW" altLang="en-US" sz="1400" b="0" i="0" u="none" strike="noStrike">
                          <a:solidFill>
                            <a:srgbClr val="000000"/>
                          </a:solidFill>
                          <a:latin typeface="新細明體"/>
                        </a:rPr>
                        <a:t>只需在台灣</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r>
              <a:tr h="190500">
                <a:tc>
                  <a:txBody>
                    <a:bodyPr/>
                    <a:lstStyle/>
                    <a:p>
                      <a:pPr algn="ctr" fontAlgn="ctr"/>
                      <a:r>
                        <a:rPr lang="en-US" sz="1400" b="0" i="0" u="none" strike="noStrike" dirty="0">
                          <a:solidFill>
                            <a:srgbClr val="000000"/>
                          </a:solidFill>
                          <a:latin typeface="新細明體"/>
                        </a:rPr>
                        <a:t>X3430-4G</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zh-TW" altLang="en-US" sz="1400" b="0" i="0" u="none" strike="noStrike" dirty="0">
                          <a:solidFill>
                            <a:srgbClr val="000000"/>
                          </a:solidFill>
                          <a:latin typeface="新細明體"/>
                        </a:rPr>
                        <a:t>客服系統</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zh-TW" altLang="en-US" sz="1400" b="0" i="0" u="none" strike="noStrike" dirty="0">
                          <a:solidFill>
                            <a:srgbClr val="000000"/>
                          </a:solidFill>
                          <a:latin typeface="新細明體"/>
                        </a:rPr>
                        <a:t>只需在台灣</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r>
            </a:tbl>
          </a:graphicData>
        </a:graphic>
      </p:graphicFrame>
      <p:sp>
        <p:nvSpPr>
          <p:cNvPr id="12" name="橢圓 11"/>
          <p:cNvSpPr/>
          <p:nvPr/>
        </p:nvSpPr>
        <p:spPr bwMode="auto">
          <a:xfrm>
            <a:off x="3851920" y="2492896"/>
            <a:ext cx="1296144" cy="1224136"/>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dirty="0" smtClean="0">
              <a:ln>
                <a:noFill/>
              </a:ln>
              <a:solidFill>
                <a:schemeClr val="tx1"/>
              </a:solidFill>
              <a:effectLst/>
              <a:latin typeface="Times New Roman" pitchFamily="18" charset="0"/>
              <a:ea typeface="新細明體" pitchFamily="18" charset="-120"/>
            </a:endParaRPr>
          </a:p>
        </p:txBody>
      </p:sp>
      <p:cxnSp>
        <p:nvCxnSpPr>
          <p:cNvPr id="16" name="直線接點 15"/>
          <p:cNvCxnSpPr>
            <a:stCxn id="12" idx="4"/>
          </p:cNvCxnSpPr>
          <p:nvPr/>
        </p:nvCxnSpPr>
        <p:spPr bwMode="auto">
          <a:xfrm flipH="1">
            <a:off x="4355976" y="3717032"/>
            <a:ext cx="144016" cy="129614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0" name="直線接點 19"/>
          <p:cNvCxnSpPr>
            <a:stCxn id="12" idx="5"/>
          </p:cNvCxnSpPr>
          <p:nvPr/>
        </p:nvCxnSpPr>
        <p:spPr bwMode="auto">
          <a:xfrm>
            <a:off x="4958248" y="3537762"/>
            <a:ext cx="621864" cy="971358"/>
          </a:xfrm>
          <a:prstGeom prst="line">
            <a:avLst/>
          </a:prstGeom>
          <a:solidFill>
            <a:schemeClr val="accent1"/>
          </a:solidFill>
          <a:ln w="9525" cap="flat" cmpd="sng" algn="ctr">
            <a:solidFill>
              <a:schemeClr val="tx1"/>
            </a:solidFill>
            <a:prstDash val="solid"/>
            <a:round/>
            <a:headEnd type="none" w="med" len="med"/>
            <a:tailEnd type="none" w="med" len="med"/>
          </a:ln>
          <a:effectLst/>
        </p:spPr>
      </p:cxnSp>
      <p:pic>
        <p:nvPicPr>
          <p:cNvPr id="28" name="Picture 6" descr="firewall1"/>
          <p:cNvPicPr>
            <a:picLocks noChangeAspect="1" noChangeArrowheads="1"/>
          </p:cNvPicPr>
          <p:nvPr/>
        </p:nvPicPr>
        <p:blipFill>
          <a:blip r:embed="rId3" cstate="print"/>
          <a:srcRect/>
          <a:stretch>
            <a:fillRect/>
          </a:stretch>
        </p:blipFill>
        <p:spPr bwMode="auto">
          <a:xfrm>
            <a:off x="4067944" y="2780928"/>
            <a:ext cx="864096" cy="685318"/>
          </a:xfrm>
          <a:prstGeom prst="rect">
            <a:avLst/>
          </a:prstGeom>
          <a:noFill/>
          <a:ln w="9525">
            <a:noFill/>
            <a:miter lim="800000"/>
            <a:headEnd/>
            <a:tailEnd/>
          </a:ln>
        </p:spPr>
      </p:pic>
      <p:sp>
        <p:nvSpPr>
          <p:cNvPr id="19" name="文字方塊 18"/>
          <p:cNvSpPr txBox="1"/>
          <p:nvPr/>
        </p:nvSpPr>
        <p:spPr>
          <a:xfrm>
            <a:off x="6372200" y="6488668"/>
            <a:ext cx="1159292" cy="369332"/>
          </a:xfrm>
          <a:prstGeom prst="rect">
            <a:avLst/>
          </a:prstGeom>
          <a:noFill/>
        </p:spPr>
        <p:txBody>
          <a:bodyPr wrap="none" rtlCol="0">
            <a:spAutoFit/>
          </a:bodyPr>
          <a:lstStyle/>
          <a:p>
            <a:r>
              <a:rPr lang="en-US" altLang="zh-TW" dirty="0" smtClean="0"/>
              <a:t>12 x 200G</a:t>
            </a:r>
            <a:endParaRPr lang="zh-TW" altLang="en-US" dirty="0"/>
          </a:p>
        </p:txBody>
      </p:sp>
    </p:spTree>
    <p:extLst>
      <p:ext uri="{BB962C8B-B14F-4D97-AF65-F5344CB8AC3E}">
        <p14:creationId xmlns:p14="http://schemas.microsoft.com/office/powerpoint/2010/main" val="3473787595"/>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 name="Line 46"/>
          <p:cNvSpPr>
            <a:spLocks noChangeShapeType="1"/>
          </p:cNvSpPr>
          <p:nvPr/>
        </p:nvSpPr>
        <p:spPr bwMode="auto">
          <a:xfrm flipH="1" flipV="1">
            <a:off x="6408204" y="3807042"/>
            <a:ext cx="0" cy="918102"/>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578" name="Line 46"/>
          <p:cNvSpPr>
            <a:spLocks noChangeShapeType="1"/>
          </p:cNvSpPr>
          <p:nvPr/>
        </p:nvSpPr>
        <p:spPr bwMode="auto">
          <a:xfrm flipH="1" flipV="1">
            <a:off x="5382090" y="4833156"/>
            <a:ext cx="0" cy="756084"/>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577" name="Line 46"/>
          <p:cNvSpPr>
            <a:spLocks noChangeShapeType="1"/>
          </p:cNvSpPr>
          <p:nvPr/>
        </p:nvSpPr>
        <p:spPr bwMode="auto">
          <a:xfrm flipH="1" flipV="1">
            <a:off x="4247964" y="4833156"/>
            <a:ext cx="0" cy="756084"/>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574" name="Line 46"/>
          <p:cNvSpPr>
            <a:spLocks noChangeShapeType="1"/>
          </p:cNvSpPr>
          <p:nvPr/>
        </p:nvSpPr>
        <p:spPr bwMode="auto">
          <a:xfrm flipH="1">
            <a:off x="3275856" y="5751258"/>
            <a:ext cx="1080120" cy="0"/>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576" name="Line 46"/>
          <p:cNvSpPr>
            <a:spLocks noChangeShapeType="1"/>
          </p:cNvSpPr>
          <p:nvPr/>
        </p:nvSpPr>
        <p:spPr bwMode="auto">
          <a:xfrm flipH="1">
            <a:off x="5436096" y="5751258"/>
            <a:ext cx="1080120" cy="0"/>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563" name="Line 46"/>
          <p:cNvSpPr>
            <a:spLocks noChangeShapeType="1"/>
          </p:cNvSpPr>
          <p:nvPr/>
        </p:nvSpPr>
        <p:spPr bwMode="auto">
          <a:xfrm flipH="1" flipV="1">
            <a:off x="5660086" y="1538790"/>
            <a:ext cx="0" cy="2052228"/>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562" name="Line 46"/>
          <p:cNvSpPr>
            <a:spLocks noChangeShapeType="1"/>
          </p:cNvSpPr>
          <p:nvPr/>
        </p:nvSpPr>
        <p:spPr bwMode="auto">
          <a:xfrm flipH="1" flipV="1">
            <a:off x="5012014" y="2996952"/>
            <a:ext cx="486054" cy="324036"/>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561" name="Line 46"/>
          <p:cNvSpPr>
            <a:spLocks noChangeShapeType="1"/>
          </p:cNvSpPr>
          <p:nvPr/>
        </p:nvSpPr>
        <p:spPr bwMode="auto">
          <a:xfrm flipH="1">
            <a:off x="2527738" y="2942946"/>
            <a:ext cx="594066" cy="378042"/>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560" name="Line 46"/>
          <p:cNvSpPr>
            <a:spLocks noChangeShapeType="1"/>
          </p:cNvSpPr>
          <p:nvPr/>
        </p:nvSpPr>
        <p:spPr bwMode="auto">
          <a:xfrm flipH="1" flipV="1">
            <a:off x="3337828" y="2996952"/>
            <a:ext cx="1620180" cy="0"/>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156" name="Line 46"/>
          <p:cNvSpPr>
            <a:spLocks noChangeShapeType="1"/>
          </p:cNvSpPr>
          <p:nvPr/>
        </p:nvSpPr>
        <p:spPr bwMode="auto">
          <a:xfrm flipH="1">
            <a:off x="1420234" y="2888940"/>
            <a:ext cx="756084" cy="0"/>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370" name="Line 46"/>
          <p:cNvSpPr>
            <a:spLocks noChangeShapeType="1"/>
          </p:cNvSpPr>
          <p:nvPr/>
        </p:nvSpPr>
        <p:spPr bwMode="auto">
          <a:xfrm flipH="1" flipV="1">
            <a:off x="3877888" y="4779150"/>
            <a:ext cx="0" cy="469469"/>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172" name="Line 46"/>
          <p:cNvSpPr>
            <a:spLocks noChangeShapeType="1"/>
          </p:cNvSpPr>
          <p:nvPr/>
        </p:nvSpPr>
        <p:spPr bwMode="auto">
          <a:xfrm flipH="1" flipV="1">
            <a:off x="3877888" y="3429001"/>
            <a:ext cx="0" cy="1240571"/>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368" name="Line 46"/>
          <p:cNvSpPr>
            <a:spLocks noChangeShapeType="1"/>
          </p:cNvSpPr>
          <p:nvPr/>
        </p:nvSpPr>
        <p:spPr bwMode="auto">
          <a:xfrm flipH="1" flipV="1">
            <a:off x="3044677" y="3428999"/>
            <a:ext cx="15155" cy="1350150"/>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369" name="Line 46"/>
          <p:cNvSpPr>
            <a:spLocks noChangeShapeType="1"/>
          </p:cNvSpPr>
          <p:nvPr/>
        </p:nvSpPr>
        <p:spPr bwMode="auto">
          <a:xfrm flipH="1" flipV="1">
            <a:off x="3206696" y="3320988"/>
            <a:ext cx="0" cy="1404156"/>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343" name="Line 46"/>
          <p:cNvSpPr>
            <a:spLocks noChangeShapeType="1"/>
          </p:cNvSpPr>
          <p:nvPr/>
        </p:nvSpPr>
        <p:spPr bwMode="auto">
          <a:xfrm flipH="1" flipV="1">
            <a:off x="2365720" y="1754814"/>
            <a:ext cx="0" cy="2970330"/>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342" name="Line 46"/>
          <p:cNvSpPr>
            <a:spLocks noChangeShapeType="1"/>
          </p:cNvSpPr>
          <p:nvPr/>
        </p:nvSpPr>
        <p:spPr bwMode="auto">
          <a:xfrm flipH="1" flipV="1">
            <a:off x="2203702" y="1754814"/>
            <a:ext cx="0" cy="2970330"/>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grpSp>
        <p:nvGrpSpPr>
          <p:cNvPr id="2" name="群組 211"/>
          <p:cNvGrpSpPr/>
          <p:nvPr/>
        </p:nvGrpSpPr>
        <p:grpSpPr>
          <a:xfrm>
            <a:off x="3445840" y="2672916"/>
            <a:ext cx="1242138" cy="465516"/>
            <a:chOff x="395536" y="404664"/>
            <a:chExt cx="1656184" cy="620688"/>
          </a:xfrm>
        </p:grpSpPr>
        <p:pic>
          <p:nvPicPr>
            <p:cNvPr id="214" name="Picture 27" descr="ICON_Cloud_Q308"/>
            <p:cNvPicPr>
              <a:picLocks noChangeAspect="1" noChangeArrowheads="1"/>
            </p:cNvPicPr>
            <p:nvPr/>
          </p:nvPicPr>
          <p:blipFill>
            <a:blip r:embed="rId2" cstate="print"/>
            <a:srcRect/>
            <a:stretch>
              <a:fillRect/>
            </a:stretch>
          </p:blipFill>
          <p:spPr bwMode="auto">
            <a:xfrm>
              <a:off x="395536" y="476672"/>
              <a:ext cx="1656184" cy="548680"/>
            </a:xfrm>
            <a:prstGeom prst="rect">
              <a:avLst/>
            </a:prstGeom>
            <a:noFill/>
            <a:ln w="9525">
              <a:noFill/>
              <a:miter lim="800000"/>
              <a:headEnd/>
              <a:tailEnd/>
            </a:ln>
          </p:spPr>
        </p:pic>
        <p:sp>
          <p:nvSpPr>
            <p:cNvPr id="217" name="文字方塊 216"/>
            <p:cNvSpPr txBox="1"/>
            <p:nvPr/>
          </p:nvSpPr>
          <p:spPr>
            <a:xfrm>
              <a:off x="796808" y="404664"/>
              <a:ext cx="1054135" cy="615553"/>
            </a:xfrm>
            <a:prstGeom prst="rect">
              <a:avLst/>
            </a:prstGeom>
            <a:noFill/>
          </p:spPr>
          <p:txBody>
            <a:bodyPr wrap="none" rtlCol="0">
              <a:spAutoFit/>
            </a:bodyPr>
            <a:lstStyle/>
            <a:p>
              <a:pPr algn="ctr"/>
              <a:r>
                <a:rPr lang="en-US" altLang="zh-TW" sz="1200" b="1" dirty="0">
                  <a:latin typeface="Arial" pitchFamily="34" charset="0"/>
                  <a:ea typeface="Arial Unicode MS" pitchFamily="34" charset="-120"/>
                  <a:cs typeface="Arial" pitchFamily="34" charset="0"/>
                </a:rPr>
                <a:t> 3</a:t>
              </a:r>
              <a:r>
                <a:rPr lang="en-US" altLang="zh-TW" sz="1200" b="1" baseline="30000" dirty="0">
                  <a:latin typeface="Arial" pitchFamily="34" charset="0"/>
                  <a:ea typeface="Arial Unicode MS" pitchFamily="34" charset="-120"/>
                  <a:cs typeface="Arial" pitchFamily="34" charset="0"/>
                </a:rPr>
                <a:t>rd</a:t>
              </a:r>
              <a:endParaRPr lang="en-US" altLang="zh-TW" sz="1200" b="1" dirty="0">
                <a:latin typeface="Arial" pitchFamily="34" charset="0"/>
                <a:ea typeface="Arial Unicode MS" pitchFamily="34" charset="-120"/>
                <a:cs typeface="Arial" pitchFamily="34" charset="0"/>
              </a:endParaRPr>
            </a:p>
            <a:p>
              <a:pPr algn="ctr"/>
              <a:r>
                <a:rPr lang="en-US" altLang="zh-TW" sz="1200" b="1" dirty="0">
                  <a:latin typeface="Arial" pitchFamily="34" charset="0"/>
                  <a:ea typeface="Arial Unicode MS" pitchFamily="34" charset="-120"/>
                  <a:cs typeface="Arial" pitchFamily="34" charset="0"/>
                </a:rPr>
                <a:t>Network</a:t>
              </a:r>
              <a:endParaRPr lang="zh-TW" altLang="en-US" sz="1200" b="1" dirty="0">
                <a:latin typeface="Arial" pitchFamily="34" charset="0"/>
                <a:ea typeface="Arial Unicode MS" pitchFamily="34" charset="-120"/>
                <a:cs typeface="Arial" pitchFamily="34" charset="0"/>
              </a:endParaRPr>
            </a:p>
          </p:txBody>
        </p:sp>
      </p:grpSp>
      <p:sp>
        <p:nvSpPr>
          <p:cNvPr id="187" name="Line 46"/>
          <p:cNvSpPr>
            <a:spLocks noChangeShapeType="1"/>
          </p:cNvSpPr>
          <p:nvPr/>
        </p:nvSpPr>
        <p:spPr bwMode="auto">
          <a:xfrm flipH="1" flipV="1">
            <a:off x="4039906" y="4715991"/>
            <a:ext cx="0" cy="469469"/>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186" name="Line 46"/>
          <p:cNvSpPr>
            <a:spLocks noChangeShapeType="1"/>
          </p:cNvSpPr>
          <p:nvPr/>
        </p:nvSpPr>
        <p:spPr bwMode="auto">
          <a:xfrm flipH="1" flipV="1">
            <a:off x="2203702" y="4760440"/>
            <a:ext cx="0" cy="469469"/>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grpSp>
        <p:nvGrpSpPr>
          <p:cNvPr id="3" name="群組 1"/>
          <p:cNvGrpSpPr/>
          <p:nvPr/>
        </p:nvGrpSpPr>
        <p:grpSpPr>
          <a:xfrm>
            <a:off x="1609636" y="944724"/>
            <a:ext cx="1242138" cy="411510"/>
            <a:chOff x="395536" y="476672"/>
            <a:chExt cx="1656184" cy="548680"/>
          </a:xfrm>
        </p:grpSpPr>
        <p:pic>
          <p:nvPicPr>
            <p:cNvPr id="24" name="Picture 27" descr="ICON_Cloud_Q308"/>
            <p:cNvPicPr>
              <a:picLocks noChangeAspect="1" noChangeArrowheads="1"/>
            </p:cNvPicPr>
            <p:nvPr/>
          </p:nvPicPr>
          <p:blipFill>
            <a:blip r:embed="rId2" cstate="print"/>
            <a:srcRect/>
            <a:stretch>
              <a:fillRect/>
            </a:stretch>
          </p:blipFill>
          <p:spPr bwMode="auto">
            <a:xfrm>
              <a:off x="395536" y="476672"/>
              <a:ext cx="1656184" cy="548680"/>
            </a:xfrm>
            <a:prstGeom prst="rect">
              <a:avLst/>
            </a:prstGeom>
            <a:noFill/>
            <a:ln w="9525">
              <a:noFill/>
              <a:miter lim="800000"/>
              <a:headEnd/>
              <a:tailEnd/>
            </a:ln>
          </p:spPr>
        </p:pic>
        <p:sp>
          <p:nvSpPr>
            <p:cNvPr id="151" name="文字方塊 150"/>
            <p:cNvSpPr txBox="1"/>
            <p:nvPr/>
          </p:nvSpPr>
          <p:spPr>
            <a:xfrm>
              <a:off x="827584" y="548680"/>
              <a:ext cx="998564" cy="369332"/>
            </a:xfrm>
            <a:prstGeom prst="rect">
              <a:avLst/>
            </a:prstGeom>
            <a:noFill/>
          </p:spPr>
          <p:txBody>
            <a:bodyPr wrap="none" rtlCol="0">
              <a:spAutoFit/>
            </a:bodyPr>
            <a:lstStyle/>
            <a:p>
              <a:r>
                <a:rPr lang="en-US" altLang="zh-TW" sz="1200" b="1" dirty="0">
                  <a:latin typeface="Arial" pitchFamily="34" charset="0"/>
                  <a:ea typeface="Arial Unicode MS" pitchFamily="34" charset="-120"/>
                  <a:cs typeface="Arial" pitchFamily="34" charset="0"/>
                </a:rPr>
                <a:t>Internet</a:t>
              </a:r>
              <a:endParaRPr lang="zh-TW" altLang="en-US" sz="1200" b="1" dirty="0">
                <a:latin typeface="Arial" pitchFamily="34" charset="0"/>
                <a:ea typeface="Arial Unicode MS" pitchFamily="34" charset="-120"/>
                <a:cs typeface="Arial" pitchFamily="34" charset="0"/>
              </a:endParaRPr>
            </a:p>
          </p:txBody>
        </p:sp>
      </p:grpSp>
      <p:grpSp>
        <p:nvGrpSpPr>
          <p:cNvPr id="4" name="群組 232"/>
          <p:cNvGrpSpPr/>
          <p:nvPr/>
        </p:nvGrpSpPr>
        <p:grpSpPr>
          <a:xfrm>
            <a:off x="2038984" y="2672916"/>
            <a:ext cx="542760" cy="486054"/>
            <a:chOff x="1760088" y="2204864"/>
            <a:chExt cx="723680" cy="648072"/>
          </a:xfrm>
        </p:grpSpPr>
        <p:sp>
          <p:nvSpPr>
            <p:cNvPr id="229" name="橢圓 228"/>
            <p:cNvSpPr/>
            <p:nvPr/>
          </p:nvSpPr>
          <p:spPr>
            <a:xfrm>
              <a:off x="1763688" y="2204864"/>
              <a:ext cx="720080" cy="648072"/>
            </a:xfrm>
            <a:prstGeom prst="ellipse">
              <a:avLst/>
            </a:prstGeom>
            <a:solidFill>
              <a:srgbClr val="FFFF0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750" b="1">
                <a:latin typeface="Arial" pitchFamily="34" charset="0"/>
                <a:ea typeface="Arial Unicode MS" pitchFamily="34" charset="-120"/>
                <a:cs typeface="Arial" pitchFamily="34" charset="0"/>
              </a:endParaRPr>
            </a:p>
          </p:txBody>
        </p:sp>
        <p:grpSp>
          <p:nvGrpSpPr>
            <p:cNvPr id="5" name="群組 149"/>
            <p:cNvGrpSpPr/>
            <p:nvPr/>
          </p:nvGrpSpPr>
          <p:grpSpPr>
            <a:xfrm>
              <a:off x="1760088" y="2276872"/>
              <a:ext cx="720080" cy="447541"/>
              <a:chOff x="1835696" y="2276872"/>
              <a:chExt cx="720080" cy="447541"/>
            </a:xfrm>
          </p:grpSpPr>
          <p:pic>
            <p:nvPicPr>
              <p:cNvPr id="121" name="Picture 6" descr="firewall1"/>
              <p:cNvPicPr>
                <a:picLocks noChangeAspect="1" noChangeArrowheads="1"/>
              </p:cNvPicPr>
              <p:nvPr/>
            </p:nvPicPr>
            <p:blipFill>
              <a:blip r:embed="rId3" cstate="print"/>
              <a:srcRect/>
              <a:stretch>
                <a:fillRect/>
              </a:stretch>
            </p:blipFill>
            <p:spPr bwMode="auto">
              <a:xfrm>
                <a:off x="2100631" y="2348880"/>
                <a:ext cx="455145" cy="375533"/>
              </a:xfrm>
              <a:prstGeom prst="rect">
                <a:avLst/>
              </a:prstGeom>
              <a:noFill/>
              <a:ln w="9525">
                <a:noFill/>
                <a:miter lim="800000"/>
                <a:headEnd/>
                <a:tailEnd/>
              </a:ln>
            </p:spPr>
          </p:pic>
          <p:pic>
            <p:nvPicPr>
              <p:cNvPr id="115" name="Picture 6" descr="firewall1"/>
              <p:cNvPicPr>
                <a:picLocks noChangeAspect="1" noChangeArrowheads="1"/>
              </p:cNvPicPr>
              <p:nvPr/>
            </p:nvPicPr>
            <p:blipFill>
              <a:blip r:embed="rId3" cstate="print"/>
              <a:srcRect/>
              <a:stretch>
                <a:fillRect/>
              </a:stretch>
            </p:blipFill>
            <p:spPr bwMode="auto">
              <a:xfrm>
                <a:off x="1835696" y="2276872"/>
                <a:ext cx="455145" cy="375533"/>
              </a:xfrm>
              <a:prstGeom prst="rect">
                <a:avLst/>
              </a:prstGeom>
              <a:noFill/>
              <a:ln w="9525">
                <a:noFill/>
                <a:miter lim="800000"/>
                <a:headEnd/>
                <a:tailEnd/>
              </a:ln>
            </p:spPr>
          </p:pic>
        </p:grpSp>
      </p:grpSp>
      <p:grpSp>
        <p:nvGrpSpPr>
          <p:cNvPr id="6" name="群組 225"/>
          <p:cNvGrpSpPr/>
          <p:nvPr/>
        </p:nvGrpSpPr>
        <p:grpSpPr>
          <a:xfrm>
            <a:off x="2041684" y="3483006"/>
            <a:ext cx="540060" cy="486054"/>
            <a:chOff x="899592" y="4293096"/>
            <a:chExt cx="720080" cy="648072"/>
          </a:xfrm>
        </p:grpSpPr>
        <p:sp>
          <p:nvSpPr>
            <p:cNvPr id="179" name="橢圓 178"/>
            <p:cNvSpPr/>
            <p:nvPr/>
          </p:nvSpPr>
          <p:spPr>
            <a:xfrm>
              <a:off x="899592" y="4293096"/>
              <a:ext cx="720080" cy="648072"/>
            </a:xfrm>
            <a:prstGeom prst="ellipse">
              <a:avLst/>
            </a:prstGeom>
            <a:solidFill>
              <a:srgbClr val="FFFF0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750" b="1">
                <a:latin typeface="Arial" pitchFamily="34" charset="0"/>
                <a:ea typeface="Arial Unicode MS" pitchFamily="34" charset="-120"/>
                <a:cs typeface="Arial" pitchFamily="34" charset="0"/>
              </a:endParaRPr>
            </a:p>
          </p:txBody>
        </p:sp>
        <p:grpSp>
          <p:nvGrpSpPr>
            <p:cNvPr id="7" name="群組 150"/>
            <p:cNvGrpSpPr/>
            <p:nvPr/>
          </p:nvGrpSpPr>
          <p:grpSpPr>
            <a:xfrm>
              <a:off x="899592" y="4437117"/>
              <a:ext cx="717504" cy="297167"/>
              <a:chOff x="971600" y="3647566"/>
              <a:chExt cx="573488" cy="277953"/>
            </a:xfrm>
          </p:grpSpPr>
          <p:pic>
            <p:nvPicPr>
              <p:cNvPr id="180" name="Picture 23"/>
              <p:cNvPicPr>
                <a:picLocks noChangeAspect="1" noChangeArrowheads="1"/>
              </p:cNvPicPr>
              <p:nvPr/>
            </p:nvPicPr>
            <p:blipFill>
              <a:blip r:embed="rId4" cstate="print"/>
              <a:srcRect b="45558"/>
              <a:stretch>
                <a:fillRect/>
              </a:stretch>
            </p:blipFill>
            <p:spPr bwMode="auto">
              <a:xfrm>
                <a:off x="971600" y="3647566"/>
                <a:ext cx="573488" cy="143251"/>
              </a:xfrm>
              <a:prstGeom prst="rect">
                <a:avLst/>
              </a:prstGeom>
              <a:noFill/>
              <a:ln w="9525">
                <a:noFill/>
                <a:miter lim="800000"/>
                <a:headEnd/>
                <a:tailEnd/>
              </a:ln>
            </p:spPr>
          </p:pic>
          <p:pic>
            <p:nvPicPr>
              <p:cNvPr id="181" name="Picture 23"/>
              <p:cNvPicPr>
                <a:picLocks noChangeAspect="1" noChangeArrowheads="1"/>
              </p:cNvPicPr>
              <p:nvPr/>
            </p:nvPicPr>
            <p:blipFill>
              <a:blip r:embed="rId4" cstate="print"/>
              <a:srcRect b="45558"/>
              <a:stretch>
                <a:fillRect/>
              </a:stretch>
            </p:blipFill>
            <p:spPr bwMode="auto">
              <a:xfrm>
                <a:off x="971600" y="3782268"/>
                <a:ext cx="573488" cy="143251"/>
              </a:xfrm>
              <a:prstGeom prst="rect">
                <a:avLst/>
              </a:prstGeom>
              <a:noFill/>
              <a:ln w="9525">
                <a:noFill/>
                <a:miter lim="800000"/>
                <a:headEnd/>
                <a:tailEnd/>
              </a:ln>
            </p:spPr>
          </p:pic>
        </p:grpSp>
      </p:grpSp>
      <p:sp>
        <p:nvSpPr>
          <p:cNvPr id="211" name="文字方塊 210"/>
          <p:cNvSpPr txBox="1"/>
          <p:nvPr/>
        </p:nvSpPr>
        <p:spPr>
          <a:xfrm>
            <a:off x="1957536" y="3753037"/>
            <a:ext cx="671979" cy="207749"/>
          </a:xfrm>
          <a:prstGeom prst="rect">
            <a:avLst/>
          </a:prstGeom>
          <a:noFill/>
        </p:spPr>
        <p:txBody>
          <a:bodyPr wrap="none" rtlCol="0">
            <a:spAutoFit/>
          </a:bodyPr>
          <a:lstStyle/>
          <a:p>
            <a:r>
              <a:rPr lang="en-US" altLang="zh-TW" sz="750" b="1" dirty="0">
                <a:latin typeface="Arial" pitchFamily="34" charset="0"/>
                <a:ea typeface="Arial Unicode MS" pitchFamily="34" charset="-120"/>
                <a:cs typeface="Arial" pitchFamily="34" charset="0"/>
              </a:rPr>
              <a:t>GSLB/SLB</a:t>
            </a:r>
            <a:endParaRPr lang="zh-TW" altLang="en-US" sz="750" b="1" dirty="0">
              <a:latin typeface="Arial" pitchFamily="34" charset="0"/>
              <a:ea typeface="Arial Unicode MS" pitchFamily="34" charset="-120"/>
              <a:cs typeface="Arial" pitchFamily="34" charset="0"/>
            </a:endParaRPr>
          </a:p>
        </p:txBody>
      </p:sp>
      <p:sp>
        <p:nvSpPr>
          <p:cNvPr id="234" name="文字方塊 233"/>
          <p:cNvSpPr txBox="1"/>
          <p:nvPr/>
        </p:nvSpPr>
        <p:spPr>
          <a:xfrm>
            <a:off x="2041685" y="2996953"/>
            <a:ext cx="543739" cy="207749"/>
          </a:xfrm>
          <a:prstGeom prst="rect">
            <a:avLst/>
          </a:prstGeom>
          <a:noFill/>
        </p:spPr>
        <p:txBody>
          <a:bodyPr wrap="none" rtlCol="0">
            <a:spAutoFit/>
          </a:bodyPr>
          <a:lstStyle/>
          <a:p>
            <a:r>
              <a:rPr lang="en-US" altLang="zh-TW" sz="750" b="1" dirty="0">
                <a:latin typeface="Arial" pitchFamily="34" charset="0"/>
                <a:ea typeface="Arial Unicode MS" pitchFamily="34" charset="-120"/>
                <a:cs typeface="Arial" pitchFamily="34" charset="0"/>
              </a:rPr>
              <a:t>Firewall</a:t>
            </a:r>
            <a:endParaRPr lang="zh-TW" altLang="en-US" sz="750" b="1" dirty="0">
              <a:latin typeface="Arial" pitchFamily="34" charset="0"/>
              <a:ea typeface="Arial Unicode MS" pitchFamily="34" charset="-120"/>
              <a:cs typeface="Arial" pitchFamily="34" charset="0"/>
            </a:endParaRPr>
          </a:p>
        </p:txBody>
      </p:sp>
      <p:grpSp>
        <p:nvGrpSpPr>
          <p:cNvPr id="185" name="群組 184"/>
          <p:cNvGrpSpPr/>
          <p:nvPr/>
        </p:nvGrpSpPr>
        <p:grpSpPr>
          <a:xfrm>
            <a:off x="1366990" y="2672916"/>
            <a:ext cx="620688" cy="486054"/>
            <a:chOff x="72008" y="2420888"/>
            <a:chExt cx="827584" cy="648072"/>
          </a:xfrm>
        </p:grpSpPr>
        <p:sp>
          <p:nvSpPr>
            <p:cNvPr id="310" name="橢圓 309"/>
            <p:cNvSpPr/>
            <p:nvPr/>
          </p:nvSpPr>
          <p:spPr>
            <a:xfrm>
              <a:off x="72008" y="2420888"/>
              <a:ext cx="720080" cy="648072"/>
            </a:xfrm>
            <a:prstGeom prst="ellipse">
              <a:avLst/>
            </a:prstGeom>
            <a:solidFill>
              <a:srgbClr val="FFFF0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750" b="1">
                <a:latin typeface="Arial" pitchFamily="34" charset="0"/>
                <a:ea typeface="Arial Unicode MS" pitchFamily="34" charset="-120"/>
                <a:cs typeface="Arial" pitchFamily="34" charset="0"/>
              </a:endParaRPr>
            </a:p>
          </p:txBody>
        </p:sp>
        <p:sp>
          <p:nvSpPr>
            <p:cNvPr id="160" name="文字方塊 159"/>
            <p:cNvSpPr txBox="1"/>
            <p:nvPr/>
          </p:nvSpPr>
          <p:spPr>
            <a:xfrm>
              <a:off x="72008" y="2791961"/>
              <a:ext cx="827584" cy="276999"/>
            </a:xfrm>
            <a:prstGeom prst="rect">
              <a:avLst/>
            </a:prstGeom>
            <a:noFill/>
          </p:spPr>
          <p:txBody>
            <a:bodyPr wrap="square" rtlCol="0">
              <a:spAutoFit/>
            </a:bodyPr>
            <a:lstStyle/>
            <a:p>
              <a:r>
                <a:rPr lang="en-US" altLang="zh-TW" sz="750" b="1" dirty="0">
                  <a:latin typeface="Arial" pitchFamily="34" charset="0"/>
                  <a:ea typeface="Arial Unicode MS" pitchFamily="34" charset="-120"/>
                  <a:cs typeface="Arial" pitchFamily="34" charset="0"/>
                </a:rPr>
                <a:t>SSL VPN</a:t>
              </a:r>
              <a:endParaRPr lang="zh-TW" altLang="en-US" sz="750" b="1" dirty="0">
                <a:latin typeface="Arial" pitchFamily="34" charset="0"/>
                <a:ea typeface="Arial Unicode MS" pitchFamily="34" charset="-120"/>
                <a:cs typeface="Arial" pitchFamily="34" charset="0"/>
              </a:endParaRPr>
            </a:p>
          </p:txBody>
        </p:sp>
        <p:pic>
          <p:nvPicPr>
            <p:cNvPr id="145" name="Picture 45" descr="media gateway"/>
            <p:cNvPicPr>
              <a:picLocks noChangeAspect="1" noChangeArrowheads="1"/>
            </p:cNvPicPr>
            <p:nvPr/>
          </p:nvPicPr>
          <p:blipFill>
            <a:blip r:embed="rId5" cstate="print"/>
            <a:srcRect/>
            <a:stretch>
              <a:fillRect/>
            </a:stretch>
          </p:blipFill>
          <p:spPr bwMode="auto">
            <a:xfrm>
              <a:off x="179512" y="2647945"/>
              <a:ext cx="542925" cy="165100"/>
            </a:xfrm>
            <a:prstGeom prst="rect">
              <a:avLst/>
            </a:prstGeom>
            <a:noFill/>
            <a:ln w="9525">
              <a:noFill/>
              <a:miter lim="800000"/>
              <a:headEnd/>
              <a:tailEnd/>
            </a:ln>
          </p:spPr>
        </p:pic>
      </p:grpSp>
      <p:grpSp>
        <p:nvGrpSpPr>
          <p:cNvPr id="8" name="群組 26"/>
          <p:cNvGrpSpPr/>
          <p:nvPr/>
        </p:nvGrpSpPr>
        <p:grpSpPr>
          <a:xfrm>
            <a:off x="3769876" y="5081334"/>
            <a:ext cx="378042" cy="337615"/>
            <a:chOff x="1331640" y="5589240"/>
            <a:chExt cx="504056" cy="450153"/>
          </a:xfrm>
        </p:grpSpPr>
        <p:pic>
          <p:nvPicPr>
            <p:cNvPr id="261" name="Picture 39" descr="Server_CPU.png"/>
            <p:cNvPicPr>
              <a:picLocks noChangeAspect="1"/>
            </p:cNvPicPr>
            <p:nvPr/>
          </p:nvPicPr>
          <p:blipFill>
            <a:blip r:embed="rId6" cstate="print"/>
            <a:stretch>
              <a:fillRect/>
            </a:stretch>
          </p:blipFill>
          <p:spPr>
            <a:xfrm>
              <a:off x="1331640" y="5589240"/>
              <a:ext cx="260278" cy="450153"/>
            </a:xfrm>
            <a:prstGeom prst="rect">
              <a:avLst/>
            </a:prstGeom>
          </p:spPr>
        </p:pic>
        <p:pic>
          <p:nvPicPr>
            <p:cNvPr id="263" name="Picture 39" descr="Server_CPU.png"/>
            <p:cNvPicPr>
              <a:picLocks noChangeAspect="1"/>
            </p:cNvPicPr>
            <p:nvPr/>
          </p:nvPicPr>
          <p:blipFill>
            <a:blip r:embed="rId6" cstate="print"/>
            <a:stretch>
              <a:fillRect/>
            </a:stretch>
          </p:blipFill>
          <p:spPr>
            <a:xfrm>
              <a:off x="1575418" y="5589240"/>
              <a:ext cx="260278" cy="450153"/>
            </a:xfrm>
            <a:prstGeom prst="rect">
              <a:avLst/>
            </a:prstGeom>
          </p:spPr>
        </p:pic>
      </p:grpSp>
      <p:pic>
        <p:nvPicPr>
          <p:cNvPr id="274" name="Picture 52" descr="1 Rack Multiple Units Generic.png"/>
          <p:cNvPicPr>
            <a:picLocks noChangeAspect="1"/>
          </p:cNvPicPr>
          <p:nvPr/>
        </p:nvPicPr>
        <p:blipFill>
          <a:blip r:embed="rId7" cstate="print"/>
          <a:stretch>
            <a:fillRect/>
          </a:stretch>
        </p:blipFill>
        <p:spPr>
          <a:xfrm>
            <a:off x="3056338" y="5605974"/>
            <a:ext cx="291212" cy="297613"/>
          </a:xfrm>
          <a:prstGeom prst="rect">
            <a:avLst/>
          </a:prstGeom>
        </p:spPr>
      </p:pic>
      <p:cxnSp>
        <p:nvCxnSpPr>
          <p:cNvPr id="276" name="直線接點 275"/>
          <p:cNvCxnSpPr>
            <a:endCxn id="274" idx="0"/>
          </p:cNvCxnSpPr>
          <p:nvPr/>
        </p:nvCxnSpPr>
        <p:spPr bwMode="auto">
          <a:xfrm>
            <a:off x="2937918" y="5403780"/>
            <a:ext cx="264026" cy="192566"/>
          </a:xfrm>
          <a:prstGeom prst="line">
            <a:avLst/>
          </a:prstGeom>
          <a:noFill/>
          <a:ln w="19050">
            <a:solidFill>
              <a:srgbClr val="A2A4A3"/>
            </a:solidFill>
            <a:round/>
            <a:headEnd/>
            <a:tailEnd/>
          </a:ln>
        </p:spPr>
      </p:cxnSp>
      <p:cxnSp>
        <p:nvCxnSpPr>
          <p:cNvPr id="277" name="直線接點 276"/>
          <p:cNvCxnSpPr>
            <a:endCxn id="274" idx="0"/>
          </p:cNvCxnSpPr>
          <p:nvPr/>
        </p:nvCxnSpPr>
        <p:spPr bwMode="auto">
          <a:xfrm flipH="1">
            <a:off x="3201943" y="5403780"/>
            <a:ext cx="296850" cy="192566"/>
          </a:xfrm>
          <a:prstGeom prst="line">
            <a:avLst/>
          </a:prstGeom>
          <a:noFill/>
          <a:ln w="19050">
            <a:solidFill>
              <a:srgbClr val="A2A4A3"/>
            </a:solidFill>
            <a:round/>
            <a:headEnd/>
            <a:tailEnd/>
          </a:ln>
        </p:spPr>
      </p:cxnSp>
      <p:cxnSp>
        <p:nvCxnSpPr>
          <p:cNvPr id="280" name="直線接點 279"/>
          <p:cNvCxnSpPr>
            <a:endCxn id="274" idx="0"/>
          </p:cNvCxnSpPr>
          <p:nvPr/>
        </p:nvCxnSpPr>
        <p:spPr bwMode="auto">
          <a:xfrm>
            <a:off x="3120751" y="5403780"/>
            <a:ext cx="81193" cy="192566"/>
          </a:xfrm>
          <a:prstGeom prst="line">
            <a:avLst/>
          </a:prstGeom>
          <a:noFill/>
          <a:ln w="19050">
            <a:solidFill>
              <a:srgbClr val="A2A4A3"/>
            </a:solidFill>
            <a:round/>
            <a:headEnd/>
            <a:tailEnd/>
          </a:ln>
        </p:spPr>
      </p:cxnSp>
      <p:cxnSp>
        <p:nvCxnSpPr>
          <p:cNvPr id="283" name="直線接點 282"/>
          <p:cNvCxnSpPr>
            <a:endCxn id="274" idx="0"/>
          </p:cNvCxnSpPr>
          <p:nvPr/>
        </p:nvCxnSpPr>
        <p:spPr bwMode="auto">
          <a:xfrm flipH="1">
            <a:off x="3201943" y="5403780"/>
            <a:ext cx="114017" cy="192566"/>
          </a:xfrm>
          <a:prstGeom prst="line">
            <a:avLst/>
          </a:prstGeom>
          <a:noFill/>
          <a:ln w="19050">
            <a:solidFill>
              <a:srgbClr val="A2A4A3"/>
            </a:solidFill>
            <a:round/>
            <a:headEnd/>
            <a:tailEnd/>
          </a:ln>
        </p:spPr>
      </p:cxnSp>
      <p:sp>
        <p:nvSpPr>
          <p:cNvPr id="416" name="文字方塊 415"/>
          <p:cNvSpPr txBox="1"/>
          <p:nvPr/>
        </p:nvSpPr>
        <p:spPr>
          <a:xfrm>
            <a:off x="5112061" y="5816085"/>
            <a:ext cx="494046" cy="207749"/>
          </a:xfrm>
          <a:prstGeom prst="rect">
            <a:avLst/>
          </a:prstGeom>
          <a:noFill/>
        </p:spPr>
        <p:txBody>
          <a:bodyPr wrap="none" rtlCol="0">
            <a:spAutoFit/>
          </a:bodyPr>
          <a:lstStyle/>
          <a:p>
            <a:r>
              <a:rPr lang="en-US" altLang="zh-TW" sz="750" b="1" dirty="0">
                <a:latin typeface="Arial" pitchFamily="34" charset="0"/>
                <a:ea typeface="Arial Unicode MS" pitchFamily="34" charset="-120"/>
                <a:cs typeface="Arial" pitchFamily="34" charset="0"/>
              </a:rPr>
              <a:t>Router</a:t>
            </a:r>
            <a:endParaRPr lang="zh-TW" altLang="en-US" sz="750" b="1" dirty="0">
              <a:latin typeface="Arial" pitchFamily="34" charset="0"/>
              <a:ea typeface="Arial Unicode MS" pitchFamily="34" charset="-120"/>
              <a:cs typeface="Arial" pitchFamily="34" charset="0"/>
            </a:endParaRPr>
          </a:p>
        </p:txBody>
      </p:sp>
      <p:sp>
        <p:nvSpPr>
          <p:cNvPr id="426" name="文字方塊 425"/>
          <p:cNvSpPr txBox="1"/>
          <p:nvPr/>
        </p:nvSpPr>
        <p:spPr>
          <a:xfrm>
            <a:off x="2882661" y="5836623"/>
            <a:ext cx="771365" cy="207749"/>
          </a:xfrm>
          <a:prstGeom prst="rect">
            <a:avLst/>
          </a:prstGeom>
          <a:noFill/>
        </p:spPr>
        <p:txBody>
          <a:bodyPr wrap="none" rtlCol="0">
            <a:spAutoFit/>
          </a:bodyPr>
          <a:lstStyle/>
          <a:p>
            <a:r>
              <a:rPr lang="en-US" altLang="zh-TW" sz="750" b="1" dirty="0">
                <a:latin typeface="Arial" pitchFamily="34" charset="0"/>
                <a:ea typeface="Arial Unicode MS" pitchFamily="34" charset="-120"/>
                <a:cs typeface="Arial" pitchFamily="34" charset="0"/>
              </a:rPr>
              <a:t>SAN Storage</a:t>
            </a:r>
            <a:endParaRPr lang="zh-TW" altLang="en-US" sz="750" b="1" dirty="0">
              <a:latin typeface="Arial" pitchFamily="34" charset="0"/>
              <a:ea typeface="Arial Unicode MS" pitchFamily="34" charset="-120"/>
              <a:cs typeface="Arial" pitchFamily="34" charset="0"/>
            </a:endParaRPr>
          </a:p>
        </p:txBody>
      </p:sp>
      <p:sp>
        <p:nvSpPr>
          <p:cNvPr id="431" name="文字方塊 430"/>
          <p:cNvSpPr txBox="1"/>
          <p:nvPr/>
        </p:nvSpPr>
        <p:spPr>
          <a:xfrm>
            <a:off x="1933673" y="5404575"/>
            <a:ext cx="764953" cy="207749"/>
          </a:xfrm>
          <a:prstGeom prst="rect">
            <a:avLst/>
          </a:prstGeom>
          <a:noFill/>
        </p:spPr>
        <p:txBody>
          <a:bodyPr wrap="none" rtlCol="0">
            <a:spAutoFit/>
          </a:bodyPr>
          <a:lstStyle/>
          <a:p>
            <a:r>
              <a:rPr lang="en-US" altLang="zh-TW" sz="750" b="1" dirty="0">
                <a:latin typeface="Arial" pitchFamily="34" charset="0"/>
                <a:ea typeface="Arial Unicode MS" pitchFamily="34" charset="-120"/>
                <a:cs typeface="Arial" pitchFamily="34" charset="0"/>
              </a:rPr>
              <a:t>Web Servers</a:t>
            </a:r>
            <a:endParaRPr lang="zh-TW" altLang="en-US" sz="750" b="1" dirty="0">
              <a:latin typeface="Arial" pitchFamily="34" charset="0"/>
              <a:ea typeface="Arial Unicode MS" pitchFamily="34" charset="-120"/>
              <a:cs typeface="Arial" pitchFamily="34" charset="0"/>
            </a:endParaRPr>
          </a:p>
        </p:txBody>
      </p:sp>
      <p:grpSp>
        <p:nvGrpSpPr>
          <p:cNvPr id="12" name="群組 169"/>
          <p:cNvGrpSpPr/>
          <p:nvPr/>
        </p:nvGrpSpPr>
        <p:grpSpPr>
          <a:xfrm>
            <a:off x="2041684" y="1830849"/>
            <a:ext cx="479009" cy="193995"/>
            <a:chOff x="1820094" y="1839643"/>
            <a:chExt cx="638678" cy="258660"/>
          </a:xfrm>
        </p:grpSpPr>
        <p:pic>
          <p:nvPicPr>
            <p:cNvPr id="171" name="Picture 12" descr="EX3200_24"/>
            <p:cNvPicPr>
              <a:picLocks noChangeAspect="1" noChangeArrowheads="1"/>
            </p:cNvPicPr>
            <p:nvPr/>
          </p:nvPicPr>
          <p:blipFill>
            <a:blip r:embed="rId8" cstate="print"/>
            <a:srcRect/>
            <a:stretch>
              <a:fillRect/>
            </a:stretch>
          </p:blipFill>
          <p:spPr bwMode="auto">
            <a:xfrm>
              <a:off x="1820094" y="1839643"/>
              <a:ext cx="638678" cy="129330"/>
            </a:xfrm>
            <a:prstGeom prst="rect">
              <a:avLst/>
            </a:prstGeom>
            <a:noFill/>
            <a:ln w="9525">
              <a:noFill/>
              <a:miter lim="800000"/>
              <a:headEnd/>
              <a:tailEnd/>
            </a:ln>
          </p:spPr>
        </p:pic>
        <p:pic>
          <p:nvPicPr>
            <p:cNvPr id="173" name="Picture 12" descr="EX3200_24"/>
            <p:cNvPicPr>
              <a:picLocks noChangeAspect="1" noChangeArrowheads="1"/>
            </p:cNvPicPr>
            <p:nvPr/>
          </p:nvPicPr>
          <p:blipFill>
            <a:blip r:embed="rId8" cstate="print"/>
            <a:srcRect/>
            <a:stretch>
              <a:fillRect/>
            </a:stretch>
          </p:blipFill>
          <p:spPr bwMode="auto">
            <a:xfrm>
              <a:off x="1820094" y="1968973"/>
              <a:ext cx="638678" cy="129330"/>
            </a:xfrm>
            <a:prstGeom prst="rect">
              <a:avLst/>
            </a:prstGeom>
            <a:noFill/>
            <a:ln w="9525">
              <a:noFill/>
              <a:miter lim="800000"/>
              <a:headEnd/>
              <a:tailEnd/>
            </a:ln>
          </p:spPr>
        </p:pic>
      </p:grpSp>
      <p:pic>
        <p:nvPicPr>
          <p:cNvPr id="178" name="Picture 18" descr="Generic Router 1.png"/>
          <p:cNvPicPr>
            <a:picLocks noChangeAspect="1"/>
          </p:cNvPicPr>
          <p:nvPr/>
        </p:nvPicPr>
        <p:blipFill>
          <a:blip r:embed="rId9" cstate="print"/>
          <a:stretch>
            <a:fillRect/>
          </a:stretch>
        </p:blipFill>
        <p:spPr>
          <a:xfrm>
            <a:off x="5209693" y="5546054"/>
            <a:ext cx="334415" cy="334415"/>
          </a:xfrm>
          <a:prstGeom prst="rect">
            <a:avLst/>
          </a:prstGeom>
        </p:spPr>
      </p:pic>
      <p:pic>
        <p:nvPicPr>
          <p:cNvPr id="202" name="Picture 64" descr="Virtual Firewall.png"/>
          <p:cNvPicPr>
            <a:picLocks noChangeAspect="1"/>
          </p:cNvPicPr>
          <p:nvPr/>
        </p:nvPicPr>
        <p:blipFill>
          <a:blip r:embed="rId10" cstate="print"/>
          <a:stretch>
            <a:fillRect/>
          </a:stretch>
        </p:blipFill>
        <p:spPr>
          <a:xfrm>
            <a:off x="3071027" y="2780928"/>
            <a:ext cx="428819" cy="339215"/>
          </a:xfrm>
          <a:prstGeom prst="rect">
            <a:avLst/>
          </a:prstGeom>
        </p:spPr>
      </p:pic>
      <p:pic>
        <p:nvPicPr>
          <p:cNvPr id="207" name="Picture 64" descr="Virtual Firewall.png"/>
          <p:cNvPicPr>
            <a:picLocks noChangeAspect="1"/>
          </p:cNvPicPr>
          <p:nvPr/>
        </p:nvPicPr>
        <p:blipFill>
          <a:blip r:embed="rId10" cstate="print"/>
          <a:stretch>
            <a:fillRect/>
          </a:stretch>
        </p:blipFill>
        <p:spPr>
          <a:xfrm>
            <a:off x="4633972" y="2780928"/>
            <a:ext cx="428819" cy="339215"/>
          </a:xfrm>
          <a:prstGeom prst="rect">
            <a:avLst/>
          </a:prstGeom>
        </p:spPr>
      </p:pic>
      <p:sp>
        <p:nvSpPr>
          <p:cNvPr id="244" name="Line 46"/>
          <p:cNvSpPr>
            <a:spLocks noChangeShapeType="1"/>
          </p:cNvSpPr>
          <p:nvPr/>
        </p:nvSpPr>
        <p:spPr bwMode="auto">
          <a:xfrm flipH="1" flipV="1">
            <a:off x="2527738" y="3429000"/>
            <a:ext cx="1350150" cy="0"/>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grpSp>
        <p:nvGrpSpPr>
          <p:cNvPr id="13" name="群組 291"/>
          <p:cNvGrpSpPr/>
          <p:nvPr/>
        </p:nvGrpSpPr>
        <p:grpSpPr>
          <a:xfrm>
            <a:off x="2041684" y="1268760"/>
            <a:ext cx="540060" cy="486054"/>
            <a:chOff x="2987824" y="908720"/>
            <a:chExt cx="720080" cy="648072"/>
          </a:xfrm>
        </p:grpSpPr>
        <p:sp>
          <p:nvSpPr>
            <p:cNvPr id="290" name="橢圓 289"/>
            <p:cNvSpPr/>
            <p:nvPr/>
          </p:nvSpPr>
          <p:spPr>
            <a:xfrm>
              <a:off x="2987824" y="908720"/>
              <a:ext cx="720080" cy="648072"/>
            </a:xfrm>
            <a:prstGeom prst="ellipse">
              <a:avLst/>
            </a:prstGeom>
            <a:solidFill>
              <a:srgbClr val="FFFF0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750" b="1">
                <a:latin typeface="Arial" pitchFamily="34" charset="0"/>
                <a:ea typeface="Arial Unicode MS" pitchFamily="34" charset="-120"/>
                <a:cs typeface="Arial" pitchFamily="34" charset="0"/>
              </a:endParaRPr>
            </a:p>
          </p:txBody>
        </p:sp>
        <p:pic>
          <p:nvPicPr>
            <p:cNvPr id="159" name="Picture 45" descr="media gateway"/>
            <p:cNvPicPr>
              <a:picLocks noChangeAspect="1" noChangeArrowheads="1"/>
            </p:cNvPicPr>
            <p:nvPr/>
          </p:nvPicPr>
          <p:blipFill>
            <a:blip r:embed="rId5" cstate="print"/>
            <a:srcRect/>
            <a:stretch>
              <a:fillRect/>
            </a:stretch>
          </p:blipFill>
          <p:spPr bwMode="auto">
            <a:xfrm>
              <a:off x="3059832" y="1052736"/>
              <a:ext cx="542925" cy="165100"/>
            </a:xfrm>
            <a:prstGeom prst="rect">
              <a:avLst/>
            </a:prstGeom>
            <a:noFill/>
            <a:ln w="9525">
              <a:noFill/>
              <a:miter lim="800000"/>
              <a:headEnd/>
              <a:tailEnd/>
            </a:ln>
          </p:spPr>
        </p:pic>
        <p:pic>
          <p:nvPicPr>
            <p:cNvPr id="158" name="Picture 45" descr="media gateway"/>
            <p:cNvPicPr>
              <a:picLocks noChangeAspect="1" noChangeArrowheads="1"/>
            </p:cNvPicPr>
            <p:nvPr/>
          </p:nvPicPr>
          <p:blipFill>
            <a:blip r:embed="rId5" cstate="print"/>
            <a:srcRect/>
            <a:stretch>
              <a:fillRect/>
            </a:stretch>
          </p:blipFill>
          <p:spPr bwMode="auto">
            <a:xfrm>
              <a:off x="3059832" y="1196752"/>
              <a:ext cx="542925" cy="165100"/>
            </a:xfrm>
            <a:prstGeom prst="rect">
              <a:avLst/>
            </a:prstGeom>
            <a:noFill/>
            <a:ln w="9525">
              <a:noFill/>
              <a:miter lim="800000"/>
              <a:headEnd/>
              <a:tailEnd/>
            </a:ln>
          </p:spPr>
        </p:pic>
      </p:grpSp>
      <p:grpSp>
        <p:nvGrpSpPr>
          <p:cNvPr id="14" name="群組 293"/>
          <p:cNvGrpSpPr/>
          <p:nvPr/>
        </p:nvGrpSpPr>
        <p:grpSpPr>
          <a:xfrm>
            <a:off x="2041684" y="2078850"/>
            <a:ext cx="540060" cy="486054"/>
            <a:chOff x="2987824" y="908720"/>
            <a:chExt cx="720080" cy="648072"/>
          </a:xfrm>
        </p:grpSpPr>
        <p:sp>
          <p:nvSpPr>
            <p:cNvPr id="295" name="橢圓 294"/>
            <p:cNvSpPr/>
            <p:nvPr/>
          </p:nvSpPr>
          <p:spPr>
            <a:xfrm>
              <a:off x="2987824" y="908720"/>
              <a:ext cx="720080" cy="648072"/>
            </a:xfrm>
            <a:prstGeom prst="ellipse">
              <a:avLst/>
            </a:prstGeom>
            <a:solidFill>
              <a:srgbClr val="FFFF0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750" b="1">
                <a:latin typeface="Arial" pitchFamily="34" charset="0"/>
                <a:ea typeface="Arial Unicode MS" pitchFamily="34" charset="-120"/>
                <a:cs typeface="Arial" pitchFamily="34" charset="0"/>
              </a:endParaRPr>
            </a:p>
          </p:txBody>
        </p:sp>
        <p:pic>
          <p:nvPicPr>
            <p:cNvPr id="296" name="Picture 45" descr="media gateway"/>
            <p:cNvPicPr>
              <a:picLocks noChangeAspect="1" noChangeArrowheads="1"/>
            </p:cNvPicPr>
            <p:nvPr/>
          </p:nvPicPr>
          <p:blipFill>
            <a:blip r:embed="rId5" cstate="print"/>
            <a:srcRect/>
            <a:stretch>
              <a:fillRect/>
            </a:stretch>
          </p:blipFill>
          <p:spPr bwMode="auto">
            <a:xfrm>
              <a:off x="3059832" y="1052736"/>
              <a:ext cx="542925" cy="165100"/>
            </a:xfrm>
            <a:prstGeom prst="rect">
              <a:avLst/>
            </a:prstGeom>
            <a:noFill/>
            <a:ln w="9525">
              <a:noFill/>
              <a:miter lim="800000"/>
              <a:headEnd/>
              <a:tailEnd/>
            </a:ln>
          </p:spPr>
        </p:pic>
        <p:pic>
          <p:nvPicPr>
            <p:cNvPr id="298" name="Picture 45" descr="media gateway"/>
            <p:cNvPicPr>
              <a:picLocks noChangeAspect="1" noChangeArrowheads="1"/>
            </p:cNvPicPr>
            <p:nvPr/>
          </p:nvPicPr>
          <p:blipFill>
            <a:blip r:embed="rId5" cstate="print"/>
            <a:srcRect/>
            <a:stretch>
              <a:fillRect/>
            </a:stretch>
          </p:blipFill>
          <p:spPr bwMode="auto">
            <a:xfrm>
              <a:off x="3059832" y="1196752"/>
              <a:ext cx="542925" cy="165100"/>
            </a:xfrm>
            <a:prstGeom prst="rect">
              <a:avLst/>
            </a:prstGeom>
            <a:noFill/>
            <a:ln w="9525">
              <a:noFill/>
              <a:miter lim="800000"/>
              <a:headEnd/>
              <a:tailEnd/>
            </a:ln>
          </p:spPr>
        </p:pic>
      </p:grpSp>
      <p:sp>
        <p:nvSpPr>
          <p:cNvPr id="300" name="文字方塊 299"/>
          <p:cNvSpPr txBox="1"/>
          <p:nvPr/>
        </p:nvSpPr>
        <p:spPr>
          <a:xfrm>
            <a:off x="1980826" y="2348880"/>
            <a:ext cx="641522" cy="323165"/>
          </a:xfrm>
          <a:prstGeom prst="rect">
            <a:avLst/>
          </a:prstGeom>
          <a:noFill/>
        </p:spPr>
        <p:txBody>
          <a:bodyPr wrap="none" rtlCol="0">
            <a:spAutoFit/>
          </a:bodyPr>
          <a:lstStyle/>
          <a:p>
            <a:pPr algn="ctr"/>
            <a:r>
              <a:rPr lang="en-US" altLang="zh-TW" sz="750" b="1" dirty="0">
                <a:latin typeface="Arial" pitchFamily="34" charset="0"/>
                <a:ea typeface="Arial Unicode MS" pitchFamily="34" charset="-120"/>
                <a:cs typeface="Arial" pitchFamily="34" charset="0"/>
              </a:rPr>
              <a:t>DDoS</a:t>
            </a:r>
          </a:p>
          <a:p>
            <a:pPr algn="ctr"/>
            <a:r>
              <a:rPr lang="en-US" altLang="zh-TW" sz="750" b="1" dirty="0">
                <a:latin typeface="Arial" pitchFamily="34" charset="0"/>
                <a:ea typeface="Arial Unicode MS" pitchFamily="34" charset="-120"/>
                <a:cs typeface="Arial" pitchFamily="34" charset="0"/>
              </a:rPr>
              <a:t>Mitigation</a:t>
            </a:r>
            <a:endParaRPr lang="zh-TW" altLang="en-US" sz="750" b="1" dirty="0">
              <a:latin typeface="Arial" pitchFamily="34" charset="0"/>
              <a:ea typeface="Arial Unicode MS" pitchFamily="34" charset="-120"/>
              <a:cs typeface="Arial" pitchFamily="34" charset="0"/>
            </a:endParaRPr>
          </a:p>
        </p:txBody>
      </p:sp>
      <p:sp>
        <p:nvSpPr>
          <p:cNvPr id="220" name="文字方塊 219"/>
          <p:cNvSpPr txBox="1"/>
          <p:nvPr/>
        </p:nvSpPr>
        <p:spPr>
          <a:xfrm>
            <a:off x="2091080" y="1570149"/>
            <a:ext cx="484428" cy="207749"/>
          </a:xfrm>
          <a:prstGeom prst="rect">
            <a:avLst/>
          </a:prstGeom>
          <a:noFill/>
        </p:spPr>
        <p:txBody>
          <a:bodyPr wrap="none" rtlCol="0">
            <a:spAutoFit/>
          </a:bodyPr>
          <a:lstStyle/>
          <a:p>
            <a:r>
              <a:rPr lang="en-US" altLang="zh-TW" sz="750" b="1" dirty="0">
                <a:latin typeface="Arial" pitchFamily="34" charset="0"/>
                <a:ea typeface="Arial Unicode MS" pitchFamily="34" charset="-120"/>
                <a:cs typeface="Arial" pitchFamily="34" charset="0"/>
              </a:rPr>
              <a:t>NGIPS</a:t>
            </a:r>
            <a:endParaRPr lang="zh-TW" altLang="en-US" sz="750" b="1" dirty="0">
              <a:latin typeface="Arial" pitchFamily="34" charset="0"/>
              <a:ea typeface="Arial Unicode MS" pitchFamily="34" charset="-120"/>
              <a:cs typeface="Arial" pitchFamily="34" charset="0"/>
            </a:endParaRPr>
          </a:p>
        </p:txBody>
      </p:sp>
      <p:sp>
        <p:nvSpPr>
          <p:cNvPr id="325" name="Line 46"/>
          <p:cNvSpPr>
            <a:spLocks noChangeShapeType="1"/>
          </p:cNvSpPr>
          <p:nvPr/>
        </p:nvSpPr>
        <p:spPr bwMode="auto">
          <a:xfrm flipH="1" flipV="1">
            <a:off x="2936666" y="4772800"/>
            <a:ext cx="0" cy="378042"/>
          </a:xfrm>
          <a:prstGeom prst="line">
            <a:avLst/>
          </a:prstGeom>
          <a:noFill/>
          <a:ln w="19050">
            <a:solidFill>
              <a:srgbClr val="A2A4A3"/>
            </a:solidFill>
            <a:round/>
            <a:headEnd/>
            <a:tailEnd/>
          </a:ln>
        </p:spPr>
        <p:txBody>
          <a:bodyPr wrap="square" lIns="0" tIns="0" rIns="0" bIns="0" anchor="ctr">
            <a:spAutoFit/>
          </a:bodyPr>
          <a:lstStyle/>
          <a:p>
            <a:r>
              <a:rPr lang="en-US" altLang="zh-TW" sz="750" b="1" dirty="0">
                <a:latin typeface="Arial" pitchFamily="34" charset="0"/>
                <a:ea typeface="Arial Unicode MS" pitchFamily="34" charset="-120"/>
                <a:cs typeface="Arial" pitchFamily="34" charset="0"/>
              </a:rPr>
              <a:t> </a:t>
            </a:r>
            <a:endParaRPr lang="zh-TW" altLang="en-US" sz="750" b="1" dirty="0">
              <a:latin typeface="Arial" pitchFamily="34" charset="0"/>
              <a:ea typeface="Arial Unicode MS" pitchFamily="34" charset="-120"/>
              <a:cs typeface="Arial" pitchFamily="34" charset="0"/>
            </a:endParaRPr>
          </a:p>
        </p:txBody>
      </p:sp>
      <p:sp>
        <p:nvSpPr>
          <p:cNvPr id="326" name="Line 46"/>
          <p:cNvSpPr>
            <a:spLocks noChangeShapeType="1"/>
          </p:cNvSpPr>
          <p:nvPr/>
        </p:nvSpPr>
        <p:spPr bwMode="auto">
          <a:xfrm flipH="1" flipV="1">
            <a:off x="3098684" y="4772800"/>
            <a:ext cx="0" cy="378042"/>
          </a:xfrm>
          <a:prstGeom prst="line">
            <a:avLst/>
          </a:prstGeom>
          <a:noFill/>
          <a:ln w="19050">
            <a:solidFill>
              <a:srgbClr val="A2A4A3"/>
            </a:solidFill>
            <a:round/>
            <a:headEnd/>
            <a:tailEnd/>
          </a:ln>
        </p:spPr>
        <p:txBody>
          <a:bodyPr wrap="square" lIns="0" tIns="0" rIns="0" bIns="0" anchor="ctr">
            <a:spAutoFit/>
          </a:bodyPr>
          <a:lstStyle/>
          <a:p>
            <a:r>
              <a:rPr lang="en-US" altLang="zh-TW" sz="750" b="1" dirty="0">
                <a:latin typeface="Arial" pitchFamily="34" charset="0"/>
                <a:ea typeface="Arial Unicode MS" pitchFamily="34" charset="-120"/>
                <a:cs typeface="Arial" pitchFamily="34" charset="0"/>
              </a:rPr>
              <a:t> </a:t>
            </a:r>
            <a:endParaRPr lang="zh-TW" altLang="en-US" sz="750" b="1" dirty="0">
              <a:latin typeface="Arial" pitchFamily="34" charset="0"/>
              <a:ea typeface="Arial Unicode MS" pitchFamily="34" charset="-120"/>
              <a:cs typeface="Arial" pitchFamily="34" charset="0"/>
            </a:endParaRPr>
          </a:p>
        </p:txBody>
      </p:sp>
      <p:sp>
        <p:nvSpPr>
          <p:cNvPr id="327" name="Line 46"/>
          <p:cNvSpPr>
            <a:spLocks noChangeShapeType="1"/>
          </p:cNvSpPr>
          <p:nvPr/>
        </p:nvSpPr>
        <p:spPr bwMode="auto">
          <a:xfrm flipH="1" flipV="1">
            <a:off x="3260702" y="4772800"/>
            <a:ext cx="0" cy="378042"/>
          </a:xfrm>
          <a:prstGeom prst="line">
            <a:avLst/>
          </a:prstGeom>
          <a:noFill/>
          <a:ln w="19050">
            <a:solidFill>
              <a:srgbClr val="A2A4A3"/>
            </a:solidFill>
            <a:round/>
            <a:headEnd/>
            <a:tailEnd/>
          </a:ln>
        </p:spPr>
        <p:txBody>
          <a:bodyPr wrap="square" lIns="0" tIns="0" rIns="0" bIns="0" anchor="ctr">
            <a:spAutoFit/>
          </a:bodyPr>
          <a:lstStyle/>
          <a:p>
            <a:r>
              <a:rPr lang="en-US" altLang="zh-TW" sz="750" b="1" dirty="0">
                <a:latin typeface="Arial" pitchFamily="34" charset="0"/>
                <a:ea typeface="Arial Unicode MS" pitchFamily="34" charset="-120"/>
                <a:cs typeface="Arial" pitchFamily="34" charset="0"/>
              </a:rPr>
              <a:t> </a:t>
            </a:r>
            <a:endParaRPr lang="zh-TW" altLang="en-US" sz="750" b="1" dirty="0">
              <a:latin typeface="Arial" pitchFamily="34" charset="0"/>
              <a:ea typeface="Arial Unicode MS" pitchFamily="34" charset="-120"/>
              <a:cs typeface="Arial" pitchFamily="34" charset="0"/>
            </a:endParaRPr>
          </a:p>
        </p:txBody>
      </p:sp>
      <p:sp>
        <p:nvSpPr>
          <p:cNvPr id="328" name="Line 46"/>
          <p:cNvSpPr>
            <a:spLocks noChangeShapeType="1"/>
          </p:cNvSpPr>
          <p:nvPr/>
        </p:nvSpPr>
        <p:spPr bwMode="auto">
          <a:xfrm flipH="1" flipV="1">
            <a:off x="3422720" y="4772800"/>
            <a:ext cx="0" cy="378042"/>
          </a:xfrm>
          <a:prstGeom prst="line">
            <a:avLst/>
          </a:prstGeom>
          <a:noFill/>
          <a:ln w="19050">
            <a:solidFill>
              <a:srgbClr val="A2A4A3"/>
            </a:solidFill>
            <a:round/>
            <a:headEnd/>
            <a:tailEnd/>
          </a:ln>
        </p:spPr>
        <p:txBody>
          <a:bodyPr wrap="square" lIns="0" tIns="0" rIns="0" bIns="0" anchor="ctr">
            <a:spAutoFit/>
          </a:bodyPr>
          <a:lstStyle/>
          <a:p>
            <a:r>
              <a:rPr lang="en-US" altLang="zh-TW" sz="750" b="1" dirty="0">
                <a:latin typeface="Arial" pitchFamily="34" charset="0"/>
                <a:ea typeface="Arial Unicode MS" pitchFamily="34" charset="-120"/>
                <a:cs typeface="Arial" pitchFamily="34" charset="0"/>
              </a:rPr>
              <a:t> </a:t>
            </a:r>
            <a:endParaRPr lang="zh-TW" altLang="en-US" sz="750" b="1" dirty="0">
              <a:latin typeface="Arial" pitchFamily="34" charset="0"/>
              <a:ea typeface="Arial Unicode MS" pitchFamily="34" charset="-120"/>
              <a:cs typeface="Arial" pitchFamily="34" charset="0"/>
            </a:endParaRPr>
          </a:p>
        </p:txBody>
      </p:sp>
      <p:pic>
        <p:nvPicPr>
          <p:cNvPr id="270" name="Picture 39" descr="Server_CPU.png"/>
          <p:cNvPicPr>
            <a:picLocks noChangeAspect="1"/>
          </p:cNvPicPr>
          <p:nvPr/>
        </p:nvPicPr>
        <p:blipFill>
          <a:blip r:embed="rId6" cstate="print"/>
          <a:stretch>
            <a:fillRect/>
          </a:stretch>
        </p:blipFill>
        <p:spPr>
          <a:xfrm>
            <a:off x="2796714" y="5065914"/>
            <a:ext cx="195209" cy="337615"/>
          </a:xfrm>
          <a:prstGeom prst="rect">
            <a:avLst/>
          </a:prstGeom>
        </p:spPr>
      </p:pic>
      <p:pic>
        <p:nvPicPr>
          <p:cNvPr id="272" name="Picture 39" descr="Server_CPU.png"/>
          <p:cNvPicPr>
            <a:picLocks noChangeAspect="1"/>
          </p:cNvPicPr>
          <p:nvPr/>
        </p:nvPicPr>
        <p:blipFill>
          <a:blip r:embed="rId6" cstate="print"/>
          <a:stretch>
            <a:fillRect/>
          </a:stretch>
        </p:blipFill>
        <p:spPr>
          <a:xfrm>
            <a:off x="3174756" y="5065914"/>
            <a:ext cx="195209" cy="337615"/>
          </a:xfrm>
          <a:prstGeom prst="rect">
            <a:avLst/>
          </a:prstGeom>
        </p:spPr>
      </p:pic>
      <p:pic>
        <p:nvPicPr>
          <p:cNvPr id="273" name="Picture 39" descr="Server_CPU.png"/>
          <p:cNvPicPr>
            <a:picLocks noChangeAspect="1"/>
          </p:cNvPicPr>
          <p:nvPr/>
        </p:nvPicPr>
        <p:blipFill>
          <a:blip r:embed="rId6" cstate="print"/>
          <a:stretch>
            <a:fillRect/>
          </a:stretch>
        </p:blipFill>
        <p:spPr>
          <a:xfrm>
            <a:off x="3357589" y="5065914"/>
            <a:ext cx="195209" cy="337615"/>
          </a:xfrm>
          <a:prstGeom prst="rect">
            <a:avLst/>
          </a:prstGeom>
        </p:spPr>
      </p:pic>
      <p:pic>
        <p:nvPicPr>
          <p:cNvPr id="271" name="Picture 39" descr="Server_CPU.png"/>
          <p:cNvPicPr>
            <a:picLocks noChangeAspect="1"/>
          </p:cNvPicPr>
          <p:nvPr/>
        </p:nvPicPr>
        <p:blipFill>
          <a:blip r:embed="rId6" cstate="print"/>
          <a:stretch>
            <a:fillRect/>
          </a:stretch>
        </p:blipFill>
        <p:spPr>
          <a:xfrm>
            <a:off x="2979547" y="5065914"/>
            <a:ext cx="195209" cy="337615"/>
          </a:xfrm>
          <a:prstGeom prst="rect">
            <a:avLst/>
          </a:prstGeom>
        </p:spPr>
      </p:pic>
      <p:sp>
        <p:nvSpPr>
          <p:cNvPr id="329" name="Line 46"/>
          <p:cNvSpPr>
            <a:spLocks noChangeShapeType="1"/>
          </p:cNvSpPr>
          <p:nvPr/>
        </p:nvSpPr>
        <p:spPr bwMode="auto">
          <a:xfrm flipH="1" flipV="1">
            <a:off x="2365720" y="4833156"/>
            <a:ext cx="0" cy="469469"/>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grpSp>
        <p:nvGrpSpPr>
          <p:cNvPr id="16" name="群組 27"/>
          <p:cNvGrpSpPr/>
          <p:nvPr/>
        </p:nvGrpSpPr>
        <p:grpSpPr>
          <a:xfrm>
            <a:off x="2095690" y="5080539"/>
            <a:ext cx="378042" cy="337615"/>
            <a:chOff x="827584" y="5589240"/>
            <a:chExt cx="504056" cy="450153"/>
          </a:xfrm>
        </p:grpSpPr>
        <p:pic>
          <p:nvPicPr>
            <p:cNvPr id="249" name="Picture 39" descr="Server_CPU.png"/>
            <p:cNvPicPr>
              <a:picLocks noChangeAspect="1"/>
            </p:cNvPicPr>
            <p:nvPr/>
          </p:nvPicPr>
          <p:blipFill>
            <a:blip r:embed="rId6" cstate="print"/>
            <a:stretch>
              <a:fillRect/>
            </a:stretch>
          </p:blipFill>
          <p:spPr>
            <a:xfrm>
              <a:off x="827584" y="5589240"/>
              <a:ext cx="260278" cy="450153"/>
            </a:xfrm>
            <a:prstGeom prst="rect">
              <a:avLst/>
            </a:prstGeom>
          </p:spPr>
        </p:pic>
        <p:pic>
          <p:nvPicPr>
            <p:cNvPr id="252" name="Picture 39" descr="Server_CPU.png"/>
            <p:cNvPicPr>
              <a:picLocks noChangeAspect="1"/>
            </p:cNvPicPr>
            <p:nvPr/>
          </p:nvPicPr>
          <p:blipFill>
            <a:blip r:embed="rId6" cstate="print"/>
            <a:stretch>
              <a:fillRect/>
            </a:stretch>
          </p:blipFill>
          <p:spPr>
            <a:xfrm>
              <a:off x="1071362" y="5589240"/>
              <a:ext cx="260278" cy="450153"/>
            </a:xfrm>
            <a:prstGeom prst="rect">
              <a:avLst/>
            </a:prstGeom>
          </p:spPr>
        </p:pic>
      </p:grpSp>
      <p:sp>
        <p:nvSpPr>
          <p:cNvPr id="241" name="圓角矩形 240"/>
          <p:cNvSpPr/>
          <p:nvPr/>
        </p:nvSpPr>
        <p:spPr bwMode="auto">
          <a:xfrm>
            <a:off x="2006729" y="4725144"/>
            <a:ext cx="540060" cy="270030"/>
          </a:xfrm>
          <a:prstGeom prst="roundRect">
            <a:avLst/>
          </a:prstGeom>
          <a:solidFill>
            <a:srgbClr val="FFCC99"/>
          </a:solidFill>
          <a:ln w="9525" cap="flat" cmpd="sng" algn="ctr">
            <a:solidFill>
              <a:schemeClr val="bg1"/>
            </a:solidFill>
            <a:prstDash val="solid"/>
            <a:round/>
            <a:headEnd type="none" w="med" len="med"/>
            <a:tailEnd type="none" w="med" len="med"/>
          </a:ln>
          <a:effectLst>
            <a:glow rad="101600">
              <a:srgbClr val="FFC000">
                <a:alpha val="40000"/>
              </a:srgbClr>
            </a:glow>
          </a:effectLst>
        </p:spPr>
        <p:txBody>
          <a:bodyPr vert="horz" wrap="none" lIns="69056" tIns="34529" rIns="69056" bIns="34529" numCol="1" rtlCol="0" anchor="t" anchorCtr="0" compatLnSpc="1">
            <a:prstTxWarp prst="textNoShape">
              <a:avLst/>
            </a:prstTxWarp>
          </a:bodyPr>
          <a:lstStyle/>
          <a:p>
            <a:pPr fontAlgn="base">
              <a:spcBef>
                <a:spcPct val="0"/>
              </a:spcBef>
              <a:spcAft>
                <a:spcPct val="0"/>
              </a:spcAft>
            </a:pPr>
            <a:endParaRPr lang="zh-TW" altLang="en-US" sz="750" b="1">
              <a:latin typeface="Arial" pitchFamily="34" charset="0"/>
              <a:ea typeface="Arial Unicode MS" pitchFamily="34" charset="-120"/>
              <a:cs typeface="Arial" pitchFamily="34" charset="0"/>
            </a:endParaRPr>
          </a:p>
        </p:txBody>
      </p:sp>
      <p:grpSp>
        <p:nvGrpSpPr>
          <p:cNvPr id="17" name="群組 161"/>
          <p:cNvGrpSpPr/>
          <p:nvPr/>
        </p:nvGrpSpPr>
        <p:grpSpPr>
          <a:xfrm>
            <a:off x="2041685" y="4761558"/>
            <a:ext cx="479009" cy="193995"/>
            <a:chOff x="991881" y="3212391"/>
            <a:chExt cx="638678" cy="258660"/>
          </a:xfrm>
        </p:grpSpPr>
        <p:pic>
          <p:nvPicPr>
            <p:cNvPr id="247" name="Picture 12" descr="EX3200_24"/>
            <p:cNvPicPr>
              <a:picLocks noChangeAspect="1" noChangeArrowheads="1"/>
            </p:cNvPicPr>
            <p:nvPr/>
          </p:nvPicPr>
          <p:blipFill>
            <a:blip r:embed="rId8" cstate="print"/>
            <a:srcRect/>
            <a:stretch>
              <a:fillRect/>
            </a:stretch>
          </p:blipFill>
          <p:spPr bwMode="auto">
            <a:xfrm>
              <a:off x="991881" y="3212391"/>
              <a:ext cx="638678" cy="129330"/>
            </a:xfrm>
            <a:prstGeom prst="rect">
              <a:avLst/>
            </a:prstGeom>
            <a:noFill/>
            <a:ln w="9525">
              <a:solidFill>
                <a:schemeClr val="bg1">
                  <a:lumMod val="95000"/>
                </a:schemeClr>
              </a:solidFill>
              <a:miter lim="800000"/>
              <a:headEnd/>
              <a:tailEnd/>
            </a:ln>
          </p:spPr>
        </p:pic>
        <p:pic>
          <p:nvPicPr>
            <p:cNvPr id="248" name="Picture 12" descr="EX3200_24"/>
            <p:cNvPicPr>
              <a:picLocks noChangeAspect="1" noChangeArrowheads="1"/>
            </p:cNvPicPr>
            <p:nvPr/>
          </p:nvPicPr>
          <p:blipFill>
            <a:blip r:embed="rId8" cstate="print"/>
            <a:srcRect/>
            <a:stretch>
              <a:fillRect/>
            </a:stretch>
          </p:blipFill>
          <p:spPr bwMode="auto">
            <a:xfrm>
              <a:off x="991881" y="3341721"/>
              <a:ext cx="638678" cy="129330"/>
            </a:xfrm>
            <a:prstGeom prst="rect">
              <a:avLst/>
            </a:prstGeom>
            <a:noFill/>
            <a:ln w="9525">
              <a:solidFill>
                <a:schemeClr val="bg1">
                  <a:lumMod val="95000"/>
                </a:schemeClr>
              </a:solidFill>
              <a:miter lim="800000"/>
              <a:headEnd/>
              <a:tailEnd/>
            </a:ln>
          </p:spPr>
        </p:pic>
      </p:grpSp>
      <p:sp>
        <p:nvSpPr>
          <p:cNvPr id="430" name="文字方塊 429"/>
          <p:cNvSpPr txBox="1"/>
          <p:nvPr/>
        </p:nvSpPr>
        <p:spPr>
          <a:xfrm>
            <a:off x="2882661" y="5404575"/>
            <a:ext cx="688009" cy="207749"/>
          </a:xfrm>
          <a:prstGeom prst="rect">
            <a:avLst/>
          </a:prstGeom>
          <a:noFill/>
          <a:ln w="19050">
            <a:noFill/>
            <a:round/>
            <a:headEnd/>
            <a:tailEnd/>
          </a:ln>
        </p:spPr>
        <p:txBody>
          <a:bodyPr wrap="none" rtlCol="0">
            <a:spAutoFit/>
          </a:bodyPr>
          <a:lstStyle/>
          <a:p>
            <a:r>
              <a:rPr lang="en-US" altLang="zh-TW" sz="750" b="1" dirty="0">
                <a:latin typeface="Arial" pitchFamily="34" charset="0"/>
                <a:ea typeface="Arial Unicode MS" pitchFamily="34" charset="-120"/>
                <a:cs typeface="Arial" pitchFamily="34" charset="0"/>
              </a:rPr>
              <a:t>DB servers</a:t>
            </a:r>
            <a:endParaRPr lang="zh-TW" altLang="en-US" sz="750" b="1" dirty="0">
              <a:latin typeface="Arial" pitchFamily="34" charset="0"/>
              <a:ea typeface="Arial Unicode MS" pitchFamily="34" charset="-120"/>
              <a:cs typeface="Arial" pitchFamily="34" charset="0"/>
            </a:endParaRPr>
          </a:p>
        </p:txBody>
      </p:sp>
      <p:grpSp>
        <p:nvGrpSpPr>
          <p:cNvPr id="18" name="群組 163"/>
          <p:cNvGrpSpPr/>
          <p:nvPr/>
        </p:nvGrpSpPr>
        <p:grpSpPr>
          <a:xfrm>
            <a:off x="2048729" y="3266982"/>
            <a:ext cx="479009" cy="193995"/>
            <a:chOff x="1820094" y="1839643"/>
            <a:chExt cx="638678" cy="258660"/>
          </a:xfrm>
        </p:grpSpPr>
        <p:pic>
          <p:nvPicPr>
            <p:cNvPr id="230" name="Picture 12" descr="EX3200_24"/>
            <p:cNvPicPr>
              <a:picLocks noChangeAspect="1" noChangeArrowheads="1"/>
            </p:cNvPicPr>
            <p:nvPr/>
          </p:nvPicPr>
          <p:blipFill>
            <a:blip r:embed="rId8" cstate="print"/>
            <a:srcRect/>
            <a:stretch>
              <a:fillRect/>
            </a:stretch>
          </p:blipFill>
          <p:spPr bwMode="auto">
            <a:xfrm>
              <a:off x="1820094" y="1839643"/>
              <a:ext cx="638678" cy="129330"/>
            </a:xfrm>
            <a:prstGeom prst="rect">
              <a:avLst/>
            </a:prstGeom>
            <a:noFill/>
            <a:ln w="9525">
              <a:noFill/>
              <a:miter lim="800000"/>
              <a:headEnd/>
              <a:tailEnd/>
            </a:ln>
          </p:spPr>
        </p:pic>
        <p:pic>
          <p:nvPicPr>
            <p:cNvPr id="231" name="Picture 12" descr="EX3200_24"/>
            <p:cNvPicPr>
              <a:picLocks noChangeAspect="1" noChangeArrowheads="1"/>
            </p:cNvPicPr>
            <p:nvPr/>
          </p:nvPicPr>
          <p:blipFill>
            <a:blip r:embed="rId8" cstate="print"/>
            <a:srcRect/>
            <a:stretch>
              <a:fillRect/>
            </a:stretch>
          </p:blipFill>
          <p:spPr bwMode="auto">
            <a:xfrm>
              <a:off x="1820094" y="1968973"/>
              <a:ext cx="638678" cy="129330"/>
            </a:xfrm>
            <a:prstGeom prst="rect">
              <a:avLst/>
            </a:prstGeom>
            <a:noFill/>
            <a:ln w="9525">
              <a:noFill/>
              <a:miter lim="800000"/>
              <a:headEnd/>
              <a:tailEnd/>
            </a:ln>
          </p:spPr>
        </p:pic>
      </p:grpSp>
      <p:grpSp>
        <p:nvGrpSpPr>
          <p:cNvPr id="19" name="群組 336"/>
          <p:cNvGrpSpPr/>
          <p:nvPr/>
        </p:nvGrpSpPr>
        <p:grpSpPr>
          <a:xfrm>
            <a:off x="2041684" y="4077072"/>
            <a:ext cx="540060" cy="486054"/>
            <a:chOff x="2987824" y="908720"/>
            <a:chExt cx="720080" cy="648072"/>
          </a:xfrm>
        </p:grpSpPr>
        <p:sp>
          <p:nvSpPr>
            <p:cNvPr id="338" name="橢圓 337"/>
            <p:cNvSpPr/>
            <p:nvPr/>
          </p:nvSpPr>
          <p:spPr>
            <a:xfrm>
              <a:off x="2987824" y="908720"/>
              <a:ext cx="720080" cy="648072"/>
            </a:xfrm>
            <a:prstGeom prst="ellipse">
              <a:avLst/>
            </a:prstGeom>
            <a:solidFill>
              <a:srgbClr val="FFFF00"/>
            </a:solidFill>
            <a:ln>
              <a:solidFill>
                <a:schemeClr val="accent6">
                  <a:lumMod val="20000"/>
                  <a:lumOff val="80000"/>
                </a:schemeClr>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750" b="1">
                <a:latin typeface="Arial" pitchFamily="34" charset="0"/>
                <a:ea typeface="Arial Unicode MS" pitchFamily="34" charset="-120"/>
                <a:cs typeface="Arial" pitchFamily="34" charset="0"/>
              </a:endParaRPr>
            </a:p>
          </p:txBody>
        </p:sp>
        <p:pic>
          <p:nvPicPr>
            <p:cNvPr id="339" name="Picture 45" descr="media gateway"/>
            <p:cNvPicPr>
              <a:picLocks noChangeAspect="1" noChangeArrowheads="1"/>
            </p:cNvPicPr>
            <p:nvPr/>
          </p:nvPicPr>
          <p:blipFill>
            <a:blip r:embed="rId5" cstate="print"/>
            <a:srcRect/>
            <a:stretch>
              <a:fillRect/>
            </a:stretch>
          </p:blipFill>
          <p:spPr bwMode="auto">
            <a:xfrm>
              <a:off x="3059832" y="1052736"/>
              <a:ext cx="542925" cy="165100"/>
            </a:xfrm>
            <a:prstGeom prst="rect">
              <a:avLst/>
            </a:prstGeom>
            <a:noFill/>
            <a:ln w="9525">
              <a:noFill/>
              <a:miter lim="800000"/>
              <a:headEnd/>
              <a:tailEnd/>
            </a:ln>
          </p:spPr>
        </p:pic>
        <p:pic>
          <p:nvPicPr>
            <p:cNvPr id="340" name="Picture 45" descr="media gateway"/>
            <p:cNvPicPr>
              <a:picLocks noChangeAspect="1" noChangeArrowheads="1"/>
            </p:cNvPicPr>
            <p:nvPr/>
          </p:nvPicPr>
          <p:blipFill>
            <a:blip r:embed="rId5" cstate="print"/>
            <a:srcRect/>
            <a:stretch>
              <a:fillRect/>
            </a:stretch>
          </p:blipFill>
          <p:spPr bwMode="auto">
            <a:xfrm>
              <a:off x="3059832" y="1196752"/>
              <a:ext cx="542925" cy="165100"/>
            </a:xfrm>
            <a:prstGeom prst="rect">
              <a:avLst/>
            </a:prstGeom>
            <a:noFill/>
            <a:ln w="9525">
              <a:noFill/>
              <a:miter lim="800000"/>
              <a:headEnd/>
              <a:tailEnd/>
            </a:ln>
          </p:spPr>
        </p:pic>
      </p:grpSp>
      <p:sp>
        <p:nvSpPr>
          <p:cNvPr id="341" name="文字方塊 340"/>
          <p:cNvSpPr txBox="1"/>
          <p:nvPr/>
        </p:nvSpPr>
        <p:spPr>
          <a:xfrm>
            <a:off x="2149696" y="4378461"/>
            <a:ext cx="404278" cy="207749"/>
          </a:xfrm>
          <a:prstGeom prst="rect">
            <a:avLst/>
          </a:prstGeom>
          <a:noFill/>
        </p:spPr>
        <p:txBody>
          <a:bodyPr wrap="none" rtlCol="0">
            <a:spAutoFit/>
          </a:bodyPr>
          <a:lstStyle/>
          <a:p>
            <a:r>
              <a:rPr lang="en-US" altLang="zh-TW" sz="750" b="1" dirty="0">
                <a:latin typeface="Arial" pitchFamily="34" charset="0"/>
                <a:ea typeface="Arial Unicode MS" pitchFamily="34" charset="-120"/>
                <a:cs typeface="Arial" pitchFamily="34" charset="0"/>
              </a:rPr>
              <a:t>WAF</a:t>
            </a:r>
            <a:endParaRPr lang="zh-TW" altLang="en-US" sz="750" b="1" dirty="0">
              <a:latin typeface="Arial" pitchFamily="34" charset="0"/>
              <a:ea typeface="Arial Unicode MS" pitchFamily="34" charset="-120"/>
              <a:cs typeface="Arial" pitchFamily="34" charset="0"/>
            </a:endParaRPr>
          </a:p>
        </p:txBody>
      </p:sp>
      <p:sp>
        <p:nvSpPr>
          <p:cNvPr id="346" name="Line 46"/>
          <p:cNvSpPr>
            <a:spLocks noChangeShapeType="1"/>
          </p:cNvSpPr>
          <p:nvPr/>
        </p:nvSpPr>
        <p:spPr bwMode="auto">
          <a:xfrm flipH="1" flipV="1">
            <a:off x="2527738" y="3320988"/>
            <a:ext cx="1512168" cy="0"/>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347" name="Line 46"/>
          <p:cNvSpPr>
            <a:spLocks noChangeShapeType="1"/>
          </p:cNvSpPr>
          <p:nvPr/>
        </p:nvSpPr>
        <p:spPr bwMode="auto">
          <a:xfrm flipH="1" flipV="1">
            <a:off x="4039906" y="3320988"/>
            <a:ext cx="0" cy="1350150"/>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grpSp>
        <p:nvGrpSpPr>
          <p:cNvPr id="20" name="群組 347"/>
          <p:cNvGrpSpPr/>
          <p:nvPr/>
        </p:nvGrpSpPr>
        <p:grpSpPr>
          <a:xfrm>
            <a:off x="3650958" y="3483006"/>
            <a:ext cx="570203" cy="531785"/>
            <a:chOff x="4139952" y="3284984"/>
            <a:chExt cx="760271" cy="709047"/>
          </a:xfrm>
          <a:effectLst>
            <a:glow rad="101600">
              <a:schemeClr val="accent3">
                <a:satMod val="175000"/>
                <a:alpha val="40000"/>
              </a:schemeClr>
            </a:glow>
          </a:effectLst>
        </p:grpSpPr>
        <p:grpSp>
          <p:nvGrpSpPr>
            <p:cNvPr id="21" name="群組 329"/>
            <p:cNvGrpSpPr/>
            <p:nvPr/>
          </p:nvGrpSpPr>
          <p:grpSpPr>
            <a:xfrm>
              <a:off x="4139952" y="3284984"/>
              <a:ext cx="720080" cy="648072"/>
              <a:chOff x="899592" y="4293096"/>
              <a:chExt cx="720080" cy="648072"/>
            </a:xfrm>
          </p:grpSpPr>
          <p:sp>
            <p:nvSpPr>
              <p:cNvPr id="331" name="橢圓 330"/>
              <p:cNvSpPr/>
              <p:nvPr/>
            </p:nvSpPr>
            <p:spPr>
              <a:xfrm>
                <a:off x="899592" y="4293096"/>
                <a:ext cx="720080" cy="648072"/>
              </a:xfrm>
              <a:prstGeom prst="ellipse">
                <a:avLst/>
              </a:prstGeom>
              <a:solidFill>
                <a:srgbClr val="FFFF0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750" b="1">
                  <a:latin typeface="Arial" pitchFamily="34" charset="0"/>
                  <a:ea typeface="Arial Unicode MS" pitchFamily="34" charset="-120"/>
                  <a:cs typeface="Arial" pitchFamily="34" charset="0"/>
                </a:endParaRPr>
              </a:p>
            </p:txBody>
          </p:sp>
          <p:grpSp>
            <p:nvGrpSpPr>
              <p:cNvPr id="22" name="群組 150"/>
              <p:cNvGrpSpPr/>
              <p:nvPr/>
            </p:nvGrpSpPr>
            <p:grpSpPr>
              <a:xfrm>
                <a:off x="899592" y="4437117"/>
                <a:ext cx="717504" cy="297167"/>
                <a:chOff x="971600" y="3647566"/>
                <a:chExt cx="573488" cy="277953"/>
              </a:xfrm>
            </p:grpSpPr>
            <p:pic>
              <p:nvPicPr>
                <p:cNvPr id="333" name="Picture 23"/>
                <p:cNvPicPr>
                  <a:picLocks noChangeAspect="1" noChangeArrowheads="1"/>
                </p:cNvPicPr>
                <p:nvPr/>
              </p:nvPicPr>
              <p:blipFill>
                <a:blip r:embed="rId4" cstate="print">
                  <a:duotone>
                    <a:schemeClr val="bg2">
                      <a:shade val="45000"/>
                      <a:satMod val="135000"/>
                    </a:schemeClr>
                    <a:prstClr val="white"/>
                  </a:duotone>
                </a:blip>
                <a:srcRect b="45558"/>
                <a:stretch>
                  <a:fillRect/>
                </a:stretch>
              </p:blipFill>
              <p:spPr bwMode="auto">
                <a:xfrm>
                  <a:off x="971600" y="3647566"/>
                  <a:ext cx="573488" cy="143251"/>
                </a:xfrm>
                <a:prstGeom prst="rect">
                  <a:avLst/>
                </a:prstGeom>
                <a:noFill/>
                <a:ln w="9525">
                  <a:noFill/>
                  <a:miter lim="800000"/>
                  <a:headEnd/>
                  <a:tailEnd/>
                </a:ln>
              </p:spPr>
            </p:pic>
            <p:pic>
              <p:nvPicPr>
                <p:cNvPr id="334" name="Picture 23"/>
                <p:cNvPicPr>
                  <a:picLocks noChangeAspect="1" noChangeArrowheads="1"/>
                </p:cNvPicPr>
                <p:nvPr/>
              </p:nvPicPr>
              <p:blipFill>
                <a:blip r:embed="rId4" cstate="print">
                  <a:duotone>
                    <a:schemeClr val="bg2">
                      <a:shade val="45000"/>
                      <a:satMod val="135000"/>
                    </a:schemeClr>
                    <a:prstClr val="white"/>
                  </a:duotone>
                </a:blip>
                <a:srcRect b="45558"/>
                <a:stretch>
                  <a:fillRect/>
                </a:stretch>
              </p:blipFill>
              <p:spPr bwMode="auto">
                <a:xfrm>
                  <a:off x="971600" y="3782268"/>
                  <a:ext cx="573488" cy="143251"/>
                </a:xfrm>
                <a:prstGeom prst="rect">
                  <a:avLst/>
                </a:prstGeom>
                <a:noFill/>
                <a:ln w="9525">
                  <a:noFill/>
                  <a:miter lim="800000"/>
                  <a:headEnd/>
                  <a:tailEnd/>
                </a:ln>
              </p:spPr>
            </p:pic>
          </p:grpSp>
        </p:grpSp>
        <p:sp>
          <p:nvSpPr>
            <p:cNvPr id="335" name="文字方塊 334"/>
            <p:cNvSpPr txBox="1"/>
            <p:nvPr/>
          </p:nvSpPr>
          <p:spPr>
            <a:xfrm>
              <a:off x="4139952" y="3717032"/>
              <a:ext cx="760271" cy="276999"/>
            </a:xfrm>
            <a:prstGeom prst="rect">
              <a:avLst/>
            </a:prstGeom>
            <a:noFill/>
          </p:spPr>
          <p:txBody>
            <a:bodyPr wrap="square" rtlCol="0">
              <a:spAutoFit/>
            </a:bodyPr>
            <a:lstStyle/>
            <a:p>
              <a:pPr algn="ctr"/>
              <a:r>
                <a:rPr lang="en-US" altLang="zh-TW" sz="750" b="1" dirty="0">
                  <a:latin typeface="Arial" pitchFamily="34" charset="0"/>
                  <a:ea typeface="Arial Unicode MS" pitchFamily="34" charset="-120"/>
                  <a:cs typeface="Arial" pitchFamily="34" charset="0"/>
                </a:rPr>
                <a:t>SLB</a:t>
              </a:r>
              <a:endParaRPr lang="zh-TW" altLang="en-US" sz="750" b="1" dirty="0">
                <a:latin typeface="Arial" pitchFamily="34" charset="0"/>
                <a:ea typeface="Arial Unicode MS" pitchFamily="34" charset="-120"/>
                <a:cs typeface="Arial" pitchFamily="34" charset="0"/>
              </a:endParaRPr>
            </a:p>
          </p:txBody>
        </p:sp>
      </p:grpSp>
      <p:sp>
        <p:nvSpPr>
          <p:cNvPr id="349" name="文字方塊 348"/>
          <p:cNvSpPr txBox="1"/>
          <p:nvPr/>
        </p:nvSpPr>
        <p:spPr>
          <a:xfrm>
            <a:off x="3545887" y="5404575"/>
            <a:ext cx="694421" cy="207749"/>
          </a:xfrm>
          <a:prstGeom prst="rect">
            <a:avLst/>
          </a:prstGeom>
          <a:noFill/>
          <a:ln w="19050">
            <a:noFill/>
            <a:round/>
            <a:headEnd/>
            <a:tailEnd/>
          </a:ln>
        </p:spPr>
        <p:txBody>
          <a:bodyPr wrap="none" rtlCol="0">
            <a:spAutoFit/>
          </a:bodyPr>
          <a:lstStyle/>
          <a:p>
            <a:r>
              <a:rPr lang="en-US" altLang="zh-TW" sz="750" b="1" dirty="0">
                <a:latin typeface="Arial" pitchFamily="34" charset="0"/>
                <a:ea typeface="Arial Unicode MS" pitchFamily="34" charset="-120"/>
                <a:cs typeface="Arial" pitchFamily="34" charset="0"/>
              </a:rPr>
              <a:t>AP Servers</a:t>
            </a:r>
            <a:endParaRPr lang="zh-TW" altLang="en-US" sz="750" b="1" dirty="0">
              <a:latin typeface="Arial" pitchFamily="34" charset="0"/>
              <a:ea typeface="Arial Unicode MS" pitchFamily="34" charset="-120"/>
              <a:cs typeface="Arial" pitchFamily="34" charset="0"/>
            </a:endParaRPr>
          </a:p>
        </p:txBody>
      </p:sp>
      <p:grpSp>
        <p:nvGrpSpPr>
          <p:cNvPr id="420" name="群組 347"/>
          <p:cNvGrpSpPr/>
          <p:nvPr/>
        </p:nvGrpSpPr>
        <p:grpSpPr>
          <a:xfrm>
            <a:off x="2851775" y="3483006"/>
            <a:ext cx="570203" cy="531785"/>
            <a:chOff x="4139952" y="3284984"/>
            <a:chExt cx="760271" cy="709047"/>
          </a:xfrm>
          <a:effectLst>
            <a:glow rad="101600">
              <a:schemeClr val="accent3">
                <a:satMod val="175000"/>
                <a:alpha val="40000"/>
              </a:schemeClr>
            </a:glow>
          </a:effectLst>
        </p:grpSpPr>
        <p:grpSp>
          <p:nvGrpSpPr>
            <p:cNvPr id="427" name="群組 329"/>
            <p:cNvGrpSpPr/>
            <p:nvPr/>
          </p:nvGrpSpPr>
          <p:grpSpPr>
            <a:xfrm>
              <a:off x="4139952" y="3284984"/>
              <a:ext cx="720080" cy="648072"/>
              <a:chOff x="899592" y="4293096"/>
              <a:chExt cx="720080" cy="648072"/>
            </a:xfrm>
          </p:grpSpPr>
          <p:sp>
            <p:nvSpPr>
              <p:cNvPr id="429" name="橢圓 428"/>
              <p:cNvSpPr/>
              <p:nvPr/>
            </p:nvSpPr>
            <p:spPr>
              <a:xfrm>
                <a:off x="899592" y="4293096"/>
                <a:ext cx="720080" cy="648072"/>
              </a:xfrm>
              <a:prstGeom prst="ellipse">
                <a:avLst/>
              </a:prstGeom>
              <a:solidFill>
                <a:srgbClr val="FFFF0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750" b="1">
                  <a:latin typeface="Arial" pitchFamily="34" charset="0"/>
                  <a:ea typeface="Arial Unicode MS" pitchFamily="34" charset="-120"/>
                  <a:cs typeface="Arial" pitchFamily="34" charset="0"/>
                </a:endParaRPr>
              </a:p>
            </p:txBody>
          </p:sp>
          <p:grpSp>
            <p:nvGrpSpPr>
              <p:cNvPr id="432" name="群組 150"/>
              <p:cNvGrpSpPr/>
              <p:nvPr/>
            </p:nvGrpSpPr>
            <p:grpSpPr>
              <a:xfrm>
                <a:off x="899592" y="4437117"/>
                <a:ext cx="717504" cy="297167"/>
                <a:chOff x="971600" y="3647566"/>
                <a:chExt cx="573488" cy="277953"/>
              </a:xfrm>
            </p:grpSpPr>
            <p:pic>
              <p:nvPicPr>
                <p:cNvPr id="433" name="Picture 23"/>
                <p:cNvPicPr>
                  <a:picLocks noChangeAspect="1" noChangeArrowheads="1"/>
                </p:cNvPicPr>
                <p:nvPr/>
              </p:nvPicPr>
              <p:blipFill>
                <a:blip r:embed="rId4" cstate="print"/>
                <a:srcRect b="45558"/>
                <a:stretch>
                  <a:fillRect/>
                </a:stretch>
              </p:blipFill>
              <p:spPr bwMode="auto">
                <a:xfrm>
                  <a:off x="971600" y="3647566"/>
                  <a:ext cx="573488" cy="143251"/>
                </a:xfrm>
                <a:prstGeom prst="rect">
                  <a:avLst/>
                </a:prstGeom>
                <a:noFill/>
                <a:ln w="9525">
                  <a:noFill/>
                  <a:miter lim="800000"/>
                  <a:headEnd/>
                  <a:tailEnd/>
                </a:ln>
              </p:spPr>
            </p:pic>
            <p:pic>
              <p:nvPicPr>
                <p:cNvPr id="435" name="Picture 23"/>
                <p:cNvPicPr>
                  <a:picLocks noChangeAspect="1" noChangeArrowheads="1"/>
                </p:cNvPicPr>
                <p:nvPr/>
              </p:nvPicPr>
              <p:blipFill>
                <a:blip r:embed="rId4" cstate="print"/>
                <a:srcRect b="45558"/>
                <a:stretch>
                  <a:fillRect/>
                </a:stretch>
              </p:blipFill>
              <p:spPr bwMode="auto">
                <a:xfrm>
                  <a:off x="971600" y="3782268"/>
                  <a:ext cx="573488" cy="143251"/>
                </a:xfrm>
                <a:prstGeom prst="rect">
                  <a:avLst/>
                </a:prstGeom>
                <a:noFill/>
                <a:ln w="9525">
                  <a:noFill/>
                  <a:miter lim="800000"/>
                  <a:headEnd/>
                  <a:tailEnd/>
                </a:ln>
              </p:spPr>
            </p:pic>
          </p:grpSp>
        </p:grpSp>
        <p:sp>
          <p:nvSpPr>
            <p:cNvPr id="428" name="文字方塊 427"/>
            <p:cNvSpPr txBox="1"/>
            <p:nvPr/>
          </p:nvSpPr>
          <p:spPr>
            <a:xfrm>
              <a:off x="4139952" y="3717032"/>
              <a:ext cx="760271" cy="276999"/>
            </a:xfrm>
            <a:prstGeom prst="rect">
              <a:avLst/>
            </a:prstGeom>
            <a:noFill/>
          </p:spPr>
          <p:txBody>
            <a:bodyPr wrap="square" rtlCol="0">
              <a:spAutoFit/>
            </a:bodyPr>
            <a:lstStyle/>
            <a:p>
              <a:pPr algn="ctr"/>
              <a:r>
                <a:rPr lang="en-US" altLang="zh-TW" sz="750" b="1" dirty="0">
                  <a:latin typeface="Arial" pitchFamily="34" charset="0"/>
                  <a:ea typeface="Arial Unicode MS" pitchFamily="34" charset="-120"/>
                  <a:cs typeface="Arial" pitchFamily="34" charset="0"/>
                </a:rPr>
                <a:t>SLB</a:t>
              </a:r>
              <a:endParaRPr lang="zh-TW" altLang="en-US" sz="750" b="1" dirty="0">
                <a:latin typeface="Arial" pitchFamily="34" charset="0"/>
                <a:ea typeface="Arial Unicode MS" pitchFamily="34" charset="-120"/>
                <a:cs typeface="Arial" pitchFamily="34" charset="0"/>
              </a:endParaRPr>
            </a:p>
          </p:txBody>
        </p:sp>
      </p:grpSp>
      <p:grpSp>
        <p:nvGrpSpPr>
          <p:cNvPr id="438" name="群組 336"/>
          <p:cNvGrpSpPr/>
          <p:nvPr/>
        </p:nvGrpSpPr>
        <p:grpSpPr>
          <a:xfrm>
            <a:off x="2851774" y="4077072"/>
            <a:ext cx="540060" cy="486054"/>
            <a:chOff x="2987824" y="908720"/>
            <a:chExt cx="720080" cy="648072"/>
          </a:xfrm>
        </p:grpSpPr>
        <p:sp>
          <p:nvSpPr>
            <p:cNvPr id="439" name="橢圓 438"/>
            <p:cNvSpPr/>
            <p:nvPr/>
          </p:nvSpPr>
          <p:spPr>
            <a:xfrm>
              <a:off x="2987824" y="908720"/>
              <a:ext cx="720080" cy="648072"/>
            </a:xfrm>
            <a:prstGeom prst="ellipse">
              <a:avLst/>
            </a:prstGeom>
            <a:solidFill>
              <a:srgbClr val="FFFF00"/>
            </a:solidFill>
            <a:ln>
              <a:solidFill>
                <a:schemeClr val="accent6">
                  <a:lumMod val="20000"/>
                  <a:lumOff val="80000"/>
                </a:schemeClr>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750" b="1">
                <a:latin typeface="Arial" pitchFamily="34" charset="0"/>
                <a:ea typeface="Arial Unicode MS" pitchFamily="34" charset="-120"/>
                <a:cs typeface="Arial" pitchFamily="34" charset="0"/>
              </a:endParaRPr>
            </a:p>
          </p:txBody>
        </p:sp>
        <p:pic>
          <p:nvPicPr>
            <p:cNvPr id="440" name="Picture 45" descr="media gateway"/>
            <p:cNvPicPr>
              <a:picLocks noChangeAspect="1" noChangeArrowheads="1"/>
            </p:cNvPicPr>
            <p:nvPr/>
          </p:nvPicPr>
          <p:blipFill>
            <a:blip r:embed="rId5" cstate="print">
              <a:duotone>
                <a:schemeClr val="bg2">
                  <a:shade val="45000"/>
                  <a:satMod val="135000"/>
                </a:schemeClr>
                <a:prstClr val="white"/>
              </a:duotone>
            </a:blip>
            <a:srcRect/>
            <a:stretch>
              <a:fillRect/>
            </a:stretch>
          </p:blipFill>
          <p:spPr bwMode="auto">
            <a:xfrm>
              <a:off x="3059832" y="1052736"/>
              <a:ext cx="542925" cy="165100"/>
            </a:xfrm>
            <a:prstGeom prst="rect">
              <a:avLst/>
            </a:prstGeom>
            <a:noFill/>
            <a:ln w="9525">
              <a:noFill/>
              <a:miter lim="800000"/>
              <a:headEnd/>
              <a:tailEnd/>
            </a:ln>
          </p:spPr>
        </p:pic>
        <p:pic>
          <p:nvPicPr>
            <p:cNvPr id="441" name="Picture 45" descr="media gateway"/>
            <p:cNvPicPr>
              <a:picLocks noChangeAspect="1" noChangeArrowheads="1"/>
            </p:cNvPicPr>
            <p:nvPr/>
          </p:nvPicPr>
          <p:blipFill>
            <a:blip r:embed="rId5" cstate="print">
              <a:duotone>
                <a:schemeClr val="bg2">
                  <a:shade val="45000"/>
                  <a:satMod val="135000"/>
                </a:schemeClr>
                <a:prstClr val="white"/>
              </a:duotone>
            </a:blip>
            <a:srcRect/>
            <a:stretch>
              <a:fillRect/>
            </a:stretch>
          </p:blipFill>
          <p:spPr bwMode="auto">
            <a:xfrm>
              <a:off x="3059832" y="1196752"/>
              <a:ext cx="542925" cy="165100"/>
            </a:xfrm>
            <a:prstGeom prst="rect">
              <a:avLst/>
            </a:prstGeom>
            <a:noFill/>
            <a:ln w="9525">
              <a:noFill/>
              <a:miter lim="800000"/>
              <a:headEnd/>
              <a:tailEnd/>
            </a:ln>
          </p:spPr>
        </p:pic>
      </p:grpSp>
      <p:sp>
        <p:nvSpPr>
          <p:cNvPr id="442" name="文字方塊 441"/>
          <p:cNvSpPr txBox="1"/>
          <p:nvPr/>
        </p:nvSpPr>
        <p:spPr>
          <a:xfrm>
            <a:off x="2959786" y="4378461"/>
            <a:ext cx="402674" cy="207749"/>
          </a:xfrm>
          <a:prstGeom prst="rect">
            <a:avLst/>
          </a:prstGeom>
          <a:noFill/>
        </p:spPr>
        <p:txBody>
          <a:bodyPr wrap="none" rtlCol="0">
            <a:spAutoFit/>
          </a:bodyPr>
          <a:lstStyle/>
          <a:p>
            <a:r>
              <a:rPr lang="en-US" altLang="zh-TW" sz="750" b="1" dirty="0">
                <a:latin typeface="Arial" pitchFamily="34" charset="0"/>
                <a:ea typeface="Arial Unicode MS" pitchFamily="34" charset="-120"/>
                <a:cs typeface="Arial" pitchFamily="34" charset="0"/>
              </a:rPr>
              <a:t>DAM</a:t>
            </a:r>
            <a:endParaRPr lang="zh-TW" altLang="en-US" sz="750" b="1" dirty="0">
              <a:latin typeface="Arial" pitchFamily="34" charset="0"/>
              <a:ea typeface="Arial Unicode MS" pitchFamily="34" charset="-120"/>
              <a:cs typeface="Arial" pitchFamily="34" charset="0"/>
            </a:endParaRPr>
          </a:p>
        </p:txBody>
      </p:sp>
      <p:sp>
        <p:nvSpPr>
          <p:cNvPr id="443" name="Line 46"/>
          <p:cNvSpPr>
            <a:spLocks noChangeShapeType="1"/>
          </p:cNvSpPr>
          <p:nvPr/>
        </p:nvSpPr>
        <p:spPr bwMode="auto">
          <a:xfrm flipH="1">
            <a:off x="5660086" y="2888940"/>
            <a:ext cx="756084" cy="0"/>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444" name="Line 46"/>
          <p:cNvSpPr>
            <a:spLocks noChangeShapeType="1"/>
          </p:cNvSpPr>
          <p:nvPr/>
        </p:nvSpPr>
        <p:spPr bwMode="auto">
          <a:xfrm flipH="1" flipV="1">
            <a:off x="7252882" y="4779150"/>
            <a:ext cx="0" cy="469469"/>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445" name="Line 46"/>
          <p:cNvSpPr>
            <a:spLocks noChangeShapeType="1"/>
          </p:cNvSpPr>
          <p:nvPr/>
        </p:nvSpPr>
        <p:spPr bwMode="auto">
          <a:xfrm flipH="1" flipV="1">
            <a:off x="7252882" y="3537013"/>
            <a:ext cx="0" cy="1132559"/>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447" name="Line 46"/>
          <p:cNvSpPr>
            <a:spLocks noChangeShapeType="1"/>
          </p:cNvSpPr>
          <p:nvPr/>
        </p:nvSpPr>
        <p:spPr bwMode="auto">
          <a:xfrm flipH="1" flipV="1">
            <a:off x="6581690" y="3374994"/>
            <a:ext cx="0" cy="1404156"/>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448" name="Line 46"/>
          <p:cNvSpPr>
            <a:spLocks noChangeShapeType="1"/>
          </p:cNvSpPr>
          <p:nvPr/>
        </p:nvSpPr>
        <p:spPr bwMode="auto">
          <a:xfrm flipH="1" flipV="1">
            <a:off x="5740714" y="3537012"/>
            <a:ext cx="0" cy="1188132"/>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449" name="Line 46"/>
          <p:cNvSpPr>
            <a:spLocks noChangeShapeType="1"/>
          </p:cNvSpPr>
          <p:nvPr/>
        </p:nvSpPr>
        <p:spPr bwMode="auto">
          <a:xfrm flipH="1" flipV="1">
            <a:off x="5578696" y="3807042"/>
            <a:ext cx="0" cy="918102"/>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453" name="Line 46"/>
          <p:cNvSpPr>
            <a:spLocks noChangeShapeType="1"/>
          </p:cNvSpPr>
          <p:nvPr/>
        </p:nvSpPr>
        <p:spPr bwMode="auto">
          <a:xfrm flipH="1" flipV="1">
            <a:off x="7414900" y="4715991"/>
            <a:ext cx="0" cy="469469"/>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454" name="Line 46"/>
          <p:cNvSpPr>
            <a:spLocks noChangeShapeType="1"/>
          </p:cNvSpPr>
          <p:nvPr/>
        </p:nvSpPr>
        <p:spPr bwMode="auto">
          <a:xfrm flipH="1" flipV="1">
            <a:off x="5578696" y="4760440"/>
            <a:ext cx="0" cy="469469"/>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grpSp>
        <p:nvGrpSpPr>
          <p:cNvPr id="455" name="群組 1"/>
          <p:cNvGrpSpPr/>
          <p:nvPr/>
        </p:nvGrpSpPr>
        <p:grpSpPr>
          <a:xfrm>
            <a:off x="4984630" y="944724"/>
            <a:ext cx="1242138" cy="411510"/>
            <a:chOff x="395536" y="476672"/>
            <a:chExt cx="1656184" cy="548680"/>
          </a:xfrm>
        </p:grpSpPr>
        <p:pic>
          <p:nvPicPr>
            <p:cNvPr id="456" name="Picture 27" descr="ICON_Cloud_Q308"/>
            <p:cNvPicPr>
              <a:picLocks noChangeAspect="1" noChangeArrowheads="1"/>
            </p:cNvPicPr>
            <p:nvPr/>
          </p:nvPicPr>
          <p:blipFill>
            <a:blip r:embed="rId2" cstate="print"/>
            <a:srcRect/>
            <a:stretch>
              <a:fillRect/>
            </a:stretch>
          </p:blipFill>
          <p:spPr bwMode="auto">
            <a:xfrm>
              <a:off x="395536" y="476672"/>
              <a:ext cx="1656184" cy="548680"/>
            </a:xfrm>
            <a:prstGeom prst="rect">
              <a:avLst/>
            </a:prstGeom>
            <a:noFill/>
            <a:ln w="9525">
              <a:noFill/>
              <a:miter lim="800000"/>
              <a:headEnd/>
              <a:tailEnd/>
            </a:ln>
          </p:spPr>
        </p:pic>
        <p:sp>
          <p:nvSpPr>
            <p:cNvPr id="457" name="文字方塊 456"/>
            <p:cNvSpPr txBox="1"/>
            <p:nvPr/>
          </p:nvSpPr>
          <p:spPr>
            <a:xfrm>
              <a:off x="827584" y="548680"/>
              <a:ext cx="998564" cy="369332"/>
            </a:xfrm>
            <a:prstGeom prst="rect">
              <a:avLst/>
            </a:prstGeom>
            <a:noFill/>
          </p:spPr>
          <p:txBody>
            <a:bodyPr wrap="none" rtlCol="0">
              <a:spAutoFit/>
            </a:bodyPr>
            <a:lstStyle/>
            <a:p>
              <a:r>
                <a:rPr lang="en-US" altLang="zh-TW" sz="1200" b="1" dirty="0">
                  <a:latin typeface="Arial" pitchFamily="34" charset="0"/>
                  <a:ea typeface="Arial Unicode MS" pitchFamily="34" charset="-120"/>
                  <a:cs typeface="Arial" pitchFamily="34" charset="0"/>
                </a:rPr>
                <a:t>Internet</a:t>
              </a:r>
              <a:endParaRPr lang="zh-TW" altLang="en-US" sz="1200" b="1" dirty="0">
                <a:latin typeface="Arial" pitchFamily="34" charset="0"/>
                <a:ea typeface="Arial Unicode MS" pitchFamily="34" charset="-120"/>
                <a:cs typeface="Arial" pitchFamily="34" charset="0"/>
              </a:endParaRPr>
            </a:p>
          </p:txBody>
        </p:sp>
      </p:grpSp>
      <p:grpSp>
        <p:nvGrpSpPr>
          <p:cNvPr id="458" name="群組 232"/>
          <p:cNvGrpSpPr/>
          <p:nvPr/>
        </p:nvGrpSpPr>
        <p:grpSpPr>
          <a:xfrm>
            <a:off x="5416678" y="2672916"/>
            <a:ext cx="540060" cy="486054"/>
            <a:chOff x="1763688" y="2204864"/>
            <a:chExt cx="720080" cy="648072"/>
          </a:xfrm>
        </p:grpSpPr>
        <p:sp>
          <p:nvSpPr>
            <p:cNvPr id="459" name="橢圓 458"/>
            <p:cNvSpPr/>
            <p:nvPr/>
          </p:nvSpPr>
          <p:spPr>
            <a:xfrm>
              <a:off x="1763688" y="2204864"/>
              <a:ext cx="720080" cy="648072"/>
            </a:xfrm>
            <a:prstGeom prst="ellipse">
              <a:avLst/>
            </a:prstGeom>
            <a:solidFill>
              <a:srgbClr val="FFFF0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750" b="1">
                <a:latin typeface="Arial" pitchFamily="34" charset="0"/>
                <a:ea typeface="Arial Unicode MS" pitchFamily="34" charset="-120"/>
                <a:cs typeface="Arial" pitchFamily="34" charset="0"/>
              </a:endParaRPr>
            </a:p>
          </p:txBody>
        </p:sp>
        <p:pic>
          <p:nvPicPr>
            <p:cNvPr id="461" name="Picture 6" descr="firewall1"/>
            <p:cNvPicPr>
              <a:picLocks noChangeAspect="1" noChangeArrowheads="1"/>
            </p:cNvPicPr>
            <p:nvPr/>
          </p:nvPicPr>
          <p:blipFill>
            <a:blip r:embed="rId3" cstate="print"/>
            <a:srcRect/>
            <a:stretch>
              <a:fillRect/>
            </a:stretch>
          </p:blipFill>
          <p:spPr bwMode="auto">
            <a:xfrm>
              <a:off x="1872208" y="2333387"/>
              <a:ext cx="455145" cy="375533"/>
            </a:xfrm>
            <a:prstGeom prst="rect">
              <a:avLst/>
            </a:prstGeom>
            <a:noFill/>
            <a:ln w="9525">
              <a:noFill/>
              <a:miter lim="800000"/>
              <a:headEnd/>
              <a:tailEnd/>
            </a:ln>
          </p:spPr>
        </p:pic>
      </p:grpSp>
      <p:grpSp>
        <p:nvGrpSpPr>
          <p:cNvPr id="463" name="群組 225"/>
          <p:cNvGrpSpPr/>
          <p:nvPr/>
        </p:nvGrpSpPr>
        <p:grpSpPr>
          <a:xfrm>
            <a:off x="5416678" y="3483006"/>
            <a:ext cx="540060" cy="486054"/>
            <a:chOff x="899592" y="4293096"/>
            <a:chExt cx="720080" cy="648072"/>
          </a:xfrm>
        </p:grpSpPr>
        <p:sp>
          <p:nvSpPr>
            <p:cNvPr id="464" name="橢圓 463"/>
            <p:cNvSpPr/>
            <p:nvPr/>
          </p:nvSpPr>
          <p:spPr>
            <a:xfrm>
              <a:off x="899592" y="4293096"/>
              <a:ext cx="720080" cy="648072"/>
            </a:xfrm>
            <a:prstGeom prst="ellipse">
              <a:avLst/>
            </a:prstGeom>
            <a:solidFill>
              <a:srgbClr val="FFFF0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750" b="1">
                <a:latin typeface="Arial" pitchFamily="34" charset="0"/>
                <a:ea typeface="Arial Unicode MS" pitchFamily="34" charset="-120"/>
                <a:cs typeface="Arial" pitchFamily="34" charset="0"/>
              </a:endParaRPr>
            </a:p>
          </p:txBody>
        </p:sp>
        <p:pic>
          <p:nvPicPr>
            <p:cNvPr id="467" name="Picture 23"/>
            <p:cNvPicPr>
              <a:picLocks noChangeAspect="1" noChangeArrowheads="1"/>
            </p:cNvPicPr>
            <p:nvPr/>
          </p:nvPicPr>
          <p:blipFill>
            <a:blip r:embed="rId4" cstate="print"/>
            <a:srcRect b="45558"/>
            <a:stretch>
              <a:fillRect/>
            </a:stretch>
          </p:blipFill>
          <p:spPr bwMode="auto">
            <a:xfrm>
              <a:off x="899592" y="4581131"/>
              <a:ext cx="717504" cy="153153"/>
            </a:xfrm>
            <a:prstGeom prst="rect">
              <a:avLst/>
            </a:prstGeom>
            <a:noFill/>
            <a:ln w="9525">
              <a:noFill/>
              <a:miter lim="800000"/>
              <a:headEnd/>
              <a:tailEnd/>
            </a:ln>
          </p:spPr>
        </p:pic>
      </p:grpSp>
      <p:sp>
        <p:nvSpPr>
          <p:cNvPr id="468" name="文字方塊 467"/>
          <p:cNvSpPr txBox="1"/>
          <p:nvPr/>
        </p:nvSpPr>
        <p:spPr>
          <a:xfrm>
            <a:off x="5332530" y="3753037"/>
            <a:ext cx="671979" cy="207749"/>
          </a:xfrm>
          <a:prstGeom prst="rect">
            <a:avLst/>
          </a:prstGeom>
          <a:noFill/>
        </p:spPr>
        <p:txBody>
          <a:bodyPr wrap="none" rtlCol="0">
            <a:spAutoFit/>
          </a:bodyPr>
          <a:lstStyle/>
          <a:p>
            <a:r>
              <a:rPr lang="en-US" altLang="zh-TW" sz="750" b="1" dirty="0">
                <a:latin typeface="Arial" pitchFamily="34" charset="0"/>
                <a:ea typeface="Arial Unicode MS" pitchFamily="34" charset="-120"/>
                <a:cs typeface="Arial" pitchFamily="34" charset="0"/>
              </a:rPr>
              <a:t>GSLB/SLB</a:t>
            </a:r>
            <a:endParaRPr lang="zh-TW" altLang="en-US" sz="750" b="1" dirty="0">
              <a:latin typeface="Arial" pitchFamily="34" charset="0"/>
              <a:ea typeface="Arial Unicode MS" pitchFamily="34" charset="-120"/>
              <a:cs typeface="Arial" pitchFamily="34" charset="0"/>
            </a:endParaRPr>
          </a:p>
        </p:txBody>
      </p:sp>
      <p:sp>
        <p:nvSpPr>
          <p:cNvPr id="470" name="文字方塊 469"/>
          <p:cNvSpPr txBox="1"/>
          <p:nvPr/>
        </p:nvSpPr>
        <p:spPr>
          <a:xfrm>
            <a:off x="5416679" y="2996953"/>
            <a:ext cx="543739" cy="207749"/>
          </a:xfrm>
          <a:prstGeom prst="rect">
            <a:avLst/>
          </a:prstGeom>
          <a:noFill/>
        </p:spPr>
        <p:txBody>
          <a:bodyPr wrap="none" rtlCol="0">
            <a:spAutoFit/>
          </a:bodyPr>
          <a:lstStyle/>
          <a:p>
            <a:r>
              <a:rPr lang="en-US" altLang="zh-TW" sz="750" b="1" dirty="0">
                <a:latin typeface="Arial" pitchFamily="34" charset="0"/>
                <a:ea typeface="Arial Unicode MS" pitchFamily="34" charset="-120"/>
                <a:cs typeface="Arial" pitchFamily="34" charset="0"/>
              </a:rPr>
              <a:t>Firewall</a:t>
            </a:r>
            <a:endParaRPr lang="zh-TW" altLang="en-US" sz="750" b="1" dirty="0">
              <a:latin typeface="Arial" pitchFamily="34" charset="0"/>
              <a:ea typeface="Arial Unicode MS" pitchFamily="34" charset="-120"/>
              <a:cs typeface="Arial" pitchFamily="34" charset="0"/>
            </a:endParaRPr>
          </a:p>
        </p:txBody>
      </p:sp>
      <p:grpSp>
        <p:nvGrpSpPr>
          <p:cNvPr id="471" name="群組 470"/>
          <p:cNvGrpSpPr/>
          <p:nvPr/>
        </p:nvGrpSpPr>
        <p:grpSpPr>
          <a:xfrm>
            <a:off x="6119518" y="2672916"/>
            <a:ext cx="620688" cy="486054"/>
            <a:chOff x="72008" y="2420888"/>
            <a:chExt cx="827584" cy="648072"/>
          </a:xfrm>
        </p:grpSpPr>
        <p:sp>
          <p:nvSpPr>
            <p:cNvPr id="472" name="橢圓 471"/>
            <p:cNvSpPr/>
            <p:nvPr/>
          </p:nvSpPr>
          <p:spPr>
            <a:xfrm>
              <a:off x="72008" y="2420888"/>
              <a:ext cx="720080" cy="648072"/>
            </a:xfrm>
            <a:prstGeom prst="ellipse">
              <a:avLst/>
            </a:prstGeom>
            <a:solidFill>
              <a:srgbClr val="FFFF0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750" b="1">
                <a:latin typeface="Arial" pitchFamily="34" charset="0"/>
                <a:ea typeface="Arial Unicode MS" pitchFamily="34" charset="-120"/>
                <a:cs typeface="Arial" pitchFamily="34" charset="0"/>
              </a:endParaRPr>
            </a:p>
          </p:txBody>
        </p:sp>
        <p:sp>
          <p:nvSpPr>
            <p:cNvPr id="473" name="文字方塊 472"/>
            <p:cNvSpPr txBox="1"/>
            <p:nvPr/>
          </p:nvSpPr>
          <p:spPr>
            <a:xfrm>
              <a:off x="72008" y="2791961"/>
              <a:ext cx="827584" cy="276999"/>
            </a:xfrm>
            <a:prstGeom prst="rect">
              <a:avLst/>
            </a:prstGeom>
            <a:noFill/>
          </p:spPr>
          <p:txBody>
            <a:bodyPr wrap="square" rtlCol="0">
              <a:spAutoFit/>
            </a:bodyPr>
            <a:lstStyle/>
            <a:p>
              <a:r>
                <a:rPr lang="en-US" altLang="zh-TW" sz="750" b="1" dirty="0">
                  <a:latin typeface="Arial" pitchFamily="34" charset="0"/>
                  <a:ea typeface="Arial Unicode MS" pitchFamily="34" charset="-120"/>
                  <a:cs typeface="Arial" pitchFamily="34" charset="0"/>
                </a:rPr>
                <a:t>SSL VPN</a:t>
              </a:r>
              <a:endParaRPr lang="zh-TW" altLang="en-US" sz="750" b="1" dirty="0">
                <a:latin typeface="Arial" pitchFamily="34" charset="0"/>
                <a:ea typeface="Arial Unicode MS" pitchFamily="34" charset="-120"/>
                <a:cs typeface="Arial" pitchFamily="34" charset="0"/>
              </a:endParaRPr>
            </a:p>
          </p:txBody>
        </p:sp>
        <p:pic>
          <p:nvPicPr>
            <p:cNvPr id="474" name="Picture 45" descr="media gateway"/>
            <p:cNvPicPr>
              <a:picLocks noChangeAspect="1" noChangeArrowheads="1"/>
            </p:cNvPicPr>
            <p:nvPr/>
          </p:nvPicPr>
          <p:blipFill>
            <a:blip r:embed="rId5" cstate="print"/>
            <a:srcRect/>
            <a:stretch>
              <a:fillRect/>
            </a:stretch>
          </p:blipFill>
          <p:spPr bwMode="auto">
            <a:xfrm>
              <a:off x="179512" y="2647945"/>
              <a:ext cx="542925" cy="165100"/>
            </a:xfrm>
            <a:prstGeom prst="rect">
              <a:avLst/>
            </a:prstGeom>
            <a:noFill/>
            <a:ln w="9525">
              <a:noFill/>
              <a:miter lim="800000"/>
              <a:headEnd/>
              <a:tailEnd/>
            </a:ln>
          </p:spPr>
        </p:pic>
      </p:grpSp>
      <p:grpSp>
        <p:nvGrpSpPr>
          <p:cNvPr id="475" name="群組 26"/>
          <p:cNvGrpSpPr/>
          <p:nvPr/>
        </p:nvGrpSpPr>
        <p:grpSpPr>
          <a:xfrm>
            <a:off x="7144870" y="5081334"/>
            <a:ext cx="378042" cy="337615"/>
            <a:chOff x="1331640" y="5589240"/>
            <a:chExt cx="504056" cy="450153"/>
          </a:xfrm>
        </p:grpSpPr>
        <p:pic>
          <p:nvPicPr>
            <p:cNvPr id="476" name="Picture 39" descr="Server_CPU.png"/>
            <p:cNvPicPr>
              <a:picLocks noChangeAspect="1"/>
            </p:cNvPicPr>
            <p:nvPr/>
          </p:nvPicPr>
          <p:blipFill>
            <a:blip r:embed="rId6" cstate="print"/>
            <a:stretch>
              <a:fillRect/>
            </a:stretch>
          </p:blipFill>
          <p:spPr>
            <a:xfrm>
              <a:off x="1331640" y="5589240"/>
              <a:ext cx="260278" cy="450153"/>
            </a:xfrm>
            <a:prstGeom prst="rect">
              <a:avLst/>
            </a:prstGeom>
          </p:spPr>
        </p:pic>
        <p:pic>
          <p:nvPicPr>
            <p:cNvPr id="477" name="Picture 39" descr="Server_CPU.png"/>
            <p:cNvPicPr>
              <a:picLocks noChangeAspect="1"/>
            </p:cNvPicPr>
            <p:nvPr/>
          </p:nvPicPr>
          <p:blipFill>
            <a:blip r:embed="rId6" cstate="print"/>
            <a:stretch>
              <a:fillRect/>
            </a:stretch>
          </p:blipFill>
          <p:spPr>
            <a:xfrm>
              <a:off x="1575418" y="5589240"/>
              <a:ext cx="260278" cy="450153"/>
            </a:xfrm>
            <a:prstGeom prst="rect">
              <a:avLst/>
            </a:prstGeom>
          </p:spPr>
        </p:pic>
      </p:grpSp>
      <p:sp>
        <p:nvSpPr>
          <p:cNvPr id="485" name="文字方塊 484"/>
          <p:cNvSpPr txBox="1"/>
          <p:nvPr/>
        </p:nvSpPr>
        <p:spPr>
          <a:xfrm>
            <a:off x="6199022" y="5836623"/>
            <a:ext cx="771365" cy="207749"/>
          </a:xfrm>
          <a:prstGeom prst="rect">
            <a:avLst/>
          </a:prstGeom>
          <a:noFill/>
        </p:spPr>
        <p:txBody>
          <a:bodyPr wrap="none" rtlCol="0">
            <a:spAutoFit/>
          </a:bodyPr>
          <a:lstStyle/>
          <a:p>
            <a:r>
              <a:rPr lang="en-US" altLang="zh-TW" sz="750" b="1" dirty="0">
                <a:latin typeface="Arial" pitchFamily="34" charset="0"/>
                <a:ea typeface="Arial Unicode MS" pitchFamily="34" charset="-120"/>
                <a:cs typeface="Arial" pitchFamily="34" charset="0"/>
              </a:rPr>
              <a:t>SAN Storage</a:t>
            </a:r>
            <a:endParaRPr lang="zh-TW" altLang="en-US" sz="750" b="1" dirty="0">
              <a:latin typeface="Arial" pitchFamily="34" charset="0"/>
              <a:ea typeface="Arial Unicode MS" pitchFamily="34" charset="-120"/>
              <a:cs typeface="Arial" pitchFamily="34" charset="0"/>
            </a:endParaRPr>
          </a:p>
        </p:txBody>
      </p:sp>
      <p:sp>
        <p:nvSpPr>
          <p:cNvPr id="486" name="文字方塊 485"/>
          <p:cNvSpPr txBox="1"/>
          <p:nvPr/>
        </p:nvSpPr>
        <p:spPr>
          <a:xfrm>
            <a:off x="5420190" y="5404575"/>
            <a:ext cx="764953" cy="207749"/>
          </a:xfrm>
          <a:prstGeom prst="rect">
            <a:avLst/>
          </a:prstGeom>
          <a:noFill/>
        </p:spPr>
        <p:txBody>
          <a:bodyPr wrap="none" rtlCol="0">
            <a:spAutoFit/>
          </a:bodyPr>
          <a:lstStyle/>
          <a:p>
            <a:r>
              <a:rPr lang="en-US" altLang="zh-TW" sz="750" b="1" dirty="0">
                <a:latin typeface="Arial" pitchFamily="34" charset="0"/>
                <a:ea typeface="Arial Unicode MS" pitchFamily="34" charset="-120"/>
                <a:cs typeface="Arial" pitchFamily="34" charset="0"/>
              </a:rPr>
              <a:t>Web Servers</a:t>
            </a:r>
            <a:endParaRPr lang="zh-TW" altLang="en-US" sz="750" b="1" dirty="0">
              <a:latin typeface="Arial" pitchFamily="34" charset="0"/>
              <a:ea typeface="Arial Unicode MS" pitchFamily="34" charset="-120"/>
              <a:cs typeface="Arial" pitchFamily="34" charset="0"/>
            </a:endParaRPr>
          </a:p>
        </p:txBody>
      </p:sp>
      <p:pic>
        <p:nvPicPr>
          <p:cNvPr id="489" name="Picture 12" descr="EX3200_24"/>
          <p:cNvPicPr>
            <a:picLocks noChangeAspect="1" noChangeArrowheads="1"/>
          </p:cNvPicPr>
          <p:nvPr/>
        </p:nvPicPr>
        <p:blipFill>
          <a:blip r:embed="rId8" cstate="print"/>
          <a:srcRect/>
          <a:stretch>
            <a:fillRect/>
          </a:stretch>
        </p:blipFill>
        <p:spPr bwMode="auto">
          <a:xfrm>
            <a:off x="5416678" y="1862826"/>
            <a:ext cx="479009" cy="96998"/>
          </a:xfrm>
          <a:prstGeom prst="rect">
            <a:avLst/>
          </a:prstGeom>
          <a:noFill/>
          <a:ln w="9525">
            <a:noFill/>
            <a:miter lim="800000"/>
            <a:headEnd/>
            <a:tailEnd/>
          </a:ln>
        </p:spPr>
      </p:pic>
      <p:grpSp>
        <p:nvGrpSpPr>
          <p:cNvPr id="495" name="群組 291"/>
          <p:cNvGrpSpPr/>
          <p:nvPr/>
        </p:nvGrpSpPr>
        <p:grpSpPr>
          <a:xfrm>
            <a:off x="5416678" y="1268760"/>
            <a:ext cx="540060" cy="486054"/>
            <a:chOff x="2987824" y="908720"/>
            <a:chExt cx="720080" cy="648072"/>
          </a:xfrm>
          <a:solidFill>
            <a:srgbClr val="FFFF00"/>
          </a:solidFill>
        </p:grpSpPr>
        <p:sp>
          <p:nvSpPr>
            <p:cNvPr id="496" name="橢圓 495"/>
            <p:cNvSpPr/>
            <p:nvPr/>
          </p:nvSpPr>
          <p:spPr>
            <a:xfrm>
              <a:off x="2987824" y="908720"/>
              <a:ext cx="720080" cy="648072"/>
            </a:xfrm>
            <a:prstGeom prst="ellipse">
              <a:avLst/>
            </a:prstGeom>
            <a:grp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750" b="1">
                <a:latin typeface="Arial" pitchFamily="34" charset="0"/>
                <a:ea typeface="Arial Unicode MS" pitchFamily="34" charset="-120"/>
                <a:cs typeface="Arial" pitchFamily="34" charset="0"/>
              </a:endParaRPr>
            </a:p>
          </p:txBody>
        </p:sp>
        <p:pic>
          <p:nvPicPr>
            <p:cNvPr id="498" name="Picture 45" descr="media gateway"/>
            <p:cNvPicPr>
              <a:picLocks noChangeAspect="1" noChangeArrowheads="1"/>
            </p:cNvPicPr>
            <p:nvPr/>
          </p:nvPicPr>
          <p:blipFill>
            <a:blip r:embed="rId5" cstate="print"/>
            <a:srcRect/>
            <a:stretch>
              <a:fillRect/>
            </a:stretch>
          </p:blipFill>
          <p:spPr bwMode="auto">
            <a:xfrm>
              <a:off x="3059832" y="1196752"/>
              <a:ext cx="542925" cy="165100"/>
            </a:xfrm>
            <a:prstGeom prst="rect">
              <a:avLst/>
            </a:prstGeom>
            <a:grpFill/>
            <a:ln w="9525">
              <a:noFill/>
              <a:miter lim="800000"/>
              <a:headEnd/>
              <a:tailEnd/>
            </a:ln>
          </p:spPr>
        </p:pic>
      </p:grpSp>
      <p:grpSp>
        <p:nvGrpSpPr>
          <p:cNvPr id="499" name="群組 293"/>
          <p:cNvGrpSpPr/>
          <p:nvPr/>
        </p:nvGrpSpPr>
        <p:grpSpPr>
          <a:xfrm>
            <a:off x="5416678" y="2024844"/>
            <a:ext cx="540060" cy="486054"/>
            <a:chOff x="2987824" y="908720"/>
            <a:chExt cx="720080" cy="648072"/>
          </a:xfrm>
        </p:grpSpPr>
        <p:sp>
          <p:nvSpPr>
            <p:cNvPr id="500" name="橢圓 499"/>
            <p:cNvSpPr/>
            <p:nvPr/>
          </p:nvSpPr>
          <p:spPr>
            <a:xfrm>
              <a:off x="2987824" y="908720"/>
              <a:ext cx="720080" cy="648072"/>
            </a:xfrm>
            <a:prstGeom prst="ellipse">
              <a:avLst/>
            </a:prstGeom>
            <a:solidFill>
              <a:srgbClr val="FFFF0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750" b="1">
                <a:latin typeface="Arial" pitchFamily="34" charset="0"/>
                <a:ea typeface="Arial Unicode MS" pitchFamily="34" charset="-120"/>
                <a:cs typeface="Arial" pitchFamily="34" charset="0"/>
              </a:endParaRPr>
            </a:p>
          </p:txBody>
        </p:sp>
        <p:pic>
          <p:nvPicPr>
            <p:cNvPr id="502" name="Picture 45" descr="media gateway"/>
            <p:cNvPicPr>
              <a:picLocks noChangeAspect="1" noChangeArrowheads="1"/>
            </p:cNvPicPr>
            <p:nvPr/>
          </p:nvPicPr>
          <p:blipFill>
            <a:blip r:embed="rId5" cstate="print"/>
            <a:srcRect/>
            <a:stretch>
              <a:fillRect/>
            </a:stretch>
          </p:blipFill>
          <p:spPr bwMode="auto">
            <a:xfrm>
              <a:off x="3059832" y="1124744"/>
              <a:ext cx="542925" cy="165100"/>
            </a:xfrm>
            <a:prstGeom prst="rect">
              <a:avLst/>
            </a:prstGeom>
            <a:noFill/>
            <a:ln w="9525">
              <a:noFill/>
              <a:miter lim="800000"/>
              <a:headEnd/>
              <a:tailEnd/>
            </a:ln>
          </p:spPr>
        </p:pic>
      </p:grpSp>
      <p:sp>
        <p:nvSpPr>
          <p:cNvPr id="503" name="文字方塊 502"/>
          <p:cNvSpPr txBox="1"/>
          <p:nvPr/>
        </p:nvSpPr>
        <p:spPr>
          <a:xfrm>
            <a:off x="5357805" y="2294874"/>
            <a:ext cx="641522" cy="323165"/>
          </a:xfrm>
          <a:prstGeom prst="rect">
            <a:avLst/>
          </a:prstGeom>
          <a:noFill/>
        </p:spPr>
        <p:txBody>
          <a:bodyPr wrap="none" rtlCol="0">
            <a:spAutoFit/>
          </a:bodyPr>
          <a:lstStyle/>
          <a:p>
            <a:pPr algn="ctr"/>
            <a:r>
              <a:rPr lang="en-US" altLang="zh-TW" sz="750" b="1" dirty="0">
                <a:latin typeface="Arial" pitchFamily="34" charset="0"/>
                <a:ea typeface="Arial Unicode MS" pitchFamily="34" charset="-120"/>
                <a:cs typeface="Arial" pitchFamily="34" charset="0"/>
              </a:rPr>
              <a:t>DDoS</a:t>
            </a:r>
          </a:p>
          <a:p>
            <a:pPr algn="ctr"/>
            <a:r>
              <a:rPr lang="en-US" altLang="zh-TW" sz="750" b="1" dirty="0">
                <a:latin typeface="Arial" pitchFamily="34" charset="0"/>
                <a:ea typeface="Arial Unicode MS" pitchFamily="34" charset="-120"/>
                <a:cs typeface="Arial" pitchFamily="34" charset="0"/>
              </a:rPr>
              <a:t>Mitigation</a:t>
            </a:r>
            <a:endParaRPr lang="zh-TW" altLang="en-US" sz="750" b="1" dirty="0">
              <a:latin typeface="Arial" pitchFamily="34" charset="0"/>
              <a:ea typeface="Arial Unicode MS" pitchFamily="34" charset="-120"/>
              <a:cs typeface="Arial" pitchFamily="34" charset="0"/>
            </a:endParaRPr>
          </a:p>
        </p:txBody>
      </p:sp>
      <p:sp>
        <p:nvSpPr>
          <p:cNvPr id="504" name="文字方塊 503"/>
          <p:cNvSpPr txBox="1"/>
          <p:nvPr/>
        </p:nvSpPr>
        <p:spPr>
          <a:xfrm>
            <a:off x="5466074" y="1570149"/>
            <a:ext cx="484428" cy="207749"/>
          </a:xfrm>
          <a:prstGeom prst="rect">
            <a:avLst/>
          </a:prstGeom>
          <a:noFill/>
        </p:spPr>
        <p:txBody>
          <a:bodyPr wrap="none" rtlCol="0">
            <a:spAutoFit/>
          </a:bodyPr>
          <a:lstStyle/>
          <a:p>
            <a:r>
              <a:rPr lang="en-US" altLang="zh-TW" sz="750" b="1" dirty="0">
                <a:latin typeface="Arial" pitchFamily="34" charset="0"/>
                <a:ea typeface="Arial Unicode MS" pitchFamily="34" charset="-120"/>
                <a:cs typeface="Arial" pitchFamily="34" charset="0"/>
              </a:rPr>
              <a:t>NGIPS</a:t>
            </a:r>
            <a:endParaRPr lang="zh-TW" altLang="en-US" sz="750" b="1" dirty="0">
              <a:latin typeface="Arial" pitchFamily="34" charset="0"/>
              <a:ea typeface="Arial Unicode MS" pitchFamily="34" charset="-120"/>
              <a:cs typeface="Arial" pitchFamily="34" charset="0"/>
            </a:endParaRPr>
          </a:p>
        </p:txBody>
      </p:sp>
      <p:sp>
        <p:nvSpPr>
          <p:cNvPr id="507" name="Line 46"/>
          <p:cNvSpPr>
            <a:spLocks noChangeShapeType="1"/>
          </p:cNvSpPr>
          <p:nvPr/>
        </p:nvSpPr>
        <p:spPr bwMode="auto">
          <a:xfrm flipH="1" flipV="1">
            <a:off x="6516216" y="4772800"/>
            <a:ext cx="0" cy="870446"/>
          </a:xfrm>
          <a:prstGeom prst="line">
            <a:avLst/>
          </a:prstGeom>
          <a:noFill/>
          <a:ln w="19050">
            <a:solidFill>
              <a:srgbClr val="A2A4A3"/>
            </a:solidFill>
            <a:round/>
            <a:headEnd/>
            <a:tailEnd/>
          </a:ln>
        </p:spPr>
        <p:txBody>
          <a:bodyPr wrap="square" lIns="0" tIns="0" rIns="0" bIns="0" anchor="ctr">
            <a:spAutoFit/>
          </a:bodyPr>
          <a:lstStyle/>
          <a:p>
            <a:r>
              <a:rPr lang="en-US" altLang="zh-TW" sz="750" b="1" dirty="0">
                <a:latin typeface="Arial" pitchFamily="34" charset="0"/>
                <a:ea typeface="Arial Unicode MS" pitchFamily="34" charset="-120"/>
                <a:cs typeface="Arial" pitchFamily="34" charset="0"/>
              </a:rPr>
              <a:t> </a:t>
            </a:r>
            <a:endParaRPr lang="zh-TW" altLang="en-US" sz="750" b="1" dirty="0">
              <a:latin typeface="Arial" pitchFamily="34" charset="0"/>
              <a:ea typeface="Arial Unicode MS" pitchFamily="34" charset="-120"/>
              <a:cs typeface="Arial" pitchFamily="34" charset="0"/>
            </a:endParaRPr>
          </a:p>
        </p:txBody>
      </p:sp>
      <p:pic>
        <p:nvPicPr>
          <p:cNvPr id="510" name="Picture 39" descr="Server_CPU.png"/>
          <p:cNvPicPr>
            <a:picLocks noChangeAspect="1"/>
          </p:cNvPicPr>
          <p:nvPr/>
        </p:nvPicPr>
        <p:blipFill>
          <a:blip r:embed="rId6" cstate="print"/>
          <a:stretch>
            <a:fillRect/>
          </a:stretch>
        </p:blipFill>
        <p:spPr>
          <a:xfrm>
            <a:off x="6424393" y="5065914"/>
            <a:ext cx="195209" cy="337615"/>
          </a:xfrm>
          <a:prstGeom prst="rect">
            <a:avLst/>
          </a:prstGeom>
        </p:spPr>
      </p:pic>
      <p:sp>
        <p:nvSpPr>
          <p:cNvPr id="513" name="Line 46"/>
          <p:cNvSpPr>
            <a:spLocks noChangeShapeType="1"/>
          </p:cNvSpPr>
          <p:nvPr/>
        </p:nvSpPr>
        <p:spPr bwMode="auto">
          <a:xfrm flipH="1" flipV="1">
            <a:off x="5740714" y="4833156"/>
            <a:ext cx="0" cy="469469"/>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grpSp>
        <p:nvGrpSpPr>
          <p:cNvPr id="514" name="群組 27"/>
          <p:cNvGrpSpPr/>
          <p:nvPr/>
        </p:nvGrpSpPr>
        <p:grpSpPr>
          <a:xfrm>
            <a:off x="5470684" y="5080539"/>
            <a:ext cx="378042" cy="337615"/>
            <a:chOff x="827584" y="5589240"/>
            <a:chExt cx="504056" cy="450153"/>
          </a:xfrm>
        </p:grpSpPr>
        <p:pic>
          <p:nvPicPr>
            <p:cNvPr id="515" name="Picture 39" descr="Server_CPU.png"/>
            <p:cNvPicPr>
              <a:picLocks noChangeAspect="1"/>
            </p:cNvPicPr>
            <p:nvPr/>
          </p:nvPicPr>
          <p:blipFill>
            <a:blip r:embed="rId6" cstate="print"/>
            <a:stretch>
              <a:fillRect/>
            </a:stretch>
          </p:blipFill>
          <p:spPr>
            <a:xfrm>
              <a:off x="827584" y="5589240"/>
              <a:ext cx="260278" cy="450153"/>
            </a:xfrm>
            <a:prstGeom prst="rect">
              <a:avLst/>
            </a:prstGeom>
          </p:spPr>
        </p:pic>
        <p:pic>
          <p:nvPicPr>
            <p:cNvPr id="516" name="Picture 39" descr="Server_CPU.png"/>
            <p:cNvPicPr>
              <a:picLocks noChangeAspect="1"/>
            </p:cNvPicPr>
            <p:nvPr/>
          </p:nvPicPr>
          <p:blipFill>
            <a:blip r:embed="rId6" cstate="print"/>
            <a:stretch>
              <a:fillRect/>
            </a:stretch>
          </p:blipFill>
          <p:spPr>
            <a:xfrm>
              <a:off x="1071362" y="5589240"/>
              <a:ext cx="260278" cy="450153"/>
            </a:xfrm>
            <a:prstGeom prst="rect">
              <a:avLst/>
            </a:prstGeom>
          </p:spPr>
        </p:pic>
      </p:grpSp>
      <p:sp>
        <p:nvSpPr>
          <p:cNvPr id="517" name="圓角矩形 516"/>
          <p:cNvSpPr/>
          <p:nvPr/>
        </p:nvSpPr>
        <p:spPr bwMode="auto">
          <a:xfrm>
            <a:off x="5328084" y="4725144"/>
            <a:ext cx="540060" cy="270030"/>
          </a:xfrm>
          <a:prstGeom prst="roundRect">
            <a:avLst/>
          </a:prstGeom>
          <a:solidFill>
            <a:srgbClr val="FFCC99"/>
          </a:solidFill>
          <a:ln w="9525" cap="flat" cmpd="sng" algn="ctr">
            <a:solidFill>
              <a:schemeClr val="bg1"/>
            </a:solidFill>
            <a:prstDash val="solid"/>
            <a:round/>
            <a:headEnd type="none" w="med" len="med"/>
            <a:tailEnd type="none" w="med" len="med"/>
          </a:ln>
          <a:effectLst>
            <a:glow rad="101600">
              <a:srgbClr val="FFC000">
                <a:alpha val="40000"/>
              </a:srgbClr>
            </a:glow>
          </a:effectLst>
        </p:spPr>
        <p:txBody>
          <a:bodyPr vert="horz" wrap="none" lIns="69056" tIns="34529" rIns="69056" bIns="34529" numCol="1" rtlCol="0" anchor="t" anchorCtr="0" compatLnSpc="1">
            <a:prstTxWarp prst="textNoShape">
              <a:avLst/>
            </a:prstTxWarp>
          </a:bodyPr>
          <a:lstStyle/>
          <a:p>
            <a:pPr fontAlgn="base">
              <a:spcBef>
                <a:spcPct val="0"/>
              </a:spcBef>
              <a:spcAft>
                <a:spcPct val="0"/>
              </a:spcAft>
            </a:pPr>
            <a:endParaRPr lang="zh-TW" altLang="en-US" sz="750" b="1">
              <a:latin typeface="Arial" pitchFamily="34" charset="0"/>
              <a:ea typeface="Arial Unicode MS" pitchFamily="34" charset="-120"/>
              <a:cs typeface="Arial" pitchFamily="34" charset="0"/>
            </a:endParaRPr>
          </a:p>
        </p:txBody>
      </p:sp>
      <p:grpSp>
        <p:nvGrpSpPr>
          <p:cNvPr id="518" name="群組 161"/>
          <p:cNvGrpSpPr/>
          <p:nvPr/>
        </p:nvGrpSpPr>
        <p:grpSpPr>
          <a:xfrm>
            <a:off x="5363041" y="4761558"/>
            <a:ext cx="479009" cy="193995"/>
            <a:chOff x="991881" y="3212391"/>
            <a:chExt cx="638678" cy="258660"/>
          </a:xfrm>
        </p:grpSpPr>
        <p:pic>
          <p:nvPicPr>
            <p:cNvPr id="519" name="Picture 12" descr="EX3200_24"/>
            <p:cNvPicPr>
              <a:picLocks noChangeAspect="1" noChangeArrowheads="1"/>
            </p:cNvPicPr>
            <p:nvPr/>
          </p:nvPicPr>
          <p:blipFill>
            <a:blip r:embed="rId8" cstate="print"/>
            <a:srcRect/>
            <a:stretch>
              <a:fillRect/>
            </a:stretch>
          </p:blipFill>
          <p:spPr bwMode="auto">
            <a:xfrm>
              <a:off x="991881" y="3212391"/>
              <a:ext cx="638678" cy="129330"/>
            </a:xfrm>
            <a:prstGeom prst="rect">
              <a:avLst/>
            </a:prstGeom>
            <a:noFill/>
            <a:ln w="9525">
              <a:solidFill>
                <a:schemeClr val="bg1">
                  <a:lumMod val="95000"/>
                </a:schemeClr>
              </a:solidFill>
              <a:miter lim="800000"/>
              <a:headEnd/>
              <a:tailEnd/>
            </a:ln>
          </p:spPr>
        </p:pic>
        <p:pic>
          <p:nvPicPr>
            <p:cNvPr id="520" name="Picture 12" descr="EX3200_24"/>
            <p:cNvPicPr>
              <a:picLocks noChangeAspect="1" noChangeArrowheads="1"/>
            </p:cNvPicPr>
            <p:nvPr/>
          </p:nvPicPr>
          <p:blipFill>
            <a:blip r:embed="rId8" cstate="print"/>
            <a:srcRect/>
            <a:stretch>
              <a:fillRect/>
            </a:stretch>
          </p:blipFill>
          <p:spPr bwMode="auto">
            <a:xfrm>
              <a:off x="991881" y="3341721"/>
              <a:ext cx="638678" cy="129330"/>
            </a:xfrm>
            <a:prstGeom prst="rect">
              <a:avLst/>
            </a:prstGeom>
            <a:noFill/>
            <a:ln w="9525">
              <a:solidFill>
                <a:schemeClr val="bg1">
                  <a:lumMod val="95000"/>
                </a:schemeClr>
              </a:solidFill>
              <a:miter lim="800000"/>
              <a:headEnd/>
              <a:tailEnd/>
            </a:ln>
          </p:spPr>
        </p:pic>
      </p:grpSp>
      <p:pic>
        <p:nvPicPr>
          <p:cNvPr id="523" name="Picture 12" descr="EX3200_24"/>
          <p:cNvPicPr>
            <a:picLocks noChangeAspect="1" noChangeArrowheads="1"/>
          </p:cNvPicPr>
          <p:nvPr/>
        </p:nvPicPr>
        <p:blipFill>
          <a:blip r:embed="rId8" cstate="print"/>
          <a:srcRect/>
          <a:stretch>
            <a:fillRect/>
          </a:stretch>
        </p:blipFill>
        <p:spPr bwMode="auto">
          <a:xfrm>
            <a:off x="5423723" y="3332002"/>
            <a:ext cx="479009" cy="96998"/>
          </a:xfrm>
          <a:prstGeom prst="rect">
            <a:avLst/>
          </a:prstGeom>
          <a:noFill/>
          <a:ln w="9525">
            <a:noFill/>
            <a:miter lim="800000"/>
            <a:headEnd/>
            <a:tailEnd/>
          </a:ln>
        </p:spPr>
      </p:pic>
      <p:grpSp>
        <p:nvGrpSpPr>
          <p:cNvPr id="525" name="群組 336"/>
          <p:cNvGrpSpPr/>
          <p:nvPr/>
        </p:nvGrpSpPr>
        <p:grpSpPr>
          <a:xfrm>
            <a:off x="5416678" y="4131078"/>
            <a:ext cx="540060" cy="486054"/>
            <a:chOff x="2987824" y="908720"/>
            <a:chExt cx="720080" cy="648072"/>
          </a:xfrm>
        </p:grpSpPr>
        <p:sp>
          <p:nvSpPr>
            <p:cNvPr id="526" name="橢圓 525"/>
            <p:cNvSpPr/>
            <p:nvPr/>
          </p:nvSpPr>
          <p:spPr>
            <a:xfrm>
              <a:off x="2987824" y="908720"/>
              <a:ext cx="720080" cy="648072"/>
            </a:xfrm>
            <a:prstGeom prst="ellipse">
              <a:avLst/>
            </a:prstGeom>
            <a:solidFill>
              <a:srgbClr val="FFFF00"/>
            </a:solidFill>
            <a:ln>
              <a:solidFill>
                <a:schemeClr val="accent6">
                  <a:lumMod val="20000"/>
                  <a:lumOff val="80000"/>
                </a:schemeClr>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750" b="1">
                <a:latin typeface="Arial" pitchFamily="34" charset="0"/>
                <a:ea typeface="Arial Unicode MS" pitchFamily="34" charset="-120"/>
                <a:cs typeface="Arial" pitchFamily="34" charset="0"/>
              </a:endParaRPr>
            </a:p>
          </p:txBody>
        </p:sp>
        <p:pic>
          <p:nvPicPr>
            <p:cNvPr id="528" name="Picture 45" descr="media gateway"/>
            <p:cNvPicPr>
              <a:picLocks noChangeAspect="1" noChangeArrowheads="1"/>
            </p:cNvPicPr>
            <p:nvPr/>
          </p:nvPicPr>
          <p:blipFill>
            <a:blip r:embed="rId5" cstate="print"/>
            <a:srcRect/>
            <a:stretch>
              <a:fillRect/>
            </a:stretch>
          </p:blipFill>
          <p:spPr bwMode="auto">
            <a:xfrm>
              <a:off x="3059832" y="1196752"/>
              <a:ext cx="542925" cy="165100"/>
            </a:xfrm>
            <a:prstGeom prst="rect">
              <a:avLst/>
            </a:prstGeom>
            <a:noFill/>
            <a:ln w="9525">
              <a:noFill/>
              <a:miter lim="800000"/>
              <a:headEnd/>
              <a:tailEnd/>
            </a:ln>
          </p:spPr>
        </p:pic>
      </p:grpSp>
      <p:sp>
        <p:nvSpPr>
          <p:cNvPr id="529" name="文字方塊 528"/>
          <p:cNvSpPr txBox="1"/>
          <p:nvPr/>
        </p:nvSpPr>
        <p:spPr>
          <a:xfrm>
            <a:off x="5524690" y="4432467"/>
            <a:ext cx="404278" cy="207749"/>
          </a:xfrm>
          <a:prstGeom prst="rect">
            <a:avLst/>
          </a:prstGeom>
          <a:noFill/>
        </p:spPr>
        <p:txBody>
          <a:bodyPr wrap="none" rtlCol="0">
            <a:spAutoFit/>
          </a:bodyPr>
          <a:lstStyle/>
          <a:p>
            <a:r>
              <a:rPr lang="en-US" altLang="zh-TW" sz="750" b="1" dirty="0">
                <a:latin typeface="Arial" pitchFamily="34" charset="0"/>
                <a:ea typeface="Arial Unicode MS" pitchFamily="34" charset="-120"/>
                <a:cs typeface="Arial" pitchFamily="34" charset="0"/>
              </a:rPr>
              <a:t>WAF</a:t>
            </a:r>
            <a:endParaRPr lang="zh-TW" altLang="en-US" sz="750" b="1" dirty="0">
              <a:latin typeface="Arial" pitchFamily="34" charset="0"/>
              <a:ea typeface="Arial Unicode MS" pitchFamily="34" charset="-120"/>
              <a:cs typeface="Arial" pitchFamily="34" charset="0"/>
            </a:endParaRPr>
          </a:p>
        </p:txBody>
      </p:sp>
      <p:sp>
        <p:nvSpPr>
          <p:cNvPr id="530" name="Line 46"/>
          <p:cNvSpPr>
            <a:spLocks noChangeShapeType="1"/>
          </p:cNvSpPr>
          <p:nvPr/>
        </p:nvSpPr>
        <p:spPr bwMode="auto">
          <a:xfrm flipH="1" flipV="1">
            <a:off x="5902732" y="3374994"/>
            <a:ext cx="1512168" cy="0"/>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sp>
        <p:nvSpPr>
          <p:cNvPr id="531" name="Line 46"/>
          <p:cNvSpPr>
            <a:spLocks noChangeShapeType="1"/>
          </p:cNvSpPr>
          <p:nvPr/>
        </p:nvSpPr>
        <p:spPr bwMode="auto">
          <a:xfrm flipH="1" flipV="1">
            <a:off x="7414900" y="3374994"/>
            <a:ext cx="0" cy="1350150"/>
          </a:xfrm>
          <a:prstGeom prst="line">
            <a:avLst/>
          </a:prstGeom>
          <a:noFill/>
          <a:ln w="19050">
            <a:solidFill>
              <a:srgbClr val="A2A4A3"/>
            </a:solidFill>
            <a:round/>
            <a:headEnd/>
            <a:tailEnd/>
          </a:ln>
        </p:spPr>
        <p:txBody>
          <a:bodyPr wrap="square" lIns="0" tIns="0" rIns="0" bIns="0" anchor="ctr">
            <a:spAutoFit/>
          </a:bodyPr>
          <a:lstStyle/>
          <a:p>
            <a:endParaRPr lang="zh-TW" altLang="en-US" sz="750" b="1">
              <a:latin typeface="Arial" pitchFamily="34" charset="0"/>
              <a:ea typeface="Arial Unicode MS" pitchFamily="34" charset="-120"/>
              <a:cs typeface="Arial" pitchFamily="34" charset="0"/>
            </a:endParaRPr>
          </a:p>
        </p:txBody>
      </p:sp>
      <p:grpSp>
        <p:nvGrpSpPr>
          <p:cNvPr id="532" name="群組 347"/>
          <p:cNvGrpSpPr/>
          <p:nvPr/>
        </p:nvGrpSpPr>
        <p:grpSpPr>
          <a:xfrm>
            <a:off x="7025952" y="3483006"/>
            <a:ext cx="570203" cy="531785"/>
            <a:chOff x="4139952" y="3284984"/>
            <a:chExt cx="760271" cy="709047"/>
          </a:xfrm>
          <a:effectLst>
            <a:glow rad="101600">
              <a:schemeClr val="accent3">
                <a:satMod val="175000"/>
                <a:alpha val="40000"/>
              </a:schemeClr>
            </a:glow>
          </a:effectLst>
        </p:grpSpPr>
        <p:grpSp>
          <p:nvGrpSpPr>
            <p:cNvPr id="533" name="群組 329"/>
            <p:cNvGrpSpPr/>
            <p:nvPr/>
          </p:nvGrpSpPr>
          <p:grpSpPr>
            <a:xfrm>
              <a:off x="4139952" y="3284984"/>
              <a:ext cx="720080" cy="648072"/>
              <a:chOff x="899592" y="4293096"/>
              <a:chExt cx="720080" cy="648072"/>
            </a:xfrm>
          </p:grpSpPr>
          <p:sp>
            <p:nvSpPr>
              <p:cNvPr id="535" name="橢圓 534"/>
              <p:cNvSpPr/>
              <p:nvPr/>
            </p:nvSpPr>
            <p:spPr>
              <a:xfrm>
                <a:off x="899592" y="4293096"/>
                <a:ext cx="720080" cy="648072"/>
              </a:xfrm>
              <a:prstGeom prst="ellipse">
                <a:avLst/>
              </a:prstGeom>
              <a:solidFill>
                <a:srgbClr val="FFFF0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750" b="1">
                  <a:latin typeface="Arial" pitchFamily="34" charset="0"/>
                  <a:ea typeface="Arial Unicode MS" pitchFamily="34" charset="-120"/>
                  <a:cs typeface="Arial" pitchFamily="34" charset="0"/>
                </a:endParaRPr>
              </a:p>
            </p:txBody>
          </p:sp>
          <p:pic>
            <p:nvPicPr>
              <p:cNvPr id="538" name="Picture 23"/>
              <p:cNvPicPr>
                <a:picLocks noChangeAspect="1" noChangeArrowheads="1"/>
              </p:cNvPicPr>
              <p:nvPr/>
            </p:nvPicPr>
            <p:blipFill>
              <a:blip r:embed="rId4" cstate="print">
                <a:duotone>
                  <a:schemeClr val="bg2">
                    <a:shade val="45000"/>
                    <a:satMod val="135000"/>
                  </a:schemeClr>
                  <a:prstClr val="white"/>
                </a:duotone>
              </a:blip>
              <a:srcRect b="45558"/>
              <a:stretch>
                <a:fillRect/>
              </a:stretch>
            </p:blipFill>
            <p:spPr bwMode="auto">
              <a:xfrm>
                <a:off x="899592" y="4581131"/>
                <a:ext cx="717504" cy="153153"/>
              </a:xfrm>
              <a:prstGeom prst="rect">
                <a:avLst/>
              </a:prstGeom>
              <a:noFill/>
              <a:ln w="9525">
                <a:noFill/>
                <a:miter lim="800000"/>
                <a:headEnd/>
                <a:tailEnd/>
              </a:ln>
            </p:spPr>
          </p:pic>
        </p:grpSp>
        <p:sp>
          <p:nvSpPr>
            <p:cNvPr id="534" name="文字方塊 533"/>
            <p:cNvSpPr txBox="1"/>
            <p:nvPr/>
          </p:nvSpPr>
          <p:spPr>
            <a:xfrm>
              <a:off x="4139952" y="3717032"/>
              <a:ext cx="760271" cy="276999"/>
            </a:xfrm>
            <a:prstGeom prst="rect">
              <a:avLst/>
            </a:prstGeom>
            <a:noFill/>
          </p:spPr>
          <p:txBody>
            <a:bodyPr wrap="square" rtlCol="0">
              <a:spAutoFit/>
            </a:bodyPr>
            <a:lstStyle/>
            <a:p>
              <a:pPr algn="ctr"/>
              <a:r>
                <a:rPr lang="en-US" altLang="zh-TW" sz="750" b="1" dirty="0">
                  <a:latin typeface="Arial" pitchFamily="34" charset="0"/>
                  <a:ea typeface="Arial Unicode MS" pitchFamily="34" charset="-120"/>
                  <a:cs typeface="Arial" pitchFamily="34" charset="0"/>
                </a:rPr>
                <a:t>SLB</a:t>
              </a:r>
              <a:endParaRPr lang="zh-TW" altLang="en-US" sz="750" b="1" dirty="0">
                <a:latin typeface="Arial" pitchFamily="34" charset="0"/>
                <a:ea typeface="Arial Unicode MS" pitchFamily="34" charset="-120"/>
                <a:cs typeface="Arial" pitchFamily="34" charset="0"/>
              </a:endParaRPr>
            </a:p>
          </p:txBody>
        </p:sp>
      </p:grpSp>
      <p:sp>
        <p:nvSpPr>
          <p:cNvPr id="539" name="文字方塊 538"/>
          <p:cNvSpPr txBox="1"/>
          <p:nvPr/>
        </p:nvSpPr>
        <p:spPr>
          <a:xfrm>
            <a:off x="7002089" y="5404575"/>
            <a:ext cx="694421" cy="207749"/>
          </a:xfrm>
          <a:prstGeom prst="rect">
            <a:avLst/>
          </a:prstGeom>
          <a:noFill/>
          <a:ln w="19050">
            <a:noFill/>
            <a:round/>
            <a:headEnd/>
            <a:tailEnd/>
          </a:ln>
        </p:spPr>
        <p:txBody>
          <a:bodyPr wrap="none" rtlCol="0">
            <a:spAutoFit/>
          </a:bodyPr>
          <a:lstStyle/>
          <a:p>
            <a:r>
              <a:rPr lang="en-US" altLang="zh-TW" sz="750" b="1" dirty="0">
                <a:latin typeface="Arial" pitchFamily="34" charset="0"/>
                <a:ea typeface="Arial Unicode MS" pitchFamily="34" charset="-120"/>
                <a:cs typeface="Arial" pitchFamily="34" charset="0"/>
              </a:rPr>
              <a:t>AP Servers</a:t>
            </a:r>
            <a:endParaRPr lang="zh-TW" altLang="en-US" sz="750" b="1" dirty="0">
              <a:latin typeface="Arial" pitchFamily="34" charset="0"/>
              <a:ea typeface="Arial Unicode MS" pitchFamily="34" charset="-120"/>
              <a:cs typeface="Arial" pitchFamily="34" charset="0"/>
            </a:endParaRPr>
          </a:p>
        </p:txBody>
      </p:sp>
      <p:grpSp>
        <p:nvGrpSpPr>
          <p:cNvPr id="548" name="群組 347"/>
          <p:cNvGrpSpPr/>
          <p:nvPr/>
        </p:nvGrpSpPr>
        <p:grpSpPr>
          <a:xfrm>
            <a:off x="6226769" y="3483006"/>
            <a:ext cx="570203" cy="531785"/>
            <a:chOff x="4139952" y="3284984"/>
            <a:chExt cx="760271" cy="709047"/>
          </a:xfrm>
          <a:effectLst>
            <a:glow rad="101600">
              <a:schemeClr val="accent3">
                <a:satMod val="175000"/>
                <a:alpha val="40000"/>
              </a:schemeClr>
            </a:glow>
          </a:effectLst>
        </p:grpSpPr>
        <p:grpSp>
          <p:nvGrpSpPr>
            <p:cNvPr id="549" name="群組 329"/>
            <p:cNvGrpSpPr/>
            <p:nvPr/>
          </p:nvGrpSpPr>
          <p:grpSpPr>
            <a:xfrm>
              <a:off x="4139952" y="3284984"/>
              <a:ext cx="720080" cy="648072"/>
              <a:chOff x="899592" y="4293096"/>
              <a:chExt cx="720080" cy="648072"/>
            </a:xfrm>
          </p:grpSpPr>
          <p:sp>
            <p:nvSpPr>
              <p:cNvPr id="551" name="橢圓 550"/>
              <p:cNvSpPr/>
              <p:nvPr/>
            </p:nvSpPr>
            <p:spPr>
              <a:xfrm>
                <a:off x="899592" y="4293096"/>
                <a:ext cx="720080" cy="648072"/>
              </a:xfrm>
              <a:prstGeom prst="ellipse">
                <a:avLst/>
              </a:prstGeom>
              <a:solidFill>
                <a:srgbClr val="FFFF0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750" b="1">
                  <a:latin typeface="Arial" pitchFamily="34" charset="0"/>
                  <a:ea typeface="Arial Unicode MS" pitchFamily="34" charset="-120"/>
                  <a:cs typeface="Arial" pitchFamily="34" charset="0"/>
                </a:endParaRPr>
              </a:p>
            </p:txBody>
          </p:sp>
          <p:pic>
            <p:nvPicPr>
              <p:cNvPr id="554" name="Picture 23"/>
              <p:cNvPicPr>
                <a:picLocks noChangeAspect="1" noChangeArrowheads="1"/>
              </p:cNvPicPr>
              <p:nvPr/>
            </p:nvPicPr>
            <p:blipFill>
              <a:blip r:embed="rId4" cstate="print"/>
              <a:srcRect b="45558"/>
              <a:stretch>
                <a:fillRect/>
              </a:stretch>
            </p:blipFill>
            <p:spPr bwMode="auto">
              <a:xfrm>
                <a:off x="899592" y="4581131"/>
                <a:ext cx="717504" cy="153153"/>
              </a:xfrm>
              <a:prstGeom prst="rect">
                <a:avLst/>
              </a:prstGeom>
              <a:noFill/>
              <a:ln w="9525">
                <a:noFill/>
                <a:miter lim="800000"/>
                <a:headEnd/>
                <a:tailEnd/>
              </a:ln>
            </p:spPr>
          </p:pic>
        </p:grpSp>
        <p:sp>
          <p:nvSpPr>
            <p:cNvPr id="550" name="文字方塊 549"/>
            <p:cNvSpPr txBox="1"/>
            <p:nvPr/>
          </p:nvSpPr>
          <p:spPr>
            <a:xfrm>
              <a:off x="4139952" y="3717032"/>
              <a:ext cx="760271" cy="276999"/>
            </a:xfrm>
            <a:prstGeom prst="rect">
              <a:avLst/>
            </a:prstGeom>
            <a:noFill/>
          </p:spPr>
          <p:txBody>
            <a:bodyPr wrap="square" rtlCol="0">
              <a:spAutoFit/>
            </a:bodyPr>
            <a:lstStyle/>
            <a:p>
              <a:pPr algn="ctr"/>
              <a:r>
                <a:rPr lang="en-US" altLang="zh-TW" sz="750" b="1" dirty="0">
                  <a:latin typeface="Arial" pitchFamily="34" charset="0"/>
                  <a:ea typeface="Arial Unicode MS" pitchFamily="34" charset="-120"/>
                  <a:cs typeface="Arial" pitchFamily="34" charset="0"/>
                </a:rPr>
                <a:t>SLB</a:t>
              </a:r>
              <a:endParaRPr lang="zh-TW" altLang="en-US" sz="750" b="1" dirty="0">
                <a:latin typeface="Arial" pitchFamily="34" charset="0"/>
                <a:ea typeface="Arial Unicode MS" pitchFamily="34" charset="-120"/>
                <a:cs typeface="Arial" pitchFamily="34" charset="0"/>
              </a:endParaRPr>
            </a:p>
          </p:txBody>
        </p:sp>
      </p:grpSp>
      <p:sp>
        <p:nvSpPr>
          <p:cNvPr id="565" name="文字方塊 564"/>
          <p:cNvSpPr txBox="1"/>
          <p:nvPr/>
        </p:nvSpPr>
        <p:spPr>
          <a:xfrm>
            <a:off x="4655051" y="5708073"/>
            <a:ext cx="356188" cy="207749"/>
          </a:xfrm>
          <a:prstGeom prst="rect">
            <a:avLst/>
          </a:prstGeom>
          <a:noFill/>
        </p:spPr>
        <p:txBody>
          <a:bodyPr wrap="none" rtlCol="0">
            <a:spAutoFit/>
          </a:bodyPr>
          <a:lstStyle/>
          <a:p>
            <a:r>
              <a:rPr lang="en-US" altLang="zh-TW" sz="750" b="1" dirty="0">
                <a:latin typeface="Arial" pitchFamily="34" charset="0"/>
                <a:ea typeface="Arial Unicode MS" pitchFamily="34" charset="-120"/>
                <a:cs typeface="Arial" pitchFamily="34" charset="0"/>
              </a:rPr>
              <a:t>Mgt</a:t>
            </a:r>
            <a:endParaRPr lang="zh-TW" altLang="en-US" sz="750" b="1" dirty="0">
              <a:latin typeface="Arial" pitchFamily="34" charset="0"/>
              <a:ea typeface="Arial Unicode MS" pitchFamily="34" charset="-120"/>
              <a:cs typeface="Arial" pitchFamily="34" charset="0"/>
            </a:endParaRPr>
          </a:p>
        </p:txBody>
      </p:sp>
      <p:sp>
        <p:nvSpPr>
          <p:cNvPr id="566" name="文字方塊 565"/>
          <p:cNvSpPr txBox="1"/>
          <p:nvPr/>
        </p:nvSpPr>
        <p:spPr>
          <a:xfrm>
            <a:off x="4572000" y="5481229"/>
            <a:ext cx="494046" cy="207749"/>
          </a:xfrm>
          <a:prstGeom prst="rect">
            <a:avLst/>
          </a:prstGeom>
          <a:noFill/>
        </p:spPr>
        <p:txBody>
          <a:bodyPr wrap="none" rtlCol="0">
            <a:spAutoFit/>
          </a:bodyPr>
          <a:lstStyle/>
          <a:p>
            <a:r>
              <a:rPr lang="en-US" altLang="zh-TW" sz="750" b="1" dirty="0">
                <a:latin typeface="Arial" pitchFamily="34" charset="0"/>
                <a:ea typeface="Arial Unicode MS" pitchFamily="34" charset="-120"/>
                <a:cs typeface="Arial" pitchFamily="34" charset="0"/>
              </a:rPr>
              <a:t>L3VPN</a:t>
            </a:r>
            <a:endParaRPr lang="zh-TW" altLang="en-US" sz="750" b="1" dirty="0">
              <a:latin typeface="Arial" pitchFamily="34" charset="0"/>
              <a:ea typeface="Arial Unicode MS" pitchFamily="34" charset="-120"/>
              <a:cs typeface="Arial" pitchFamily="34" charset="0"/>
            </a:endParaRPr>
          </a:p>
        </p:txBody>
      </p:sp>
      <p:sp>
        <p:nvSpPr>
          <p:cNvPr id="570" name="文字方塊 569"/>
          <p:cNvSpPr txBox="1"/>
          <p:nvPr/>
        </p:nvSpPr>
        <p:spPr>
          <a:xfrm>
            <a:off x="4031941" y="5816085"/>
            <a:ext cx="494046" cy="207749"/>
          </a:xfrm>
          <a:prstGeom prst="rect">
            <a:avLst/>
          </a:prstGeom>
          <a:noFill/>
        </p:spPr>
        <p:txBody>
          <a:bodyPr wrap="none" rtlCol="0">
            <a:spAutoFit/>
          </a:bodyPr>
          <a:lstStyle/>
          <a:p>
            <a:r>
              <a:rPr lang="en-US" altLang="zh-TW" sz="750" b="1" dirty="0">
                <a:latin typeface="Arial" pitchFamily="34" charset="0"/>
                <a:ea typeface="Arial Unicode MS" pitchFamily="34" charset="-120"/>
                <a:cs typeface="Arial" pitchFamily="34" charset="0"/>
              </a:rPr>
              <a:t>Router</a:t>
            </a:r>
            <a:endParaRPr lang="zh-TW" altLang="en-US" sz="750" b="1" dirty="0">
              <a:latin typeface="Arial" pitchFamily="34" charset="0"/>
              <a:ea typeface="Arial Unicode MS" pitchFamily="34" charset="-120"/>
              <a:cs typeface="Arial" pitchFamily="34" charset="0"/>
            </a:endParaRPr>
          </a:p>
        </p:txBody>
      </p:sp>
      <p:sp>
        <p:nvSpPr>
          <p:cNvPr id="521" name="文字方塊 520"/>
          <p:cNvSpPr txBox="1"/>
          <p:nvPr/>
        </p:nvSpPr>
        <p:spPr>
          <a:xfrm>
            <a:off x="6192181" y="5404575"/>
            <a:ext cx="688009" cy="207749"/>
          </a:xfrm>
          <a:prstGeom prst="rect">
            <a:avLst/>
          </a:prstGeom>
          <a:noFill/>
          <a:ln w="19050">
            <a:noFill/>
            <a:round/>
            <a:headEnd/>
            <a:tailEnd/>
          </a:ln>
        </p:spPr>
        <p:txBody>
          <a:bodyPr wrap="none" rtlCol="0">
            <a:spAutoFit/>
          </a:bodyPr>
          <a:lstStyle/>
          <a:p>
            <a:r>
              <a:rPr lang="en-US" altLang="zh-TW" sz="750" b="1" dirty="0">
                <a:latin typeface="Arial" pitchFamily="34" charset="0"/>
                <a:ea typeface="Arial Unicode MS" pitchFamily="34" charset="-120"/>
                <a:cs typeface="Arial" pitchFamily="34" charset="0"/>
              </a:rPr>
              <a:t>DB servers</a:t>
            </a:r>
            <a:endParaRPr lang="zh-TW" altLang="en-US" sz="750" b="1" dirty="0">
              <a:latin typeface="Arial" pitchFamily="34" charset="0"/>
              <a:ea typeface="Arial Unicode MS" pitchFamily="34" charset="-120"/>
              <a:cs typeface="Arial" pitchFamily="34" charset="0"/>
            </a:endParaRPr>
          </a:p>
        </p:txBody>
      </p:sp>
      <p:cxnSp>
        <p:nvCxnSpPr>
          <p:cNvPr id="580" name="肘形接點 579"/>
          <p:cNvCxnSpPr>
            <a:endCxn id="178" idx="1"/>
          </p:cNvCxnSpPr>
          <p:nvPr/>
        </p:nvCxnSpPr>
        <p:spPr>
          <a:xfrm>
            <a:off x="4355976" y="5643246"/>
            <a:ext cx="853718" cy="70016"/>
          </a:xfrm>
          <a:prstGeom prst="bentConnector3">
            <a:avLst>
              <a:gd name="adj1" fmla="val 50000"/>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pic>
        <p:nvPicPr>
          <p:cNvPr id="478" name="Picture 52" descr="1 Rack Multiple Units Generic.png"/>
          <p:cNvPicPr>
            <a:picLocks noChangeAspect="1"/>
          </p:cNvPicPr>
          <p:nvPr/>
        </p:nvPicPr>
        <p:blipFill>
          <a:blip r:embed="rId7" cstate="print"/>
          <a:stretch>
            <a:fillRect/>
          </a:stretch>
        </p:blipFill>
        <p:spPr>
          <a:xfrm>
            <a:off x="6372699" y="5605974"/>
            <a:ext cx="291212" cy="297613"/>
          </a:xfrm>
          <a:prstGeom prst="rect">
            <a:avLst/>
          </a:prstGeom>
        </p:spPr>
      </p:pic>
      <p:grpSp>
        <p:nvGrpSpPr>
          <p:cNvPr id="583" name="群組 582"/>
          <p:cNvGrpSpPr/>
          <p:nvPr/>
        </p:nvGrpSpPr>
        <p:grpSpPr>
          <a:xfrm>
            <a:off x="6226768" y="4131081"/>
            <a:ext cx="540060" cy="509138"/>
            <a:chOff x="6778357" y="4365104"/>
            <a:chExt cx="720080" cy="678850"/>
          </a:xfrm>
        </p:grpSpPr>
        <p:grpSp>
          <p:nvGrpSpPr>
            <p:cNvPr id="555" name="群組 336"/>
            <p:cNvGrpSpPr/>
            <p:nvPr/>
          </p:nvGrpSpPr>
          <p:grpSpPr>
            <a:xfrm>
              <a:off x="6778357" y="4365104"/>
              <a:ext cx="720080" cy="648072"/>
              <a:chOff x="2987824" y="908720"/>
              <a:chExt cx="720080" cy="648072"/>
            </a:xfrm>
          </p:grpSpPr>
          <p:sp>
            <p:nvSpPr>
              <p:cNvPr id="556" name="橢圓 555"/>
              <p:cNvSpPr/>
              <p:nvPr/>
            </p:nvSpPr>
            <p:spPr>
              <a:xfrm>
                <a:off x="2987824" y="908720"/>
                <a:ext cx="720080" cy="648072"/>
              </a:xfrm>
              <a:prstGeom prst="ellipse">
                <a:avLst/>
              </a:prstGeom>
              <a:solidFill>
                <a:srgbClr val="FFFF00"/>
              </a:solidFill>
              <a:ln>
                <a:solidFill>
                  <a:schemeClr val="accent6">
                    <a:lumMod val="20000"/>
                    <a:lumOff val="80000"/>
                  </a:schemeClr>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750" b="1">
                  <a:latin typeface="Arial" pitchFamily="34" charset="0"/>
                  <a:ea typeface="Arial Unicode MS" pitchFamily="34" charset="-120"/>
                  <a:cs typeface="Arial" pitchFamily="34" charset="0"/>
                </a:endParaRPr>
              </a:p>
            </p:txBody>
          </p:sp>
          <p:pic>
            <p:nvPicPr>
              <p:cNvPr id="558" name="Picture 45" descr="media gateway"/>
              <p:cNvPicPr>
                <a:picLocks noChangeAspect="1" noChangeArrowheads="1"/>
              </p:cNvPicPr>
              <p:nvPr/>
            </p:nvPicPr>
            <p:blipFill>
              <a:blip r:embed="rId5" cstate="print">
                <a:duotone>
                  <a:schemeClr val="bg2">
                    <a:shade val="45000"/>
                    <a:satMod val="135000"/>
                  </a:schemeClr>
                  <a:prstClr val="white"/>
                </a:duotone>
              </a:blip>
              <a:srcRect/>
              <a:stretch>
                <a:fillRect/>
              </a:stretch>
            </p:blipFill>
            <p:spPr bwMode="auto">
              <a:xfrm>
                <a:off x="3059832" y="1196752"/>
                <a:ext cx="542925" cy="165100"/>
              </a:xfrm>
              <a:prstGeom prst="rect">
                <a:avLst/>
              </a:prstGeom>
              <a:noFill/>
              <a:ln w="9525">
                <a:noFill/>
                <a:miter lim="800000"/>
                <a:headEnd/>
                <a:tailEnd/>
              </a:ln>
            </p:spPr>
          </p:pic>
        </p:grpSp>
        <p:sp>
          <p:nvSpPr>
            <p:cNvPr id="559" name="文字方塊 558"/>
            <p:cNvSpPr txBox="1"/>
            <p:nvPr/>
          </p:nvSpPr>
          <p:spPr>
            <a:xfrm>
              <a:off x="6922373" y="4766955"/>
              <a:ext cx="536899" cy="276999"/>
            </a:xfrm>
            <a:prstGeom prst="rect">
              <a:avLst/>
            </a:prstGeom>
            <a:noFill/>
          </p:spPr>
          <p:txBody>
            <a:bodyPr wrap="none" rtlCol="0">
              <a:spAutoFit/>
            </a:bodyPr>
            <a:lstStyle/>
            <a:p>
              <a:r>
                <a:rPr lang="en-US" altLang="zh-TW" sz="750" b="1" dirty="0">
                  <a:latin typeface="Arial" pitchFamily="34" charset="0"/>
                  <a:ea typeface="Arial Unicode MS" pitchFamily="34" charset="-120"/>
                  <a:cs typeface="Arial" pitchFamily="34" charset="0"/>
                </a:rPr>
                <a:t>DAM</a:t>
              </a:r>
              <a:endParaRPr lang="zh-TW" altLang="en-US" sz="750" b="1" dirty="0">
                <a:latin typeface="Arial" pitchFamily="34" charset="0"/>
                <a:ea typeface="Arial Unicode MS" pitchFamily="34" charset="-120"/>
                <a:cs typeface="Arial" pitchFamily="34" charset="0"/>
              </a:endParaRPr>
            </a:p>
          </p:txBody>
        </p:sp>
      </p:grpSp>
      <p:grpSp>
        <p:nvGrpSpPr>
          <p:cNvPr id="591" name="群組 590"/>
          <p:cNvGrpSpPr/>
          <p:nvPr/>
        </p:nvGrpSpPr>
        <p:grpSpPr>
          <a:xfrm>
            <a:off x="7090864" y="4715991"/>
            <a:ext cx="540060" cy="270030"/>
            <a:chOff x="7930485" y="5144988"/>
            <a:chExt cx="720080" cy="360040"/>
          </a:xfrm>
        </p:grpSpPr>
        <p:sp>
          <p:nvSpPr>
            <p:cNvPr id="544" name="圓角矩形 543"/>
            <p:cNvSpPr/>
            <p:nvPr/>
          </p:nvSpPr>
          <p:spPr bwMode="auto">
            <a:xfrm>
              <a:off x="7930485" y="5144988"/>
              <a:ext cx="720080" cy="360040"/>
            </a:xfrm>
            <a:prstGeom prst="roundRect">
              <a:avLst/>
            </a:prstGeom>
            <a:solidFill>
              <a:srgbClr val="FFCC99"/>
            </a:solidFill>
            <a:ln w="9525" cap="flat" cmpd="sng" algn="ctr">
              <a:solidFill>
                <a:schemeClr val="bg1"/>
              </a:solidFill>
              <a:prstDash val="solid"/>
              <a:round/>
              <a:headEnd type="none" w="med" len="med"/>
              <a:tailEnd type="none" w="med" len="med"/>
            </a:ln>
            <a:effectLst>
              <a:glow rad="101600">
                <a:srgbClr val="FFC000">
                  <a:alpha val="40000"/>
                </a:srgbClr>
              </a:glow>
            </a:effectLst>
          </p:spPr>
          <p:txBody>
            <a:bodyPr vert="horz" wrap="none" lIns="69056" tIns="34529" rIns="69056" bIns="34529" numCol="1" rtlCol="0" anchor="t" anchorCtr="0" compatLnSpc="1">
              <a:prstTxWarp prst="textNoShape">
                <a:avLst/>
              </a:prstTxWarp>
            </a:bodyPr>
            <a:lstStyle/>
            <a:p>
              <a:pPr fontAlgn="base">
                <a:spcBef>
                  <a:spcPct val="0"/>
                </a:spcBef>
                <a:spcAft>
                  <a:spcPct val="0"/>
                </a:spcAft>
              </a:pPr>
              <a:endParaRPr lang="zh-TW" altLang="en-US" sz="750" b="1">
                <a:latin typeface="Arial" pitchFamily="34" charset="0"/>
                <a:ea typeface="Arial Unicode MS" pitchFamily="34" charset="-120"/>
                <a:cs typeface="Arial" pitchFamily="34" charset="0"/>
              </a:endParaRPr>
            </a:p>
          </p:txBody>
        </p:sp>
        <p:pic>
          <p:nvPicPr>
            <p:cNvPr id="546" name="Picture 12" descr="EX3200_24"/>
            <p:cNvPicPr>
              <a:picLocks noChangeAspect="1" noChangeArrowheads="1"/>
            </p:cNvPicPr>
            <p:nvPr/>
          </p:nvPicPr>
          <p:blipFill>
            <a:blip r:embed="rId8" cstate="print">
              <a:lum bright="70000" contrast="-70000"/>
            </a:blip>
            <a:srcRect/>
            <a:stretch>
              <a:fillRect/>
            </a:stretch>
          </p:blipFill>
          <p:spPr bwMode="auto">
            <a:xfrm>
              <a:off x="7977094" y="5193540"/>
              <a:ext cx="638678" cy="129330"/>
            </a:xfrm>
            <a:prstGeom prst="rect">
              <a:avLst/>
            </a:prstGeom>
            <a:noFill/>
            <a:ln w="9525">
              <a:solidFill>
                <a:schemeClr val="bg1">
                  <a:lumMod val="95000"/>
                </a:schemeClr>
              </a:solidFill>
              <a:miter lim="800000"/>
              <a:headEnd/>
              <a:tailEnd/>
            </a:ln>
          </p:spPr>
        </p:pic>
        <p:pic>
          <p:nvPicPr>
            <p:cNvPr id="588" name="Picture 12" descr="EX3200_24"/>
            <p:cNvPicPr>
              <a:picLocks noChangeAspect="1" noChangeArrowheads="1"/>
            </p:cNvPicPr>
            <p:nvPr/>
          </p:nvPicPr>
          <p:blipFill>
            <a:blip r:embed="rId8" cstate="print">
              <a:lum bright="70000" contrast="-70000"/>
            </a:blip>
            <a:srcRect/>
            <a:stretch>
              <a:fillRect/>
            </a:stretch>
          </p:blipFill>
          <p:spPr bwMode="auto">
            <a:xfrm>
              <a:off x="7956376" y="5345940"/>
              <a:ext cx="638678" cy="129330"/>
            </a:xfrm>
            <a:prstGeom prst="rect">
              <a:avLst/>
            </a:prstGeom>
            <a:noFill/>
            <a:ln w="9525">
              <a:solidFill>
                <a:schemeClr val="bg1">
                  <a:lumMod val="95000"/>
                </a:schemeClr>
              </a:solidFill>
              <a:miter lim="800000"/>
              <a:headEnd/>
              <a:tailEnd/>
            </a:ln>
          </p:spPr>
        </p:pic>
      </p:grpSp>
      <p:grpSp>
        <p:nvGrpSpPr>
          <p:cNvPr id="592" name="群組 591"/>
          <p:cNvGrpSpPr/>
          <p:nvPr/>
        </p:nvGrpSpPr>
        <p:grpSpPr>
          <a:xfrm>
            <a:off x="6246186" y="4725144"/>
            <a:ext cx="540060" cy="270030"/>
            <a:chOff x="7930485" y="5144988"/>
            <a:chExt cx="720080" cy="360040"/>
          </a:xfrm>
        </p:grpSpPr>
        <p:sp>
          <p:nvSpPr>
            <p:cNvPr id="593" name="圓角矩形 592"/>
            <p:cNvSpPr/>
            <p:nvPr/>
          </p:nvSpPr>
          <p:spPr bwMode="auto">
            <a:xfrm>
              <a:off x="7930485" y="5144988"/>
              <a:ext cx="720080" cy="360040"/>
            </a:xfrm>
            <a:prstGeom prst="roundRect">
              <a:avLst/>
            </a:prstGeom>
            <a:solidFill>
              <a:srgbClr val="FFCC99"/>
            </a:solidFill>
            <a:ln w="9525" cap="flat" cmpd="sng" algn="ctr">
              <a:solidFill>
                <a:schemeClr val="bg1"/>
              </a:solidFill>
              <a:prstDash val="solid"/>
              <a:round/>
              <a:headEnd type="none" w="med" len="med"/>
              <a:tailEnd type="none" w="med" len="med"/>
            </a:ln>
            <a:effectLst>
              <a:glow rad="101600">
                <a:srgbClr val="FFC000">
                  <a:alpha val="40000"/>
                </a:srgbClr>
              </a:glow>
            </a:effectLst>
          </p:spPr>
          <p:txBody>
            <a:bodyPr vert="horz" wrap="none" lIns="69056" tIns="34529" rIns="69056" bIns="34529" numCol="1" rtlCol="0" anchor="t" anchorCtr="0" compatLnSpc="1">
              <a:prstTxWarp prst="textNoShape">
                <a:avLst/>
              </a:prstTxWarp>
            </a:bodyPr>
            <a:lstStyle/>
            <a:p>
              <a:pPr fontAlgn="base">
                <a:spcBef>
                  <a:spcPct val="0"/>
                </a:spcBef>
                <a:spcAft>
                  <a:spcPct val="0"/>
                </a:spcAft>
              </a:pPr>
              <a:endParaRPr lang="zh-TW" altLang="en-US" sz="750" b="1">
                <a:latin typeface="Arial" pitchFamily="34" charset="0"/>
                <a:ea typeface="Arial Unicode MS" pitchFamily="34" charset="-120"/>
                <a:cs typeface="Arial" pitchFamily="34" charset="0"/>
              </a:endParaRPr>
            </a:p>
          </p:txBody>
        </p:sp>
        <p:pic>
          <p:nvPicPr>
            <p:cNvPr id="594" name="Picture 12" descr="EX3200_24"/>
            <p:cNvPicPr>
              <a:picLocks noChangeAspect="1" noChangeArrowheads="1"/>
            </p:cNvPicPr>
            <p:nvPr/>
          </p:nvPicPr>
          <p:blipFill>
            <a:blip r:embed="rId8" cstate="print">
              <a:lum bright="70000" contrast="-70000"/>
            </a:blip>
            <a:srcRect/>
            <a:stretch>
              <a:fillRect/>
            </a:stretch>
          </p:blipFill>
          <p:spPr bwMode="auto">
            <a:xfrm>
              <a:off x="7977094" y="5193540"/>
              <a:ext cx="638678" cy="129330"/>
            </a:xfrm>
            <a:prstGeom prst="rect">
              <a:avLst/>
            </a:prstGeom>
            <a:noFill/>
            <a:ln w="9525">
              <a:solidFill>
                <a:schemeClr val="bg1">
                  <a:lumMod val="95000"/>
                </a:schemeClr>
              </a:solidFill>
              <a:miter lim="800000"/>
              <a:headEnd/>
              <a:tailEnd/>
            </a:ln>
          </p:spPr>
        </p:pic>
        <p:pic>
          <p:nvPicPr>
            <p:cNvPr id="595" name="Picture 12" descr="EX3200_24"/>
            <p:cNvPicPr>
              <a:picLocks noChangeAspect="1" noChangeArrowheads="1"/>
            </p:cNvPicPr>
            <p:nvPr/>
          </p:nvPicPr>
          <p:blipFill>
            <a:blip r:embed="rId8" cstate="print">
              <a:lum bright="70000" contrast="-70000"/>
            </a:blip>
            <a:srcRect/>
            <a:stretch>
              <a:fillRect/>
            </a:stretch>
          </p:blipFill>
          <p:spPr bwMode="auto">
            <a:xfrm>
              <a:off x="7956376" y="5345940"/>
              <a:ext cx="638678" cy="129330"/>
            </a:xfrm>
            <a:prstGeom prst="rect">
              <a:avLst/>
            </a:prstGeom>
            <a:noFill/>
            <a:ln w="9525">
              <a:solidFill>
                <a:schemeClr val="bg1">
                  <a:lumMod val="95000"/>
                </a:schemeClr>
              </a:solidFill>
              <a:miter lim="800000"/>
              <a:headEnd/>
              <a:tailEnd/>
            </a:ln>
          </p:spPr>
        </p:pic>
      </p:grpSp>
      <p:grpSp>
        <p:nvGrpSpPr>
          <p:cNvPr id="596" name="群組 595"/>
          <p:cNvGrpSpPr/>
          <p:nvPr/>
        </p:nvGrpSpPr>
        <p:grpSpPr>
          <a:xfrm>
            <a:off x="3761910" y="4725144"/>
            <a:ext cx="540060" cy="270030"/>
            <a:chOff x="7930485" y="5144988"/>
            <a:chExt cx="720080" cy="360040"/>
          </a:xfrm>
        </p:grpSpPr>
        <p:sp>
          <p:nvSpPr>
            <p:cNvPr id="597" name="圓角矩形 596"/>
            <p:cNvSpPr/>
            <p:nvPr/>
          </p:nvSpPr>
          <p:spPr bwMode="auto">
            <a:xfrm>
              <a:off x="7930485" y="5144988"/>
              <a:ext cx="720080" cy="360040"/>
            </a:xfrm>
            <a:prstGeom prst="roundRect">
              <a:avLst/>
            </a:prstGeom>
            <a:solidFill>
              <a:srgbClr val="FFCC99"/>
            </a:solidFill>
            <a:ln w="9525" cap="flat" cmpd="sng" algn="ctr">
              <a:solidFill>
                <a:schemeClr val="bg1"/>
              </a:solidFill>
              <a:prstDash val="solid"/>
              <a:round/>
              <a:headEnd type="none" w="med" len="med"/>
              <a:tailEnd type="none" w="med" len="med"/>
            </a:ln>
            <a:effectLst>
              <a:glow rad="101600">
                <a:srgbClr val="FFC000">
                  <a:alpha val="40000"/>
                </a:srgbClr>
              </a:glow>
            </a:effectLst>
          </p:spPr>
          <p:txBody>
            <a:bodyPr vert="horz" wrap="none" lIns="69056" tIns="34529" rIns="69056" bIns="34529" numCol="1" rtlCol="0" anchor="t" anchorCtr="0" compatLnSpc="1">
              <a:prstTxWarp prst="textNoShape">
                <a:avLst/>
              </a:prstTxWarp>
            </a:bodyPr>
            <a:lstStyle/>
            <a:p>
              <a:pPr fontAlgn="base">
                <a:spcBef>
                  <a:spcPct val="0"/>
                </a:spcBef>
                <a:spcAft>
                  <a:spcPct val="0"/>
                </a:spcAft>
              </a:pPr>
              <a:endParaRPr lang="zh-TW" altLang="en-US" sz="750" b="1">
                <a:latin typeface="Arial" pitchFamily="34" charset="0"/>
                <a:ea typeface="Arial Unicode MS" pitchFamily="34" charset="-120"/>
                <a:cs typeface="Arial" pitchFamily="34" charset="0"/>
              </a:endParaRPr>
            </a:p>
          </p:txBody>
        </p:sp>
        <p:pic>
          <p:nvPicPr>
            <p:cNvPr id="598" name="Picture 12" descr="EX3200_24"/>
            <p:cNvPicPr>
              <a:picLocks noChangeAspect="1" noChangeArrowheads="1"/>
            </p:cNvPicPr>
            <p:nvPr/>
          </p:nvPicPr>
          <p:blipFill>
            <a:blip r:embed="rId8" cstate="print">
              <a:lum bright="70000" contrast="-70000"/>
            </a:blip>
            <a:srcRect/>
            <a:stretch>
              <a:fillRect/>
            </a:stretch>
          </p:blipFill>
          <p:spPr bwMode="auto">
            <a:xfrm>
              <a:off x="7977094" y="5193540"/>
              <a:ext cx="638678" cy="129330"/>
            </a:xfrm>
            <a:prstGeom prst="rect">
              <a:avLst/>
            </a:prstGeom>
            <a:noFill/>
            <a:ln w="9525">
              <a:solidFill>
                <a:schemeClr val="bg1">
                  <a:lumMod val="95000"/>
                </a:schemeClr>
              </a:solidFill>
              <a:miter lim="800000"/>
              <a:headEnd/>
              <a:tailEnd/>
            </a:ln>
          </p:spPr>
        </p:pic>
        <p:pic>
          <p:nvPicPr>
            <p:cNvPr id="599" name="Picture 12" descr="EX3200_24"/>
            <p:cNvPicPr>
              <a:picLocks noChangeAspect="1" noChangeArrowheads="1"/>
            </p:cNvPicPr>
            <p:nvPr/>
          </p:nvPicPr>
          <p:blipFill>
            <a:blip r:embed="rId8" cstate="print">
              <a:lum bright="70000" contrast="-70000"/>
            </a:blip>
            <a:srcRect/>
            <a:stretch>
              <a:fillRect/>
            </a:stretch>
          </p:blipFill>
          <p:spPr bwMode="auto">
            <a:xfrm>
              <a:off x="7956376" y="5345940"/>
              <a:ext cx="638678" cy="129330"/>
            </a:xfrm>
            <a:prstGeom prst="rect">
              <a:avLst/>
            </a:prstGeom>
            <a:noFill/>
            <a:ln w="9525">
              <a:solidFill>
                <a:schemeClr val="bg1">
                  <a:lumMod val="95000"/>
                </a:schemeClr>
              </a:solidFill>
              <a:miter lim="800000"/>
              <a:headEnd/>
              <a:tailEnd/>
            </a:ln>
          </p:spPr>
        </p:pic>
      </p:grpSp>
      <p:grpSp>
        <p:nvGrpSpPr>
          <p:cNvPr id="600" name="群組 599"/>
          <p:cNvGrpSpPr/>
          <p:nvPr/>
        </p:nvGrpSpPr>
        <p:grpSpPr>
          <a:xfrm>
            <a:off x="2897814" y="4734297"/>
            <a:ext cx="540060" cy="270030"/>
            <a:chOff x="7930485" y="5144988"/>
            <a:chExt cx="720080" cy="360040"/>
          </a:xfrm>
        </p:grpSpPr>
        <p:sp>
          <p:nvSpPr>
            <p:cNvPr id="601" name="圓角矩形 600"/>
            <p:cNvSpPr/>
            <p:nvPr/>
          </p:nvSpPr>
          <p:spPr bwMode="auto">
            <a:xfrm>
              <a:off x="7930485" y="5144988"/>
              <a:ext cx="720080" cy="360040"/>
            </a:xfrm>
            <a:prstGeom prst="roundRect">
              <a:avLst/>
            </a:prstGeom>
            <a:solidFill>
              <a:srgbClr val="FFCC99"/>
            </a:solidFill>
            <a:ln w="9525" cap="flat" cmpd="sng" algn="ctr">
              <a:solidFill>
                <a:schemeClr val="bg1"/>
              </a:solidFill>
              <a:prstDash val="solid"/>
              <a:round/>
              <a:headEnd type="none" w="med" len="med"/>
              <a:tailEnd type="none" w="med" len="med"/>
            </a:ln>
            <a:effectLst>
              <a:glow rad="101600">
                <a:srgbClr val="FFC000">
                  <a:alpha val="40000"/>
                </a:srgbClr>
              </a:glow>
            </a:effectLst>
          </p:spPr>
          <p:txBody>
            <a:bodyPr vert="horz" wrap="none" lIns="69056" tIns="34529" rIns="69056" bIns="34529" numCol="1" rtlCol="0" anchor="t" anchorCtr="0" compatLnSpc="1">
              <a:prstTxWarp prst="textNoShape">
                <a:avLst/>
              </a:prstTxWarp>
            </a:bodyPr>
            <a:lstStyle/>
            <a:p>
              <a:pPr fontAlgn="base">
                <a:spcBef>
                  <a:spcPct val="0"/>
                </a:spcBef>
                <a:spcAft>
                  <a:spcPct val="0"/>
                </a:spcAft>
              </a:pPr>
              <a:endParaRPr lang="zh-TW" altLang="en-US" sz="750" b="1">
                <a:latin typeface="Arial" pitchFamily="34" charset="0"/>
                <a:ea typeface="Arial Unicode MS" pitchFamily="34" charset="-120"/>
                <a:cs typeface="Arial" pitchFamily="34" charset="0"/>
              </a:endParaRPr>
            </a:p>
          </p:txBody>
        </p:sp>
        <p:pic>
          <p:nvPicPr>
            <p:cNvPr id="602" name="Picture 12" descr="EX3200_24"/>
            <p:cNvPicPr>
              <a:picLocks noChangeAspect="1" noChangeArrowheads="1"/>
            </p:cNvPicPr>
            <p:nvPr/>
          </p:nvPicPr>
          <p:blipFill>
            <a:blip r:embed="rId8" cstate="print">
              <a:lum bright="70000" contrast="-70000"/>
            </a:blip>
            <a:srcRect/>
            <a:stretch>
              <a:fillRect/>
            </a:stretch>
          </p:blipFill>
          <p:spPr bwMode="auto">
            <a:xfrm>
              <a:off x="7977094" y="5193540"/>
              <a:ext cx="638678" cy="129330"/>
            </a:xfrm>
            <a:prstGeom prst="rect">
              <a:avLst/>
            </a:prstGeom>
            <a:noFill/>
            <a:ln w="9525">
              <a:solidFill>
                <a:schemeClr val="bg1">
                  <a:lumMod val="95000"/>
                </a:schemeClr>
              </a:solidFill>
              <a:miter lim="800000"/>
              <a:headEnd/>
              <a:tailEnd/>
            </a:ln>
          </p:spPr>
        </p:pic>
        <p:pic>
          <p:nvPicPr>
            <p:cNvPr id="603" name="Picture 12" descr="EX3200_24"/>
            <p:cNvPicPr>
              <a:picLocks noChangeAspect="1" noChangeArrowheads="1"/>
            </p:cNvPicPr>
            <p:nvPr/>
          </p:nvPicPr>
          <p:blipFill>
            <a:blip r:embed="rId8" cstate="print">
              <a:lum bright="70000" contrast="-70000"/>
            </a:blip>
            <a:srcRect/>
            <a:stretch>
              <a:fillRect/>
            </a:stretch>
          </p:blipFill>
          <p:spPr bwMode="auto">
            <a:xfrm>
              <a:off x="7956376" y="5345940"/>
              <a:ext cx="638678" cy="129330"/>
            </a:xfrm>
            <a:prstGeom prst="rect">
              <a:avLst/>
            </a:prstGeom>
            <a:noFill/>
            <a:ln w="9525">
              <a:solidFill>
                <a:schemeClr val="bg1">
                  <a:lumMod val="95000"/>
                </a:schemeClr>
              </a:solidFill>
              <a:miter lim="800000"/>
              <a:headEnd/>
              <a:tailEnd/>
            </a:ln>
          </p:spPr>
        </p:pic>
      </p:grpSp>
      <p:pic>
        <p:nvPicPr>
          <p:cNvPr id="177" name="Picture 18" descr="Generic Router 1.png"/>
          <p:cNvPicPr>
            <a:picLocks noChangeAspect="1"/>
          </p:cNvPicPr>
          <p:nvPr/>
        </p:nvPicPr>
        <p:blipFill>
          <a:blip r:embed="rId9" cstate="print"/>
          <a:stretch>
            <a:fillRect/>
          </a:stretch>
        </p:blipFill>
        <p:spPr>
          <a:xfrm>
            <a:off x="4075567" y="5546054"/>
            <a:ext cx="334415" cy="334415"/>
          </a:xfrm>
          <a:prstGeom prst="rect">
            <a:avLst/>
          </a:prstGeom>
        </p:spPr>
      </p:pic>
      <p:sp>
        <p:nvSpPr>
          <p:cNvPr id="605" name="橢圓 604"/>
          <p:cNvSpPr/>
          <p:nvPr/>
        </p:nvSpPr>
        <p:spPr bwMode="auto">
          <a:xfrm>
            <a:off x="6516216" y="998730"/>
            <a:ext cx="1350150" cy="918102"/>
          </a:xfrm>
          <a:prstGeom prst="ellipse">
            <a:avLst/>
          </a:prstGeom>
          <a:gradFill flip="none" rotWithShape="1">
            <a:gsLst>
              <a:gs pos="0">
                <a:srgbClr val="00FFFF">
                  <a:tint val="66000"/>
                  <a:satMod val="160000"/>
                </a:srgbClr>
              </a:gs>
              <a:gs pos="50000">
                <a:srgbClr val="00FFFF">
                  <a:tint val="44500"/>
                  <a:satMod val="160000"/>
                </a:srgbClr>
              </a:gs>
              <a:gs pos="100000">
                <a:srgbClr val="00FFFF">
                  <a:tint val="23500"/>
                  <a:satMod val="160000"/>
                </a:srgbClr>
              </a:gs>
            </a:gsLst>
            <a:lin ang="16200000" scaled="1"/>
            <a:tileRect/>
          </a:gradFill>
          <a:ln w="28575" cap="flat" cmpd="sng" algn="ctr">
            <a:solidFill>
              <a:schemeClr val="bg1">
                <a:lumMod val="50000"/>
              </a:schemeClr>
            </a:solidFill>
            <a:prstDash val="solid"/>
            <a:round/>
            <a:headEnd type="none" w="med" len="med"/>
            <a:tailEnd type="none" w="med" len="med"/>
          </a:ln>
          <a:effectLst>
            <a:outerShdw blurRad="50800" dist="38100" dir="5400000" algn="t" rotWithShape="0">
              <a:prstClr val="black">
                <a:alpha val="40000"/>
              </a:prstClr>
            </a:outerShdw>
          </a:effectLst>
        </p:spPr>
        <p:txBody>
          <a:bodyPr vert="horz" wrap="none" lIns="69056" tIns="34529" rIns="69056" bIns="34529" numCol="1" rtlCol="0" anchor="t" anchorCtr="0" compatLnSpc="1">
            <a:prstTxWarp prst="textNoShape">
              <a:avLst/>
            </a:prstTxWarp>
          </a:bodyPr>
          <a:lstStyle/>
          <a:p>
            <a:endParaRPr lang="zh-TW" altLang="en-US" sz="750" b="1">
              <a:latin typeface="Arial" pitchFamily="34" charset="0"/>
              <a:ea typeface="Arial Unicode MS" pitchFamily="34" charset="-120"/>
              <a:cs typeface="Arial" pitchFamily="34" charset="0"/>
            </a:endParaRPr>
          </a:p>
        </p:txBody>
      </p:sp>
      <p:pic>
        <p:nvPicPr>
          <p:cNvPr id="606" name="Picture 39" descr="Server_CPU.png"/>
          <p:cNvPicPr>
            <a:picLocks noChangeAspect="1"/>
          </p:cNvPicPr>
          <p:nvPr/>
        </p:nvPicPr>
        <p:blipFill>
          <a:blip r:embed="rId6" cstate="print"/>
          <a:stretch>
            <a:fillRect/>
          </a:stretch>
        </p:blipFill>
        <p:spPr>
          <a:xfrm>
            <a:off x="6928559" y="1129827"/>
            <a:ext cx="195209" cy="337615"/>
          </a:xfrm>
          <a:prstGeom prst="rect">
            <a:avLst/>
          </a:prstGeom>
        </p:spPr>
      </p:pic>
      <p:pic>
        <p:nvPicPr>
          <p:cNvPr id="607" name="Picture 39" descr="Server_CPU.png"/>
          <p:cNvPicPr>
            <a:picLocks noChangeAspect="1"/>
          </p:cNvPicPr>
          <p:nvPr/>
        </p:nvPicPr>
        <p:blipFill>
          <a:blip r:embed="rId6" cstate="print"/>
          <a:stretch>
            <a:fillRect/>
          </a:stretch>
        </p:blipFill>
        <p:spPr>
          <a:xfrm>
            <a:off x="7123768" y="1129827"/>
            <a:ext cx="195209" cy="337615"/>
          </a:xfrm>
          <a:prstGeom prst="rect">
            <a:avLst/>
          </a:prstGeom>
        </p:spPr>
      </p:pic>
      <p:pic>
        <p:nvPicPr>
          <p:cNvPr id="608" name="Picture 39" descr="Server_CPU.png"/>
          <p:cNvPicPr>
            <a:picLocks noChangeAspect="1"/>
          </p:cNvPicPr>
          <p:nvPr/>
        </p:nvPicPr>
        <p:blipFill>
          <a:blip r:embed="rId6" cstate="print"/>
          <a:stretch>
            <a:fillRect/>
          </a:stretch>
        </p:blipFill>
        <p:spPr>
          <a:xfrm>
            <a:off x="7306601" y="1129827"/>
            <a:ext cx="195209" cy="337615"/>
          </a:xfrm>
          <a:prstGeom prst="rect">
            <a:avLst/>
          </a:prstGeom>
        </p:spPr>
      </p:pic>
      <p:sp>
        <p:nvSpPr>
          <p:cNvPr id="609" name="文字方塊 608"/>
          <p:cNvSpPr txBox="1"/>
          <p:nvPr/>
        </p:nvSpPr>
        <p:spPr>
          <a:xfrm>
            <a:off x="6820549" y="1462137"/>
            <a:ext cx="877163" cy="207749"/>
          </a:xfrm>
          <a:prstGeom prst="rect">
            <a:avLst/>
          </a:prstGeom>
          <a:noFill/>
        </p:spPr>
        <p:txBody>
          <a:bodyPr wrap="none" rtlCol="0">
            <a:spAutoFit/>
          </a:bodyPr>
          <a:lstStyle/>
          <a:p>
            <a:r>
              <a:rPr lang="en-US" altLang="zh-TW" sz="750" b="1" dirty="0">
                <a:latin typeface="Arial" pitchFamily="34" charset="0"/>
                <a:ea typeface="Arial Unicode MS" pitchFamily="34" charset="-120"/>
                <a:cs typeface="Arial" pitchFamily="34" charset="0"/>
              </a:rPr>
              <a:t>OA VM Servers</a:t>
            </a:r>
            <a:endParaRPr lang="zh-TW" altLang="en-US" sz="750" b="1" dirty="0">
              <a:latin typeface="Arial" pitchFamily="34" charset="0"/>
              <a:ea typeface="Arial Unicode MS" pitchFamily="34" charset="-120"/>
              <a:cs typeface="Arial" pitchFamily="34" charset="0"/>
            </a:endParaRPr>
          </a:p>
        </p:txBody>
      </p:sp>
      <p:sp>
        <p:nvSpPr>
          <p:cNvPr id="610" name="文字方塊 609"/>
          <p:cNvSpPr txBox="1"/>
          <p:nvPr/>
        </p:nvSpPr>
        <p:spPr>
          <a:xfrm>
            <a:off x="7218294" y="1646803"/>
            <a:ext cx="596638" cy="207749"/>
          </a:xfrm>
          <a:prstGeom prst="rect">
            <a:avLst/>
          </a:prstGeom>
          <a:solidFill>
            <a:srgbClr val="FFFF00"/>
          </a:solidFill>
        </p:spPr>
        <p:txBody>
          <a:bodyPr wrap="none" rtlCol="0">
            <a:spAutoFit/>
          </a:bodyPr>
          <a:lstStyle/>
          <a:p>
            <a:r>
              <a:rPr lang="en-US" altLang="zh-TW" sz="750" b="1" dirty="0">
                <a:latin typeface="Arial" pitchFamily="34" charset="0"/>
                <a:ea typeface="Arial Unicode MS" pitchFamily="34" charset="-120"/>
                <a:cs typeface="Arial" pitchFamily="34" charset="0"/>
              </a:rPr>
              <a:t>SSL VPN</a:t>
            </a:r>
            <a:endParaRPr lang="zh-TW" altLang="en-US" sz="750" b="1" dirty="0">
              <a:latin typeface="Arial" pitchFamily="34" charset="0"/>
              <a:ea typeface="Arial Unicode MS" pitchFamily="34" charset="-120"/>
              <a:cs typeface="Arial" pitchFamily="34" charset="0"/>
            </a:endParaRPr>
          </a:p>
        </p:txBody>
      </p:sp>
      <p:sp>
        <p:nvSpPr>
          <p:cNvPr id="611" name="文字方塊 610"/>
          <p:cNvSpPr txBox="1"/>
          <p:nvPr/>
        </p:nvSpPr>
        <p:spPr>
          <a:xfrm>
            <a:off x="6732241" y="1646803"/>
            <a:ext cx="445956" cy="207749"/>
          </a:xfrm>
          <a:prstGeom prst="rect">
            <a:avLst/>
          </a:prstGeom>
          <a:solidFill>
            <a:srgbClr val="FFFF00"/>
          </a:solidFill>
        </p:spPr>
        <p:txBody>
          <a:bodyPr wrap="none" rtlCol="0">
            <a:spAutoFit/>
          </a:bodyPr>
          <a:lstStyle/>
          <a:p>
            <a:r>
              <a:rPr lang="en-US" altLang="zh-TW" sz="750" b="1" dirty="0">
                <a:latin typeface="Arial" pitchFamily="34" charset="0"/>
                <a:ea typeface="Arial Unicode MS" pitchFamily="34" charset="-120"/>
                <a:cs typeface="Arial" pitchFamily="34" charset="0"/>
              </a:rPr>
              <a:t>IPSec</a:t>
            </a:r>
            <a:endParaRPr lang="zh-TW" altLang="en-US" sz="750" b="1" dirty="0">
              <a:latin typeface="Arial" pitchFamily="34" charset="0"/>
              <a:ea typeface="Arial Unicode MS" pitchFamily="34" charset="-120"/>
              <a:cs typeface="Arial" pitchFamily="34" charset="0"/>
            </a:endParaRPr>
          </a:p>
        </p:txBody>
      </p:sp>
      <p:cxnSp>
        <p:nvCxnSpPr>
          <p:cNvPr id="612" name="直線接點 611"/>
          <p:cNvCxnSpPr/>
          <p:nvPr/>
        </p:nvCxnSpPr>
        <p:spPr>
          <a:xfrm>
            <a:off x="4626006" y="998730"/>
            <a:ext cx="0" cy="5002020"/>
          </a:xfrm>
          <a:prstGeom prst="line">
            <a:avLst/>
          </a:prstGeom>
          <a:ln w="76200">
            <a:solidFill>
              <a:schemeClr val="bg1">
                <a:lumMod val="7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614" name="文字方塊 613"/>
          <p:cNvSpPr txBox="1"/>
          <p:nvPr/>
        </p:nvSpPr>
        <p:spPr>
          <a:xfrm>
            <a:off x="1143000" y="2071881"/>
            <a:ext cx="1107996" cy="369332"/>
          </a:xfrm>
          <a:prstGeom prst="rect">
            <a:avLst/>
          </a:prstGeom>
          <a:noFill/>
        </p:spPr>
        <p:txBody>
          <a:bodyPr wrap="none" rtlCol="0">
            <a:spAutoFit/>
          </a:bodyPr>
          <a:lstStyle/>
          <a:p>
            <a:r>
              <a:rPr lang="zh-TW" altLang="en-US" b="1" dirty="0">
                <a:solidFill>
                  <a:schemeClr val="tx1">
                    <a:lumMod val="50000"/>
                    <a:lumOff val="50000"/>
                  </a:schemeClr>
                </a:solidFill>
                <a:effectLst>
                  <a:outerShdw blurRad="38100" dist="38100" dir="2700000" algn="tl">
                    <a:srgbClr val="000000">
                      <a:alpha val="43137"/>
                    </a:srgbClr>
                  </a:outerShdw>
                </a:effectLst>
                <a:latin typeface="微軟正黑體" pitchFamily="34" charset="-120"/>
                <a:ea typeface="微軟正黑體" pitchFamily="34" charset="-120"/>
              </a:rPr>
              <a:t>主營運端</a:t>
            </a:r>
          </a:p>
        </p:txBody>
      </p:sp>
      <p:sp>
        <p:nvSpPr>
          <p:cNvPr id="615" name="文字方塊 614"/>
          <p:cNvSpPr txBox="1"/>
          <p:nvPr/>
        </p:nvSpPr>
        <p:spPr>
          <a:xfrm>
            <a:off x="7056276" y="2132856"/>
            <a:ext cx="1338828" cy="369332"/>
          </a:xfrm>
          <a:prstGeom prst="rect">
            <a:avLst/>
          </a:prstGeom>
          <a:noFill/>
        </p:spPr>
        <p:txBody>
          <a:bodyPr wrap="none" rtlCol="0">
            <a:spAutoFit/>
          </a:bodyPr>
          <a:lstStyle/>
          <a:p>
            <a:r>
              <a:rPr lang="zh-TW" altLang="en-US" b="1" dirty="0">
                <a:solidFill>
                  <a:schemeClr val="tx1">
                    <a:lumMod val="50000"/>
                    <a:lumOff val="50000"/>
                  </a:schemeClr>
                </a:solidFill>
                <a:effectLst>
                  <a:outerShdw blurRad="38100" dist="38100" dir="2700000" algn="tl">
                    <a:srgbClr val="000000">
                      <a:alpha val="43137"/>
                    </a:srgbClr>
                  </a:outerShdw>
                </a:effectLst>
                <a:latin typeface="微軟正黑體" pitchFamily="34" charset="-120"/>
                <a:ea typeface="微軟正黑體" pitchFamily="34" charset="-120"/>
              </a:rPr>
              <a:t>異地營運端</a:t>
            </a:r>
          </a:p>
        </p:txBody>
      </p:sp>
      <p:sp>
        <p:nvSpPr>
          <p:cNvPr id="221" name="文字方塊 220"/>
          <p:cNvSpPr txBox="1"/>
          <p:nvPr/>
        </p:nvSpPr>
        <p:spPr>
          <a:xfrm>
            <a:off x="2627784" y="2996952"/>
            <a:ext cx="378042" cy="438582"/>
          </a:xfrm>
          <a:prstGeom prst="rect">
            <a:avLst/>
          </a:prstGeom>
          <a:noFill/>
        </p:spPr>
        <p:txBody>
          <a:bodyPr wrap="square" rtlCol="0">
            <a:spAutoFit/>
          </a:bodyPr>
          <a:lstStyle/>
          <a:p>
            <a:pPr algn="ctr"/>
            <a:r>
              <a:rPr lang="en-US" altLang="zh-TW" sz="750" b="1" dirty="0">
                <a:latin typeface="Arial" pitchFamily="34" charset="0"/>
                <a:ea typeface="Arial Unicode MS" pitchFamily="34" charset="-120"/>
                <a:cs typeface="Arial" pitchFamily="34" charset="0"/>
              </a:rPr>
              <a:t>Web</a:t>
            </a:r>
          </a:p>
          <a:p>
            <a:pPr algn="ctr"/>
            <a:r>
              <a:rPr lang="en-US" altLang="zh-TW" sz="750" b="1" dirty="0">
                <a:latin typeface="Arial" pitchFamily="34" charset="0"/>
                <a:ea typeface="Arial Unicode MS" pitchFamily="34" charset="-120"/>
                <a:cs typeface="Arial" pitchFamily="34" charset="0"/>
              </a:rPr>
              <a:t>AP</a:t>
            </a:r>
            <a:endParaRPr lang="zh-TW" altLang="en-US" sz="750" b="1" dirty="0">
              <a:latin typeface="Arial" pitchFamily="34" charset="0"/>
              <a:ea typeface="Arial Unicode MS" pitchFamily="34" charset="-120"/>
              <a:cs typeface="Arial" pitchFamily="34" charset="0"/>
            </a:endParaRPr>
          </a:p>
        </p:txBody>
      </p:sp>
      <p:sp>
        <p:nvSpPr>
          <p:cNvPr id="222" name="文字方塊 221"/>
          <p:cNvSpPr txBox="1"/>
          <p:nvPr/>
        </p:nvSpPr>
        <p:spPr>
          <a:xfrm>
            <a:off x="5112060" y="2996952"/>
            <a:ext cx="378042" cy="438582"/>
          </a:xfrm>
          <a:prstGeom prst="rect">
            <a:avLst/>
          </a:prstGeom>
          <a:noFill/>
        </p:spPr>
        <p:txBody>
          <a:bodyPr wrap="square" rtlCol="0">
            <a:spAutoFit/>
          </a:bodyPr>
          <a:lstStyle/>
          <a:p>
            <a:pPr algn="ctr"/>
            <a:r>
              <a:rPr lang="en-US" altLang="zh-TW" sz="750" b="1" dirty="0">
                <a:latin typeface="Arial" pitchFamily="34" charset="0"/>
                <a:ea typeface="Arial Unicode MS" pitchFamily="34" charset="-120"/>
                <a:cs typeface="Arial" pitchFamily="34" charset="0"/>
              </a:rPr>
              <a:t>Web</a:t>
            </a:r>
          </a:p>
          <a:p>
            <a:pPr algn="ctr"/>
            <a:r>
              <a:rPr lang="en-US" altLang="zh-TW" sz="750" b="1" dirty="0">
                <a:latin typeface="Arial" pitchFamily="34" charset="0"/>
                <a:ea typeface="Arial Unicode MS" pitchFamily="34" charset="-120"/>
                <a:cs typeface="Arial" pitchFamily="34" charset="0"/>
              </a:rPr>
              <a:t>AP</a:t>
            </a:r>
            <a:endParaRPr lang="zh-TW" altLang="en-US" sz="750" b="1" dirty="0">
              <a:latin typeface="Arial" pitchFamily="34" charset="0"/>
              <a:ea typeface="Arial Unicode MS" pitchFamily="34" charset="-120"/>
              <a:cs typeface="Arial" pitchFamily="34" charset="0"/>
            </a:endParaRPr>
          </a:p>
        </p:txBody>
      </p:sp>
      <p:sp>
        <p:nvSpPr>
          <p:cNvPr id="223" name="文字方塊 222"/>
          <p:cNvSpPr txBox="1"/>
          <p:nvPr/>
        </p:nvSpPr>
        <p:spPr>
          <a:xfrm>
            <a:off x="3819272" y="1462079"/>
            <a:ext cx="1404156" cy="646331"/>
          </a:xfrm>
          <a:prstGeom prst="rect">
            <a:avLst/>
          </a:prstGeom>
          <a:solidFill>
            <a:srgbClr val="FFFF00"/>
          </a:solidFill>
        </p:spPr>
        <p:txBody>
          <a:bodyPr wrap="square" rtlCol="0">
            <a:spAutoFit/>
          </a:bodyPr>
          <a:lstStyle/>
          <a:p>
            <a:pPr algn="ctr"/>
            <a:r>
              <a:rPr lang="zh-TW" altLang="en-US" dirty="0">
                <a:latin typeface="微軟正黑體" pitchFamily="34" charset="-120"/>
                <a:ea typeface="微軟正黑體" pitchFamily="34" charset="-120"/>
              </a:rPr>
              <a:t>入侵偵測防禦</a:t>
            </a:r>
            <a:endParaRPr lang="en-US" altLang="zh-TW" dirty="0">
              <a:latin typeface="微軟正黑體" pitchFamily="34" charset="-120"/>
              <a:ea typeface="微軟正黑體" pitchFamily="34" charset="-120"/>
            </a:endParaRPr>
          </a:p>
        </p:txBody>
      </p:sp>
      <p:sp>
        <p:nvSpPr>
          <p:cNvPr id="224" name="文字方塊 223"/>
          <p:cNvSpPr txBox="1"/>
          <p:nvPr/>
        </p:nvSpPr>
        <p:spPr>
          <a:xfrm>
            <a:off x="3820688" y="2069163"/>
            <a:ext cx="1404156" cy="923330"/>
          </a:xfrm>
          <a:prstGeom prst="rect">
            <a:avLst/>
          </a:prstGeom>
          <a:solidFill>
            <a:srgbClr val="FFFF00"/>
          </a:solidFill>
        </p:spPr>
        <p:txBody>
          <a:bodyPr wrap="square" rtlCol="0">
            <a:spAutoFit/>
          </a:bodyPr>
          <a:lstStyle/>
          <a:p>
            <a:pPr algn="ctr"/>
            <a:r>
              <a:rPr lang="en-US" altLang="zh-TW" dirty="0" err="1">
                <a:latin typeface="微軟正黑體" pitchFamily="34" charset="-120"/>
                <a:ea typeface="微軟正黑體" pitchFamily="34" charset="-120"/>
              </a:rPr>
              <a:t>DDoS</a:t>
            </a:r>
            <a:r>
              <a:rPr lang="zh-TW" altLang="en-US" dirty="0">
                <a:latin typeface="微軟正黑體" pitchFamily="34" charset="-120"/>
                <a:ea typeface="微軟正黑體" pitchFamily="34" charset="-120"/>
              </a:rPr>
              <a:t>攻擊防禦抑制區域</a:t>
            </a:r>
          </a:p>
        </p:txBody>
      </p:sp>
      <p:sp>
        <p:nvSpPr>
          <p:cNvPr id="9" name="文字方塊 8"/>
          <p:cNvSpPr txBox="1"/>
          <p:nvPr/>
        </p:nvSpPr>
        <p:spPr>
          <a:xfrm>
            <a:off x="4212832" y="3599894"/>
            <a:ext cx="1169258" cy="646331"/>
          </a:xfrm>
          <a:prstGeom prst="rect">
            <a:avLst/>
          </a:prstGeom>
          <a:solidFill>
            <a:srgbClr val="FFFF00"/>
          </a:solidFill>
        </p:spPr>
        <p:txBody>
          <a:bodyPr wrap="square" rtlCol="0">
            <a:spAutoFit/>
          </a:bodyPr>
          <a:lstStyle/>
          <a:p>
            <a:r>
              <a:rPr lang="zh-TW" altLang="en-US" dirty="0">
                <a:latin typeface="微軟正黑體" pitchFamily="34" charset="-120"/>
                <a:ea typeface="微軟正黑體" pitchFamily="34" charset="-120"/>
              </a:rPr>
              <a:t>負載平衡分配</a:t>
            </a:r>
          </a:p>
        </p:txBody>
      </p:sp>
      <p:sp>
        <p:nvSpPr>
          <p:cNvPr id="227" name="文字方塊 226"/>
          <p:cNvSpPr txBox="1"/>
          <p:nvPr/>
        </p:nvSpPr>
        <p:spPr>
          <a:xfrm>
            <a:off x="3593215" y="4238906"/>
            <a:ext cx="1757990" cy="646331"/>
          </a:xfrm>
          <a:prstGeom prst="rect">
            <a:avLst/>
          </a:prstGeom>
          <a:solidFill>
            <a:srgbClr val="FFFF00"/>
          </a:solidFill>
        </p:spPr>
        <p:txBody>
          <a:bodyPr wrap="square" rtlCol="0">
            <a:spAutoFit/>
          </a:bodyPr>
          <a:lstStyle/>
          <a:p>
            <a:pPr algn="ctr"/>
            <a:r>
              <a:rPr lang="en-US" altLang="zh-TW" dirty="0">
                <a:latin typeface="微軟正黑體" pitchFamily="34" charset="-120"/>
                <a:ea typeface="微軟正黑體" pitchFamily="34" charset="-120"/>
              </a:rPr>
              <a:t>L7 WAF/DB</a:t>
            </a:r>
            <a:r>
              <a:rPr lang="zh-TW" altLang="en-US" dirty="0">
                <a:latin typeface="微軟正黑體" pitchFamily="34" charset="-120"/>
                <a:ea typeface="微軟正黑體" pitchFamily="34" charset="-120"/>
              </a:rPr>
              <a:t>安全控管</a:t>
            </a:r>
          </a:p>
        </p:txBody>
      </p:sp>
      <p:sp>
        <p:nvSpPr>
          <p:cNvPr id="228" name="文字方塊 227"/>
          <p:cNvSpPr txBox="1"/>
          <p:nvPr/>
        </p:nvSpPr>
        <p:spPr>
          <a:xfrm>
            <a:off x="1424838" y="4049287"/>
            <a:ext cx="324036" cy="2585323"/>
          </a:xfrm>
          <a:prstGeom prst="rect">
            <a:avLst/>
          </a:prstGeom>
          <a:solidFill>
            <a:srgbClr val="FFFF00"/>
          </a:solidFill>
        </p:spPr>
        <p:txBody>
          <a:bodyPr wrap="square" rtlCol="0">
            <a:spAutoFit/>
          </a:bodyPr>
          <a:lstStyle/>
          <a:p>
            <a:r>
              <a:rPr lang="zh-TW" altLang="en-US" dirty="0">
                <a:latin typeface="微軟正黑體" pitchFamily="34" charset="-120"/>
                <a:ea typeface="微軟正黑體" pitchFamily="34" charset="-120"/>
              </a:rPr>
              <a:t>安全防火牆政策管控</a:t>
            </a:r>
          </a:p>
        </p:txBody>
      </p:sp>
    </p:spTree>
    <p:extLst>
      <p:ext uri="{BB962C8B-B14F-4D97-AF65-F5344CB8AC3E}">
        <p14:creationId xmlns:p14="http://schemas.microsoft.com/office/powerpoint/2010/main" val="2074352087"/>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橢圓 87"/>
          <p:cNvSpPr/>
          <p:nvPr/>
        </p:nvSpPr>
        <p:spPr bwMode="auto">
          <a:xfrm>
            <a:off x="395536" y="2988320"/>
            <a:ext cx="3816424" cy="936104"/>
          </a:xfrm>
          <a:prstGeom prst="ellipse">
            <a:avLst/>
          </a:prstGeom>
          <a:solidFill>
            <a:srgbClr val="FFFFCC"/>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zh-TW" altLang="en-US" dirty="0" smtClean="0">
                <a:solidFill>
                  <a:srgbClr val="0000CC"/>
                </a:solidFill>
              </a:rPr>
              <a:t>網站區</a:t>
            </a:r>
          </a:p>
        </p:txBody>
      </p:sp>
      <p:sp>
        <p:nvSpPr>
          <p:cNvPr id="125" name="標題 124"/>
          <p:cNvSpPr>
            <a:spLocks noGrp="1"/>
          </p:cNvSpPr>
          <p:nvPr>
            <p:ph type="title"/>
          </p:nvPr>
        </p:nvSpPr>
        <p:spPr/>
        <p:txBody>
          <a:bodyPr>
            <a:normAutofit fontScale="90000"/>
          </a:bodyPr>
          <a:lstStyle/>
          <a:p>
            <a:r>
              <a:rPr lang="zh-TW" altLang="en-US" dirty="0" smtClean="0"/>
              <a:t>縱深防禦概念與本案關係</a:t>
            </a:r>
            <a:endParaRPr lang="zh-TW" altLang="en-US" dirty="0"/>
          </a:p>
        </p:txBody>
      </p:sp>
      <p:sp>
        <p:nvSpPr>
          <p:cNvPr id="58" name="橢圓 57"/>
          <p:cNvSpPr/>
          <p:nvPr/>
        </p:nvSpPr>
        <p:spPr bwMode="auto">
          <a:xfrm>
            <a:off x="395536" y="1628800"/>
            <a:ext cx="3816424" cy="936104"/>
          </a:xfrm>
          <a:prstGeom prst="ellipse">
            <a:avLst/>
          </a:prstGeom>
          <a:solidFill>
            <a:srgbClr val="FFFFCC"/>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zh-TW" altLang="en-US" dirty="0" smtClean="0">
                <a:solidFill>
                  <a:srgbClr val="0000CC"/>
                </a:solidFill>
              </a:rPr>
              <a:t>資訊安全防護區</a:t>
            </a:r>
          </a:p>
        </p:txBody>
      </p:sp>
      <p:grpSp>
        <p:nvGrpSpPr>
          <p:cNvPr id="3" name="群組 79"/>
          <p:cNvGrpSpPr/>
          <p:nvPr/>
        </p:nvGrpSpPr>
        <p:grpSpPr>
          <a:xfrm>
            <a:off x="1475656" y="1124744"/>
            <a:ext cx="1656184" cy="548680"/>
            <a:chOff x="395536" y="476672"/>
            <a:chExt cx="1656184" cy="548680"/>
          </a:xfrm>
        </p:grpSpPr>
        <p:pic>
          <p:nvPicPr>
            <p:cNvPr id="81" name="Picture 27" descr="ICON_Cloud_Q308"/>
            <p:cNvPicPr>
              <a:picLocks noChangeAspect="1" noChangeArrowheads="1"/>
            </p:cNvPicPr>
            <p:nvPr/>
          </p:nvPicPr>
          <p:blipFill>
            <a:blip r:embed="rId2" cstate="print"/>
            <a:srcRect/>
            <a:stretch>
              <a:fillRect/>
            </a:stretch>
          </p:blipFill>
          <p:spPr bwMode="auto">
            <a:xfrm>
              <a:off x="395536" y="476672"/>
              <a:ext cx="1656184" cy="548680"/>
            </a:xfrm>
            <a:prstGeom prst="rect">
              <a:avLst/>
            </a:prstGeom>
            <a:noFill/>
            <a:ln w="9525">
              <a:noFill/>
              <a:miter lim="800000"/>
              <a:headEnd/>
              <a:tailEnd/>
            </a:ln>
          </p:spPr>
        </p:pic>
        <p:sp>
          <p:nvSpPr>
            <p:cNvPr id="82" name="文字方塊 81"/>
            <p:cNvSpPr txBox="1"/>
            <p:nvPr/>
          </p:nvSpPr>
          <p:spPr>
            <a:xfrm>
              <a:off x="827584" y="548680"/>
              <a:ext cx="1107996" cy="369332"/>
            </a:xfrm>
            <a:prstGeom prst="rect">
              <a:avLst/>
            </a:prstGeom>
            <a:noFill/>
          </p:spPr>
          <p:txBody>
            <a:bodyPr wrap="none" rtlCol="0">
              <a:spAutoFit/>
            </a:bodyPr>
            <a:lstStyle/>
            <a:p>
              <a:r>
                <a:rPr lang="zh-TW" altLang="en-US" dirty="0" smtClean="0"/>
                <a:t>網際網</a:t>
              </a:r>
              <a:r>
                <a:rPr lang="zh-TW" altLang="en-US" dirty="0"/>
                <a:t>路</a:t>
              </a:r>
            </a:p>
          </p:txBody>
        </p:sp>
      </p:grpSp>
      <p:grpSp>
        <p:nvGrpSpPr>
          <p:cNvPr id="4" name="群組 6"/>
          <p:cNvGrpSpPr/>
          <p:nvPr/>
        </p:nvGrpSpPr>
        <p:grpSpPr>
          <a:xfrm>
            <a:off x="1941908" y="2492896"/>
            <a:ext cx="2199272" cy="648072"/>
            <a:chOff x="4210160" y="2924944"/>
            <a:chExt cx="2199272" cy="648072"/>
          </a:xfrm>
        </p:grpSpPr>
        <p:sp>
          <p:nvSpPr>
            <p:cNvPr id="27" name="圓角矩形 26"/>
            <p:cNvSpPr/>
            <p:nvPr/>
          </p:nvSpPr>
          <p:spPr bwMode="auto">
            <a:xfrm>
              <a:off x="4537224" y="2924944"/>
              <a:ext cx="1872208" cy="576064"/>
            </a:xfrm>
            <a:prstGeom prst="roundRect">
              <a:avLst/>
            </a:prstGeom>
            <a:noFill/>
            <a:ln w="2857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rPr>
                <a:t>FW</a:t>
              </a:r>
              <a:r>
                <a:rPr lang="zh-TW" altLang="en-US" dirty="0" smtClean="0">
                  <a:solidFill>
                    <a:srgbClr val="0000CC"/>
                  </a:solidFill>
                </a:rPr>
                <a:t> </a:t>
              </a:r>
              <a:r>
                <a:rPr lang="en-US" altLang="zh-TW" dirty="0" err="1" smtClean="0">
                  <a:solidFill>
                    <a:srgbClr val="0000CC"/>
                  </a:solidFill>
                </a:rPr>
                <a:t>v</a:t>
              </a:r>
              <a:r>
                <a:rPr kumimoji="1" lang="en-US" altLang="zh-TW" sz="1800" b="0" i="0" u="none" strike="noStrike" cap="none" normalizeH="0" baseline="0" dirty="0" err="1" smtClean="0">
                  <a:ln>
                    <a:noFill/>
                  </a:ln>
                  <a:solidFill>
                    <a:srgbClr val="0000CC"/>
                  </a:solidFill>
                  <a:effectLst/>
                  <a:latin typeface="Times New Roman" pitchFamily="18" charset="0"/>
                  <a:ea typeface="新細明體" pitchFamily="18" charset="-120"/>
                </a:rPr>
                <a:t>SYS</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grpSp>
          <p:nvGrpSpPr>
            <p:cNvPr id="5" name="群組 232"/>
            <p:cNvGrpSpPr/>
            <p:nvPr/>
          </p:nvGrpSpPr>
          <p:grpSpPr>
            <a:xfrm>
              <a:off x="4210160" y="2924944"/>
              <a:ext cx="723680" cy="648072"/>
              <a:chOff x="1760088" y="2204864"/>
              <a:chExt cx="723680" cy="648072"/>
            </a:xfrm>
          </p:grpSpPr>
          <p:sp>
            <p:nvSpPr>
              <p:cNvPr id="90" name="橢圓 89"/>
              <p:cNvSpPr/>
              <p:nvPr/>
            </p:nvSpPr>
            <p:spPr>
              <a:xfrm>
                <a:off x="1763688" y="2204864"/>
                <a:ext cx="720080" cy="648072"/>
              </a:xfrm>
              <a:prstGeom prst="ellipse">
                <a:avLst/>
              </a:prstGeom>
              <a:solidFill>
                <a:srgbClr val="FFFF0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 name="群組 149"/>
              <p:cNvGrpSpPr/>
              <p:nvPr/>
            </p:nvGrpSpPr>
            <p:grpSpPr>
              <a:xfrm>
                <a:off x="1760088" y="2276872"/>
                <a:ext cx="720080" cy="447541"/>
                <a:chOff x="1835696" y="2276872"/>
                <a:chExt cx="720080" cy="447541"/>
              </a:xfrm>
            </p:grpSpPr>
            <p:pic>
              <p:nvPicPr>
                <p:cNvPr id="92" name="Picture 6" descr="firewall1"/>
                <p:cNvPicPr>
                  <a:picLocks noChangeAspect="1" noChangeArrowheads="1"/>
                </p:cNvPicPr>
                <p:nvPr/>
              </p:nvPicPr>
              <p:blipFill>
                <a:blip r:embed="rId3" cstate="print"/>
                <a:srcRect/>
                <a:stretch>
                  <a:fillRect/>
                </a:stretch>
              </p:blipFill>
              <p:spPr bwMode="auto">
                <a:xfrm>
                  <a:off x="2100631" y="2348880"/>
                  <a:ext cx="455145" cy="375533"/>
                </a:xfrm>
                <a:prstGeom prst="rect">
                  <a:avLst/>
                </a:prstGeom>
                <a:noFill/>
                <a:ln w="9525">
                  <a:noFill/>
                  <a:miter lim="800000"/>
                  <a:headEnd/>
                  <a:tailEnd/>
                </a:ln>
              </p:spPr>
            </p:pic>
            <p:pic>
              <p:nvPicPr>
                <p:cNvPr id="93" name="Picture 6" descr="firewall1"/>
                <p:cNvPicPr>
                  <a:picLocks noChangeAspect="1" noChangeArrowheads="1"/>
                </p:cNvPicPr>
                <p:nvPr/>
              </p:nvPicPr>
              <p:blipFill>
                <a:blip r:embed="rId3" cstate="print"/>
                <a:srcRect/>
                <a:stretch>
                  <a:fillRect/>
                </a:stretch>
              </p:blipFill>
              <p:spPr bwMode="auto">
                <a:xfrm>
                  <a:off x="1835696" y="2276872"/>
                  <a:ext cx="455145" cy="375533"/>
                </a:xfrm>
                <a:prstGeom prst="rect">
                  <a:avLst/>
                </a:prstGeom>
                <a:noFill/>
                <a:ln w="9525">
                  <a:noFill/>
                  <a:miter lim="800000"/>
                  <a:headEnd/>
                  <a:tailEnd/>
                </a:ln>
              </p:spPr>
            </p:pic>
          </p:grpSp>
        </p:grpSp>
      </p:grpSp>
      <p:sp>
        <p:nvSpPr>
          <p:cNvPr id="94" name="橢圓 93"/>
          <p:cNvSpPr/>
          <p:nvPr/>
        </p:nvSpPr>
        <p:spPr bwMode="auto">
          <a:xfrm>
            <a:off x="395536" y="4365104"/>
            <a:ext cx="3816424" cy="936104"/>
          </a:xfrm>
          <a:prstGeom prst="ellipse">
            <a:avLst/>
          </a:prstGeom>
          <a:solidFill>
            <a:srgbClr val="FFFFCC"/>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zh-TW" altLang="en-US" dirty="0" smtClean="0">
                <a:solidFill>
                  <a:srgbClr val="0000CC"/>
                </a:solidFill>
              </a:rPr>
              <a:t>第三方</a:t>
            </a:r>
          </a:p>
        </p:txBody>
      </p:sp>
      <p:grpSp>
        <p:nvGrpSpPr>
          <p:cNvPr id="7" name="群組 94"/>
          <p:cNvGrpSpPr/>
          <p:nvPr/>
        </p:nvGrpSpPr>
        <p:grpSpPr>
          <a:xfrm>
            <a:off x="1941908" y="3869680"/>
            <a:ext cx="2199272" cy="648072"/>
            <a:chOff x="4210160" y="2924944"/>
            <a:chExt cx="2199272" cy="648072"/>
          </a:xfrm>
        </p:grpSpPr>
        <p:sp>
          <p:nvSpPr>
            <p:cNvPr id="96" name="圓角矩形 95"/>
            <p:cNvSpPr/>
            <p:nvPr/>
          </p:nvSpPr>
          <p:spPr bwMode="auto">
            <a:xfrm>
              <a:off x="4537224" y="2924944"/>
              <a:ext cx="1872208" cy="576064"/>
            </a:xfrm>
            <a:prstGeom prst="roundRect">
              <a:avLst/>
            </a:prstGeom>
            <a:noFill/>
            <a:ln w="2857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rPr>
                <a:t>FW</a:t>
              </a:r>
              <a:r>
                <a:rPr lang="zh-TW" altLang="en-US" dirty="0" smtClean="0">
                  <a:solidFill>
                    <a:srgbClr val="0000CC"/>
                  </a:solidFill>
                </a:rPr>
                <a:t> </a:t>
              </a:r>
              <a:r>
                <a:rPr lang="en-US" altLang="zh-TW" dirty="0" err="1" smtClean="0">
                  <a:solidFill>
                    <a:srgbClr val="0000CC"/>
                  </a:solidFill>
                </a:rPr>
                <a:t>v</a:t>
              </a:r>
              <a:r>
                <a:rPr kumimoji="1" lang="en-US" altLang="zh-TW" sz="1800" b="0" i="0" u="none" strike="noStrike" cap="none" normalizeH="0" baseline="0" dirty="0" err="1" smtClean="0">
                  <a:ln>
                    <a:noFill/>
                  </a:ln>
                  <a:solidFill>
                    <a:srgbClr val="0000CC"/>
                  </a:solidFill>
                  <a:effectLst/>
                  <a:latin typeface="Times New Roman" pitchFamily="18" charset="0"/>
                  <a:ea typeface="新細明體" pitchFamily="18" charset="-120"/>
                </a:rPr>
                <a:t>SYS</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grpSp>
          <p:nvGrpSpPr>
            <p:cNvPr id="8" name="群組 232"/>
            <p:cNvGrpSpPr/>
            <p:nvPr/>
          </p:nvGrpSpPr>
          <p:grpSpPr>
            <a:xfrm>
              <a:off x="4210160" y="2924944"/>
              <a:ext cx="723680" cy="648072"/>
              <a:chOff x="1760088" y="2204864"/>
              <a:chExt cx="723680" cy="648072"/>
            </a:xfrm>
          </p:grpSpPr>
          <p:sp>
            <p:nvSpPr>
              <p:cNvPr id="98" name="橢圓 97"/>
              <p:cNvSpPr/>
              <p:nvPr/>
            </p:nvSpPr>
            <p:spPr>
              <a:xfrm>
                <a:off x="1763688" y="2204864"/>
                <a:ext cx="720080" cy="648072"/>
              </a:xfrm>
              <a:prstGeom prst="ellipse">
                <a:avLst/>
              </a:prstGeom>
              <a:solidFill>
                <a:srgbClr val="FFFF0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9" name="群組 149"/>
              <p:cNvGrpSpPr/>
              <p:nvPr/>
            </p:nvGrpSpPr>
            <p:grpSpPr>
              <a:xfrm>
                <a:off x="1760088" y="2276872"/>
                <a:ext cx="720080" cy="447541"/>
                <a:chOff x="1835696" y="2276872"/>
                <a:chExt cx="720080" cy="447541"/>
              </a:xfrm>
            </p:grpSpPr>
            <p:pic>
              <p:nvPicPr>
                <p:cNvPr id="100" name="Picture 6" descr="firewall1"/>
                <p:cNvPicPr>
                  <a:picLocks noChangeAspect="1" noChangeArrowheads="1"/>
                </p:cNvPicPr>
                <p:nvPr/>
              </p:nvPicPr>
              <p:blipFill>
                <a:blip r:embed="rId3" cstate="print"/>
                <a:srcRect/>
                <a:stretch>
                  <a:fillRect/>
                </a:stretch>
              </p:blipFill>
              <p:spPr bwMode="auto">
                <a:xfrm>
                  <a:off x="2100631" y="2348880"/>
                  <a:ext cx="455145" cy="375533"/>
                </a:xfrm>
                <a:prstGeom prst="rect">
                  <a:avLst/>
                </a:prstGeom>
                <a:noFill/>
                <a:ln w="9525">
                  <a:noFill/>
                  <a:miter lim="800000"/>
                  <a:headEnd/>
                  <a:tailEnd/>
                </a:ln>
              </p:spPr>
            </p:pic>
            <p:pic>
              <p:nvPicPr>
                <p:cNvPr id="103" name="Picture 6" descr="firewall1"/>
                <p:cNvPicPr>
                  <a:picLocks noChangeAspect="1" noChangeArrowheads="1"/>
                </p:cNvPicPr>
                <p:nvPr/>
              </p:nvPicPr>
              <p:blipFill>
                <a:blip r:embed="rId3" cstate="print"/>
                <a:srcRect/>
                <a:stretch>
                  <a:fillRect/>
                </a:stretch>
              </p:blipFill>
              <p:spPr bwMode="auto">
                <a:xfrm>
                  <a:off x="1835696" y="2276872"/>
                  <a:ext cx="455145" cy="375533"/>
                </a:xfrm>
                <a:prstGeom prst="rect">
                  <a:avLst/>
                </a:prstGeom>
                <a:noFill/>
                <a:ln w="9525">
                  <a:noFill/>
                  <a:miter lim="800000"/>
                  <a:headEnd/>
                  <a:tailEnd/>
                </a:ln>
              </p:spPr>
            </p:pic>
          </p:grpSp>
        </p:grpSp>
      </p:grpSp>
      <p:sp>
        <p:nvSpPr>
          <p:cNvPr id="104" name="橢圓 103"/>
          <p:cNvSpPr/>
          <p:nvPr/>
        </p:nvSpPr>
        <p:spPr bwMode="auto">
          <a:xfrm>
            <a:off x="395536" y="5661248"/>
            <a:ext cx="3816424" cy="936104"/>
          </a:xfrm>
          <a:prstGeom prst="ellipse">
            <a:avLst/>
          </a:prstGeom>
          <a:solidFill>
            <a:srgbClr val="FFFFCC"/>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zh-TW" altLang="en-US" dirty="0" smtClean="0">
                <a:solidFill>
                  <a:srgbClr val="0000CC"/>
                </a:solidFill>
              </a:rPr>
              <a:t>資料庫區</a:t>
            </a:r>
          </a:p>
        </p:txBody>
      </p:sp>
      <p:grpSp>
        <p:nvGrpSpPr>
          <p:cNvPr id="10" name="群組 104"/>
          <p:cNvGrpSpPr/>
          <p:nvPr/>
        </p:nvGrpSpPr>
        <p:grpSpPr>
          <a:xfrm>
            <a:off x="1941908" y="5165824"/>
            <a:ext cx="2199272" cy="648072"/>
            <a:chOff x="4210160" y="2924944"/>
            <a:chExt cx="2199272" cy="648072"/>
          </a:xfrm>
        </p:grpSpPr>
        <p:sp>
          <p:nvSpPr>
            <p:cNvPr id="106" name="圓角矩形 105"/>
            <p:cNvSpPr/>
            <p:nvPr/>
          </p:nvSpPr>
          <p:spPr bwMode="auto">
            <a:xfrm>
              <a:off x="4537224" y="2924944"/>
              <a:ext cx="1872208" cy="576064"/>
            </a:xfrm>
            <a:prstGeom prst="roundRect">
              <a:avLst/>
            </a:prstGeom>
            <a:noFill/>
            <a:ln w="2857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rPr>
                <a:t>FW</a:t>
              </a:r>
              <a:r>
                <a:rPr lang="zh-TW" altLang="en-US" dirty="0" smtClean="0">
                  <a:solidFill>
                    <a:srgbClr val="0000CC"/>
                  </a:solidFill>
                </a:rPr>
                <a:t> </a:t>
              </a:r>
              <a:r>
                <a:rPr lang="en-US" altLang="zh-TW" dirty="0" err="1" smtClean="0">
                  <a:solidFill>
                    <a:srgbClr val="0000CC"/>
                  </a:solidFill>
                </a:rPr>
                <a:t>v</a:t>
              </a:r>
              <a:r>
                <a:rPr kumimoji="1" lang="en-US" altLang="zh-TW" sz="1800" b="0" i="0" u="none" strike="noStrike" cap="none" normalizeH="0" baseline="0" dirty="0" err="1" smtClean="0">
                  <a:ln>
                    <a:noFill/>
                  </a:ln>
                  <a:solidFill>
                    <a:srgbClr val="0000CC"/>
                  </a:solidFill>
                  <a:effectLst/>
                  <a:latin typeface="Times New Roman" pitchFamily="18" charset="0"/>
                  <a:ea typeface="新細明體" pitchFamily="18" charset="-120"/>
                </a:rPr>
                <a:t>SYS</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grpSp>
          <p:nvGrpSpPr>
            <p:cNvPr id="11" name="群組 232"/>
            <p:cNvGrpSpPr/>
            <p:nvPr/>
          </p:nvGrpSpPr>
          <p:grpSpPr>
            <a:xfrm>
              <a:off x="4210160" y="2924944"/>
              <a:ext cx="723680" cy="648072"/>
              <a:chOff x="1760088" y="2204864"/>
              <a:chExt cx="723680" cy="648072"/>
            </a:xfrm>
          </p:grpSpPr>
          <p:sp>
            <p:nvSpPr>
              <p:cNvPr id="108" name="橢圓 107"/>
              <p:cNvSpPr/>
              <p:nvPr/>
            </p:nvSpPr>
            <p:spPr>
              <a:xfrm>
                <a:off x="1763688" y="2204864"/>
                <a:ext cx="720080" cy="648072"/>
              </a:xfrm>
              <a:prstGeom prst="ellipse">
                <a:avLst/>
              </a:prstGeom>
              <a:solidFill>
                <a:srgbClr val="FFFF0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2" name="群組 149"/>
              <p:cNvGrpSpPr/>
              <p:nvPr/>
            </p:nvGrpSpPr>
            <p:grpSpPr>
              <a:xfrm>
                <a:off x="1760088" y="2276872"/>
                <a:ext cx="720080" cy="447541"/>
                <a:chOff x="1835696" y="2276872"/>
                <a:chExt cx="720080" cy="447541"/>
              </a:xfrm>
            </p:grpSpPr>
            <p:pic>
              <p:nvPicPr>
                <p:cNvPr id="111" name="Picture 6" descr="firewall1"/>
                <p:cNvPicPr>
                  <a:picLocks noChangeAspect="1" noChangeArrowheads="1"/>
                </p:cNvPicPr>
                <p:nvPr/>
              </p:nvPicPr>
              <p:blipFill>
                <a:blip r:embed="rId3" cstate="print"/>
                <a:srcRect/>
                <a:stretch>
                  <a:fillRect/>
                </a:stretch>
              </p:blipFill>
              <p:spPr bwMode="auto">
                <a:xfrm>
                  <a:off x="2100631" y="2348880"/>
                  <a:ext cx="455145" cy="375533"/>
                </a:xfrm>
                <a:prstGeom prst="rect">
                  <a:avLst/>
                </a:prstGeom>
                <a:noFill/>
                <a:ln w="9525">
                  <a:noFill/>
                  <a:miter lim="800000"/>
                  <a:headEnd/>
                  <a:tailEnd/>
                </a:ln>
              </p:spPr>
            </p:pic>
            <p:pic>
              <p:nvPicPr>
                <p:cNvPr id="113" name="Picture 6" descr="firewall1"/>
                <p:cNvPicPr>
                  <a:picLocks noChangeAspect="1" noChangeArrowheads="1"/>
                </p:cNvPicPr>
                <p:nvPr/>
              </p:nvPicPr>
              <p:blipFill>
                <a:blip r:embed="rId3" cstate="print"/>
                <a:srcRect/>
                <a:stretch>
                  <a:fillRect/>
                </a:stretch>
              </p:blipFill>
              <p:spPr bwMode="auto">
                <a:xfrm>
                  <a:off x="1835696" y="2276872"/>
                  <a:ext cx="455145" cy="375533"/>
                </a:xfrm>
                <a:prstGeom prst="rect">
                  <a:avLst/>
                </a:prstGeom>
                <a:noFill/>
                <a:ln w="9525">
                  <a:noFill/>
                  <a:miter lim="800000"/>
                  <a:headEnd/>
                  <a:tailEnd/>
                </a:ln>
              </p:spPr>
            </p:pic>
          </p:grpSp>
        </p:grpSp>
      </p:grpSp>
      <p:sp>
        <p:nvSpPr>
          <p:cNvPr id="32" name="文字方塊 31"/>
          <p:cNvSpPr txBox="1"/>
          <p:nvPr/>
        </p:nvSpPr>
        <p:spPr>
          <a:xfrm>
            <a:off x="4559497" y="2492896"/>
            <a:ext cx="4584503" cy="369332"/>
          </a:xfrm>
          <a:prstGeom prst="rect">
            <a:avLst/>
          </a:prstGeom>
          <a:solidFill>
            <a:schemeClr val="accent6">
              <a:lumMod val="20000"/>
              <a:lumOff val="80000"/>
            </a:schemeClr>
          </a:solidFill>
        </p:spPr>
        <p:txBody>
          <a:bodyPr wrap="square" rtlCol="0">
            <a:spAutoFit/>
          </a:bodyPr>
          <a:lstStyle/>
          <a:p>
            <a:pPr>
              <a:buFont typeface="Arial" pitchFamily="34" charset="0"/>
              <a:buChar char="•"/>
            </a:pPr>
            <a:r>
              <a:rPr lang="zh-TW" altLang="en-US" dirty="0" smtClean="0">
                <a:latin typeface="微軟正黑體" pitchFamily="34" charset="-120"/>
                <a:ea typeface="微軟正黑體" pitchFamily="34" charset="-120"/>
              </a:rPr>
              <a:t>每個區域都須要經過防火牆的政策控管</a:t>
            </a:r>
            <a:endParaRPr lang="zh-TW" altLang="en-US" dirty="0">
              <a:latin typeface="微軟正黑體" pitchFamily="34" charset="-120"/>
              <a:ea typeface="微軟正黑體" pitchFamily="34" charset="-120"/>
            </a:endParaRPr>
          </a:p>
        </p:txBody>
      </p:sp>
      <p:sp>
        <p:nvSpPr>
          <p:cNvPr id="33" name="文字方塊 32"/>
          <p:cNvSpPr txBox="1"/>
          <p:nvPr/>
        </p:nvSpPr>
        <p:spPr>
          <a:xfrm>
            <a:off x="4499992" y="1772816"/>
            <a:ext cx="4644008" cy="646331"/>
          </a:xfrm>
          <a:prstGeom prst="rect">
            <a:avLst/>
          </a:prstGeom>
          <a:solidFill>
            <a:srgbClr val="FFFF00"/>
          </a:solidFill>
        </p:spPr>
        <p:txBody>
          <a:bodyPr wrap="square" rtlCol="0">
            <a:spAutoFit/>
          </a:bodyPr>
          <a:lstStyle/>
          <a:p>
            <a:pPr>
              <a:buFont typeface="Arial" pitchFamily="34" charset="0"/>
              <a:buChar char="•"/>
            </a:pPr>
            <a:r>
              <a:rPr lang="zh-TW" altLang="en-US" dirty="0" smtClean="0">
                <a:latin typeface="微軟正黑體" pitchFamily="34" charset="-120"/>
                <a:ea typeface="微軟正黑體" pitchFamily="34" charset="-120"/>
              </a:rPr>
              <a:t>入侵偵測防禦</a:t>
            </a:r>
            <a:endParaRPr lang="en-US" altLang="zh-TW" dirty="0" smtClean="0">
              <a:latin typeface="微軟正黑體" pitchFamily="34" charset="-120"/>
              <a:ea typeface="微軟正黑體" pitchFamily="34" charset="-120"/>
            </a:endParaRPr>
          </a:p>
          <a:p>
            <a:pPr>
              <a:buFont typeface="Arial" pitchFamily="34" charset="0"/>
              <a:buChar char="•"/>
            </a:pPr>
            <a:r>
              <a:rPr lang="en-US" altLang="zh-TW" dirty="0" smtClean="0">
                <a:latin typeface="微軟正黑體" pitchFamily="34" charset="-120"/>
                <a:ea typeface="微軟正黑體" pitchFamily="34" charset="-120"/>
              </a:rPr>
              <a:t>DDoS</a:t>
            </a:r>
            <a:r>
              <a:rPr lang="zh-TW" altLang="en-US" dirty="0" smtClean="0">
                <a:latin typeface="微軟正黑體" pitchFamily="34" charset="-120"/>
                <a:ea typeface="微軟正黑體" pitchFamily="34" charset="-120"/>
              </a:rPr>
              <a:t>攻擊防禦</a:t>
            </a:r>
            <a:r>
              <a:rPr lang="en-US" altLang="zh-TW" dirty="0" smtClean="0">
                <a:latin typeface="微軟正黑體" pitchFamily="34" charset="-120"/>
                <a:ea typeface="微軟正黑體" pitchFamily="34" charset="-120"/>
              </a:rPr>
              <a:t>/</a:t>
            </a:r>
            <a:r>
              <a:rPr lang="zh-TW" altLang="en-US" dirty="0" smtClean="0">
                <a:latin typeface="微軟正黑體" pitchFamily="34" charset="-120"/>
                <a:ea typeface="微軟正黑體" pitchFamily="34" charset="-120"/>
              </a:rPr>
              <a:t>抑制區域</a:t>
            </a:r>
            <a:endParaRPr lang="zh-TW" altLang="en-US" dirty="0">
              <a:latin typeface="微軟正黑體" pitchFamily="34" charset="-120"/>
              <a:ea typeface="微軟正黑體" pitchFamily="34" charset="-120"/>
            </a:endParaRPr>
          </a:p>
        </p:txBody>
      </p:sp>
      <p:sp>
        <p:nvSpPr>
          <p:cNvPr id="34" name="文字方塊 33"/>
          <p:cNvSpPr txBox="1"/>
          <p:nvPr/>
        </p:nvSpPr>
        <p:spPr>
          <a:xfrm>
            <a:off x="4572000" y="2937718"/>
            <a:ext cx="4571999" cy="923330"/>
          </a:xfrm>
          <a:prstGeom prst="rect">
            <a:avLst/>
          </a:prstGeom>
          <a:solidFill>
            <a:srgbClr val="FFFF00"/>
          </a:solidFill>
        </p:spPr>
        <p:txBody>
          <a:bodyPr wrap="square" rtlCol="0">
            <a:spAutoFit/>
          </a:bodyPr>
          <a:lstStyle/>
          <a:p>
            <a:pPr>
              <a:buFont typeface="Arial" pitchFamily="34" charset="0"/>
              <a:buChar char="•"/>
            </a:pPr>
            <a:r>
              <a:rPr lang="zh-TW" altLang="en-US" dirty="0" smtClean="0">
                <a:latin typeface="微軟正黑體" pitchFamily="34" charset="-120"/>
                <a:ea typeface="微軟正黑體" pitchFamily="34" charset="-120"/>
              </a:rPr>
              <a:t>網頁服務伺服器負載平衡</a:t>
            </a:r>
            <a:endParaRPr lang="en-US" altLang="zh-TW" dirty="0" smtClean="0">
              <a:latin typeface="微軟正黑體" pitchFamily="34" charset="-120"/>
              <a:ea typeface="微軟正黑體" pitchFamily="34" charset="-120"/>
            </a:endParaRPr>
          </a:p>
          <a:p>
            <a:pPr>
              <a:buFont typeface="Arial" pitchFamily="34" charset="0"/>
              <a:buChar char="•"/>
            </a:pPr>
            <a:r>
              <a:rPr lang="en-US" altLang="zh-TW" dirty="0" smtClean="0">
                <a:latin typeface="微軟正黑體" pitchFamily="34" charset="-120"/>
                <a:ea typeface="微軟正黑體" pitchFamily="34" charset="-120"/>
              </a:rPr>
              <a:t>SSL</a:t>
            </a:r>
            <a:r>
              <a:rPr lang="zh-TW" altLang="en-US" dirty="0" smtClean="0">
                <a:latin typeface="微軟正黑體" pitchFamily="34" charset="-120"/>
                <a:ea typeface="微軟正黑體" pitchFamily="34" charset="-120"/>
              </a:rPr>
              <a:t>卸載、強化網頁安全</a:t>
            </a:r>
            <a:r>
              <a:rPr lang="en-US" altLang="zh-TW" dirty="0" smtClean="0">
                <a:latin typeface="微軟正黑體" pitchFamily="34" charset="-120"/>
                <a:ea typeface="微軟正黑體" pitchFamily="34" charset="-120"/>
              </a:rPr>
              <a:t>(WAF)</a:t>
            </a:r>
            <a:r>
              <a:rPr lang="zh-TW" altLang="en-US" dirty="0" smtClean="0">
                <a:latin typeface="微軟正黑體" pitchFamily="34" charset="-120"/>
                <a:ea typeface="微軟正黑體" pitchFamily="34" charset="-120"/>
              </a:rPr>
              <a:t>、</a:t>
            </a:r>
            <a:r>
              <a:rPr lang="en-US" altLang="zh-TW" dirty="0" smtClean="0">
                <a:latin typeface="微軟正黑體" pitchFamily="34" charset="-120"/>
                <a:ea typeface="微軟正黑體" pitchFamily="34" charset="-120"/>
              </a:rPr>
              <a:t>HTTP RAM</a:t>
            </a:r>
            <a:r>
              <a:rPr lang="zh-TW" altLang="en-US" dirty="0" smtClean="0">
                <a:latin typeface="微軟正黑體" pitchFamily="34" charset="-120"/>
                <a:ea typeface="微軟正黑體" pitchFamily="34" charset="-120"/>
              </a:rPr>
              <a:t>快取、效能優化機制</a:t>
            </a:r>
            <a:endParaRPr lang="en-US" altLang="zh-TW" dirty="0" smtClean="0">
              <a:latin typeface="微軟正黑體" pitchFamily="34" charset="-120"/>
              <a:ea typeface="微軟正黑體" pitchFamily="34" charset="-120"/>
            </a:endParaRPr>
          </a:p>
        </p:txBody>
      </p:sp>
      <p:sp>
        <p:nvSpPr>
          <p:cNvPr id="36" name="文字方塊 35"/>
          <p:cNvSpPr txBox="1"/>
          <p:nvPr/>
        </p:nvSpPr>
        <p:spPr>
          <a:xfrm>
            <a:off x="4572000" y="5805264"/>
            <a:ext cx="4572000" cy="923330"/>
          </a:xfrm>
          <a:prstGeom prst="rect">
            <a:avLst/>
          </a:prstGeom>
          <a:solidFill>
            <a:srgbClr val="FFFF00"/>
          </a:solidFill>
        </p:spPr>
        <p:txBody>
          <a:bodyPr wrap="square" rtlCol="0">
            <a:spAutoFit/>
          </a:bodyPr>
          <a:lstStyle/>
          <a:p>
            <a:pPr>
              <a:buFont typeface="Arial" pitchFamily="34" charset="0"/>
              <a:buChar char="•"/>
            </a:pPr>
            <a:r>
              <a:rPr lang="zh-TW" altLang="en-US" dirty="0" smtClean="0">
                <a:latin typeface="微軟正黑體" pitchFamily="34" charset="-120"/>
                <a:ea typeface="微軟正黑體" pitchFamily="34" charset="-120"/>
              </a:rPr>
              <a:t>資料庫安全與稽核，確保關鍵資料</a:t>
            </a:r>
            <a:endParaRPr lang="en-US" altLang="zh-TW" dirty="0" smtClean="0">
              <a:latin typeface="微軟正黑體" pitchFamily="34" charset="-120"/>
              <a:ea typeface="微軟正黑體" pitchFamily="34" charset="-120"/>
            </a:endParaRPr>
          </a:p>
          <a:p>
            <a:pPr>
              <a:buFont typeface="Arial" pitchFamily="34" charset="0"/>
              <a:buChar char="•"/>
            </a:pPr>
            <a:r>
              <a:rPr lang="zh-TW" altLang="en-US" dirty="0" smtClean="0">
                <a:latin typeface="微軟正黑體" pitchFamily="34" charset="-120"/>
                <a:ea typeface="微軟正黑體" pitchFamily="34" charset="-120"/>
              </a:rPr>
              <a:t>資料庫叢集架構與異地主備機制</a:t>
            </a:r>
            <a:endParaRPr lang="en-US" altLang="zh-TW" dirty="0" smtClean="0">
              <a:latin typeface="微軟正黑體" pitchFamily="34" charset="-120"/>
              <a:ea typeface="微軟正黑體" pitchFamily="34" charset="-120"/>
            </a:endParaRPr>
          </a:p>
          <a:p>
            <a:pPr>
              <a:buFont typeface="Arial" pitchFamily="34" charset="0"/>
              <a:buChar char="•"/>
            </a:pPr>
            <a:r>
              <a:rPr lang="zh-TW" altLang="en-US" dirty="0" smtClean="0">
                <a:latin typeface="微軟正黑體" pitchFamily="34" charset="-120"/>
                <a:ea typeface="微軟正黑體" pitchFamily="34" charset="-120"/>
              </a:rPr>
              <a:t>資料庫網路端負載平衡</a:t>
            </a:r>
            <a:endParaRPr lang="en-US" altLang="zh-TW" dirty="0" smtClean="0">
              <a:latin typeface="微軟正黑體" pitchFamily="34" charset="-120"/>
              <a:ea typeface="微軟正黑體" pitchFamily="34" charset="-120"/>
            </a:endParaRPr>
          </a:p>
        </p:txBody>
      </p:sp>
      <p:sp>
        <p:nvSpPr>
          <p:cNvPr id="37" name="文字方塊 36"/>
          <p:cNvSpPr txBox="1"/>
          <p:nvPr/>
        </p:nvSpPr>
        <p:spPr>
          <a:xfrm>
            <a:off x="4499992" y="1052736"/>
            <a:ext cx="4644008" cy="646331"/>
          </a:xfrm>
          <a:prstGeom prst="rect">
            <a:avLst/>
          </a:prstGeom>
          <a:solidFill>
            <a:schemeClr val="accent6">
              <a:lumMod val="20000"/>
              <a:lumOff val="80000"/>
            </a:schemeClr>
          </a:solidFill>
          <a:ln>
            <a:solidFill>
              <a:schemeClr val="bg1">
                <a:lumMod val="65000"/>
              </a:schemeClr>
            </a:solidFill>
          </a:ln>
        </p:spPr>
        <p:txBody>
          <a:bodyPr wrap="square" rtlCol="0">
            <a:spAutoFit/>
          </a:bodyPr>
          <a:lstStyle/>
          <a:p>
            <a:pPr>
              <a:buFont typeface="Arial" pitchFamily="34" charset="0"/>
              <a:buChar char="•"/>
            </a:pPr>
            <a:r>
              <a:rPr lang="en-US" altLang="zh-TW" dirty="0" smtClean="0">
                <a:latin typeface="微軟正黑體" pitchFamily="34" charset="-120"/>
                <a:ea typeface="微軟正黑體" pitchFamily="34" charset="-120"/>
              </a:rPr>
              <a:t>GSLB/SLB</a:t>
            </a:r>
            <a:r>
              <a:rPr lang="zh-TW" altLang="en-US" dirty="0" smtClean="0">
                <a:latin typeface="微軟正黑體" pitchFamily="34" charset="-120"/>
                <a:ea typeface="微軟正黑體" pitchFamily="34" charset="-120"/>
              </a:rPr>
              <a:t> </a:t>
            </a:r>
            <a:r>
              <a:rPr lang="en-US" altLang="zh-TW" dirty="0" smtClean="0">
                <a:latin typeface="微軟正黑體" pitchFamily="34" charset="-120"/>
                <a:ea typeface="微軟正黑體" pitchFamily="34" charset="-120"/>
              </a:rPr>
              <a:t>+</a:t>
            </a:r>
            <a:r>
              <a:rPr lang="en-US" altLang="zh-TW" dirty="0" err="1" smtClean="0">
                <a:latin typeface="微軟正黑體" pitchFamily="34" charset="-120"/>
                <a:ea typeface="微軟正黑體" pitchFamily="34" charset="-120"/>
              </a:rPr>
              <a:t>DNSSec</a:t>
            </a:r>
            <a:r>
              <a:rPr lang="zh-TW" altLang="en-US" dirty="0" smtClean="0">
                <a:latin typeface="微軟正黑體" pitchFamily="34" charset="-120"/>
                <a:ea typeface="微軟正黑體" pitchFamily="34" charset="-120"/>
              </a:rPr>
              <a:t>強化服務高可用性</a:t>
            </a:r>
            <a:endParaRPr lang="en-US" altLang="zh-TW" dirty="0" smtClean="0">
              <a:latin typeface="微軟正黑體" pitchFamily="34" charset="-120"/>
              <a:ea typeface="微軟正黑體" pitchFamily="34" charset="-120"/>
            </a:endParaRPr>
          </a:p>
          <a:p>
            <a:pPr>
              <a:buFont typeface="Arial" pitchFamily="34" charset="0"/>
              <a:buChar char="•"/>
            </a:pPr>
            <a:r>
              <a:rPr lang="en-US" altLang="zh-TW" dirty="0" smtClean="0">
                <a:latin typeface="微軟正黑體" pitchFamily="34" charset="-120"/>
                <a:ea typeface="微軟正黑體" pitchFamily="34" charset="-120"/>
              </a:rPr>
              <a:t>Nexus Guard DDoS</a:t>
            </a:r>
            <a:r>
              <a:rPr lang="zh-TW" altLang="en-US" dirty="0" smtClean="0">
                <a:latin typeface="微軟正黑體" pitchFamily="34" charset="-120"/>
                <a:ea typeface="微軟正黑體" pitchFamily="34" charset="-120"/>
              </a:rPr>
              <a:t>清洗服務</a:t>
            </a:r>
            <a:endParaRPr lang="zh-TW" altLang="en-US" dirty="0">
              <a:latin typeface="微軟正黑體" pitchFamily="34" charset="-120"/>
              <a:ea typeface="微軟正黑體" pitchFamily="34" charset="-120"/>
            </a:endParaRPr>
          </a:p>
        </p:txBody>
      </p:sp>
      <p:sp>
        <p:nvSpPr>
          <p:cNvPr id="38" name="文字方塊 37"/>
          <p:cNvSpPr txBox="1"/>
          <p:nvPr/>
        </p:nvSpPr>
        <p:spPr>
          <a:xfrm>
            <a:off x="4572000" y="3933056"/>
            <a:ext cx="4584503" cy="369332"/>
          </a:xfrm>
          <a:prstGeom prst="rect">
            <a:avLst/>
          </a:prstGeom>
          <a:solidFill>
            <a:schemeClr val="accent6">
              <a:lumMod val="20000"/>
              <a:lumOff val="80000"/>
            </a:schemeClr>
          </a:solidFill>
        </p:spPr>
        <p:txBody>
          <a:bodyPr wrap="square" rtlCol="0">
            <a:spAutoFit/>
          </a:bodyPr>
          <a:lstStyle/>
          <a:p>
            <a:pPr>
              <a:buFont typeface="Arial" pitchFamily="34" charset="0"/>
              <a:buChar char="•"/>
            </a:pPr>
            <a:r>
              <a:rPr lang="zh-TW" altLang="en-US" dirty="0" smtClean="0">
                <a:latin typeface="微軟正黑體" pitchFamily="34" charset="-120"/>
                <a:ea typeface="微軟正黑體" pitchFamily="34" charset="-120"/>
              </a:rPr>
              <a:t>每個區域都須要經過防火牆的政策控管</a:t>
            </a:r>
            <a:endParaRPr lang="zh-TW" altLang="en-US" dirty="0">
              <a:latin typeface="微軟正黑體" pitchFamily="34" charset="-120"/>
              <a:ea typeface="微軟正黑體" pitchFamily="34" charset="-120"/>
            </a:endParaRPr>
          </a:p>
        </p:txBody>
      </p:sp>
      <p:sp>
        <p:nvSpPr>
          <p:cNvPr id="39" name="文字方塊 38"/>
          <p:cNvSpPr txBox="1"/>
          <p:nvPr/>
        </p:nvSpPr>
        <p:spPr>
          <a:xfrm>
            <a:off x="4572000" y="5373216"/>
            <a:ext cx="4584503" cy="369332"/>
          </a:xfrm>
          <a:prstGeom prst="rect">
            <a:avLst/>
          </a:prstGeom>
          <a:solidFill>
            <a:schemeClr val="accent6">
              <a:lumMod val="20000"/>
              <a:lumOff val="80000"/>
            </a:schemeClr>
          </a:solidFill>
        </p:spPr>
        <p:txBody>
          <a:bodyPr wrap="square" rtlCol="0">
            <a:spAutoFit/>
          </a:bodyPr>
          <a:lstStyle/>
          <a:p>
            <a:pPr>
              <a:buFont typeface="Arial" pitchFamily="34" charset="0"/>
              <a:buChar char="•"/>
            </a:pPr>
            <a:r>
              <a:rPr lang="zh-TW" altLang="en-US" dirty="0" smtClean="0">
                <a:latin typeface="微軟正黑體" pitchFamily="34" charset="-120"/>
                <a:ea typeface="微軟正黑體" pitchFamily="34" charset="-120"/>
              </a:rPr>
              <a:t>每個區域都須要經過防火牆的政策控管</a:t>
            </a:r>
            <a:endParaRPr lang="zh-TW" altLang="en-US" dirty="0">
              <a:latin typeface="微軟正黑體" pitchFamily="34" charset="-120"/>
              <a:ea typeface="微軟正黑體" pitchFamily="34" charset="-120"/>
            </a:endParaRPr>
          </a:p>
        </p:txBody>
      </p:sp>
      <p:sp>
        <p:nvSpPr>
          <p:cNvPr id="40" name="文字方塊 39"/>
          <p:cNvSpPr txBox="1"/>
          <p:nvPr/>
        </p:nvSpPr>
        <p:spPr>
          <a:xfrm>
            <a:off x="4572000" y="4365104"/>
            <a:ext cx="4572000" cy="923330"/>
          </a:xfrm>
          <a:prstGeom prst="rect">
            <a:avLst/>
          </a:prstGeom>
          <a:solidFill>
            <a:srgbClr val="FFFF00"/>
          </a:solidFill>
        </p:spPr>
        <p:txBody>
          <a:bodyPr wrap="square" rtlCol="0">
            <a:spAutoFit/>
          </a:bodyPr>
          <a:lstStyle/>
          <a:p>
            <a:endParaRPr lang="en-US" altLang="zh-TW" dirty="0" smtClean="0">
              <a:latin typeface="微軟正黑體" pitchFamily="34" charset="-120"/>
              <a:ea typeface="微軟正黑體" pitchFamily="34" charset="-120"/>
            </a:endParaRPr>
          </a:p>
          <a:p>
            <a:pPr>
              <a:buFont typeface="Arial" pitchFamily="34" charset="0"/>
              <a:buChar char="•"/>
            </a:pPr>
            <a:r>
              <a:rPr lang="zh-TW" altLang="en-US" dirty="0" smtClean="0">
                <a:latin typeface="微軟正黑體" pitchFamily="34" charset="-120"/>
                <a:ea typeface="微軟正黑體" pitchFamily="34" charset="-120"/>
              </a:rPr>
              <a:t>應用服務伺服器負載平衡</a:t>
            </a:r>
            <a:endParaRPr lang="en-US" altLang="zh-TW" dirty="0" smtClean="0">
              <a:latin typeface="微軟正黑體" pitchFamily="34" charset="-120"/>
              <a:ea typeface="微軟正黑體" pitchFamily="34" charset="-120"/>
            </a:endParaRPr>
          </a:p>
          <a:p>
            <a:pPr>
              <a:buFont typeface="Arial" pitchFamily="34" charset="0"/>
              <a:buChar char="•"/>
            </a:pPr>
            <a:endParaRPr lang="zh-TW" altLang="en-US" dirty="0">
              <a:latin typeface="微軟正黑體" pitchFamily="34" charset="-120"/>
              <a:ea typeface="微軟正黑體" pitchFamily="34" charset="-120"/>
            </a:endParaRPr>
          </a:p>
        </p:txBody>
      </p:sp>
    </p:spTree>
    <p:extLst>
      <p:ext uri="{BB962C8B-B14F-4D97-AF65-F5344CB8AC3E}">
        <p14:creationId xmlns:p14="http://schemas.microsoft.com/office/powerpoint/2010/main" val="3451576183"/>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8" name="圓角矩形 927"/>
          <p:cNvSpPr/>
          <p:nvPr/>
        </p:nvSpPr>
        <p:spPr bwMode="auto">
          <a:xfrm>
            <a:off x="5084440" y="2780928"/>
            <a:ext cx="3664024"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en-US" altLang="zh-TW" dirty="0" smtClean="0">
                <a:solidFill>
                  <a:srgbClr val="0000CC"/>
                </a:solidFill>
              </a:rPr>
              <a:t>WS-C3750X-24T-S</a:t>
            </a:r>
            <a:endParaRPr lang="zh-TW" altLang="en-US" dirty="0" smtClean="0">
              <a:solidFill>
                <a:srgbClr val="0000CC"/>
              </a:solidFill>
            </a:endParaRPr>
          </a:p>
        </p:txBody>
      </p:sp>
      <p:cxnSp>
        <p:nvCxnSpPr>
          <p:cNvPr id="916" name="直線接點 915"/>
          <p:cNvCxnSpPr>
            <a:stCxn id="917" idx="2"/>
            <a:endCxn id="915" idx="0"/>
          </p:cNvCxnSpPr>
          <p:nvPr/>
        </p:nvCxnSpPr>
        <p:spPr bwMode="auto">
          <a:xfrm>
            <a:off x="1403648" y="1484784"/>
            <a:ext cx="0" cy="108012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844" name="圓角矩形 843"/>
          <p:cNvSpPr/>
          <p:nvPr/>
        </p:nvSpPr>
        <p:spPr bwMode="auto">
          <a:xfrm>
            <a:off x="323528" y="2636912"/>
            <a:ext cx="3960440" cy="864096"/>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en-US" altLang="zh-TW" dirty="0" smtClean="0">
                <a:solidFill>
                  <a:srgbClr val="0000CC"/>
                </a:solidFill>
              </a:rPr>
              <a:t>C3750X-3</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845" name="圓角矩形 844"/>
          <p:cNvSpPr/>
          <p:nvPr/>
        </p:nvSpPr>
        <p:spPr bwMode="auto">
          <a:xfrm>
            <a:off x="475928" y="2789312"/>
            <a:ext cx="3664024"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en-US" altLang="zh-TW" dirty="0" smtClean="0">
                <a:solidFill>
                  <a:srgbClr val="0000CC"/>
                </a:solidFill>
              </a:rPr>
              <a:t>WS-C3750X-24T-S</a:t>
            </a:r>
            <a:endParaRPr lang="zh-TW" altLang="en-US" dirty="0" smtClean="0">
              <a:solidFill>
                <a:srgbClr val="0000CC"/>
              </a:solidFill>
            </a:endParaRPr>
          </a:p>
        </p:txBody>
      </p:sp>
      <p:sp>
        <p:nvSpPr>
          <p:cNvPr id="125" name="標題 124"/>
          <p:cNvSpPr>
            <a:spLocks noGrp="1"/>
          </p:cNvSpPr>
          <p:nvPr>
            <p:ph type="title"/>
          </p:nvPr>
        </p:nvSpPr>
        <p:spPr/>
        <p:txBody>
          <a:bodyPr>
            <a:normAutofit fontScale="90000"/>
          </a:bodyPr>
          <a:lstStyle/>
          <a:p>
            <a:r>
              <a:rPr lang="zh-TW" altLang="en-US" dirty="0" smtClean="0"/>
              <a:t>規劃設計</a:t>
            </a:r>
            <a:r>
              <a:rPr lang="en-US" altLang="zh-TW" dirty="0" smtClean="0"/>
              <a:t>-Internet</a:t>
            </a:r>
            <a:r>
              <a:rPr lang="zh-TW" altLang="en-US" dirty="0" smtClean="0"/>
              <a:t>安全防禦配置</a:t>
            </a:r>
            <a:endParaRPr lang="zh-TW" altLang="en-US" dirty="0"/>
          </a:p>
        </p:txBody>
      </p:sp>
      <p:cxnSp>
        <p:nvCxnSpPr>
          <p:cNvPr id="673" name="直線接點 672"/>
          <p:cNvCxnSpPr/>
          <p:nvPr/>
        </p:nvCxnSpPr>
        <p:spPr>
          <a:xfrm>
            <a:off x="4644008" y="1124744"/>
            <a:ext cx="0" cy="5733256"/>
          </a:xfrm>
          <a:prstGeom prst="line">
            <a:avLst/>
          </a:prstGeom>
          <a:ln w="76200">
            <a:solidFill>
              <a:schemeClr val="bg1">
                <a:lumMod val="7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674" name="圓角矩形 673"/>
          <p:cNvSpPr/>
          <p:nvPr/>
        </p:nvSpPr>
        <p:spPr bwMode="auto">
          <a:xfrm>
            <a:off x="467544" y="6021288"/>
            <a:ext cx="3600400" cy="576064"/>
          </a:xfrm>
          <a:prstGeom prst="roundRect">
            <a:avLst/>
          </a:prstGeom>
          <a:no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ISG1000</a:t>
            </a:r>
            <a:r>
              <a:rPr lang="zh-TW" altLang="en-US" dirty="0" smtClean="0">
                <a:solidFill>
                  <a:srgbClr val="0000CC"/>
                </a:solidFill>
              </a:rPr>
              <a:t>       </a:t>
            </a:r>
            <a:endParaRPr lang="en-US" altLang="zh-TW" dirty="0" smtClean="0">
              <a:solidFill>
                <a:srgbClr val="0000CC"/>
              </a:solidFill>
            </a:endParaRPr>
          </a:p>
        </p:txBody>
      </p:sp>
      <p:sp>
        <p:nvSpPr>
          <p:cNvPr id="676" name="圓角矩形 675"/>
          <p:cNvSpPr/>
          <p:nvPr/>
        </p:nvSpPr>
        <p:spPr bwMode="auto">
          <a:xfrm>
            <a:off x="323528" y="5877272"/>
            <a:ext cx="3960440" cy="864096"/>
          </a:xfrm>
          <a:prstGeom prst="roundRect">
            <a:avLst/>
          </a:prstGeom>
          <a:no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746" name="橢圓 745"/>
          <p:cNvSpPr/>
          <p:nvPr/>
        </p:nvSpPr>
        <p:spPr>
          <a:xfrm>
            <a:off x="755576" y="908720"/>
            <a:ext cx="2952328" cy="576064"/>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smtClean="0">
                <a:solidFill>
                  <a:sysClr val="windowText" lastClr="000000"/>
                </a:solidFill>
              </a:rPr>
              <a:t>網路網路</a:t>
            </a:r>
            <a:endParaRPr lang="zh-TW" altLang="en-US" sz="2000" b="1" dirty="0">
              <a:solidFill>
                <a:sysClr val="windowText" lastClr="000000"/>
              </a:solidFill>
            </a:endParaRPr>
          </a:p>
        </p:txBody>
      </p:sp>
      <p:sp>
        <p:nvSpPr>
          <p:cNvPr id="747" name="矩形 746"/>
          <p:cNvSpPr/>
          <p:nvPr/>
        </p:nvSpPr>
        <p:spPr bwMode="auto">
          <a:xfrm>
            <a:off x="1331640" y="5805264"/>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748" name="矩形 747"/>
          <p:cNvSpPr/>
          <p:nvPr/>
        </p:nvSpPr>
        <p:spPr bwMode="auto">
          <a:xfrm>
            <a:off x="3059832" y="5949280"/>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749" name="直線接點 748"/>
          <p:cNvCxnSpPr>
            <a:stCxn id="750" idx="2"/>
            <a:endCxn id="747" idx="0"/>
          </p:cNvCxnSpPr>
          <p:nvPr/>
        </p:nvCxnSpPr>
        <p:spPr bwMode="auto">
          <a:xfrm>
            <a:off x="1403648" y="5517232"/>
            <a:ext cx="0" cy="288032"/>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752" name="直線接點 751"/>
          <p:cNvCxnSpPr>
            <a:stCxn id="751" idx="2"/>
            <a:endCxn id="748" idx="0"/>
          </p:cNvCxnSpPr>
          <p:nvPr/>
        </p:nvCxnSpPr>
        <p:spPr bwMode="auto">
          <a:xfrm>
            <a:off x="3131840" y="5517232"/>
            <a:ext cx="0" cy="43204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753" name="文字方塊 752"/>
          <p:cNvSpPr txBox="1"/>
          <p:nvPr/>
        </p:nvSpPr>
        <p:spPr>
          <a:xfrm>
            <a:off x="1246565" y="6444044"/>
            <a:ext cx="2029291" cy="369332"/>
          </a:xfrm>
          <a:prstGeom prst="rect">
            <a:avLst/>
          </a:prstGeom>
          <a:solidFill>
            <a:srgbClr val="FFCC99"/>
          </a:solidFill>
        </p:spPr>
        <p:txBody>
          <a:bodyPr wrap="square" rtlCol="0">
            <a:spAutoFit/>
          </a:bodyPr>
          <a:lstStyle/>
          <a:p>
            <a:pPr algn="ctr"/>
            <a:r>
              <a:rPr lang="en-US" altLang="zh-TW" dirty="0" err="1" smtClean="0"/>
              <a:t>Untrust</a:t>
            </a:r>
            <a:endParaRPr lang="zh-TW" altLang="en-US" dirty="0"/>
          </a:p>
        </p:txBody>
      </p:sp>
      <p:sp>
        <p:nvSpPr>
          <p:cNvPr id="849" name="圓角矩形 848"/>
          <p:cNvSpPr/>
          <p:nvPr/>
        </p:nvSpPr>
        <p:spPr bwMode="auto">
          <a:xfrm>
            <a:off x="755576" y="3933056"/>
            <a:ext cx="1512168" cy="576064"/>
          </a:xfrm>
          <a:prstGeom prst="roundRect">
            <a:avLst/>
          </a:prstGeom>
          <a:no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rPr>
              <a:t>1200C-1</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850" name="圓角矩形 849"/>
          <p:cNvSpPr/>
          <p:nvPr/>
        </p:nvSpPr>
        <p:spPr bwMode="auto">
          <a:xfrm>
            <a:off x="683568" y="1844824"/>
            <a:ext cx="1512168"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2600NX</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877" name="圓角矩形 876"/>
          <p:cNvSpPr/>
          <p:nvPr/>
        </p:nvSpPr>
        <p:spPr bwMode="auto">
          <a:xfrm>
            <a:off x="2483768" y="3933056"/>
            <a:ext cx="1512168" cy="576064"/>
          </a:xfrm>
          <a:prstGeom prst="roundRect">
            <a:avLst/>
          </a:prstGeom>
          <a:no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rPr>
              <a:t>1200C-1</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878" name="矩形 877"/>
          <p:cNvSpPr/>
          <p:nvPr/>
        </p:nvSpPr>
        <p:spPr bwMode="auto">
          <a:xfrm>
            <a:off x="1331640" y="3861048"/>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879" name="直線接點 878"/>
          <p:cNvCxnSpPr>
            <a:stCxn id="880" idx="2"/>
            <a:endCxn id="878" idx="0"/>
          </p:cNvCxnSpPr>
          <p:nvPr/>
        </p:nvCxnSpPr>
        <p:spPr bwMode="auto">
          <a:xfrm>
            <a:off x="1403648" y="3573016"/>
            <a:ext cx="0" cy="288032"/>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880" name="矩形 879"/>
          <p:cNvSpPr/>
          <p:nvPr/>
        </p:nvSpPr>
        <p:spPr bwMode="auto">
          <a:xfrm>
            <a:off x="1331640" y="3429000"/>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881" name="矩形 880"/>
          <p:cNvSpPr/>
          <p:nvPr/>
        </p:nvSpPr>
        <p:spPr bwMode="auto">
          <a:xfrm>
            <a:off x="3059832" y="3861048"/>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882" name="直線接點 881"/>
          <p:cNvCxnSpPr>
            <a:stCxn id="883" idx="2"/>
            <a:endCxn id="881" idx="0"/>
          </p:cNvCxnSpPr>
          <p:nvPr/>
        </p:nvCxnSpPr>
        <p:spPr bwMode="auto">
          <a:xfrm>
            <a:off x="3131840" y="3429000"/>
            <a:ext cx="0" cy="43204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883" name="矩形 882"/>
          <p:cNvSpPr/>
          <p:nvPr/>
        </p:nvSpPr>
        <p:spPr bwMode="auto">
          <a:xfrm>
            <a:off x="3059832" y="3284984"/>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891" name="圓角矩形 890"/>
          <p:cNvSpPr/>
          <p:nvPr/>
        </p:nvSpPr>
        <p:spPr bwMode="auto">
          <a:xfrm>
            <a:off x="4932040" y="5877272"/>
            <a:ext cx="3960440" cy="864096"/>
          </a:xfrm>
          <a:prstGeom prst="roundRect">
            <a:avLst/>
          </a:prstGeom>
          <a:no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rPr>
              <a:t>ISG1000</a:t>
            </a:r>
          </a:p>
          <a:p>
            <a:pPr algn="ct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894" name="文字方塊 893"/>
          <p:cNvSpPr txBox="1"/>
          <p:nvPr/>
        </p:nvSpPr>
        <p:spPr>
          <a:xfrm>
            <a:off x="5796136" y="6381328"/>
            <a:ext cx="2029291" cy="369332"/>
          </a:xfrm>
          <a:prstGeom prst="rect">
            <a:avLst/>
          </a:prstGeom>
          <a:solidFill>
            <a:srgbClr val="FFCC99"/>
          </a:solidFill>
        </p:spPr>
        <p:txBody>
          <a:bodyPr wrap="square" rtlCol="0">
            <a:spAutoFit/>
          </a:bodyPr>
          <a:lstStyle/>
          <a:p>
            <a:pPr algn="ctr"/>
            <a:r>
              <a:rPr lang="en-US" altLang="zh-TW" dirty="0" err="1" smtClean="0"/>
              <a:t>Untrust</a:t>
            </a:r>
            <a:endParaRPr lang="zh-TW" altLang="en-US" dirty="0"/>
          </a:p>
        </p:txBody>
      </p:sp>
      <p:sp>
        <p:nvSpPr>
          <p:cNvPr id="897" name="圓角矩形 896"/>
          <p:cNvSpPr/>
          <p:nvPr/>
        </p:nvSpPr>
        <p:spPr bwMode="auto">
          <a:xfrm>
            <a:off x="6084168" y="3933056"/>
            <a:ext cx="1512168" cy="576064"/>
          </a:xfrm>
          <a:prstGeom prst="roundRect">
            <a:avLst/>
          </a:prstGeom>
          <a:no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rPr>
              <a:t>1200C-1</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915" name="矩形 914"/>
          <p:cNvSpPr/>
          <p:nvPr/>
        </p:nvSpPr>
        <p:spPr bwMode="auto">
          <a:xfrm>
            <a:off x="1331640" y="2564904"/>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917" name="矩形 916"/>
          <p:cNvSpPr/>
          <p:nvPr/>
        </p:nvSpPr>
        <p:spPr bwMode="auto">
          <a:xfrm>
            <a:off x="1331640" y="1340768"/>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918" name="直線接點 917"/>
          <p:cNvCxnSpPr>
            <a:stCxn id="921" idx="2"/>
            <a:endCxn id="920" idx="0"/>
          </p:cNvCxnSpPr>
          <p:nvPr/>
        </p:nvCxnSpPr>
        <p:spPr bwMode="auto">
          <a:xfrm>
            <a:off x="3131840" y="1484784"/>
            <a:ext cx="0" cy="1224136"/>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919" name="圓角矩形 918"/>
          <p:cNvSpPr/>
          <p:nvPr/>
        </p:nvSpPr>
        <p:spPr bwMode="auto">
          <a:xfrm>
            <a:off x="2411760" y="1844824"/>
            <a:ext cx="1512168"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2600NX</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920" name="矩形 919"/>
          <p:cNvSpPr/>
          <p:nvPr/>
        </p:nvSpPr>
        <p:spPr bwMode="auto">
          <a:xfrm>
            <a:off x="3059832" y="2708920"/>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921" name="矩形 920"/>
          <p:cNvSpPr/>
          <p:nvPr/>
        </p:nvSpPr>
        <p:spPr bwMode="auto">
          <a:xfrm>
            <a:off x="3059832" y="1340768"/>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924" name="橢圓 923"/>
          <p:cNvSpPr/>
          <p:nvPr/>
        </p:nvSpPr>
        <p:spPr>
          <a:xfrm>
            <a:off x="5940152" y="908720"/>
            <a:ext cx="2016224" cy="576064"/>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smtClean="0">
                <a:solidFill>
                  <a:sysClr val="windowText" lastClr="000000"/>
                </a:solidFill>
              </a:rPr>
              <a:t>網際網路</a:t>
            </a:r>
            <a:endParaRPr lang="zh-TW" altLang="en-US" sz="2000" b="1" dirty="0">
              <a:solidFill>
                <a:sysClr val="windowText" lastClr="000000"/>
              </a:solidFill>
            </a:endParaRPr>
          </a:p>
        </p:txBody>
      </p:sp>
      <p:cxnSp>
        <p:nvCxnSpPr>
          <p:cNvPr id="925" name="直線接點 924"/>
          <p:cNvCxnSpPr>
            <a:stCxn id="927" idx="2"/>
            <a:endCxn id="926" idx="0"/>
          </p:cNvCxnSpPr>
          <p:nvPr/>
        </p:nvCxnSpPr>
        <p:spPr bwMode="auto">
          <a:xfrm>
            <a:off x="6804248" y="1484784"/>
            <a:ext cx="0" cy="1224136"/>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926" name="矩形 925"/>
          <p:cNvSpPr/>
          <p:nvPr/>
        </p:nvSpPr>
        <p:spPr bwMode="auto">
          <a:xfrm>
            <a:off x="6732240" y="2708920"/>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927" name="矩形 926"/>
          <p:cNvSpPr/>
          <p:nvPr/>
        </p:nvSpPr>
        <p:spPr bwMode="auto">
          <a:xfrm>
            <a:off x="6732240" y="1340768"/>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898" name="圓角矩形 897"/>
          <p:cNvSpPr/>
          <p:nvPr/>
        </p:nvSpPr>
        <p:spPr bwMode="auto">
          <a:xfrm>
            <a:off x="6012160" y="1844824"/>
            <a:ext cx="1512168"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2600NX</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cxnSp>
        <p:nvCxnSpPr>
          <p:cNvPr id="929" name="直線接點 928"/>
          <p:cNvCxnSpPr>
            <a:stCxn id="931" idx="2"/>
            <a:endCxn id="930" idx="0"/>
          </p:cNvCxnSpPr>
          <p:nvPr/>
        </p:nvCxnSpPr>
        <p:spPr bwMode="auto">
          <a:xfrm>
            <a:off x="6804248" y="4581128"/>
            <a:ext cx="0" cy="1224136"/>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930" name="矩形 929"/>
          <p:cNvSpPr/>
          <p:nvPr/>
        </p:nvSpPr>
        <p:spPr bwMode="auto">
          <a:xfrm>
            <a:off x="6732240" y="5805264"/>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931" name="矩形 930"/>
          <p:cNvSpPr/>
          <p:nvPr/>
        </p:nvSpPr>
        <p:spPr bwMode="auto">
          <a:xfrm>
            <a:off x="6732240" y="443711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932" name="直線接點 931"/>
          <p:cNvCxnSpPr>
            <a:stCxn id="934" idx="2"/>
            <a:endCxn id="933" idx="0"/>
          </p:cNvCxnSpPr>
          <p:nvPr/>
        </p:nvCxnSpPr>
        <p:spPr bwMode="auto">
          <a:xfrm>
            <a:off x="6804248" y="3429000"/>
            <a:ext cx="0" cy="43204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933" name="矩形 932"/>
          <p:cNvSpPr/>
          <p:nvPr/>
        </p:nvSpPr>
        <p:spPr bwMode="auto">
          <a:xfrm>
            <a:off x="6732240" y="3861048"/>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934" name="矩形 933"/>
          <p:cNvSpPr/>
          <p:nvPr/>
        </p:nvSpPr>
        <p:spPr bwMode="auto">
          <a:xfrm>
            <a:off x="6732240" y="3284984"/>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936" name="圓角矩形 935"/>
          <p:cNvSpPr/>
          <p:nvPr/>
        </p:nvSpPr>
        <p:spPr bwMode="auto">
          <a:xfrm>
            <a:off x="1043608" y="4941168"/>
            <a:ext cx="2448272"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en-US" altLang="zh-TW" dirty="0" smtClean="0">
                <a:solidFill>
                  <a:srgbClr val="0000CC"/>
                </a:solidFill>
              </a:rPr>
              <a:t>L2 VLAN</a:t>
            </a:r>
            <a:endParaRPr lang="zh-TW" altLang="en-US" dirty="0" smtClean="0">
              <a:solidFill>
                <a:srgbClr val="0000CC"/>
              </a:solidFill>
            </a:endParaRPr>
          </a:p>
        </p:txBody>
      </p:sp>
      <p:sp>
        <p:nvSpPr>
          <p:cNvPr id="751" name="矩形 750"/>
          <p:cNvSpPr/>
          <p:nvPr/>
        </p:nvSpPr>
        <p:spPr bwMode="auto">
          <a:xfrm>
            <a:off x="3059832" y="5373216"/>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750" name="矩形 749"/>
          <p:cNvSpPr/>
          <p:nvPr/>
        </p:nvSpPr>
        <p:spPr bwMode="auto">
          <a:xfrm>
            <a:off x="1331640" y="5373216"/>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938" name="矩形 937"/>
          <p:cNvSpPr/>
          <p:nvPr/>
        </p:nvSpPr>
        <p:spPr bwMode="auto">
          <a:xfrm>
            <a:off x="1331640" y="4869160"/>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939" name="直線接點 938"/>
          <p:cNvCxnSpPr>
            <a:stCxn id="940" idx="2"/>
            <a:endCxn id="938" idx="0"/>
          </p:cNvCxnSpPr>
          <p:nvPr/>
        </p:nvCxnSpPr>
        <p:spPr bwMode="auto">
          <a:xfrm>
            <a:off x="1403648" y="4581128"/>
            <a:ext cx="0" cy="288032"/>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940" name="矩形 939"/>
          <p:cNvSpPr/>
          <p:nvPr/>
        </p:nvSpPr>
        <p:spPr bwMode="auto">
          <a:xfrm>
            <a:off x="1331640" y="443711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857" name="矩形 856"/>
          <p:cNvSpPr/>
          <p:nvPr/>
        </p:nvSpPr>
        <p:spPr bwMode="auto">
          <a:xfrm>
            <a:off x="3059832" y="4869160"/>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886" name="矩形 885"/>
          <p:cNvSpPr/>
          <p:nvPr/>
        </p:nvSpPr>
        <p:spPr bwMode="auto">
          <a:xfrm>
            <a:off x="3059832" y="4437112"/>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912" name="直線接點 911"/>
          <p:cNvCxnSpPr>
            <a:stCxn id="886" idx="2"/>
            <a:endCxn id="857" idx="0"/>
          </p:cNvCxnSpPr>
          <p:nvPr/>
        </p:nvCxnSpPr>
        <p:spPr bwMode="auto">
          <a:xfrm>
            <a:off x="3131840" y="4581128"/>
            <a:ext cx="0" cy="288032"/>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941" name="矩形 940"/>
          <p:cNvSpPr/>
          <p:nvPr/>
        </p:nvSpPr>
        <p:spPr>
          <a:xfrm>
            <a:off x="0" y="1556792"/>
            <a:ext cx="4211960" cy="4032448"/>
          </a:xfrm>
          <a:prstGeom prst="rect">
            <a:avLst/>
          </a:prstGeom>
          <a:solidFill>
            <a:srgbClr val="A6A6A6">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b="1" dirty="0"/>
          </a:p>
        </p:txBody>
      </p:sp>
      <p:sp>
        <p:nvSpPr>
          <p:cNvPr id="942" name="矩形 941"/>
          <p:cNvSpPr/>
          <p:nvPr/>
        </p:nvSpPr>
        <p:spPr>
          <a:xfrm>
            <a:off x="4788024" y="1628800"/>
            <a:ext cx="4211960" cy="4032448"/>
          </a:xfrm>
          <a:prstGeom prst="rect">
            <a:avLst/>
          </a:prstGeom>
          <a:solidFill>
            <a:srgbClr val="A6A6A6">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b="1" dirty="0"/>
          </a:p>
        </p:txBody>
      </p:sp>
      <p:sp>
        <p:nvSpPr>
          <p:cNvPr id="57" name="文字方塊 56"/>
          <p:cNvSpPr txBox="1"/>
          <p:nvPr/>
        </p:nvSpPr>
        <p:spPr>
          <a:xfrm>
            <a:off x="3995936" y="1916832"/>
            <a:ext cx="1872208" cy="369332"/>
          </a:xfrm>
          <a:prstGeom prst="rect">
            <a:avLst/>
          </a:prstGeom>
          <a:solidFill>
            <a:srgbClr val="FFFF00"/>
          </a:solidFill>
        </p:spPr>
        <p:txBody>
          <a:bodyPr wrap="square" rtlCol="0">
            <a:spAutoFit/>
          </a:bodyPr>
          <a:lstStyle/>
          <a:p>
            <a:pPr algn="ctr"/>
            <a:r>
              <a:rPr lang="zh-TW" altLang="en-US" dirty="0" smtClean="0">
                <a:latin typeface="微軟正黑體" pitchFamily="34" charset="-120"/>
                <a:ea typeface="微軟正黑體" pitchFamily="34" charset="-120"/>
              </a:rPr>
              <a:t>入侵偵測防禦</a:t>
            </a:r>
            <a:endParaRPr lang="en-US" altLang="zh-TW" dirty="0" smtClean="0">
              <a:latin typeface="微軟正黑體" pitchFamily="34" charset="-120"/>
              <a:ea typeface="微軟正黑體" pitchFamily="34" charset="-120"/>
            </a:endParaRPr>
          </a:p>
        </p:txBody>
      </p:sp>
      <p:sp>
        <p:nvSpPr>
          <p:cNvPr id="58" name="文字方塊 57"/>
          <p:cNvSpPr txBox="1"/>
          <p:nvPr/>
        </p:nvSpPr>
        <p:spPr>
          <a:xfrm>
            <a:off x="4067944" y="3933056"/>
            <a:ext cx="1872208" cy="646331"/>
          </a:xfrm>
          <a:prstGeom prst="rect">
            <a:avLst/>
          </a:prstGeom>
          <a:solidFill>
            <a:srgbClr val="FFFF00"/>
          </a:solidFill>
        </p:spPr>
        <p:txBody>
          <a:bodyPr wrap="square" rtlCol="0">
            <a:spAutoFit/>
          </a:bodyPr>
          <a:lstStyle/>
          <a:p>
            <a:pPr algn="ctr"/>
            <a:r>
              <a:rPr lang="en-US" altLang="zh-TW" dirty="0" err="1" smtClean="0">
                <a:latin typeface="微軟正黑體" pitchFamily="34" charset="-120"/>
                <a:ea typeface="微軟正黑體" pitchFamily="34" charset="-120"/>
              </a:rPr>
              <a:t>DDoS</a:t>
            </a:r>
            <a:r>
              <a:rPr lang="zh-TW" altLang="en-US" dirty="0" smtClean="0">
                <a:latin typeface="微軟正黑體" pitchFamily="34" charset="-120"/>
                <a:ea typeface="微軟正黑體" pitchFamily="34" charset="-120"/>
              </a:rPr>
              <a:t>攻擊防禦抑制區域</a:t>
            </a:r>
            <a:endParaRPr lang="zh-TW" altLang="en-US" dirty="0">
              <a:latin typeface="微軟正黑體" pitchFamily="34" charset="-120"/>
              <a:ea typeface="微軟正黑體" pitchFamily="34" charset="-120"/>
            </a:endParaRPr>
          </a:p>
        </p:txBody>
      </p:sp>
      <p:sp>
        <p:nvSpPr>
          <p:cNvPr id="59" name="文字方塊 58"/>
          <p:cNvSpPr txBox="1"/>
          <p:nvPr/>
        </p:nvSpPr>
        <p:spPr>
          <a:xfrm>
            <a:off x="4139952" y="6021288"/>
            <a:ext cx="1872208" cy="369332"/>
          </a:xfrm>
          <a:prstGeom prst="rect">
            <a:avLst/>
          </a:prstGeom>
          <a:solidFill>
            <a:srgbClr val="FFFF00"/>
          </a:solidFill>
        </p:spPr>
        <p:txBody>
          <a:bodyPr wrap="square" rtlCol="0">
            <a:spAutoFit/>
          </a:bodyPr>
          <a:lstStyle/>
          <a:p>
            <a:r>
              <a:rPr lang="zh-TW" altLang="en-US" dirty="0" smtClean="0">
                <a:latin typeface="微軟正黑體" pitchFamily="34" charset="-120"/>
                <a:ea typeface="微軟正黑體" pitchFamily="34" charset="-120"/>
              </a:rPr>
              <a:t>安全防火牆入口</a:t>
            </a:r>
            <a:endParaRPr lang="zh-TW" altLang="en-US" dirty="0">
              <a:latin typeface="微軟正黑體" pitchFamily="34" charset="-120"/>
              <a:ea typeface="微軟正黑體" pitchFamily="34" charset="-120"/>
            </a:endParaRPr>
          </a:p>
        </p:txBody>
      </p:sp>
      <p:sp>
        <p:nvSpPr>
          <p:cNvPr id="60" name="文字方塊 59"/>
          <p:cNvSpPr txBox="1"/>
          <p:nvPr/>
        </p:nvSpPr>
        <p:spPr>
          <a:xfrm>
            <a:off x="3995936" y="836712"/>
            <a:ext cx="1728192" cy="646331"/>
          </a:xfrm>
          <a:prstGeom prst="rect">
            <a:avLst/>
          </a:prstGeom>
          <a:solidFill>
            <a:srgbClr val="FFFF00"/>
          </a:solidFill>
        </p:spPr>
        <p:txBody>
          <a:bodyPr wrap="square" rtlCol="0">
            <a:spAutoFit/>
          </a:bodyPr>
          <a:lstStyle/>
          <a:p>
            <a:pPr algn="ctr"/>
            <a:r>
              <a:rPr lang="en-US" altLang="zh-TW" dirty="0" smtClean="0">
                <a:latin typeface="微軟正黑體" pitchFamily="34" charset="-120"/>
                <a:ea typeface="微軟正黑體" pitchFamily="34" charset="-120"/>
              </a:rPr>
              <a:t>Nexus guard</a:t>
            </a:r>
            <a:r>
              <a:rPr lang="zh-TW" altLang="en-US" dirty="0" smtClean="0">
                <a:latin typeface="微軟正黑體" pitchFamily="34" charset="-120"/>
                <a:ea typeface="微軟正黑體" pitchFamily="34" charset="-120"/>
              </a:rPr>
              <a:t> </a:t>
            </a:r>
            <a:r>
              <a:rPr lang="en-US" altLang="zh-TW" dirty="0" smtClean="0">
                <a:latin typeface="微軟正黑體" pitchFamily="34" charset="-120"/>
                <a:ea typeface="微軟正黑體" pitchFamily="34" charset="-120"/>
              </a:rPr>
              <a:t>DDoS</a:t>
            </a:r>
            <a:r>
              <a:rPr lang="zh-TW" altLang="en-US" dirty="0" smtClean="0">
                <a:latin typeface="微軟正黑體" pitchFamily="34" charset="-120"/>
                <a:ea typeface="微軟正黑體" pitchFamily="34" charset="-120"/>
              </a:rPr>
              <a:t>清洗服務</a:t>
            </a:r>
            <a:endParaRPr lang="zh-TW" altLang="en-US" dirty="0">
              <a:latin typeface="微軟正黑體" pitchFamily="34" charset="-120"/>
              <a:ea typeface="微軟正黑體" pitchFamily="34" charset="-120"/>
            </a:endParaRPr>
          </a:p>
        </p:txBody>
      </p:sp>
    </p:spTree>
    <p:extLst>
      <p:ext uri="{BB962C8B-B14F-4D97-AF65-F5344CB8AC3E}">
        <p14:creationId xmlns:p14="http://schemas.microsoft.com/office/powerpoint/2010/main" val="4234445842"/>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5" name="圓角矩形 724"/>
          <p:cNvSpPr/>
          <p:nvPr/>
        </p:nvSpPr>
        <p:spPr bwMode="auto">
          <a:xfrm>
            <a:off x="179512" y="2852936"/>
            <a:ext cx="1152128" cy="504056"/>
          </a:xfrm>
          <a:prstGeom prst="roundRect">
            <a:avLst/>
          </a:prstGeom>
          <a:no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endPar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endParaRPr>
          </a:p>
          <a:p>
            <a:pPr algn="ctr"/>
            <a:r>
              <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rPr>
              <a:t>L2 VLAN</a:t>
            </a:r>
          </a:p>
          <a:p>
            <a:pPr algn="ctr"/>
            <a:endPar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125" name="標題 124"/>
          <p:cNvSpPr>
            <a:spLocks noGrp="1"/>
          </p:cNvSpPr>
          <p:nvPr>
            <p:ph type="title"/>
          </p:nvPr>
        </p:nvSpPr>
        <p:spPr/>
        <p:txBody>
          <a:bodyPr>
            <a:normAutofit fontScale="90000"/>
          </a:bodyPr>
          <a:lstStyle/>
          <a:p>
            <a:r>
              <a:rPr lang="zh-TW" altLang="en-US" dirty="0" smtClean="0"/>
              <a:t>規劃設計</a:t>
            </a:r>
            <a:r>
              <a:rPr lang="en-US" altLang="zh-TW" dirty="0" smtClean="0"/>
              <a:t>-</a:t>
            </a:r>
            <a:r>
              <a:rPr lang="zh-TW" altLang="en-US" dirty="0" smtClean="0"/>
              <a:t>防火牆</a:t>
            </a:r>
            <a:r>
              <a:rPr lang="en-US" altLang="zh-TW" dirty="0" smtClean="0"/>
              <a:t>Zone</a:t>
            </a:r>
            <a:r>
              <a:rPr lang="zh-TW" altLang="en-US" dirty="0" smtClean="0"/>
              <a:t>關係配置</a:t>
            </a:r>
            <a:endParaRPr lang="zh-TW" altLang="en-US" dirty="0"/>
          </a:p>
        </p:txBody>
      </p:sp>
      <p:sp>
        <p:nvSpPr>
          <p:cNvPr id="525" name="圓角矩形 524"/>
          <p:cNvSpPr/>
          <p:nvPr/>
        </p:nvSpPr>
        <p:spPr bwMode="auto">
          <a:xfrm>
            <a:off x="323528" y="5589240"/>
            <a:ext cx="3960440" cy="864096"/>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en-US" altLang="zh-TW" dirty="0" smtClean="0">
                <a:solidFill>
                  <a:srgbClr val="0000CC"/>
                </a:solidFill>
              </a:rPr>
              <a:t>C3750X-3</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526" name="圓角矩形 525"/>
          <p:cNvSpPr/>
          <p:nvPr/>
        </p:nvSpPr>
        <p:spPr bwMode="auto">
          <a:xfrm>
            <a:off x="475928" y="5741640"/>
            <a:ext cx="3664024"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en-US" altLang="zh-TW" dirty="0" smtClean="0">
                <a:solidFill>
                  <a:srgbClr val="0000CC"/>
                </a:solidFill>
              </a:rPr>
              <a:t>WS-C3750X-24T-S</a:t>
            </a:r>
            <a:endParaRPr lang="zh-TW" altLang="en-US" dirty="0" smtClean="0">
              <a:solidFill>
                <a:srgbClr val="0000CC"/>
              </a:solidFill>
            </a:endParaRPr>
          </a:p>
        </p:txBody>
      </p:sp>
      <p:sp>
        <p:nvSpPr>
          <p:cNvPr id="600" name="圓角矩形 599"/>
          <p:cNvSpPr/>
          <p:nvPr/>
        </p:nvSpPr>
        <p:spPr bwMode="auto">
          <a:xfrm>
            <a:off x="4932040" y="5589240"/>
            <a:ext cx="3672408" cy="864096"/>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en-US" altLang="zh-TW" dirty="0" smtClean="0">
                <a:solidFill>
                  <a:srgbClr val="0000CC"/>
                </a:solidFill>
              </a:rPr>
              <a:t>WS-C3750X-24T-S</a:t>
            </a:r>
            <a:endParaRPr lang="zh-TW" altLang="en-US" dirty="0" smtClean="0">
              <a:solidFill>
                <a:srgbClr val="0000CC"/>
              </a:solidFill>
            </a:endParaRPr>
          </a:p>
        </p:txBody>
      </p:sp>
      <p:cxnSp>
        <p:nvCxnSpPr>
          <p:cNvPr id="673" name="直線接點 672"/>
          <p:cNvCxnSpPr/>
          <p:nvPr/>
        </p:nvCxnSpPr>
        <p:spPr>
          <a:xfrm>
            <a:off x="4644008" y="1124744"/>
            <a:ext cx="0" cy="5400600"/>
          </a:xfrm>
          <a:prstGeom prst="line">
            <a:avLst/>
          </a:prstGeom>
          <a:ln w="76200">
            <a:solidFill>
              <a:schemeClr val="bg1">
                <a:lumMod val="7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674" name="圓角矩形 673"/>
          <p:cNvSpPr/>
          <p:nvPr/>
        </p:nvSpPr>
        <p:spPr bwMode="auto">
          <a:xfrm>
            <a:off x="467544" y="4221088"/>
            <a:ext cx="2592288" cy="576064"/>
          </a:xfrm>
          <a:prstGeom prst="roundRect">
            <a:avLst/>
          </a:prstGeom>
          <a:no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ISG1000</a:t>
            </a:r>
          </a:p>
        </p:txBody>
      </p:sp>
      <p:sp>
        <p:nvSpPr>
          <p:cNvPr id="676" name="圓角矩形 675"/>
          <p:cNvSpPr/>
          <p:nvPr/>
        </p:nvSpPr>
        <p:spPr bwMode="auto">
          <a:xfrm>
            <a:off x="323528" y="4077072"/>
            <a:ext cx="3960440" cy="864096"/>
          </a:xfrm>
          <a:prstGeom prst="roundRect">
            <a:avLst/>
          </a:prstGeom>
          <a:no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677" name="圓角矩形 676"/>
          <p:cNvSpPr/>
          <p:nvPr/>
        </p:nvSpPr>
        <p:spPr bwMode="auto">
          <a:xfrm>
            <a:off x="4932040" y="4077072"/>
            <a:ext cx="2448272" cy="864096"/>
          </a:xfrm>
          <a:prstGeom prst="roundRect">
            <a:avLst/>
          </a:prstGeom>
          <a:no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rPr>
              <a:t>ISG1000</a:t>
            </a:r>
          </a:p>
        </p:txBody>
      </p:sp>
      <p:sp>
        <p:nvSpPr>
          <p:cNvPr id="678" name="圓角矩形 677"/>
          <p:cNvSpPr/>
          <p:nvPr/>
        </p:nvSpPr>
        <p:spPr bwMode="auto">
          <a:xfrm>
            <a:off x="3131840" y="4221088"/>
            <a:ext cx="1008112" cy="576064"/>
          </a:xfrm>
          <a:prstGeom prst="roundRect">
            <a:avLst/>
          </a:prstGeom>
          <a:no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ISG1000</a:t>
            </a:r>
          </a:p>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0" i="0" u="none" strike="noStrike" cap="none" normalizeH="0" baseline="0" dirty="0" err="1" smtClean="0">
                <a:ln>
                  <a:noFill/>
                </a:ln>
                <a:solidFill>
                  <a:srgbClr val="0000CC"/>
                </a:solidFill>
                <a:effectLst/>
                <a:latin typeface="Times New Roman" pitchFamily="18" charset="0"/>
                <a:ea typeface="新細明體" pitchFamily="18" charset="-120"/>
              </a:rPr>
              <a:t>vSYS</a:t>
            </a:r>
            <a:r>
              <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rPr>
              <a:t> </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679" name="圓角矩形 678"/>
          <p:cNvSpPr/>
          <p:nvPr/>
        </p:nvSpPr>
        <p:spPr bwMode="auto">
          <a:xfrm>
            <a:off x="7452320" y="4077072"/>
            <a:ext cx="1152128" cy="864096"/>
          </a:xfrm>
          <a:prstGeom prst="roundRect">
            <a:avLst/>
          </a:prstGeom>
          <a:no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rPr>
              <a:t>ISG1000</a:t>
            </a:r>
          </a:p>
          <a:p>
            <a:pPr algn="ctr"/>
            <a:r>
              <a:rPr lang="en-US" altLang="zh-TW" dirty="0" err="1" smtClean="0">
                <a:solidFill>
                  <a:srgbClr val="0000CC"/>
                </a:solidFill>
              </a:rPr>
              <a:t>vSYS</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680" name="矩形 679"/>
          <p:cNvSpPr/>
          <p:nvPr/>
        </p:nvSpPr>
        <p:spPr bwMode="auto">
          <a:xfrm>
            <a:off x="611560" y="551723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681" name="矩形 680"/>
          <p:cNvSpPr/>
          <p:nvPr/>
        </p:nvSpPr>
        <p:spPr bwMode="auto">
          <a:xfrm>
            <a:off x="827584" y="5661248"/>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682" name="直線接點 681"/>
          <p:cNvCxnSpPr>
            <a:stCxn id="683" idx="2"/>
            <a:endCxn id="680" idx="0"/>
          </p:cNvCxnSpPr>
          <p:nvPr/>
        </p:nvCxnSpPr>
        <p:spPr bwMode="auto">
          <a:xfrm>
            <a:off x="683568" y="5013176"/>
            <a:ext cx="0" cy="504056"/>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683" name="矩形 682"/>
          <p:cNvSpPr/>
          <p:nvPr/>
        </p:nvSpPr>
        <p:spPr bwMode="auto">
          <a:xfrm>
            <a:off x="611560" y="4869160"/>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684" name="矩形 683"/>
          <p:cNvSpPr/>
          <p:nvPr/>
        </p:nvSpPr>
        <p:spPr bwMode="auto">
          <a:xfrm>
            <a:off x="827584" y="4725144"/>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685" name="直線接點 684"/>
          <p:cNvCxnSpPr>
            <a:stCxn id="684" idx="2"/>
            <a:endCxn id="681" idx="0"/>
          </p:cNvCxnSpPr>
          <p:nvPr/>
        </p:nvCxnSpPr>
        <p:spPr bwMode="auto">
          <a:xfrm>
            <a:off x="899592" y="4869160"/>
            <a:ext cx="0" cy="79208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686" name="矩形 685"/>
          <p:cNvSpPr/>
          <p:nvPr/>
        </p:nvSpPr>
        <p:spPr bwMode="auto">
          <a:xfrm>
            <a:off x="1259632" y="551723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687" name="矩形 686"/>
          <p:cNvSpPr/>
          <p:nvPr/>
        </p:nvSpPr>
        <p:spPr bwMode="auto">
          <a:xfrm>
            <a:off x="1475656" y="5661248"/>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688" name="直線接點 687"/>
          <p:cNvCxnSpPr>
            <a:stCxn id="689" idx="2"/>
            <a:endCxn id="686" idx="0"/>
          </p:cNvCxnSpPr>
          <p:nvPr/>
        </p:nvCxnSpPr>
        <p:spPr bwMode="auto">
          <a:xfrm>
            <a:off x="1331640" y="5013176"/>
            <a:ext cx="0" cy="504056"/>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689" name="矩形 688"/>
          <p:cNvSpPr/>
          <p:nvPr/>
        </p:nvSpPr>
        <p:spPr bwMode="auto">
          <a:xfrm>
            <a:off x="1259632" y="4869160"/>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690" name="矩形 689"/>
          <p:cNvSpPr/>
          <p:nvPr/>
        </p:nvSpPr>
        <p:spPr bwMode="auto">
          <a:xfrm>
            <a:off x="1475656" y="4725144"/>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691" name="直線接點 690"/>
          <p:cNvCxnSpPr>
            <a:stCxn id="690" idx="2"/>
            <a:endCxn id="687" idx="0"/>
          </p:cNvCxnSpPr>
          <p:nvPr/>
        </p:nvCxnSpPr>
        <p:spPr bwMode="auto">
          <a:xfrm>
            <a:off x="1547664" y="4869160"/>
            <a:ext cx="0" cy="79208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692" name="矩形 691"/>
          <p:cNvSpPr/>
          <p:nvPr/>
        </p:nvSpPr>
        <p:spPr bwMode="auto">
          <a:xfrm>
            <a:off x="1835696" y="551723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693" name="矩形 692"/>
          <p:cNvSpPr/>
          <p:nvPr/>
        </p:nvSpPr>
        <p:spPr bwMode="auto">
          <a:xfrm>
            <a:off x="2051720" y="5661248"/>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694" name="直線接點 693"/>
          <p:cNvCxnSpPr>
            <a:stCxn id="695" idx="2"/>
            <a:endCxn id="692" idx="0"/>
          </p:cNvCxnSpPr>
          <p:nvPr/>
        </p:nvCxnSpPr>
        <p:spPr bwMode="auto">
          <a:xfrm>
            <a:off x="1907704" y="5013176"/>
            <a:ext cx="0" cy="504056"/>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695" name="矩形 694"/>
          <p:cNvSpPr/>
          <p:nvPr/>
        </p:nvSpPr>
        <p:spPr bwMode="auto">
          <a:xfrm>
            <a:off x="1835696" y="4869160"/>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696" name="矩形 695"/>
          <p:cNvSpPr/>
          <p:nvPr/>
        </p:nvSpPr>
        <p:spPr bwMode="auto">
          <a:xfrm>
            <a:off x="2051720" y="4725144"/>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697" name="直線接點 696"/>
          <p:cNvCxnSpPr>
            <a:stCxn id="696" idx="2"/>
            <a:endCxn id="693" idx="0"/>
          </p:cNvCxnSpPr>
          <p:nvPr/>
        </p:nvCxnSpPr>
        <p:spPr bwMode="auto">
          <a:xfrm>
            <a:off x="2123728" y="4869160"/>
            <a:ext cx="0" cy="79208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704" name="矩形 703"/>
          <p:cNvSpPr/>
          <p:nvPr/>
        </p:nvSpPr>
        <p:spPr bwMode="auto">
          <a:xfrm>
            <a:off x="2483768" y="551723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705" name="矩形 704"/>
          <p:cNvSpPr/>
          <p:nvPr/>
        </p:nvSpPr>
        <p:spPr bwMode="auto">
          <a:xfrm>
            <a:off x="2699792" y="5661248"/>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706" name="直線接點 705"/>
          <p:cNvCxnSpPr>
            <a:stCxn id="707" idx="2"/>
            <a:endCxn id="704" idx="0"/>
          </p:cNvCxnSpPr>
          <p:nvPr/>
        </p:nvCxnSpPr>
        <p:spPr bwMode="auto">
          <a:xfrm>
            <a:off x="2555776" y="5013176"/>
            <a:ext cx="0" cy="504056"/>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707" name="矩形 706"/>
          <p:cNvSpPr/>
          <p:nvPr/>
        </p:nvSpPr>
        <p:spPr bwMode="auto">
          <a:xfrm>
            <a:off x="2483768" y="4869160"/>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708" name="矩形 707"/>
          <p:cNvSpPr/>
          <p:nvPr/>
        </p:nvSpPr>
        <p:spPr bwMode="auto">
          <a:xfrm>
            <a:off x="2699792" y="4725144"/>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709" name="直線接點 708"/>
          <p:cNvCxnSpPr>
            <a:stCxn id="708" idx="2"/>
            <a:endCxn id="705" idx="0"/>
          </p:cNvCxnSpPr>
          <p:nvPr/>
        </p:nvCxnSpPr>
        <p:spPr bwMode="auto">
          <a:xfrm>
            <a:off x="2771800" y="4869160"/>
            <a:ext cx="0" cy="79208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710" name="矩形 709"/>
          <p:cNvSpPr/>
          <p:nvPr/>
        </p:nvSpPr>
        <p:spPr>
          <a:xfrm>
            <a:off x="323528" y="5589240"/>
            <a:ext cx="648072" cy="864096"/>
          </a:xfrm>
          <a:prstGeom prst="rect">
            <a:avLst/>
          </a:prstGeom>
          <a:solidFill>
            <a:srgbClr val="162B52">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1" name="矩形 710"/>
          <p:cNvSpPr/>
          <p:nvPr/>
        </p:nvSpPr>
        <p:spPr>
          <a:xfrm>
            <a:off x="1043608" y="5589240"/>
            <a:ext cx="648072" cy="864096"/>
          </a:xfrm>
          <a:prstGeom prst="rect">
            <a:avLst/>
          </a:prstGeom>
          <a:solidFill>
            <a:srgbClr val="FF0000">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2" name="矩形 711"/>
          <p:cNvSpPr/>
          <p:nvPr/>
        </p:nvSpPr>
        <p:spPr>
          <a:xfrm>
            <a:off x="1763688" y="5589240"/>
            <a:ext cx="648072" cy="864096"/>
          </a:xfrm>
          <a:prstGeom prst="rect">
            <a:avLst/>
          </a:prstGeom>
          <a:solidFill>
            <a:srgbClr val="162B52">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3" name="矩形 712"/>
          <p:cNvSpPr/>
          <p:nvPr/>
        </p:nvSpPr>
        <p:spPr>
          <a:xfrm>
            <a:off x="2483768" y="5589240"/>
            <a:ext cx="648072" cy="864096"/>
          </a:xfrm>
          <a:prstGeom prst="rect">
            <a:avLst/>
          </a:prstGeom>
          <a:solidFill>
            <a:srgbClr val="162B52">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4" name="矩形 713"/>
          <p:cNvSpPr/>
          <p:nvPr/>
        </p:nvSpPr>
        <p:spPr bwMode="auto">
          <a:xfrm>
            <a:off x="539552" y="4005064"/>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715" name="矩形 714"/>
          <p:cNvSpPr/>
          <p:nvPr/>
        </p:nvSpPr>
        <p:spPr bwMode="auto">
          <a:xfrm>
            <a:off x="755576" y="4149080"/>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716" name="直線接點 715"/>
          <p:cNvCxnSpPr>
            <a:stCxn id="717" idx="2"/>
            <a:endCxn id="714" idx="0"/>
          </p:cNvCxnSpPr>
          <p:nvPr/>
        </p:nvCxnSpPr>
        <p:spPr bwMode="auto">
          <a:xfrm>
            <a:off x="611560" y="3429000"/>
            <a:ext cx="0" cy="576064"/>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717" name="矩形 716"/>
          <p:cNvSpPr/>
          <p:nvPr/>
        </p:nvSpPr>
        <p:spPr bwMode="auto">
          <a:xfrm>
            <a:off x="539552" y="3284984"/>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718" name="矩形 717"/>
          <p:cNvSpPr/>
          <p:nvPr/>
        </p:nvSpPr>
        <p:spPr bwMode="auto">
          <a:xfrm>
            <a:off x="755576" y="3284984"/>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719" name="直線接點 718"/>
          <p:cNvCxnSpPr>
            <a:stCxn id="718" idx="2"/>
            <a:endCxn id="715" idx="0"/>
          </p:cNvCxnSpPr>
          <p:nvPr/>
        </p:nvCxnSpPr>
        <p:spPr bwMode="auto">
          <a:xfrm>
            <a:off x="827584" y="3429000"/>
            <a:ext cx="0" cy="72008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726" name="圓角矩形 725"/>
          <p:cNvSpPr/>
          <p:nvPr/>
        </p:nvSpPr>
        <p:spPr bwMode="auto">
          <a:xfrm>
            <a:off x="179512" y="1916832"/>
            <a:ext cx="1152128" cy="648072"/>
          </a:xfrm>
          <a:prstGeom prst="roundRect">
            <a:avLst/>
          </a:prstGeom>
          <a:no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rPr>
              <a:t>SSL</a:t>
            </a:r>
            <a:r>
              <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rPr>
              <a:t> </a:t>
            </a:r>
            <a:r>
              <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rPr>
              <a:t>VPN</a:t>
            </a:r>
          </a:p>
          <a:p>
            <a:pPr algn="ctr"/>
            <a:r>
              <a:rPr lang="en-US" altLang="zh-TW" dirty="0" smtClean="0">
                <a:solidFill>
                  <a:srgbClr val="0000CC"/>
                </a:solidFill>
              </a:rPr>
              <a:t>MAG2600</a:t>
            </a:r>
            <a:endPar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730" name="矩形 729"/>
          <p:cNvSpPr/>
          <p:nvPr/>
        </p:nvSpPr>
        <p:spPr bwMode="auto">
          <a:xfrm>
            <a:off x="683568" y="2780928"/>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731" name="直線接點 730"/>
          <p:cNvCxnSpPr>
            <a:stCxn id="732" idx="2"/>
            <a:endCxn id="730" idx="0"/>
          </p:cNvCxnSpPr>
          <p:nvPr/>
        </p:nvCxnSpPr>
        <p:spPr bwMode="auto">
          <a:xfrm>
            <a:off x="755576" y="2636912"/>
            <a:ext cx="0" cy="144016"/>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732" name="矩形 731"/>
          <p:cNvSpPr/>
          <p:nvPr/>
        </p:nvSpPr>
        <p:spPr bwMode="auto">
          <a:xfrm>
            <a:off x="683568" y="2492896"/>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733" name="矩形 732"/>
          <p:cNvSpPr/>
          <p:nvPr/>
        </p:nvSpPr>
        <p:spPr bwMode="auto">
          <a:xfrm>
            <a:off x="683568" y="1844824"/>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734" name="直線接點 733"/>
          <p:cNvCxnSpPr>
            <a:endCxn id="733" idx="0"/>
          </p:cNvCxnSpPr>
          <p:nvPr/>
        </p:nvCxnSpPr>
        <p:spPr bwMode="auto">
          <a:xfrm>
            <a:off x="755576" y="1556792"/>
            <a:ext cx="0" cy="288032"/>
          </a:xfrm>
          <a:prstGeom prst="line">
            <a:avLst/>
          </a:prstGeom>
          <a:ln>
            <a:headEnd type="triangle" w="med" len="med"/>
            <a:tailEnd type="none" w="med" len="med"/>
          </a:ln>
        </p:spPr>
        <p:style>
          <a:lnRef idx="2">
            <a:schemeClr val="dk1"/>
          </a:lnRef>
          <a:fillRef idx="0">
            <a:schemeClr val="dk1"/>
          </a:fillRef>
          <a:effectRef idx="1">
            <a:schemeClr val="dk1"/>
          </a:effectRef>
          <a:fontRef idx="minor">
            <a:schemeClr val="tx1"/>
          </a:fontRef>
        </p:style>
      </p:cxnSp>
      <p:sp>
        <p:nvSpPr>
          <p:cNvPr id="746" name="橢圓 745"/>
          <p:cNvSpPr/>
          <p:nvPr/>
        </p:nvSpPr>
        <p:spPr>
          <a:xfrm>
            <a:off x="1403648" y="1412776"/>
            <a:ext cx="2160240" cy="576064"/>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b="1" dirty="0" smtClean="0">
                <a:solidFill>
                  <a:sysClr val="windowText" lastClr="000000"/>
                </a:solidFill>
              </a:rPr>
              <a:t>Internet</a:t>
            </a:r>
            <a:endParaRPr lang="zh-TW" altLang="en-US" sz="2000" b="1" dirty="0">
              <a:solidFill>
                <a:sysClr val="windowText" lastClr="000000"/>
              </a:solidFill>
            </a:endParaRPr>
          </a:p>
        </p:txBody>
      </p:sp>
      <p:sp>
        <p:nvSpPr>
          <p:cNvPr id="747" name="矩形 746"/>
          <p:cNvSpPr/>
          <p:nvPr/>
        </p:nvSpPr>
        <p:spPr bwMode="auto">
          <a:xfrm>
            <a:off x="2339752" y="4005064"/>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748" name="矩形 747"/>
          <p:cNvSpPr/>
          <p:nvPr/>
        </p:nvSpPr>
        <p:spPr bwMode="auto">
          <a:xfrm>
            <a:off x="2555776" y="4149080"/>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749" name="直線接點 748"/>
          <p:cNvCxnSpPr>
            <a:stCxn id="750" idx="2"/>
            <a:endCxn id="747" idx="0"/>
          </p:cNvCxnSpPr>
          <p:nvPr/>
        </p:nvCxnSpPr>
        <p:spPr bwMode="auto">
          <a:xfrm>
            <a:off x="2411760" y="1988840"/>
            <a:ext cx="0" cy="2016224"/>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750" name="矩形 749"/>
          <p:cNvSpPr/>
          <p:nvPr/>
        </p:nvSpPr>
        <p:spPr bwMode="auto">
          <a:xfrm>
            <a:off x="2339752" y="1844824"/>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751" name="矩形 750"/>
          <p:cNvSpPr/>
          <p:nvPr/>
        </p:nvSpPr>
        <p:spPr bwMode="auto">
          <a:xfrm>
            <a:off x="2555776" y="1844824"/>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752" name="直線接點 751"/>
          <p:cNvCxnSpPr>
            <a:stCxn id="751" idx="2"/>
            <a:endCxn id="748" idx="0"/>
          </p:cNvCxnSpPr>
          <p:nvPr/>
        </p:nvCxnSpPr>
        <p:spPr bwMode="auto">
          <a:xfrm>
            <a:off x="2627784" y="1988840"/>
            <a:ext cx="0" cy="216024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753" name="文字方塊 752"/>
          <p:cNvSpPr txBox="1"/>
          <p:nvPr/>
        </p:nvSpPr>
        <p:spPr>
          <a:xfrm>
            <a:off x="2123728" y="3491716"/>
            <a:ext cx="877163" cy="369332"/>
          </a:xfrm>
          <a:prstGeom prst="rect">
            <a:avLst/>
          </a:prstGeom>
          <a:solidFill>
            <a:srgbClr val="FFCC99"/>
          </a:solidFill>
        </p:spPr>
        <p:txBody>
          <a:bodyPr wrap="none" rtlCol="0">
            <a:spAutoFit/>
          </a:bodyPr>
          <a:lstStyle/>
          <a:p>
            <a:r>
              <a:rPr lang="en-US" altLang="zh-TW" dirty="0" err="1" smtClean="0"/>
              <a:t>Untrust</a:t>
            </a:r>
            <a:endParaRPr lang="zh-TW" altLang="en-US" dirty="0"/>
          </a:p>
        </p:txBody>
      </p:sp>
      <p:sp>
        <p:nvSpPr>
          <p:cNvPr id="754" name="文字方塊 753"/>
          <p:cNvSpPr txBox="1"/>
          <p:nvPr/>
        </p:nvSpPr>
        <p:spPr>
          <a:xfrm>
            <a:off x="467544" y="5085184"/>
            <a:ext cx="602216" cy="369332"/>
          </a:xfrm>
          <a:prstGeom prst="rect">
            <a:avLst/>
          </a:prstGeom>
          <a:solidFill>
            <a:srgbClr val="FFFF00"/>
          </a:solidFill>
        </p:spPr>
        <p:txBody>
          <a:bodyPr wrap="none" rtlCol="0">
            <a:spAutoFit/>
          </a:bodyPr>
          <a:lstStyle/>
          <a:p>
            <a:r>
              <a:rPr lang="en-US" altLang="zh-TW" dirty="0" smtClean="0"/>
              <a:t>Web</a:t>
            </a:r>
            <a:endParaRPr lang="zh-TW" altLang="en-US" dirty="0"/>
          </a:p>
        </p:txBody>
      </p:sp>
      <p:sp>
        <p:nvSpPr>
          <p:cNvPr id="755" name="文字方塊 754"/>
          <p:cNvSpPr txBox="1"/>
          <p:nvPr/>
        </p:nvSpPr>
        <p:spPr>
          <a:xfrm>
            <a:off x="1161472" y="5085184"/>
            <a:ext cx="505267" cy="369332"/>
          </a:xfrm>
          <a:prstGeom prst="rect">
            <a:avLst/>
          </a:prstGeom>
          <a:solidFill>
            <a:srgbClr val="FFFF00"/>
          </a:solidFill>
        </p:spPr>
        <p:txBody>
          <a:bodyPr wrap="none" rtlCol="0">
            <a:spAutoFit/>
          </a:bodyPr>
          <a:lstStyle/>
          <a:p>
            <a:r>
              <a:rPr lang="en-US" altLang="zh-TW" dirty="0" smtClean="0"/>
              <a:t>DB</a:t>
            </a:r>
            <a:endParaRPr lang="zh-TW" altLang="en-US" dirty="0"/>
          </a:p>
        </p:txBody>
      </p:sp>
      <p:sp>
        <p:nvSpPr>
          <p:cNvPr id="756" name="文字方塊 755"/>
          <p:cNvSpPr txBox="1"/>
          <p:nvPr/>
        </p:nvSpPr>
        <p:spPr>
          <a:xfrm>
            <a:off x="1762477" y="5085184"/>
            <a:ext cx="479618" cy="369332"/>
          </a:xfrm>
          <a:prstGeom prst="rect">
            <a:avLst/>
          </a:prstGeom>
          <a:solidFill>
            <a:srgbClr val="FFFF00"/>
          </a:solidFill>
        </p:spPr>
        <p:txBody>
          <a:bodyPr wrap="none" rtlCol="0">
            <a:spAutoFit/>
          </a:bodyPr>
          <a:lstStyle/>
          <a:p>
            <a:r>
              <a:rPr lang="en-US" altLang="zh-TW" dirty="0" smtClean="0"/>
              <a:t>AP</a:t>
            </a:r>
            <a:endParaRPr lang="zh-TW" altLang="en-US" dirty="0"/>
          </a:p>
        </p:txBody>
      </p:sp>
      <p:sp>
        <p:nvSpPr>
          <p:cNvPr id="757" name="文字方塊 756"/>
          <p:cNvSpPr txBox="1"/>
          <p:nvPr/>
        </p:nvSpPr>
        <p:spPr>
          <a:xfrm>
            <a:off x="2436198" y="5085184"/>
            <a:ext cx="569387" cy="369332"/>
          </a:xfrm>
          <a:prstGeom prst="rect">
            <a:avLst/>
          </a:prstGeom>
          <a:solidFill>
            <a:srgbClr val="FFFF00"/>
          </a:solidFill>
        </p:spPr>
        <p:txBody>
          <a:bodyPr wrap="none" rtlCol="0">
            <a:spAutoFit/>
          </a:bodyPr>
          <a:lstStyle/>
          <a:p>
            <a:r>
              <a:rPr lang="en-US" altLang="zh-TW" dirty="0" smtClean="0"/>
              <a:t>Mgt</a:t>
            </a:r>
            <a:endParaRPr lang="zh-TW" altLang="en-US" dirty="0"/>
          </a:p>
        </p:txBody>
      </p:sp>
      <p:sp>
        <p:nvSpPr>
          <p:cNvPr id="758" name="文字方塊 757"/>
          <p:cNvSpPr txBox="1"/>
          <p:nvPr/>
        </p:nvSpPr>
        <p:spPr>
          <a:xfrm>
            <a:off x="467544" y="3501008"/>
            <a:ext cx="582211" cy="369332"/>
          </a:xfrm>
          <a:prstGeom prst="rect">
            <a:avLst/>
          </a:prstGeom>
          <a:solidFill>
            <a:srgbClr val="FFFF00"/>
          </a:solidFill>
        </p:spPr>
        <p:txBody>
          <a:bodyPr wrap="none" rtlCol="0">
            <a:spAutoFit/>
          </a:bodyPr>
          <a:lstStyle/>
          <a:p>
            <a:r>
              <a:rPr lang="en-US" altLang="zh-TW" dirty="0" smtClean="0"/>
              <a:t>SSL</a:t>
            </a:r>
            <a:endParaRPr lang="zh-TW" altLang="en-US" dirty="0"/>
          </a:p>
        </p:txBody>
      </p:sp>
      <p:sp>
        <p:nvSpPr>
          <p:cNvPr id="759" name="矩形 758"/>
          <p:cNvSpPr/>
          <p:nvPr/>
        </p:nvSpPr>
        <p:spPr>
          <a:xfrm>
            <a:off x="1475656" y="2204864"/>
            <a:ext cx="2160240" cy="936104"/>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b="1" dirty="0" smtClean="0"/>
              <a:t>Internet</a:t>
            </a:r>
          </a:p>
          <a:p>
            <a:pPr algn="ctr"/>
            <a:r>
              <a:rPr lang="en-US" altLang="zh-TW" sz="2000" b="1" dirty="0" smtClean="0"/>
              <a:t>Security Block</a:t>
            </a:r>
            <a:endParaRPr lang="zh-TW" altLang="en-US" sz="2000" b="1" dirty="0"/>
          </a:p>
        </p:txBody>
      </p:sp>
      <p:sp>
        <p:nvSpPr>
          <p:cNvPr id="760" name="矩形 759"/>
          <p:cNvSpPr/>
          <p:nvPr/>
        </p:nvSpPr>
        <p:spPr bwMode="auto">
          <a:xfrm>
            <a:off x="5076056" y="551723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762" name="直線接點 761"/>
          <p:cNvCxnSpPr>
            <a:stCxn id="763" idx="2"/>
            <a:endCxn id="760" idx="0"/>
          </p:cNvCxnSpPr>
          <p:nvPr/>
        </p:nvCxnSpPr>
        <p:spPr bwMode="auto">
          <a:xfrm>
            <a:off x="5148064" y="5013176"/>
            <a:ext cx="0" cy="504056"/>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763" name="矩形 762"/>
          <p:cNvSpPr/>
          <p:nvPr/>
        </p:nvSpPr>
        <p:spPr bwMode="auto">
          <a:xfrm>
            <a:off x="5076056" y="4869160"/>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766" name="矩形 765"/>
          <p:cNvSpPr/>
          <p:nvPr/>
        </p:nvSpPr>
        <p:spPr bwMode="auto">
          <a:xfrm>
            <a:off x="5724128" y="551723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768" name="直線接點 767"/>
          <p:cNvCxnSpPr>
            <a:stCxn id="769" idx="2"/>
            <a:endCxn id="766" idx="0"/>
          </p:cNvCxnSpPr>
          <p:nvPr/>
        </p:nvCxnSpPr>
        <p:spPr bwMode="auto">
          <a:xfrm>
            <a:off x="5796136" y="5013176"/>
            <a:ext cx="0" cy="504056"/>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769" name="矩形 768"/>
          <p:cNvSpPr/>
          <p:nvPr/>
        </p:nvSpPr>
        <p:spPr bwMode="auto">
          <a:xfrm>
            <a:off x="5724128" y="4869160"/>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772" name="矩形 771"/>
          <p:cNvSpPr/>
          <p:nvPr/>
        </p:nvSpPr>
        <p:spPr bwMode="auto">
          <a:xfrm>
            <a:off x="6300192" y="551723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774" name="直線接點 773"/>
          <p:cNvCxnSpPr>
            <a:stCxn id="775" idx="2"/>
            <a:endCxn id="772" idx="0"/>
          </p:cNvCxnSpPr>
          <p:nvPr/>
        </p:nvCxnSpPr>
        <p:spPr bwMode="auto">
          <a:xfrm>
            <a:off x="6372200" y="5013176"/>
            <a:ext cx="0" cy="504056"/>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775" name="矩形 774"/>
          <p:cNvSpPr/>
          <p:nvPr/>
        </p:nvSpPr>
        <p:spPr bwMode="auto">
          <a:xfrm>
            <a:off x="6300192" y="4869160"/>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778" name="矩形 777"/>
          <p:cNvSpPr/>
          <p:nvPr/>
        </p:nvSpPr>
        <p:spPr bwMode="auto">
          <a:xfrm>
            <a:off x="6948264" y="551723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780" name="直線接點 779"/>
          <p:cNvCxnSpPr>
            <a:stCxn id="781" idx="2"/>
            <a:endCxn id="778" idx="0"/>
          </p:cNvCxnSpPr>
          <p:nvPr/>
        </p:nvCxnSpPr>
        <p:spPr bwMode="auto">
          <a:xfrm>
            <a:off x="7020272" y="5013176"/>
            <a:ext cx="0" cy="504056"/>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781" name="矩形 780"/>
          <p:cNvSpPr/>
          <p:nvPr/>
        </p:nvSpPr>
        <p:spPr bwMode="auto">
          <a:xfrm>
            <a:off x="6948264" y="4869160"/>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784" name="文字方塊 783"/>
          <p:cNvSpPr txBox="1"/>
          <p:nvPr/>
        </p:nvSpPr>
        <p:spPr>
          <a:xfrm>
            <a:off x="4932040" y="5085184"/>
            <a:ext cx="602216" cy="369332"/>
          </a:xfrm>
          <a:prstGeom prst="rect">
            <a:avLst/>
          </a:prstGeom>
          <a:solidFill>
            <a:srgbClr val="FFFF00"/>
          </a:solidFill>
        </p:spPr>
        <p:txBody>
          <a:bodyPr wrap="none" rtlCol="0">
            <a:spAutoFit/>
          </a:bodyPr>
          <a:lstStyle/>
          <a:p>
            <a:r>
              <a:rPr lang="en-US" altLang="zh-TW" dirty="0" smtClean="0"/>
              <a:t>Web</a:t>
            </a:r>
            <a:endParaRPr lang="zh-TW" altLang="en-US" dirty="0"/>
          </a:p>
        </p:txBody>
      </p:sp>
      <p:sp>
        <p:nvSpPr>
          <p:cNvPr id="785" name="文字方塊 784"/>
          <p:cNvSpPr txBox="1"/>
          <p:nvPr/>
        </p:nvSpPr>
        <p:spPr>
          <a:xfrm>
            <a:off x="5625968" y="5085184"/>
            <a:ext cx="505267" cy="369332"/>
          </a:xfrm>
          <a:prstGeom prst="rect">
            <a:avLst/>
          </a:prstGeom>
          <a:solidFill>
            <a:srgbClr val="FFFF00"/>
          </a:solidFill>
        </p:spPr>
        <p:txBody>
          <a:bodyPr wrap="none" rtlCol="0">
            <a:spAutoFit/>
          </a:bodyPr>
          <a:lstStyle/>
          <a:p>
            <a:r>
              <a:rPr lang="en-US" altLang="zh-TW" dirty="0" smtClean="0"/>
              <a:t>DB</a:t>
            </a:r>
            <a:endParaRPr lang="zh-TW" altLang="en-US" dirty="0"/>
          </a:p>
        </p:txBody>
      </p:sp>
      <p:sp>
        <p:nvSpPr>
          <p:cNvPr id="786" name="文字方塊 785"/>
          <p:cNvSpPr txBox="1"/>
          <p:nvPr/>
        </p:nvSpPr>
        <p:spPr>
          <a:xfrm>
            <a:off x="6226973" y="5085184"/>
            <a:ext cx="479618" cy="369332"/>
          </a:xfrm>
          <a:prstGeom prst="rect">
            <a:avLst/>
          </a:prstGeom>
          <a:solidFill>
            <a:srgbClr val="FFFF00"/>
          </a:solidFill>
        </p:spPr>
        <p:txBody>
          <a:bodyPr wrap="none" rtlCol="0">
            <a:spAutoFit/>
          </a:bodyPr>
          <a:lstStyle/>
          <a:p>
            <a:r>
              <a:rPr lang="en-US" altLang="zh-TW" dirty="0" smtClean="0"/>
              <a:t>AP</a:t>
            </a:r>
            <a:endParaRPr lang="zh-TW" altLang="en-US" dirty="0"/>
          </a:p>
        </p:txBody>
      </p:sp>
      <p:sp>
        <p:nvSpPr>
          <p:cNvPr id="787" name="文字方塊 786"/>
          <p:cNvSpPr txBox="1"/>
          <p:nvPr/>
        </p:nvSpPr>
        <p:spPr>
          <a:xfrm>
            <a:off x="6900694" y="5085184"/>
            <a:ext cx="569387" cy="369332"/>
          </a:xfrm>
          <a:prstGeom prst="rect">
            <a:avLst/>
          </a:prstGeom>
          <a:solidFill>
            <a:srgbClr val="FFFF00"/>
          </a:solidFill>
        </p:spPr>
        <p:txBody>
          <a:bodyPr wrap="none" rtlCol="0">
            <a:spAutoFit/>
          </a:bodyPr>
          <a:lstStyle/>
          <a:p>
            <a:r>
              <a:rPr lang="en-US" altLang="zh-TW" dirty="0" smtClean="0"/>
              <a:t>Mgt</a:t>
            </a:r>
            <a:endParaRPr lang="zh-TW" altLang="en-US" dirty="0"/>
          </a:p>
        </p:txBody>
      </p:sp>
      <p:sp>
        <p:nvSpPr>
          <p:cNvPr id="789" name="矩形 788"/>
          <p:cNvSpPr/>
          <p:nvPr/>
        </p:nvSpPr>
        <p:spPr bwMode="auto">
          <a:xfrm>
            <a:off x="5076056" y="3933056"/>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791" name="直線接點 790"/>
          <p:cNvCxnSpPr>
            <a:stCxn id="792" idx="2"/>
            <a:endCxn id="789" idx="0"/>
          </p:cNvCxnSpPr>
          <p:nvPr/>
        </p:nvCxnSpPr>
        <p:spPr bwMode="auto">
          <a:xfrm>
            <a:off x="5148064" y="3356992"/>
            <a:ext cx="0" cy="576064"/>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795" name="圓角矩形 794"/>
          <p:cNvSpPr/>
          <p:nvPr/>
        </p:nvSpPr>
        <p:spPr bwMode="auto">
          <a:xfrm>
            <a:off x="4716016" y="2636912"/>
            <a:ext cx="1152128" cy="648072"/>
          </a:xfrm>
          <a:prstGeom prst="roundRect">
            <a:avLst/>
          </a:prstGeom>
          <a:no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rPr>
              <a:t>SSL</a:t>
            </a:r>
            <a:r>
              <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rPr>
              <a:t> </a:t>
            </a:r>
            <a:r>
              <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rPr>
              <a:t>VPN</a:t>
            </a:r>
          </a:p>
          <a:p>
            <a:pPr algn="ctr"/>
            <a:r>
              <a:rPr lang="en-US" altLang="zh-TW" dirty="0" smtClean="0">
                <a:solidFill>
                  <a:srgbClr val="0000CC"/>
                </a:solidFill>
              </a:rPr>
              <a:t>MAG2600</a:t>
            </a:r>
            <a:endPar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800" name="矩形 799"/>
          <p:cNvSpPr/>
          <p:nvPr/>
        </p:nvSpPr>
        <p:spPr bwMode="auto">
          <a:xfrm>
            <a:off x="5220072" y="2564904"/>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801" name="直線接點 800"/>
          <p:cNvCxnSpPr>
            <a:endCxn id="800" idx="0"/>
          </p:cNvCxnSpPr>
          <p:nvPr/>
        </p:nvCxnSpPr>
        <p:spPr bwMode="auto">
          <a:xfrm>
            <a:off x="5292080" y="2276872"/>
            <a:ext cx="0" cy="288032"/>
          </a:xfrm>
          <a:prstGeom prst="line">
            <a:avLst/>
          </a:prstGeom>
          <a:ln>
            <a:headEnd type="triangle" w="med" len="med"/>
            <a:tailEnd type="none" w="med" len="med"/>
          </a:ln>
        </p:spPr>
        <p:style>
          <a:lnRef idx="2">
            <a:schemeClr val="dk1"/>
          </a:lnRef>
          <a:fillRef idx="0">
            <a:schemeClr val="dk1"/>
          </a:fillRef>
          <a:effectRef idx="1">
            <a:schemeClr val="dk1"/>
          </a:effectRef>
          <a:fontRef idx="minor">
            <a:schemeClr val="tx1"/>
          </a:fontRef>
        </p:style>
      </p:cxnSp>
      <p:sp>
        <p:nvSpPr>
          <p:cNvPr id="803" name="文字方塊 802"/>
          <p:cNvSpPr txBox="1"/>
          <p:nvPr/>
        </p:nvSpPr>
        <p:spPr>
          <a:xfrm>
            <a:off x="5004048" y="3429000"/>
            <a:ext cx="582211" cy="369332"/>
          </a:xfrm>
          <a:prstGeom prst="rect">
            <a:avLst/>
          </a:prstGeom>
          <a:solidFill>
            <a:srgbClr val="FFFF00"/>
          </a:solidFill>
        </p:spPr>
        <p:txBody>
          <a:bodyPr wrap="none" rtlCol="0">
            <a:spAutoFit/>
          </a:bodyPr>
          <a:lstStyle/>
          <a:p>
            <a:r>
              <a:rPr lang="en-US" altLang="zh-TW" dirty="0" smtClean="0"/>
              <a:t>SSL</a:t>
            </a:r>
            <a:endParaRPr lang="zh-TW" altLang="en-US" dirty="0"/>
          </a:p>
        </p:txBody>
      </p:sp>
      <p:sp>
        <p:nvSpPr>
          <p:cNvPr id="806" name="矩形 805"/>
          <p:cNvSpPr/>
          <p:nvPr/>
        </p:nvSpPr>
        <p:spPr bwMode="auto">
          <a:xfrm>
            <a:off x="7956376" y="4869160"/>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813" name="矩形 812"/>
          <p:cNvSpPr/>
          <p:nvPr/>
        </p:nvSpPr>
        <p:spPr bwMode="auto">
          <a:xfrm>
            <a:off x="7956376" y="551723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814" name="直線接點 813"/>
          <p:cNvCxnSpPr>
            <a:stCxn id="806" idx="2"/>
            <a:endCxn id="813" idx="0"/>
          </p:cNvCxnSpPr>
          <p:nvPr/>
        </p:nvCxnSpPr>
        <p:spPr bwMode="auto">
          <a:xfrm>
            <a:off x="8028384" y="5013176"/>
            <a:ext cx="0" cy="504056"/>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817" name="矩形 816"/>
          <p:cNvSpPr/>
          <p:nvPr/>
        </p:nvSpPr>
        <p:spPr bwMode="auto">
          <a:xfrm>
            <a:off x="3474119" y="551723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818" name="矩形 817"/>
          <p:cNvSpPr/>
          <p:nvPr/>
        </p:nvSpPr>
        <p:spPr bwMode="auto">
          <a:xfrm>
            <a:off x="3690143" y="5661248"/>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819" name="直線接點 818"/>
          <p:cNvCxnSpPr>
            <a:stCxn id="820" idx="2"/>
            <a:endCxn id="817" idx="0"/>
          </p:cNvCxnSpPr>
          <p:nvPr/>
        </p:nvCxnSpPr>
        <p:spPr bwMode="auto">
          <a:xfrm>
            <a:off x="3546127" y="5013176"/>
            <a:ext cx="0" cy="504056"/>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820" name="矩形 819"/>
          <p:cNvSpPr/>
          <p:nvPr/>
        </p:nvSpPr>
        <p:spPr bwMode="auto">
          <a:xfrm>
            <a:off x="3474119" y="4869160"/>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821" name="矩形 820"/>
          <p:cNvSpPr/>
          <p:nvPr/>
        </p:nvSpPr>
        <p:spPr bwMode="auto">
          <a:xfrm>
            <a:off x="3690143" y="4725144"/>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822" name="直線接點 821"/>
          <p:cNvCxnSpPr>
            <a:stCxn id="821" idx="2"/>
            <a:endCxn id="818" idx="0"/>
          </p:cNvCxnSpPr>
          <p:nvPr/>
        </p:nvCxnSpPr>
        <p:spPr bwMode="auto">
          <a:xfrm>
            <a:off x="3762151" y="4869160"/>
            <a:ext cx="0" cy="79208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823" name="文字方塊 822"/>
          <p:cNvSpPr txBox="1"/>
          <p:nvPr/>
        </p:nvSpPr>
        <p:spPr>
          <a:xfrm>
            <a:off x="3426549" y="5085184"/>
            <a:ext cx="492443" cy="369332"/>
          </a:xfrm>
          <a:prstGeom prst="rect">
            <a:avLst/>
          </a:prstGeom>
          <a:solidFill>
            <a:srgbClr val="FFC000"/>
          </a:solidFill>
        </p:spPr>
        <p:txBody>
          <a:bodyPr wrap="none" rtlCol="0">
            <a:spAutoFit/>
          </a:bodyPr>
          <a:lstStyle/>
          <a:p>
            <a:r>
              <a:rPr lang="en-US" altLang="zh-TW" dirty="0" smtClean="0"/>
              <a:t>3rd</a:t>
            </a:r>
            <a:endParaRPr lang="zh-TW" altLang="en-US" dirty="0"/>
          </a:p>
        </p:txBody>
      </p:sp>
      <p:sp>
        <p:nvSpPr>
          <p:cNvPr id="824" name="文字方塊 823"/>
          <p:cNvSpPr txBox="1"/>
          <p:nvPr/>
        </p:nvSpPr>
        <p:spPr>
          <a:xfrm>
            <a:off x="7823973" y="5085184"/>
            <a:ext cx="492443" cy="369332"/>
          </a:xfrm>
          <a:prstGeom prst="rect">
            <a:avLst/>
          </a:prstGeom>
          <a:solidFill>
            <a:srgbClr val="FFC000"/>
          </a:solidFill>
        </p:spPr>
        <p:txBody>
          <a:bodyPr wrap="none" rtlCol="0">
            <a:spAutoFit/>
          </a:bodyPr>
          <a:lstStyle/>
          <a:p>
            <a:r>
              <a:rPr lang="en-US" altLang="zh-TW" dirty="0" smtClean="0"/>
              <a:t>3rd</a:t>
            </a:r>
            <a:endParaRPr lang="zh-TW" altLang="en-US" dirty="0"/>
          </a:p>
        </p:txBody>
      </p:sp>
      <p:sp>
        <p:nvSpPr>
          <p:cNvPr id="825" name="橢圓 824"/>
          <p:cNvSpPr/>
          <p:nvPr/>
        </p:nvSpPr>
        <p:spPr>
          <a:xfrm>
            <a:off x="6084168" y="1412776"/>
            <a:ext cx="2160240" cy="576064"/>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b="1" dirty="0" smtClean="0">
                <a:solidFill>
                  <a:sysClr val="windowText" lastClr="000000"/>
                </a:solidFill>
              </a:rPr>
              <a:t>Internet</a:t>
            </a:r>
            <a:endParaRPr lang="zh-TW" altLang="en-US" sz="2000" b="1" dirty="0">
              <a:solidFill>
                <a:sysClr val="windowText" lastClr="000000"/>
              </a:solidFill>
            </a:endParaRPr>
          </a:p>
        </p:txBody>
      </p:sp>
      <p:sp>
        <p:nvSpPr>
          <p:cNvPr id="826" name="矩形 825"/>
          <p:cNvSpPr/>
          <p:nvPr/>
        </p:nvSpPr>
        <p:spPr bwMode="auto">
          <a:xfrm>
            <a:off x="7020272" y="4005064"/>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828" name="直線接點 827"/>
          <p:cNvCxnSpPr>
            <a:stCxn id="829" idx="2"/>
            <a:endCxn id="826" idx="0"/>
          </p:cNvCxnSpPr>
          <p:nvPr/>
        </p:nvCxnSpPr>
        <p:spPr bwMode="auto">
          <a:xfrm>
            <a:off x="7092280" y="1988840"/>
            <a:ext cx="0" cy="2016224"/>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829" name="矩形 828"/>
          <p:cNvSpPr/>
          <p:nvPr/>
        </p:nvSpPr>
        <p:spPr bwMode="auto">
          <a:xfrm>
            <a:off x="7020272" y="1844824"/>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832" name="文字方塊 831"/>
          <p:cNvSpPr txBox="1"/>
          <p:nvPr/>
        </p:nvSpPr>
        <p:spPr>
          <a:xfrm>
            <a:off x="6804248" y="3491716"/>
            <a:ext cx="877163" cy="369332"/>
          </a:xfrm>
          <a:prstGeom prst="rect">
            <a:avLst/>
          </a:prstGeom>
          <a:solidFill>
            <a:srgbClr val="FFCC99"/>
          </a:solidFill>
        </p:spPr>
        <p:txBody>
          <a:bodyPr wrap="none" rtlCol="0">
            <a:spAutoFit/>
          </a:bodyPr>
          <a:lstStyle/>
          <a:p>
            <a:r>
              <a:rPr lang="en-US" altLang="zh-TW" dirty="0" err="1" smtClean="0"/>
              <a:t>Untrust</a:t>
            </a:r>
            <a:endParaRPr lang="zh-TW" altLang="en-US" dirty="0"/>
          </a:p>
        </p:txBody>
      </p:sp>
      <p:sp>
        <p:nvSpPr>
          <p:cNvPr id="833" name="矩形 832"/>
          <p:cNvSpPr/>
          <p:nvPr/>
        </p:nvSpPr>
        <p:spPr>
          <a:xfrm>
            <a:off x="6156176" y="2204864"/>
            <a:ext cx="2160240" cy="936104"/>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b="1" dirty="0" smtClean="0"/>
              <a:t>Internet</a:t>
            </a:r>
          </a:p>
          <a:p>
            <a:pPr algn="ctr"/>
            <a:r>
              <a:rPr lang="en-US" altLang="zh-TW" sz="2000" b="1" dirty="0" smtClean="0"/>
              <a:t>Security Block</a:t>
            </a:r>
            <a:endParaRPr lang="zh-TW" altLang="en-US" sz="2000" b="1" dirty="0"/>
          </a:p>
        </p:txBody>
      </p:sp>
      <p:sp>
        <p:nvSpPr>
          <p:cNvPr id="834" name="矩形 833"/>
          <p:cNvSpPr/>
          <p:nvPr/>
        </p:nvSpPr>
        <p:spPr>
          <a:xfrm>
            <a:off x="4932040" y="5589240"/>
            <a:ext cx="648072" cy="864096"/>
          </a:xfrm>
          <a:prstGeom prst="rect">
            <a:avLst/>
          </a:prstGeom>
          <a:solidFill>
            <a:srgbClr val="162B52">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35" name="矩形 834"/>
          <p:cNvSpPr/>
          <p:nvPr/>
        </p:nvSpPr>
        <p:spPr>
          <a:xfrm>
            <a:off x="5652120" y="5589240"/>
            <a:ext cx="648072" cy="864096"/>
          </a:xfrm>
          <a:prstGeom prst="rect">
            <a:avLst/>
          </a:prstGeom>
          <a:solidFill>
            <a:srgbClr val="FF0000">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36" name="矩形 835"/>
          <p:cNvSpPr/>
          <p:nvPr/>
        </p:nvSpPr>
        <p:spPr>
          <a:xfrm>
            <a:off x="6372200" y="5589240"/>
            <a:ext cx="648072" cy="864096"/>
          </a:xfrm>
          <a:prstGeom prst="rect">
            <a:avLst/>
          </a:prstGeom>
          <a:solidFill>
            <a:srgbClr val="162B52">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37" name="矩形 836"/>
          <p:cNvSpPr/>
          <p:nvPr/>
        </p:nvSpPr>
        <p:spPr>
          <a:xfrm>
            <a:off x="7092280" y="5589240"/>
            <a:ext cx="648072" cy="864096"/>
          </a:xfrm>
          <a:prstGeom prst="rect">
            <a:avLst/>
          </a:prstGeom>
          <a:solidFill>
            <a:srgbClr val="162B52">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38" name="矩形 837"/>
          <p:cNvSpPr/>
          <p:nvPr/>
        </p:nvSpPr>
        <p:spPr>
          <a:xfrm>
            <a:off x="3347864" y="5589240"/>
            <a:ext cx="648072" cy="864096"/>
          </a:xfrm>
          <a:prstGeom prst="rect">
            <a:avLst/>
          </a:prstGeom>
          <a:solidFill>
            <a:srgbClr val="162B52">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39" name="矩形 838"/>
          <p:cNvSpPr/>
          <p:nvPr/>
        </p:nvSpPr>
        <p:spPr>
          <a:xfrm>
            <a:off x="7812360" y="5589240"/>
            <a:ext cx="648072" cy="864096"/>
          </a:xfrm>
          <a:prstGeom prst="rect">
            <a:avLst/>
          </a:prstGeom>
          <a:solidFill>
            <a:srgbClr val="162B52">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43" name="直線接點 842"/>
          <p:cNvCxnSpPr>
            <a:stCxn id="677" idx="3"/>
            <a:endCxn id="679" idx="1"/>
          </p:cNvCxnSpPr>
          <p:nvPr/>
        </p:nvCxnSpPr>
        <p:spPr>
          <a:xfrm>
            <a:off x="7380312" y="4509120"/>
            <a:ext cx="72008" cy="0"/>
          </a:xfrm>
          <a:prstGeom prst="line">
            <a:avLst/>
          </a:prstGeom>
        </p:spPr>
        <p:style>
          <a:lnRef idx="1">
            <a:schemeClr val="accent1"/>
          </a:lnRef>
          <a:fillRef idx="0">
            <a:schemeClr val="accent1"/>
          </a:fillRef>
          <a:effectRef idx="0">
            <a:schemeClr val="accent1"/>
          </a:effectRef>
          <a:fontRef idx="minor">
            <a:schemeClr val="tx1"/>
          </a:fontRef>
        </p:style>
      </p:cxnSp>
      <p:sp>
        <p:nvSpPr>
          <p:cNvPr id="792" name="矩形 791"/>
          <p:cNvSpPr/>
          <p:nvPr/>
        </p:nvSpPr>
        <p:spPr bwMode="auto">
          <a:xfrm>
            <a:off x="5076056" y="3212976"/>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118" name="文字方塊 117"/>
          <p:cNvSpPr txBox="1"/>
          <p:nvPr/>
        </p:nvSpPr>
        <p:spPr>
          <a:xfrm>
            <a:off x="3203848" y="6608385"/>
            <a:ext cx="2779928" cy="276999"/>
          </a:xfrm>
          <a:prstGeom prst="rect">
            <a:avLst/>
          </a:prstGeom>
          <a:noFill/>
        </p:spPr>
        <p:txBody>
          <a:bodyPr wrap="none" rtlCol="0">
            <a:spAutoFit/>
          </a:bodyPr>
          <a:lstStyle/>
          <a:p>
            <a:r>
              <a:rPr lang="zh-TW" altLang="en-US" sz="1200" dirty="0" smtClean="0">
                <a:latin typeface="微軟正黑體" pitchFamily="34" charset="-120"/>
                <a:ea typeface="微軟正黑體" pitchFamily="34" charset="-120"/>
              </a:rPr>
              <a:t>*部分</a:t>
            </a:r>
            <a:r>
              <a:rPr lang="en-US" altLang="zh-TW" sz="1200" dirty="0" smtClean="0">
                <a:latin typeface="微軟正黑體" pitchFamily="34" charset="-120"/>
                <a:ea typeface="微軟正黑體" pitchFamily="34" charset="-120"/>
              </a:rPr>
              <a:t>Zone</a:t>
            </a:r>
            <a:r>
              <a:rPr lang="zh-TW" altLang="en-US" sz="1200" dirty="0" smtClean="0">
                <a:latin typeface="微軟正黑體" pitchFamily="34" charset="-120"/>
                <a:ea typeface="微軟正黑體" pitchFamily="34" charset="-120"/>
              </a:rPr>
              <a:t>會依據實際建置，進行調整</a:t>
            </a:r>
            <a:endParaRPr lang="zh-TW" altLang="en-US" sz="1200" dirty="0">
              <a:latin typeface="微軟正黑體" pitchFamily="34" charset="-120"/>
              <a:ea typeface="微軟正黑體" pitchFamily="34" charset="-120"/>
            </a:endParaRPr>
          </a:p>
        </p:txBody>
      </p:sp>
      <p:sp>
        <p:nvSpPr>
          <p:cNvPr id="115" name="文字方塊 114"/>
          <p:cNvSpPr txBox="1"/>
          <p:nvPr/>
        </p:nvSpPr>
        <p:spPr>
          <a:xfrm>
            <a:off x="4355976" y="3717032"/>
            <a:ext cx="432048" cy="2585323"/>
          </a:xfrm>
          <a:prstGeom prst="rect">
            <a:avLst/>
          </a:prstGeom>
          <a:solidFill>
            <a:srgbClr val="FFFF00"/>
          </a:solidFill>
        </p:spPr>
        <p:txBody>
          <a:bodyPr wrap="square" rtlCol="0">
            <a:spAutoFit/>
          </a:bodyPr>
          <a:lstStyle/>
          <a:p>
            <a:r>
              <a:rPr lang="zh-TW" altLang="en-US" dirty="0" smtClean="0">
                <a:latin typeface="微軟正黑體" pitchFamily="34" charset="-120"/>
                <a:ea typeface="微軟正黑體" pitchFamily="34" charset="-120"/>
              </a:rPr>
              <a:t>安全防火牆政策管控</a:t>
            </a:r>
            <a:endParaRPr lang="zh-TW" altLang="en-US" dirty="0">
              <a:latin typeface="微軟正黑體" pitchFamily="34" charset="-120"/>
              <a:ea typeface="微軟正黑體" pitchFamily="34" charset="-120"/>
            </a:endParaRPr>
          </a:p>
        </p:txBody>
      </p:sp>
    </p:spTree>
    <p:extLst>
      <p:ext uri="{BB962C8B-B14F-4D97-AF65-F5344CB8AC3E}">
        <p14:creationId xmlns:p14="http://schemas.microsoft.com/office/powerpoint/2010/main" val="3806770865"/>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 name="圓角矩形 589"/>
          <p:cNvSpPr/>
          <p:nvPr/>
        </p:nvSpPr>
        <p:spPr bwMode="auto">
          <a:xfrm>
            <a:off x="4860032" y="5417840"/>
            <a:ext cx="3816424" cy="864096"/>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en-US" altLang="zh-TW" dirty="0" smtClean="0">
                <a:solidFill>
                  <a:srgbClr val="0000CC"/>
                </a:solidFill>
              </a:rPr>
              <a:t>WS-C3750X-48T-S</a:t>
            </a:r>
            <a:endParaRPr lang="zh-TW" altLang="en-US" dirty="0" smtClean="0">
              <a:solidFill>
                <a:srgbClr val="0000CC"/>
              </a:solidFill>
            </a:endParaRPr>
          </a:p>
        </p:txBody>
      </p:sp>
      <p:sp>
        <p:nvSpPr>
          <p:cNvPr id="109" name="圓角矩形 108"/>
          <p:cNvSpPr/>
          <p:nvPr/>
        </p:nvSpPr>
        <p:spPr bwMode="auto">
          <a:xfrm>
            <a:off x="4932040" y="5589240"/>
            <a:ext cx="3664024"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en-US" altLang="zh-TW" dirty="0" smtClean="0">
                <a:solidFill>
                  <a:srgbClr val="0000CC"/>
                </a:solidFill>
              </a:rPr>
              <a:t>WS-C3750X-48T-S</a:t>
            </a:r>
            <a:endParaRPr lang="zh-TW" altLang="en-US" dirty="0" smtClean="0">
              <a:solidFill>
                <a:srgbClr val="0000CC"/>
              </a:solidFill>
            </a:endParaRPr>
          </a:p>
        </p:txBody>
      </p:sp>
      <p:sp>
        <p:nvSpPr>
          <p:cNvPr id="502" name="圓角矩形 501"/>
          <p:cNvSpPr/>
          <p:nvPr/>
        </p:nvSpPr>
        <p:spPr bwMode="auto">
          <a:xfrm>
            <a:off x="251520" y="2393504"/>
            <a:ext cx="1656184" cy="864096"/>
          </a:xfrm>
          <a:prstGeom prst="roundRect">
            <a:avLst/>
          </a:prstGeom>
          <a:no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189" name="圓角矩形 188"/>
          <p:cNvSpPr/>
          <p:nvPr/>
        </p:nvSpPr>
        <p:spPr bwMode="auto">
          <a:xfrm>
            <a:off x="323528" y="5417840"/>
            <a:ext cx="3960440" cy="864096"/>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en-US" altLang="zh-TW" dirty="0" smtClean="0">
                <a:solidFill>
                  <a:srgbClr val="0000CC"/>
                </a:solidFill>
              </a:rPr>
              <a:t>C3750X-3</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125" name="標題 124"/>
          <p:cNvSpPr>
            <a:spLocks noGrp="1"/>
          </p:cNvSpPr>
          <p:nvPr>
            <p:ph type="title"/>
          </p:nvPr>
        </p:nvSpPr>
        <p:spPr/>
        <p:txBody>
          <a:bodyPr>
            <a:normAutofit fontScale="90000"/>
          </a:bodyPr>
          <a:lstStyle/>
          <a:p>
            <a:r>
              <a:rPr lang="zh-TW" altLang="en-US" dirty="0" smtClean="0"/>
              <a:t>規劃設計</a:t>
            </a:r>
            <a:r>
              <a:rPr lang="en-US" altLang="zh-TW" dirty="0" smtClean="0"/>
              <a:t>-Web/AP/DB</a:t>
            </a:r>
            <a:r>
              <a:rPr lang="zh-TW" altLang="en-US" dirty="0" smtClean="0"/>
              <a:t>部分</a:t>
            </a:r>
            <a:endParaRPr lang="zh-TW" altLang="en-US" dirty="0"/>
          </a:p>
        </p:txBody>
      </p:sp>
      <p:sp>
        <p:nvSpPr>
          <p:cNvPr id="2" name="投影片編號版面配置區 1"/>
          <p:cNvSpPr>
            <a:spLocks noGrp="1"/>
          </p:cNvSpPr>
          <p:nvPr>
            <p:ph type="sldNum" sz="quarter" idx="12"/>
          </p:nvPr>
        </p:nvSpPr>
        <p:spPr>
          <a:xfrm>
            <a:off x="0" y="6425952"/>
            <a:ext cx="563563" cy="255587"/>
          </a:xfrm>
        </p:spPr>
        <p:txBody>
          <a:bodyPr/>
          <a:lstStyle/>
          <a:p>
            <a:pPr>
              <a:defRPr/>
            </a:pPr>
            <a:r>
              <a:rPr lang="en-US" altLang="zh-TW" smtClean="0"/>
              <a:t> </a:t>
            </a:r>
            <a:fld id="{B2E14F6D-DE61-4963-B6C7-9A2172ECB8EA}" type="slidenum">
              <a:rPr lang="en-US" altLang="zh-TW" sz="1400" smtClean="0"/>
              <a:pPr>
                <a:defRPr/>
              </a:pPr>
              <a:t>7</a:t>
            </a:fld>
            <a:endParaRPr lang="en-US" altLang="zh-TW" sz="1400"/>
          </a:p>
        </p:txBody>
      </p:sp>
      <p:sp>
        <p:nvSpPr>
          <p:cNvPr id="103" name="圓角矩形 102"/>
          <p:cNvSpPr/>
          <p:nvPr/>
        </p:nvSpPr>
        <p:spPr bwMode="auto">
          <a:xfrm>
            <a:off x="475928" y="5570240"/>
            <a:ext cx="3664024"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en-US" altLang="zh-TW" dirty="0" smtClean="0">
                <a:solidFill>
                  <a:srgbClr val="0000CC"/>
                </a:solidFill>
              </a:rPr>
              <a:t>WS-C3750X-48T-S</a:t>
            </a:r>
            <a:endParaRPr lang="zh-TW" altLang="en-US" dirty="0" smtClean="0">
              <a:solidFill>
                <a:srgbClr val="0000CC"/>
              </a:solidFill>
            </a:endParaRPr>
          </a:p>
        </p:txBody>
      </p:sp>
      <p:sp>
        <p:nvSpPr>
          <p:cNvPr id="500" name="圓角矩形 499"/>
          <p:cNvSpPr/>
          <p:nvPr/>
        </p:nvSpPr>
        <p:spPr bwMode="auto">
          <a:xfrm>
            <a:off x="412304" y="2537520"/>
            <a:ext cx="1368152"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rPr>
              <a:t>BI2000S</a:t>
            </a:r>
          </a:p>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 </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503" name="圓角矩形 502"/>
          <p:cNvSpPr/>
          <p:nvPr/>
        </p:nvSpPr>
        <p:spPr bwMode="auto">
          <a:xfrm>
            <a:off x="2267744" y="2393504"/>
            <a:ext cx="2016224" cy="864096"/>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504" name="圓角矩形 503"/>
          <p:cNvSpPr/>
          <p:nvPr/>
        </p:nvSpPr>
        <p:spPr bwMode="auto">
          <a:xfrm>
            <a:off x="2428528" y="2537520"/>
            <a:ext cx="1711424"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rPr>
              <a:t>BI2000S</a:t>
            </a:r>
          </a:p>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 </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513" name="矩形 512"/>
          <p:cNvSpPr/>
          <p:nvPr/>
        </p:nvSpPr>
        <p:spPr bwMode="auto">
          <a:xfrm>
            <a:off x="611560" y="534583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514" name="矩形 513"/>
          <p:cNvSpPr/>
          <p:nvPr/>
        </p:nvSpPr>
        <p:spPr bwMode="auto">
          <a:xfrm>
            <a:off x="827584" y="5489848"/>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516" name="直線接點 515"/>
          <p:cNvCxnSpPr>
            <a:stCxn id="529" idx="2"/>
            <a:endCxn id="513" idx="0"/>
          </p:cNvCxnSpPr>
          <p:nvPr/>
        </p:nvCxnSpPr>
        <p:spPr bwMode="auto">
          <a:xfrm>
            <a:off x="683568" y="4697760"/>
            <a:ext cx="0" cy="648072"/>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20" name="矩形 519"/>
          <p:cNvSpPr/>
          <p:nvPr/>
        </p:nvSpPr>
        <p:spPr bwMode="auto">
          <a:xfrm>
            <a:off x="2411760" y="318559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524" name="直線接點 523"/>
          <p:cNvCxnSpPr>
            <a:stCxn id="520" idx="2"/>
            <a:endCxn id="568" idx="0"/>
          </p:cNvCxnSpPr>
          <p:nvPr/>
        </p:nvCxnSpPr>
        <p:spPr bwMode="auto">
          <a:xfrm>
            <a:off x="2483768" y="3329608"/>
            <a:ext cx="0" cy="36004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25" name="圓角矩形 524"/>
          <p:cNvSpPr/>
          <p:nvPr/>
        </p:nvSpPr>
        <p:spPr bwMode="auto">
          <a:xfrm>
            <a:off x="323528" y="1097360"/>
            <a:ext cx="3960440" cy="864096"/>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en-US" altLang="zh-TW" dirty="0" smtClean="0">
                <a:solidFill>
                  <a:srgbClr val="0000CC"/>
                </a:solidFill>
              </a:rPr>
              <a:t>C3750X-3</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526" name="圓角矩形 525"/>
          <p:cNvSpPr/>
          <p:nvPr/>
        </p:nvSpPr>
        <p:spPr bwMode="auto">
          <a:xfrm>
            <a:off x="475928" y="1249760"/>
            <a:ext cx="3664024"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en-US" altLang="zh-TW" dirty="0" smtClean="0">
                <a:solidFill>
                  <a:srgbClr val="0000CC"/>
                </a:solidFill>
              </a:rPr>
              <a:t>WS-C3750X-24T-S</a:t>
            </a:r>
            <a:endParaRPr lang="zh-TW" altLang="en-US" dirty="0" smtClean="0">
              <a:solidFill>
                <a:srgbClr val="0000CC"/>
              </a:solidFill>
            </a:endParaRPr>
          </a:p>
        </p:txBody>
      </p:sp>
      <p:sp>
        <p:nvSpPr>
          <p:cNvPr id="527" name="圓角矩形 526"/>
          <p:cNvSpPr/>
          <p:nvPr/>
        </p:nvSpPr>
        <p:spPr bwMode="auto">
          <a:xfrm>
            <a:off x="251520" y="3761656"/>
            <a:ext cx="3312368" cy="864096"/>
          </a:xfrm>
          <a:prstGeom prst="roundRect">
            <a:avLst/>
          </a:prstGeom>
          <a:no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528" name="圓角矩形 527"/>
          <p:cNvSpPr/>
          <p:nvPr/>
        </p:nvSpPr>
        <p:spPr bwMode="auto">
          <a:xfrm>
            <a:off x="412304" y="3905672"/>
            <a:ext cx="3007568"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err="1" smtClean="0">
                <a:solidFill>
                  <a:srgbClr val="0000CC"/>
                </a:solidFill>
              </a:rPr>
              <a:t>iMperva</a:t>
            </a:r>
          </a:p>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X2500</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529" name="矩形 528"/>
          <p:cNvSpPr/>
          <p:nvPr/>
        </p:nvSpPr>
        <p:spPr bwMode="auto">
          <a:xfrm>
            <a:off x="611560" y="4553744"/>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530" name="矩形 529"/>
          <p:cNvSpPr/>
          <p:nvPr/>
        </p:nvSpPr>
        <p:spPr bwMode="auto">
          <a:xfrm>
            <a:off x="827584" y="4409728"/>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531" name="直線接點 530"/>
          <p:cNvCxnSpPr>
            <a:endCxn id="540" idx="0"/>
          </p:cNvCxnSpPr>
          <p:nvPr/>
        </p:nvCxnSpPr>
        <p:spPr bwMode="auto">
          <a:xfrm>
            <a:off x="899592" y="3113584"/>
            <a:ext cx="0" cy="72008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532" name="直線接點 531"/>
          <p:cNvCxnSpPr>
            <a:stCxn id="507" idx="2"/>
            <a:endCxn id="539" idx="2"/>
          </p:cNvCxnSpPr>
          <p:nvPr/>
        </p:nvCxnSpPr>
        <p:spPr bwMode="auto">
          <a:xfrm>
            <a:off x="683568" y="3329608"/>
            <a:ext cx="0" cy="504056"/>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39" name="矩形 538"/>
          <p:cNvSpPr/>
          <p:nvPr/>
        </p:nvSpPr>
        <p:spPr bwMode="auto">
          <a:xfrm>
            <a:off x="611560" y="3689648"/>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540" name="矩形 539"/>
          <p:cNvSpPr/>
          <p:nvPr/>
        </p:nvSpPr>
        <p:spPr bwMode="auto">
          <a:xfrm>
            <a:off x="827584" y="3833664"/>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507" name="矩形 506"/>
          <p:cNvSpPr/>
          <p:nvPr/>
        </p:nvSpPr>
        <p:spPr bwMode="auto">
          <a:xfrm>
            <a:off x="611560" y="318559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508" name="矩形 507"/>
          <p:cNvSpPr/>
          <p:nvPr/>
        </p:nvSpPr>
        <p:spPr bwMode="auto">
          <a:xfrm>
            <a:off x="827584" y="3041576"/>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544" name="直線接點 543"/>
          <p:cNvCxnSpPr>
            <a:endCxn id="547" idx="0"/>
          </p:cNvCxnSpPr>
          <p:nvPr/>
        </p:nvCxnSpPr>
        <p:spPr bwMode="auto">
          <a:xfrm>
            <a:off x="899592" y="1745432"/>
            <a:ext cx="0" cy="72008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545" name="直線接點 544"/>
          <p:cNvCxnSpPr>
            <a:stCxn id="548" idx="2"/>
            <a:endCxn id="546" idx="2"/>
          </p:cNvCxnSpPr>
          <p:nvPr/>
        </p:nvCxnSpPr>
        <p:spPr bwMode="auto">
          <a:xfrm>
            <a:off x="683568" y="2033464"/>
            <a:ext cx="0" cy="43204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46" name="矩形 545"/>
          <p:cNvSpPr/>
          <p:nvPr/>
        </p:nvSpPr>
        <p:spPr bwMode="auto">
          <a:xfrm>
            <a:off x="611560" y="2321496"/>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547" name="矩形 546"/>
          <p:cNvSpPr/>
          <p:nvPr/>
        </p:nvSpPr>
        <p:spPr bwMode="auto">
          <a:xfrm>
            <a:off x="827584" y="2465512"/>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548" name="矩形 547"/>
          <p:cNvSpPr/>
          <p:nvPr/>
        </p:nvSpPr>
        <p:spPr bwMode="auto">
          <a:xfrm>
            <a:off x="611560" y="1889448"/>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549" name="矩形 548"/>
          <p:cNvSpPr/>
          <p:nvPr/>
        </p:nvSpPr>
        <p:spPr bwMode="auto">
          <a:xfrm>
            <a:off x="827584" y="1673424"/>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550" name="直線接點 549"/>
          <p:cNvCxnSpPr>
            <a:stCxn id="555" idx="2"/>
            <a:endCxn id="553" idx="0"/>
          </p:cNvCxnSpPr>
          <p:nvPr/>
        </p:nvCxnSpPr>
        <p:spPr bwMode="auto">
          <a:xfrm>
            <a:off x="2699792" y="1889448"/>
            <a:ext cx="0" cy="576064"/>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551" name="直線接點 550"/>
          <p:cNvCxnSpPr>
            <a:stCxn id="554" idx="2"/>
            <a:endCxn id="552" idx="0"/>
          </p:cNvCxnSpPr>
          <p:nvPr/>
        </p:nvCxnSpPr>
        <p:spPr bwMode="auto">
          <a:xfrm>
            <a:off x="2483768" y="2033464"/>
            <a:ext cx="0" cy="288032"/>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52" name="矩形 551"/>
          <p:cNvSpPr/>
          <p:nvPr/>
        </p:nvSpPr>
        <p:spPr bwMode="auto">
          <a:xfrm>
            <a:off x="2411760" y="2321496"/>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553" name="矩形 552"/>
          <p:cNvSpPr/>
          <p:nvPr/>
        </p:nvSpPr>
        <p:spPr bwMode="auto">
          <a:xfrm>
            <a:off x="2627784" y="2465512"/>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554" name="矩形 553"/>
          <p:cNvSpPr/>
          <p:nvPr/>
        </p:nvSpPr>
        <p:spPr bwMode="auto">
          <a:xfrm>
            <a:off x="2411760" y="1889448"/>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555" name="矩形 554"/>
          <p:cNvSpPr/>
          <p:nvPr/>
        </p:nvSpPr>
        <p:spPr bwMode="auto">
          <a:xfrm>
            <a:off x="2627784" y="1745432"/>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515" name="直線接點 514"/>
          <p:cNvCxnSpPr>
            <a:stCxn id="530" idx="2"/>
            <a:endCxn id="514" idx="0"/>
          </p:cNvCxnSpPr>
          <p:nvPr/>
        </p:nvCxnSpPr>
        <p:spPr bwMode="auto">
          <a:xfrm>
            <a:off x="899592" y="4553744"/>
            <a:ext cx="0" cy="936104"/>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68" name="矩形 567"/>
          <p:cNvSpPr/>
          <p:nvPr/>
        </p:nvSpPr>
        <p:spPr bwMode="auto">
          <a:xfrm>
            <a:off x="2411760" y="3689648"/>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570" name="矩形 569"/>
          <p:cNvSpPr/>
          <p:nvPr/>
        </p:nvSpPr>
        <p:spPr bwMode="auto">
          <a:xfrm>
            <a:off x="2627784" y="5489848"/>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571" name="矩形 570"/>
          <p:cNvSpPr/>
          <p:nvPr/>
        </p:nvSpPr>
        <p:spPr bwMode="auto">
          <a:xfrm>
            <a:off x="2627784" y="4409728"/>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572" name="直線接點 571"/>
          <p:cNvCxnSpPr>
            <a:endCxn id="573" idx="0"/>
          </p:cNvCxnSpPr>
          <p:nvPr/>
        </p:nvCxnSpPr>
        <p:spPr bwMode="auto">
          <a:xfrm>
            <a:off x="2699792" y="3113584"/>
            <a:ext cx="0" cy="72008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73" name="矩形 572"/>
          <p:cNvSpPr/>
          <p:nvPr/>
        </p:nvSpPr>
        <p:spPr bwMode="auto">
          <a:xfrm>
            <a:off x="2627784" y="3833664"/>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574" name="矩形 573"/>
          <p:cNvSpPr/>
          <p:nvPr/>
        </p:nvSpPr>
        <p:spPr bwMode="auto">
          <a:xfrm>
            <a:off x="2627784" y="3041576"/>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575" name="直線接點 574"/>
          <p:cNvCxnSpPr>
            <a:stCxn id="571" idx="2"/>
            <a:endCxn id="570" idx="0"/>
          </p:cNvCxnSpPr>
          <p:nvPr/>
        </p:nvCxnSpPr>
        <p:spPr bwMode="auto">
          <a:xfrm>
            <a:off x="2699792" y="4553744"/>
            <a:ext cx="0" cy="936104"/>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76" name="矩形 575"/>
          <p:cNvSpPr/>
          <p:nvPr/>
        </p:nvSpPr>
        <p:spPr bwMode="auto">
          <a:xfrm>
            <a:off x="2411760" y="534583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577" name="直線接點 576"/>
          <p:cNvCxnSpPr>
            <a:stCxn id="578" idx="2"/>
            <a:endCxn id="576" idx="0"/>
          </p:cNvCxnSpPr>
          <p:nvPr/>
        </p:nvCxnSpPr>
        <p:spPr bwMode="auto">
          <a:xfrm>
            <a:off x="2483768" y="4697760"/>
            <a:ext cx="0" cy="648072"/>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78" name="矩形 577"/>
          <p:cNvSpPr/>
          <p:nvPr/>
        </p:nvSpPr>
        <p:spPr bwMode="auto">
          <a:xfrm>
            <a:off x="2411760" y="4553744"/>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579" name="矩形 578"/>
          <p:cNvSpPr/>
          <p:nvPr/>
        </p:nvSpPr>
        <p:spPr>
          <a:xfrm>
            <a:off x="467544" y="4193704"/>
            <a:ext cx="1008112" cy="216024"/>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smtClean="0"/>
              <a:t>WAF</a:t>
            </a:r>
            <a:endParaRPr lang="zh-TW" altLang="en-US" sz="1400" dirty="0"/>
          </a:p>
        </p:txBody>
      </p:sp>
      <p:sp>
        <p:nvSpPr>
          <p:cNvPr id="585" name="矩形 584"/>
          <p:cNvSpPr/>
          <p:nvPr/>
        </p:nvSpPr>
        <p:spPr>
          <a:xfrm>
            <a:off x="2411760" y="4221088"/>
            <a:ext cx="864096" cy="198784"/>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smtClean="0"/>
              <a:t>DB Audit</a:t>
            </a:r>
            <a:endParaRPr lang="zh-TW" altLang="en-US" sz="1400" dirty="0"/>
          </a:p>
        </p:txBody>
      </p:sp>
      <p:sp>
        <p:nvSpPr>
          <p:cNvPr id="586" name="矩形 585"/>
          <p:cNvSpPr/>
          <p:nvPr/>
        </p:nvSpPr>
        <p:spPr>
          <a:xfrm>
            <a:off x="539552" y="2825552"/>
            <a:ext cx="1008112" cy="216024"/>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smtClean="0"/>
              <a:t>GSLB/SLB</a:t>
            </a:r>
            <a:endParaRPr lang="zh-TW" altLang="en-US" sz="1400" dirty="0"/>
          </a:p>
        </p:txBody>
      </p:sp>
      <p:sp>
        <p:nvSpPr>
          <p:cNvPr id="587" name="矩形 586"/>
          <p:cNvSpPr/>
          <p:nvPr/>
        </p:nvSpPr>
        <p:spPr>
          <a:xfrm>
            <a:off x="2483768" y="2825552"/>
            <a:ext cx="1584176" cy="1714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smtClean="0"/>
              <a:t>SLB</a:t>
            </a:r>
            <a:endParaRPr lang="zh-TW" altLang="en-US" sz="1400" dirty="0"/>
          </a:p>
        </p:txBody>
      </p:sp>
      <p:sp>
        <p:nvSpPr>
          <p:cNvPr id="589" name="圓角矩形 588"/>
          <p:cNvSpPr/>
          <p:nvPr/>
        </p:nvSpPr>
        <p:spPr bwMode="auto">
          <a:xfrm>
            <a:off x="4860032" y="2393504"/>
            <a:ext cx="1656184" cy="864096"/>
          </a:xfrm>
          <a:prstGeom prst="roundRect">
            <a:avLst/>
          </a:prstGeom>
          <a:no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592" name="圓角矩形 591"/>
          <p:cNvSpPr/>
          <p:nvPr/>
        </p:nvSpPr>
        <p:spPr bwMode="auto">
          <a:xfrm>
            <a:off x="5020816" y="2537520"/>
            <a:ext cx="1368152"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rPr>
              <a:t>BI2000S</a:t>
            </a:r>
          </a:p>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 </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593" name="圓角矩形 592"/>
          <p:cNvSpPr/>
          <p:nvPr/>
        </p:nvSpPr>
        <p:spPr bwMode="auto">
          <a:xfrm>
            <a:off x="6876256" y="2393504"/>
            <a:ext cx="1656184" cy="864096"/>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en-US" altLang="zh-TW" dirty="0" smtClean="0">
                <a:solidFill>
                  <a:srgbClr val="0000CC"/>
                </a:solidFill>
              </a:rPr>
              <a:t>BI2000s</a:t>
            </a:r>
          </a:p>
          <a:p>
            <a:pPr algn="ctr"/>
            <a:endPar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595" name="矩形 594"/>
          <p:cNvSpPr/>
          <p:nvPr/>
        </p:nvSpPr>
        <p:spPr bwMode="auto">
          <a:xfrm>
            <a:off x="5220072" y="534583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597" name="直線接點 596"/>
          <p:cNvCxnSpPr>
            <a:stCxn id="604" idx="2"/>
            <a:endCxn id="595" idx="0"/>
          </p:cNvCxnSpPr>
          <p:nvPr/>
        </p:nvCxnSpPr>
        <p:spPr bwMode="auto">
          <a:xfrm>
            <a:off x="5292080" y="4697760"/>
            <a:ext cx="0" cy="648072"/>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98" name="矩形 597"/>
          <p:cNvSpPr/>
          <p:nvPr/>
        </p:nvSpPr>
        <p:spPr bwMode="auto">
          <a:xfrm>
            <a:off x="7092280" y="318559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600" name="圓角矩形 599"/>
          <p:cNvSpPr/>
          <p:nvPr/>
        </p:nvSpPr>
        <p:spPr bwMode="auto">
          <a:xfrm>
            <a:off x="4932040" y="1097360"/>
            <a:ext cx="3672408" cy="864096"/>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en-US" altLang="zh-TW" dirty="0" smtClean="0">
                <a:solidFill>
                  <a:srgbClr val="0000CC"/>
                </a:solidFill>
              </a:rPr>
              <a:t>WS-C375X-24T-S</a:t>
            </a:r>
            <a:endParaRPr lang="zh-TW" altLang="en-US" dirty="0" smtClean="0">
              <a:solidFill>
                <a:srgbClr val="0000CC"/>
              </a:solidFill>
            </a:endParaRPr>
          </a:p>
        </p:txBody>
      </p:sp>
      <p:sp>
        <p:nvSpPr>
          <p:cNvPr id="602" name="圓角矩形 601"/>
          <p:cNvSpPr/>
          <p:nvPr/>
        </p:nvSpPr>
        <p:spPr bwMode="auto">
          <a:xfrm>
            <a:off x="4860032" y="3761656"/>
            <a:ext cx="1656184" cy="864096"/>
          </a:xfrm>
          <a:prstGeom prst="roundRect">
            <a:avLst/>
          </a:prstGeom>
          <a:no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en-US" altLang="zh-TW" dirty="0" err="1" smtClean="0">
                <a:solidFill>
                  <a:srgbClr val="0000CC"/>
                </a:solidFill>
              </a:rPr>
              <a:t>iMperva</a:t>
            </a:r>
            <a:r>
              <a:rPr lang="en-US" altLang="zh-TW" dirty="0" smtClean="0">
                <a:solidFill>
                  <a:srgbClr val="0000CC"/>
                </a:solidFill>
              </a:rPr>
              <a:t> X1010</a:t>
            </a:r>
          </a:p>
          <a:p>
            <a:pPr algn="ct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604" name="矩形 603"/>
          <p:cNvSpPr/>
          <p:nvPr/>
        </p:nvSpPr>
        <p:spPr bwMode="auto">
          <a:xfrm>
            <a:off x="5220072" y="4553744"/>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607" name="直線接點 606"/>
          <p:cNvCxnSpPr>
            <a:stCxn id="610" idx="2"/>
            <a:endCxn id="608" idx="2"/>
          </p:cNvCxnSpPr>
          <p:nvPr/>
        </p:nvCxnSpPr>
        <p:spPr bwMode="auto">
          <a:xfrm>
            <a:off x="5292080" y="3329608"/>
            <a:ext cx="0" cy="504056"/>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608" name="矩形 607"/>
          <p:cNvSpPr/>
          <p:nvPr/>
        </p:nvSpPr>
        <p:spPr bwMode="auto">
          <a:xfrm>
            <a:off x="5220072" y="3689648"/>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610" name="矩形 609"/>
          <p:cNvSpPr/>
          <p:nvPr/>
        </p:nvSpPr>
        <p:spPr bwMode="auto">
          <a:xfrm>
            <a:off x="5220072" y="318559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613" name="直線接點 612"/>
          <p:cNvCxnSpPr>
            <a:stCxn id="616" idx="2"/>
            <a:endCxn id="614" idx="2"/>
          </p:cNvCxnSpPr>
          <p:nvPr/>
        </p:nvCxnSpPr>
        <p:spPr bwMode="auto">
          <a:xfrm>
            <a:off x="5292080" y="2033464"/>
            <a:ext cx="0" cy="43204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614" name="矩形 613"/>
          <p:cNvSpPr/>
          <p:nvPr/>
        </p:nvSpPr>
        <p:spPr bwMode="auto">
          <a:xfrm>
            <a:off x="5220072" y="2321496"/>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616" name="矩形 615"/>
          <p:cNvSpPr/>
          <p:nvPr/>
        </p:nvSpPr>
        <p:spPr bwMode="auto">
          <a:xfrm>
            <a:off x="5220072" y="1889448"/>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619" name="直線接點 618"/>
          <p:cNvCxnSpPr>
            <a:stCxn id="622" idx="2"/>
            <a:endCxn id="620" idx="0"/>
          </p:cNvCxnSpPr>
          <p:nvPr/>
        </p:nvCxnSpPr>
        <p:spPr bwMode="auto">
          <a:xfrm>
            <a:off x="7164288" y="2033464"/>
            <a:ext cx="0" cy="288032"/>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620" name="矩形 619"/>
          <p:cNvSpPr/>
          <p:nvPr/>
        </p:nvSpPr>
        <p:spPr bwMode="auto">
          <a:xfrm>
            <a:off x="7092280" y="2321496"/>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622" name="矩形 621"/>
          <p:cNvSpPr/>
          <p:nvPr/>
        </p:nvSpPr>
        <p:spPr bwMode="auto">
          <a:xfrm>
            <a:off x="7092280" y="1889448"/>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632" name="矩形 631"/>
          <p:cNvSpPr/>
          <p:nvPr/>
        </p:nvSpPr>
        <p:spPr bwMode="auto">
          <a:xfrm>
            <a:off x="7092280" y="534583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633" name="直線接點 632"/>
          <p:cNvCxnSpPr>
            <a:stCxn id="598" idx="2"/>
            <a:endCxn id="632" idx="0"/>
          </p:cNvCxnSpPr>
          <p:nvPr/>
        </p:nvCxnSpPr>
        <p:spPr bwMode="auto">
          <a:xfrm>
            <a:off x="7164288" y="3329608"/>
            <a:ext cx="0" cy="2016224"/>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635" name="矩形 634"/>
          <p:cNvSpPr/>
          <p:nvPr/>
        </p:nvSpPr>
        <p:spPr>
          <a:xfrm>
            <a:off x="5076056" y="4265712"/>
            <a:ext cx="1008112" cy="216024"/>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smtClean="0"/>
              <a:t>WAF</a:t>
            </a:r>
            <a:endParaRPr lang="zh-TW" altLang="en-US" sz="1400" dirty="0"/>
          </a:p>
        </p:txBody>
      </p:sp>
      <p:sp>
        <p:nvSpPr>
          <p:cNvPr id="637" name="矩形 636"/>
          <p:cNvSpPr/>
          <p:nvPr/>
        </p:nvSpPr>
        <p:spPr>
          <a:xfrm>
            <a:off x="5148064" y="2825552"/>
            <a:ext cx="1008112" cy="216024"/>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smtClean="0"/>
              <a:t>GSLB/SLB</a:t>
            </a:r>
            <a:endParaRPr lang="zh-TW" altLang="en-US" sz="1400" dirty="0"/>
          </a:p>
        </p:txBody>
      </p:sp>
      <p:sp>
        <p:nvSpPr>
          <p:cNvPr id="638" name="矩形 637"/>
          <p:cNvSpPr/>
          <p:nvPr/>
        </p:nvSpPr>
        <p:spPr>
          <a:xfrm>
            <a:off x="7020272" y="2852936"/>
            <a:ext cx="1440160" cy="216024"/>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smtClean="0"/>
              <a:t>SLB</a:t>
            </a:r>
            <a:endParaRPr lang="zh-TW" altLang="en-US" sz="1400" dirty="0"/>
          </a:p>
        </p:txBody>
      </p:sp>
      <p:sp>
        <p:nvSpPr>
          <p:cNvPr id="640" name="矩形 639"/>
          <p:cNvSpPr/>
          <p:nvPr/>
        </p:nvSpPr>
        <p:spPr>
          <a:xfrm>
            <a:off x="251520" y="1080120"/>
            <a:ext cx="1692696" cy="5733256"/>
          </a:xfrm>
          <a:prstGeom prst="rect">
            <a:avLst/>
          </a:prstGeom>
          <a:solidFill>
            <a:srgbClr val="162B52">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2" name="矩形 641"/>
          <p:cNvSpPr/>
          <p:nvPr/>
        </p:nvSpPr>
        <p:spPr bwMode="auto">
          <a:xfrm>
            <a:off x="3779912" y="318559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643" name="直線接點 642"/>
          <p:cNvCxnSpPr>
            <a:stCxn id="642" idx="2"/>
            <a:endCxn id="644" idx="0"/>
          </p:cNvCxnSpPr>
          <p:nvPr/>
        </p:nvCxnSpPr>
        <p:spPr bwMode="auto">
          <a:xfrm>
            <a:off x="3851920" y="3329608"/>
            <a:ext cx="0" cy="2016224"/>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644" name="矩形 643"/>
          <p:cNvSpPr/>
          <p:nvPr/>
        </p:nvSpPr>
        <p:spPr bwMode="auto">
          <a:xfrm>
            <a:off x="3779912" y="534583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645" name="直線接點 644"/>
          <p:cNvCxnSpPr>
            <a:stCxn id="647" idx="2"/>
            <a:endCxn id="646" idx="0"/>
          </p:cNvCxnSpPr>
          <p:nvPr/>
        </p:nvCxnSpPr>
        <p:spPr bwMode="auto">
          <a:xfrm>
            <a:off x="4067944" y="3185592"/>
            <a:ext cx="0" cy="2304256"/>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646" name="矩形 645"/>
          <p:cNvSpPr/>
          <p:nvPr/>
        </p:nvSpPr>
        <p:spPr bwMode="auto">
          <a:xfrm>
            <a:off x="3995936" y="5489848"/>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647" name="矩形 646"/>
          <p:cNvSpPr/>
          <p:nvPr/>
        </p:nvSpPr>
        <p:spPr bwMode="auto">
          <a:xfrm>
            <a:off x="3995936" y="3041576"/>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649" name="直線接點 648"/>
          <p:cNvCxnSpPr>
            <a:stCxn id="654" idx="2"/>
            <a:endCxn id="652" idx="0"/>
          </p:cNvCxnSpPr>
          <p:nvPr/>
        </p:nvCxnSpPr>
        <p:spPr bwMode="auto">
          <a:xfrm>
            <a:off x="4067944" y="1889448"/>
            <a:ext cx="0" cy="576064"/>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650" name="直線接點 649"/>
          <p:cNvCxnSpPr>
            <a:stCxn id="653" idx="2"/>
            <a:endCxn id="651" idx="0"/>
          </p:cNvCxnSpPr>
          <p:nvPr/>
        </p:nvCxnSpPr>
        <p:spPr bwMode="auto">
          <a:xfrm>
            <a:off x="3851920" y="2033464"/>
            <a:ext cx="0" cy="288032"/>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651" name="矩形 650"/>
          <p:cNvSpPr/>
          <p:nvPr/>
        </p:nvSpPr>
        <p:spPr bwMode="auto">
          <a:xfrm>
            <a:off x="3779912" y="2321496"/>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652" name="矩形 651"/>
          <p:cNvSpPr/>
          <p:nvPr/>
        </p:nvSpPr>
        <p:spPr bwMode="auto">
          <a:xfrm>
            <a:off x="3995936" y="2465512"/>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653" name="矩形 652"/>
          <p:cNvSpPr/>
          <p:nvPr/>
        </p:nvSpPr>
        <p:spPr bwMode="auto">
          <a:xfrm>
            <a:off x="3779912" y="1889448"/>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654" name="矩形 653"/>
          <p:cNvSpPr/>
          <p:nvPr/>
        </p:nvSpPr>
        <p:spPr bwMode="auto">
          <a:xfrm>
            <a:off x="3995936" y="1745432"/>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655" name="矩形 654"/>
          <p:cNvSpPr/>
          <p:nvPr/>
        </p:nvSpPr>
        <p:spPr bwMode="auto">
          <a:xfrm>
            <a:off x="8244408" y="318559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656" name="直線接點 655"/>
          <p:cNvCxnSpPr>
            <a:stCxn id="658" idx="2"/>
            <a:endCxn id="657" idx="0"/>
          </p:cNvCxnSpPr>
          <p:nvPr/>
        </p:nvCxnSpPr>
        <p:spPr bwMode="auto">
          <a:xfrm>
            <a:off x="8316416" y="2033464"/>
            <a:ext cx="0" cy="288032"/>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657" name="矩形 656"/>
          <p:cNvSpPr/>
          <p:nvPr/>
        </p:nvSpPr>
        <p:spPr bwMode="auto">
          <a:xfrm>
            <a:off x="8244408" y="2321496"/>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658" name="矩形 657"/>
          <p:cNvSpPr/>
          <p:nvPr/>
        </p:nvSpPr>
        <p:spPr bwMode="auto">
          <a:xfrm>
            <a:off x="8244408" y="1889448"/>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659" name="矩形 658"/>
          <p:cNvSpPr/>
          <p:nvPr/>
        </p:nvSpPr>
        <p:spPr bwMode="auto">
          <a:xfrm>
            <a:off x="8244408" y="5345832"/>
            <a:ext cx="144016" cy="144016"/>
          </a:xfrm>
          <a:prstGeom prst="rect">
            <a:avLst/>
          </a:prstGeom>
          <a:solidFill>
            <a:srgbClr val="92D05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660" name="直線接點 659"/>
          <p:cNvCxnSpPr>
            <a:stCxn id="655" idx="2"/>
            <a:endCxn id="659" idx="0"/>
          </p:cNvCxnSpPr>
          <p:nvPr/>
        </p:nvCxnSpPr>
        <p:spPr bwMode="auto">
          <a:xfrm>
            <a:off x="8316416" y="3329608"/>
            <a:ext cx="0" cy="2016224"/>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661" name="矩形 660"/>
          <p:cNvSpPr/>
          <p:nvPr/>
        </p:nvSpPr>
        <p:spPr>
          <a:xfrm>
            <a:off x="2051720" y="1052736"/>
            <a:ext cx="1152128" cy="5733256"/>
          </a:xfrm>
          <a:prstGeom prst="rect">
            <a:avLst/>
          </a:prstGeom>
          <a:solidFill>
            <a:srgbClr val="FF0000">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2" name="矩形 661"/>
          <p:cNvSpPr/>
          <p:nvPr/>
        </p:nvSpPr>
        <p:spPr>
          <a:xfrm>
            <a:off x="3347864" y="1052736"/>
            <a:ext cx="1152128" cy="5733256"/>
          </a:xfrm>
          <a:prstGeom prst="rect">
            <a:avLst/>
          </a:prstGeom>
          <a:solidFill>
            <a:srgbClr val="99FF99">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3" name="文字方塊 662"/>
          <p:cNvSpPr txBox="1"/>
          <p:nvPr/>
        </p:nvSpPr>
        <p:spPr>
          <a:xfrm>
            <a:off x="827584" y="6381328"/>
            <a:ext cx="633571" cy="369332"/>
          </a:xfrm>
          <a:prstGeom prst="rect">
            <a:avLst/>
          </a:prstGeom>
          <a:noFill/>
        </p:spPr>
        <p:txBody>
          <a:bodyPr wrap="none" rtlCol="0">
            <a:spAutoFit/>
          </a:bodyPr>
          <a:lstStyle/>
          <a:p>
            <a:r>
              <a:rPr lang="en-US" altLang="zh-TW" b="1" dirty="0" smtClean="0">
                <a:effectLst>
                  <a:outerShdw blurRad="38100" dist="38100" dir="2700000" algn="tl">
                    <a:srgbClr val="000000">
                      <a:alpha val="43137"/>
                    </a:srgbClr>
                  </a:outerShdw>
                </a:effectLst>
              </a:rPr>
              <a:t>Web</a:t>
            </a:r>
            <a:endParaRPr lang="zh-TW" altLang="en-US" b="1" dirty="0">
              <a:effectLst>
                <a:outerShdw blurRad="38100" dist="38100" dir="2700000" algn="tl">
                  <a:srgbClr val="000000">
                    <a:alpha val="43137"/>
                  </a:srgbClr>
                </a:outerShdw>
              </a:effectLst>
            </a:endParaRPr>
          </a:p>
        </p:txBody>
      </p:sp>
      <p:sp>
        <p:nvSpPr>
          <p:cNvPr id="664" name="文字方塊 663"/>
          <p:cNvSpPr txBox="1"/>
          <p:nvPr/>
        </p:nvSpPr>
        <p:spPr>
          <a:xfrm>
            <a:off x="2338541" y="6381328"/>
            <a:ext cx="505267" cy="369332"/>
          </a:xfrm>
          <a:prstGeom prst="rect">
            <a:avLst/>
          </a:prstGeom>
          <a:noFill/>
        </p:spPr>
        <p:txBody>
          <a:bodyPr wrap="none" rtlCol="0">
            <a:spAutoFit/>
          </a:bodyPr>
          <a:lstStyle/>
          <a:p>
            <a:r>
              <a:rPr lang="en-US" altLang="zh-TW" b="1" dirty="0" smtClean="0">
                <a:effectLst>
                  <a:outerShdw blurRad="38100" dist="38100" dir="2700000" algn="tl">
                    <a:srgbClr val="000000">
                      <a:alpha val="43137"/>
                    </a:srgbClr>
                  </a:outerShdw>
                </a:effectLst>
              </a:rPr>
              <a:t>DB</a:t>
            </a:r>
            <a:endParaRPr lang="zh-TW" altLang="en-US" b="1" dirty="0">
              <a:effectLst>
                <a:outerShdw blurRad="38100" dist="38100" dir="2700000" algn="tl">
                  <a:srgbClr val="000000">
                    <a:alpha val="43137"/>
                  </a:srgbClr>
                </a:outerShdw>
              </a:effectLst>
            </a:endParaRPr>
          </a:p>
        </p:txBody>
      </p:sp>
      <p:sp>
        <p:nvSpPr>
          <p:cNvPr id="665" name="文字方塊 664"/>
          <p:cNvSpPr txBox="1"/>
          <p:nvPr/>
        </p:nvSpPr>
        <p:spPr>
          <a:xfrm>
            <a:off x="3634685" y="6381328"/>
            <a:ext cx="492443" cy="369332"/>
          </a:xfrm>
          <a:prstGeom prst="rect">
            <a:avLst/>
          </a:prstGeom>
          <a:noFill/>
        </p:spPr>
        <p:txBody>
          <a:bodyPr wrap="none" rtlCol="0">
            <a:spAutoFit/>
          </a:bodyPr>
          <a:lstStyle/>
          <a:p>
            <a:r>
              <a:rPr lang="en-US" altLang="zh-TW" b="1" dirty="0" smtClean="0">
                <a:effectLst>
                  <a:outerShdw blurRad="38100" dist="38100" dir="2700000" algn="tl">
                    <a:srgbClr val="000000">
                      <a:alpha val="43137"/>
                    </a:srgbClr>
                  </a:outerShdw>
                </a:effectLst>
              </a:rPr>
              <a:t>AP</a:t>
            </a:r>
            <a:endParaRPr lang="zh-TW" altLang="en-US" b="1" dirty="0">
              <a:effectLst>
                <a:outerShdw blurRad="38100" dist="38100" dir="2700000" algn="tl">
                  <a:srgbClr val="000000">
                    <a:alpha val="43137"/>
                  </a:srgbClr>
                </a:outerShdw>
              </a:effectLst>
            </a:endParaRPr>
          </a:p>
        </p:txBody>
      </p:sp>
      <p:sp>
        <p:nvSpPr>
          <p:cNvPr id="666" name="矩形 665"/>
          <p:cNvSpPr/>
          <p:nvPr/>
        </p:nvSpPr>
        <p:spPr>
          <a:xfrm>
            <a:off x="4788024" y="1052736"/>
            <a:ext cx="1728192" cy="5733256"/>
          </a:xfrm>
          <a:prstGeom prst="rect">
            <a:avLst/>
          </a:prstGeom>
          <a:solidFill>
            <a:srgbClr val="162B52">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7" name="矩形 666"/>
          <p:cNvSpPr/>
          <p:nvPr/>
        </p:nvSpPr>
        <p:spPr>
          <a:xfrm>
            <a:off x="6588224" y="1052736"/>
            <a:ext cx="1152128" cy="5733256"/>
          </a:xfrm>
          <a:prstGeom prst="rect">
            <a:avLst/>
          </a:prstGeom>
          <a:solidFill>
            <a:srgbClr val="FF0000">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8" name="矩形 667"/>
          <p:cNvSpPr/>
          <p:nvPr/>
        </p:nvSpPr>
        <p:spPr>
          <a:xfrm>
            <a:off x="7812360" y="1052736"/>
            <a:ext cx="1152128" cy="5733256"/>
          </a:xfrm>
          <a:prstGeom prst="rect">
            <a:avLst/>
          </a:prstGeom>
          <a:solidFill>
            <a:srgbClr val="99FF99">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9" name="文字方塊 668"/>
          <p:cNvSpPr txBox="1"/>
          <p:nvPr/>
        </p:nvSpPr>
        <p:spPr>
          <a:xfrm>
            <a:off x="5376912" y="6381328"/>
            <a:ext cx="633571" cy="369332"/>
          </a:xfrm>
          <a:prstGeom prst="rect">
            <a:avLst/>
          </a:prstGeom>
          <a:noFill/>
        </p:spPr>
        <p:txBody>
          <a:bodyPr wrap="none" rtlCol="0">
            <a:spAutoFit/>
          </a:bodyPr>
          <a:lstStyle/>
          <a:p>
            <a:r>
              <a:rPr lang="en-US" altLang="zh-TW" b="1" dirty="0" smtClean="0">
                <a:effectLst>
                  <a:outerShdw blurRad="38100" dist="38100" dir="2700000" algn="tl">
                    <a:srgbClr val="000000">
                      <a:alpha val="43137"/>
                    </a:srgbClr>
                  </a:outerShdw>
                </a:effectLst>
              </a:rPr>
              <a:t>Web</a:t>
            </a:r>
            <a:endParaRPr lang="zh-TW" altLang="en-US" b="1" dirty="0">
              <a:effectLst>
                <a:outerShdw blurRad="38100" dist="38100" dir="2700000" algn="tl">
                  <a:srgbClr val="000000">
                    <a:alpha val="43137"/>
                  </a:srgbClr>
                </a:outerShdw>
              </a:effectLst>
            </a:endParaRPr>
          </a:p>
        </p:txBody>
      </p:sp>
      <p:sp>
        <p:nvSpPr>
          <p:cNvPr id="670" name="文字方塊 669"/>
          <p:cNvSpPr txBox="1"/>
          <p:nvPr/>
        </p:nvSpPr>
        <p:spPr>
          <a:xfrm>
            <a:off x="6887869" y="6381328"/>
            <a:ext cx="505267" cy="369332"/>
          </a:xfrm>
          <a:prstGeom prst="rect">
            <a:avLst/>
          </a:prstGeom>
          <a:noFill/>
        </p:spPr>
        <p:txBody>
          <a:bodyPr wrap="none" rtlCol="0">
            <a:spAutoFit/>
          </a:bodyPr>
          <a:lstStyle/>
          <a:p>
            <a:r>
              <a:rPr lang="en-US" altLang="zh-TW" b="1" dirty="0" smtClean="0">
                <a:effectLst>
                  <a:outerShdw blurRad="38100" dist="38100" dir="2700000" algn="tl">
                    <a:srgbClr val="000000">
                      <a:alpha val="43137"/>
                    </a:srgbClr>
                  </a:outerShdw>
                </a:effectLst>
              </a:rPr>
              <a:t>DB</a:t>
            </a:r>
            <a:endParaRPr lang="zh-TW" altLang="en-US" b="1" dirty="0">
              <a:effectLst>
                <a:outerShdw blurRad="38100" dist="38100" dir="2700000" algn="tl">
                  <a:srgbClr val="000000">
                    <a:alpha val="43137"/>
                  </a:srgbClr>
                </a:outerShdw>
              </a:effectLst>
            </a:endParaRPr>
          </a:p>
        </p:txBody>
      </p:sp>
      <p:sp>
        <p:nvSpPr>
          <p:cNvPr id="671" name="文字方塊 670"/>
          <p:cNvSpPr txBox="1"/>
          <p:nvPr/>
        </p:nvSpPr>
        <p:spPr>
          <a:xfrm>
            <a:off x="8184013" y="6381328"/>
            <a:ext cx="492443" cy="369332"/>
          </a:xfrm>
          <a:prstGeom prst="rect">
            <a:avLst/>
          </a:prstGeom>
          <a:noFill/>
        </p:spPr>
        <p:txBody>
          <a:bodyPr wrap="none" rtlCol="0">
            <a:spAutoFit/>
          </a:bodyPr>
          <a:lstStyle/>
          <a:p>
            <a:r>
              <a:rPr lang="en-US" altLang="zh-TW" b="1" dirty="0" smtClean="0">
                <a:effectLst>
                  <a:outerShdw blurRad="38100" dist="38100" dir="2700000" algn="tl">
                    <a:srgbClr val="000000">
                      <a:alpha val="43137"/>
                    </a:srgbClr>
                  </a:outerShdw>
                </a:effectLst>
              </a:rPr>
              <a:t>AP</a:t>
            </a:r>
            <a:endParaRPr lang="zh-TW" altLang="en-US" b="1" dirty="0">
              <a:effectLst>
                <a:outerShdw blurRad="38100" dist="38100" dir="2700000" algn="tl">
                  <a:srgbClr val="000000">
                    <a:alpha val="43137"/>
                  </a:srgbClr>
                </a:outerShdw>
              </a:effectLst>
            </a:endParaRPr>
          </a:p>
        </p:txBody>
      </p:sp>
      <p:cxnSp>
        <p:nvCxnSpPr>
          <p:cNvPr id="673" name="直線接點 672"/>
          <p:cNvCxnSpPr/>
          <p:nvPr/>
        </p:nvCxnSpPr>
        <p:spPr>
          <a:xfrm>
            <a:off x="4644008" y="1124744"/>
            <a:ext cx="0" cy="5733256"/>
          </a:xfrm>
          <a:prstGeom prst="line">
            <a:avLst/>
          </a:prstGeom>
          <a:ln w="76200">
            <a:solidFill>
              <a:schemeClr val="bg1">
                <a:lumMod val="7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110" name="文字方塊 109"/>
          <p:cNvSpPr txBox="1"/>
          <p:nvPr/>
        </p:nvSpPr>
        <p:spPr>
          <a:xfrm>
            <a:off x="4355976" y="1988840"/>
            <a:ext cx="432048" cy="1754326"/>
          </a:xfrm>
          <a:prstGeom prst="rect">
            <a:avLst/>
          </a:prstGeom>
          <a:solidFill>
            <a:srgbClr val="FFFF00"/>
          </a:solidFill>
        </p:spPr>
        <p:txBody>
          <a:bodyPr wrap="square" rtlCol="0">
            <a:spAutoFit/>
          </a:bodyPr>
          <a:lstStyle/>
          <a:p>
            <a:pPr algn="ctr"/>
            <a:r>
              <a:rPr lang="zh-TW" altLang="en-US" dirty="0" smtClean="0">
                <a:latin typeface="微軟正黑體" pitchFamily="34" charset="-120"/>
                <a:ea typeface="微軟正黑體" pitchFamily="34" charset="-120"/>
              </a:rPr>
              <a:t>負載平衡分配</a:t>
            </a:r>
            <a:endParaRPr lang="zh-TW" altLang="en-US" dirty="0">
              <a:latin typeface="微軟正黑體" pitchFamily="34" charset="-120"/>
              <a:ea typeface="微軟正黑體" pitchFamily="34" charset="-120"/>
            </a:endParaRPr>
          </a:p>
        </p:txBody>
      </p:sp>
      <p:sp>
        <p:nvSpPr>
          <p:cNvPr id="111" name="文字方塊 110"/>
          <p:cNvSpPr txBox="1"/>
          <p:nvPr/>
        </p:nvSpPr>
        <p:spPr>
          <a:xfrm>
            <a:off x="3131840" y="4653136"/>
            <a:ext cx="3024336" cy="369332"/>
          </a:xfrm>
          <a:prstGeom prst="rect">
            <a:avLst/>
          </a:prstGeom>
          <a:solidFill>
            <a:srgbClr val="FFFF00"/>
          </a:solidFill>
        </p:spPr>
        <p:txBody>
          <a:bodyPr wrap="square" rtlCol="0">
            <a:spAutoFit/>
          </a:bodyPr>
          <a:lstStyle/>
          <a:p>
            <a:pPr algn="ctr"/>
            <a:r>
              <a:rPr lang="en-US" altLang="zh-TW" dirty="0" smtClean="0">
                <a:latin typeface="微軟正黑體" pitchFamily="34" charset="-120"/>
                <a:ea typeface="微軟正黑體" pitchFamily="34" charset="-120"/>
              </a:rPr>
              <a:t>L7 WAF/DB</a:t>
            </a:r>
            <a:r>
              <a:rPr lang="zh-TW" altLang="en-US" dirty="0" smtClean="0">
                <a:latin typeface="微軟正黑體" pitchFamily="34" charset="-120"/>
                <a:ea typeface="微軟正黑體" pitchFamily="34" charset="-120"/>
              </a:rPr>
              <a:t>安全控管</a:t>
            </a:r>
            <a:endParaRPr lang="zh-TW" altLang="en-US" dirty="0">
              <a:latin typeface="微軟正黑體" pitchFamily="34" charset="-120"/>
              <a:ea typeface="微軟正黑體" pitchFamily="34" charset="-120"/>
            </a:endParaRPr>
          </a:p>
        </p:txBody>
      </p:sp>
    </p:spTree>
    <p:extLst>
      <p:ext uri="{BB962C8B-B14F-4D97-AF65-F5344CB8AC3E}">
        <p14:creationId xmlns:p14="http://schemas.microsoft.com/office/powerpoint/2010/main" val="2320016537"/>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3" name="直線接點 442"/>
          <p:cNvCxnSpPr/>
          <p:nvPr/>
        </p:nvCxnSpPr>
        <p:spPr bwMode="auto">
          <a:xfrm>
            <a:off x="7380312" y="3068960"/>
            <a:ext cx="0" cy="43204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31" name="圓角矩形 230"/>
          <p:cNvSpPr/>
          <p:nvPr/>
        </p:nvSpPr>
        <p:spPr bwMode="auto">
          <a:xfrm>
            <a:off x="5076056" y="2276872"/>
            <a:ext cx="3672408" cy="864096"/>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en-US" altLang="zh-TW" dirty="0" smtClean="0">
                <a:solidFill>
                  <a:srgbClr val="0000CC"/>
                </a:solidFill>
              </a:rPr>
              <a:t>C3750X-3</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cxnSp>
        <p:nvCxnSpPr>
          <p:cNvPr id="219" name="直線接點 218"/>
          <p:cNvCxnSpPr/>
          <p:nvPr/>
        </p:nvCxnSpPr>
        <p:spPr>
          <a:xfrm>
            <a:off x="4644008" y="1152128"/>
            <a:ext cx="0" cy="5085184"/>
          </a:xfrm>
          <a:prstGeom prst="line">
            <a:avLst/>
          </a:prstGeom>
          <a:ln w="76200">
            <a:solidFill>
              <a:schemeClr val="bg1">
                <a:lumMod val="7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444" name="橢圓 443"/>
          <p:cNvSpPr/>
          <p:nvPr/>
        </p:nvSpPr>
        <p:spPr>
          <a:xfrm>
            <a:off x="4716016" y="5301208"/>
            <a:ext cx="1944216" cy="648072"/>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0" name="橢圓 359"/>
          <p:cNvSpPr/>
          <p:nvPr/>
        </p:nvSpPr>
        <p:spPr>
          <a:xfrm>
            <a:off x="179512" y="5301208"/>
            <a:ext cx="1944216" cy="648072"/>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13" name="直線接點 312"/>
          <p:cNvCxnSpPr/>
          <p:nvPr/>
        </p:nvCxnSpPr>
        <p:spPr bwMode="auto">
          <a:xfrm>
            <a:off x="2924200" y="3221360"/>
            <a:ext cx="0" cy="43204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89" name="圓角矩形 188"/>
          <p:cNvSpPr/>
          <p:nvPr/>
        </p:nvSpPr>
        <p:spPr bwMode="auto">
          <a:xfrm>
            <a:off x="467544" y="2276872"/>
            <a:ext cx="3672408" cy="864096"/>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en-US" altLang="zh-TW" dirty="0" smtClean="0">
                <a:solidFill>
                  <a:srgbClr val="0000CC"/>
                </a:solidFill>
              </a:rPr>
              <a:t>C3750X-3</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125" name="標題 124"/>
          <p:cNvSpPr>
            <a:spLocks noGrp="1"/>
          </p:cNvSpPr>
          <p:nvPr>
            <p:ph type="title"/>
          </p:nvPr>
        </p:nvSpPr>
        <p:spPr/>
        <p:txBody>
          <a:bodyPr>
            <a:normAutofit fontScale="90000"/>
          </a:bodyPr>
          <a:lstStyle/>
          <a:p>
            <a:r>
              <a:rPr lang="zh-TW" altLang="en-US" dirty="0" smtClean="0"/>
              <a:t>規劃設計</a:t>
            </a:r>
            <a:r>
              <a:rPr lang="en-US" altLang="zh-TW" dirty="0" smtClean="0"/>
              <a:t>-</a:t>
            </a:r>
            <a:r>
              <a:rPr lang="zh-TW" altLang="en-US" dirty="0" smtClean="0"/>
              <a:t>主機部分</a:t>
            </a:r>
            <a:endParaRPr lang="zh-TW" altLang="en-US" dirty="0"/>
          </a:p>
        </p:txBody>
      </p:sp>
      <p:sp>
        <p:nvSpPr>
          <p:cNvPr id="191" name="矩形 190"/>
          <p:cNvSpPr/>
          <p:nvPr/>
        </p:nvSpPr>
        <p:spPr bwMode="auto">
          <a:xfrm>
            <a:off x="755576" y="1700808"/>
            <a:ext cx="288032" cy="216024"/>
          </a:xfrm>
          <a:prstGeom prst="rect">
            <a:avLst/>
          </a:prstGeom>
          <a:solidFill>
            <a:schemeClr val="accent1"/>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smtClean="0">
              <a:ln>
                <a:noFill/>
              </a:ln>
              <a:solidFill>
                <a:schemeClr val="tx1"/>
              </a:solidFill>
              <a:effectLst/>
              <a:latin typeface="Times New Roman" pitchFamily="18" charset="0"/>
              <a:ea typeface="新細明體" pitchFamily="18" charset="-120"/>
            </a:endParaRPr>
          </a:p>
        </p:txBody>
      </p:sp>
      <p:sp>
        <p:nvSpPr>
          <p:cNvPr id="192" name="矩形 191"/>
          <p:cNvSpPr/>
          <p:nvPr/>
        </p:nvSpPr>
        <p:spPr bwMode="auto">
          <a:xfrm>
            <a:off x="827584" y="2204864"/>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193" name="直線接點 192"/>
          <p:cNvCxnSpPr>
            <a:endCxn id="192" idx="0"/>
          </p:cNvCxnSpPr>
          <p:nvPr/>
        </p:nvCxnSpPr>
        <p:spPr bwMode="auto">
          <a:xfrm>
            <a:off x="899592" y="1916832"/>
            <a:ext cx="0" cy="288032"/>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94" name="矩形 193"/>
          <p:cNvSpPr/>
          <p:nvPr/>
        </p:nvSpPr>
        <p:spPr bwMode="auto">
          <a:xfrm>
            <a:off x="1115616" y="1700808"/>
            <a:ext cx="288032" cy="216024"/>
          </a:xfrm>
          <a:prstGeom prst="rect">
            <a:avLst/>
          </a:prstGeom>
          <a:solidFill>
            <a:schemeClr val="accent1"/>
          </a:solidFill>
          <a:ln w="9525" cap="flat" cmpd="sng" algn="ctr">
            <a:solidFill>
              <a:srgbClr val="FFFF0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smtClean="0">
              <a:ln>
                <a:noFill/>
              </a:ln>
              <a:solidFill>
                <a:schemeClr val="tx1"/>
              </a:solidFill>
              <a:effectLst/>
              <a:latin typeface="Times New Roman" pitchFamily="18" charset="0"/>
              <a:ea typeface="新細明體" pitchFamily="18" charset="-120"/>
            </a:endParaRPr>
          </a:p>
        </p:txBody>
      </p:sp>
      <p:sp>
        <p:nvSpPr>
          <p:cNvPr id="195" name="矩形 194"/>
          <p:cNvSpPr/>
          <p:nvPr/>
        </p:nvSpPr>
        <p:spPr bwMode="auto">
          <a:xfrm>
            <a:off x="1187624" y="2204864"/>
            <a:ext cx="144016" cy="144016"/>
          </a:xfrm>
          <a:prstGeom prst="rect">
            <a:avLst/>
          </a:prstGeom>
          <a:solidFill>
            <a:srgbClr val="FFFF00"/>
          </a:solidFill>
          <a:ln w="9525" cap="flat" cmpd="sng" algn="ctr">
            <a:solidFill>
              <a:srgbClr val="FFFF0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196" name="直線接點 195"/>
          <p:cNvCxnSpPr>
            <a:endCxn id="195" idx="0"/>
          </p:cNvCxnSpPr>
          <p:nvPr/>
        </p:nvCxnSpPr>
        <p:spPr bwMode="auto">
          <a:xfrm>
            <a:off x="1259632" y="1916832"/>
            <a:ext cx="0" cy="288032"/>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97" name="矩形 196"/>
          <p:cNvSpPr/>
          <p:nvPr/>
        </p:nvSpPr>
        <p:spPr bwMode="auto">
          <a:xfrm>
            <a:off x="1475656" y="1700808"/>
            <a:ext cx="288032" cy="216024"/>
          </a:xfrm>
          <a:prstGeom prst="rect">
            <a:avLst/>
          </a:prstGeom>
          <a:solidFill>
            <a:schemeClr val="accent1"/>
          </a:solidFill>
          <a:ln w="9525" cap="flat" cmpd="sng" algn="ctr">
            <a:solidFill>
              <a:srgbClr val="7030A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smtClean="0">
              <a:ln>
                <a:noFill/>
              </a:ln>
              <a:solidFill>
                <a:schemeClr val="tx1"/>
              </a:solidFill>
              <a:effectLst/>
              <a:latin typeface="Times New Roman" pitchFamily="18" charset="0"/>
              <a:ea typeface="新細明體" pitchFamily="18" charset="-120"/>
            </a:endParaRPr>
          </a:p>
        </p:txBody>
      </p:sp>
      <p:sp>
        <p:nvSpPr>
          <p:cNvPr id="198" name="矩形 197"/>
          <p:cNvSpPr/>
          <p:nvPr/>
        </p:nvSpPr>
        <p:spPr bwMode="auto">
          <a:xfrm>
            <a:off x="1547664" y="2204864"/>
            <a:ext cx="144016" cy="144016"/>
          </a:xfrm>
          <a:prstGeom prst="rect">
            <a:avLst/>
          </a:prstGeom>
          <a:solidFill>
            <a:srgbClr val="0000CC"/>
          </a:solidFill>
          <a:ln w="9525" cap="flat" cmpd="sng" algn="ctr">
            <a:solidFill>
              <a:srgbClr val="7030A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199" name="直線接點 198"/>
          <p:cNvCxnSpPr>
            <a:endCxn id="198" idx="0"/>
          </p:cNvCxnSpPr>
          <p:nvPr/>
        </p:nvCxnSpPr>
        <p:spPr bwMode="auto">
          <a:xfrm>
            <a:off x="1619672" y="1916832"/>
            <a:ext cx="0" cy="288032"/>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200" name="直線接點 199"/>
          <p:cNvCxnSpPr/>
          <p:nvPr/>
        </p:nvCxnSpPr>
        <p:spPr bwMode="auto">
          <a:xfrm>
            <a:off x="1763688" y="2060848"/>
            <a:ext cx="360040" cy="0"/>
          </a:xfrm>
          <a:prstGeom prst="line">
            <a:avLst/>
          </a:prstGeom>
          <a:solidFill>
            <a:schemeClr val="accent1"/>
          </a:solidFill>
          <a:ln w="57150" cap="flat" cmpd="sng" algn="ctr">
            <a:solidFill>
              <a:schemeClr val="bg2"/>
            </a:solidFill>
            <a:prstDash val="sysDot"/>
            <a:round/>
            <a:headEnd type="none" w="med" len="med"/>
            <a:tailEnd type="none" w="med" len="med"/>
          </a:ln>
          <a:effectLst/>
        </p:spPr>
      </p:cxnSp>
      <p:sp>
        <p:nvSpPr>
          <p:cNvPr id="201" name="矩形 200"/>
          <p:cNvSpPr/>
          <p:nvPr/>
        </p:nvSpPr>
        <p:spPr bwMode="auto">
          <a:xfrm>
            <a:off x="2843808" y="1700808"/>
            <a:ext cx="288032" cy="216024"/>
          </a:xfrm>
          <a:prstGeom prst="rect">
            <a:avLst/>
          </a:prstGeom>
          <a:solidFill>
            <a:schemeClr val="accent1"/>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smtClean="0">
              <a:ln>
                <a:noFill/>
              </a:ln>
              <a:solidFill>
                <a:schemeClr val="tx1"/>
              </a:solidFill>
              <a:effectLst/>
              <a:latin typeface="Times New Roman" pitchFamily="18" charset="0"/>
              <a:ea typeface="新細明體" pitchFamily="18" charset="-120"/>
            </a:endParaRPr>
          </a:p>
        </p:txBody>
      </p:sp>
      <p:cxnSp>
        <p:nvCxnSpPr>
          <p:cNvPr id="203" name="直線接點 202"/>
          <p:cNvCxnSpPr/>
          <p:nvPr/>
        </p:nvCxnSpPr>
        <p:spPr bwMode="auto">
          <a:xfrm>
            <a:off x="2915816" y="1916832"/>
            <a:ext cx="0" cy="43204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04" name="矩形 203"/>
          <p:cNvSpPr/>
          <p:nvPr/>
        </p:nvSpPr>
        <p:spPr bwMode="auto">
          <a:xfrm>
            <a:off x="3203848" y="1700808"/>
            <a:ext cx="288032" cy="216024"/>
          </a:xfrm>
          <a:prstGeom prst="rect">
            <a:avLst/>
          </a:prstGeom>
          <a:solidFill>
            <a:schemeClr val="accent1"/>
          </a:solidFill>
          <a:ln w="9525" cap="flat" cmpd="sng" algn="ctr">
            <a:solidFill>
              <a:srgbClr val="FFFF0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smtClean="0">
              <a:ln>
                <a:noFill/>
              </a:ln>
              <a:solidFill>
                <a:schemeClr val="tx1"/>
              </a:solidFill>
              <a:effectLst/>
              <a:latin typeface="Times New Roman" pitchFamily="18" charset="0"/>
              <a:ea typeface="新細明體" pitchFamily="18" charset="-120"/>
            </a:endParaRPr>
          </a:p>
        </p:txBody>
      </p:sp>
      <p:cxnSp>
        <p:nvCxnSpPr>
          <p:cNvPr id="206" name="直線接點 205"/>
          <p:cNvCxnSpPr/>
          <p:nvPr/>
        </p:nvCxnSpPr>
        <p:spPr bwMode="auto">
          <a:xfrm>
            <a:off x="3275856" y="1916832"/>
            <a:ext cx="0" cy="43204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07" name="矩形 206"/>
          <p:cNvSpPr/>
          <p:nvPr/>
        </p:nvSpPr>
        <p:spPr bwMode="auto">
          <a:xfrm>
            <a:off x="3563888" y="1700808"/>
            <a:ext cx="288032" cy="216024"/>
          </a:xfrm>
          <a:prstGeom prst="rect">
            <a:avLst/>
          </a:prstGeom>
          <a:solidFill>
            <a:schemeClr val="accent1"/>
          </a:solidFill>
          <a:ln w="9525" cap="flat" cmpd="sng" algn="ctr">
            <a:solidFill>
              <a:srgbClr val="7030A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smtClean="0">
              <a:ln>
                <a:noFill/>
              </a:ln>
              <a:solidFill>
                <a:schemeClr val="tx1"/>
              </a:solidFill>
              <a:effectLst/>
              <a:latin typeface="Times New Roman" pitchFamily="18" charset="0"/>
              <a:ea typeface="新細明體" pitchFamily="18" charset="-120"/>
            </a:endParaRPr>
          </a:p>
        </p:txBody>
      </p:sp>
      <p:cxnSp>
        <p:nvCxnSpPr>
          <p:cNvPr id="209" name="直線接點 208"/>
          <p:cNvCxnSpPr/>
          <p:nvPr/>
        </p:nvCxnSpPr>
        <p:spPr bwMode="auto">
          <a:xfrm>
            <a:off x="3635896" y="1916832"/>
            <a:ext cx="0" cy="43204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210" name="直線接點 209"/>
          <p:cNvCxnSpPr/>
          <p:nvPr/>
        </p:nvCxnSpPr>
        <p:spPr bwMode="auto">
          <a:xfrm>
            <a:off x="3779912" y="2060848"/>
            <a:ext cx="360040" cy="0"/>
          </a:xfrm>
          <a:prstGeom prst="line">
            <a:avLst/>
          </a:prstGeom>
          <a:solidFill>
            <a:schemeClr val="accent1"/>
          </a:solidFill>
          <a:ln w="57150" cap="flat" cmpd="sng" algn="ctr">
            <a:solidFill>
              <a:schemeClr val="bg2"/>
            </a:solidFill>
            <a:prstDash val="sysDot"/>
            <a:round/>
            <a:headEnd type="none" w="med" len="med"/>
            <a:tailEnd type="none" w="med" len="med"/>
          </a:ln>
          <a:effectLst/>
        </p:spPr>
      </p:cxnSp>
      <p:sp>
        <p:nvSpPr>
          <p:cNvPr id="127" name="圓角矩形 126"/>
          <p:cNvSpPr/>
          <p:nvPr/>
        </p:nvSpPr>
        <p:spPr bwMode="auto">
          <a:xfrm>
            <a:off x="251520" y="4005064"/>
            <a:ext cx="1368152"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X86 Server</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128" name="圓角矩形 127"/>
          <p:cNvSpPr/>
          <p:nvPr/>
        </p:nvSpPr>
        <p:spPr bwMode="auto">
          <a:xfrm>
            <a:off x="619944" y="4157464"/>
            <a:ext cx="1368152"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X86 Server</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133" name="圓角矩形 132"/>
          <p:cNvSpPr/>
          <p:nvPr/>
        </p:nvSpPr>
        <p:spPr bwMode="auto">
          <a:xfrm>
            <a:off x="467544" y="6093296"/>
            <a:ext cx="1512168"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P4000</a:t>
            </a:r>
          </a:p>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rPr>
              <a:t>(Storage)</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143" name="圓角矩形 142"/>
          <p:cNvSpPr/>
          <p:nvPr/>
        </p:nvSpPr>
        <p:spPr bwMode="auto">
          <a:xfrm>
            <a:off x="899592" y="4309864"/>
            <a:ext cx="1368152"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X86 Server</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144" name="圓角矩形 143"/>
          <p:cNvSpPr/>
          <p:nvPr/>
        </p:nvSpPr>
        <p:spPr bwMode="auto">
          <a:xfrm>
            <a:off x="1259632" y="4509120"/>
            <a:ext cx="1368152"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X86 Server</a:t>
            </a:r>
          </a:p>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rPr>
              <a:t>(DB Server)</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cxnSp>
        <p:nvCxnSpPr>
          <p:cNvPr id="147" name="直線接點 146"/>
          <p:cNvCxnSpPr/>
          <p:nvPr/>
        </p:nvCxnSpPr>
        <p:spPr bwMode="auto">
          <a:xfrm>
            <a:off x="323528" y="5589240"/>
            <a:ext cx="1512168"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53" name="直線接點 152"/>
          <p:cNvCxnSpPr/>
          <p:nvPr/>
        </p:nvCxnSpPr>
        <p:spPr bwMode="auto">
          <a:xfrm>
            <a:off x="395536" y="4581128"/>
            <a:ext cx="0" cy="100811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64" name="直線接點 163"/>
          <p:cNvCxnSpPr/>
          <p:nvPr/>
        </p:nvCxnSpPr>
        <p:spPr bwMode="auto">
          <a:xfrm>
            <a:off x="827584" y="4725144"/>
            <a:ext cx="0" cy="86409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68" name="直線接點 167"/>
          <p:cNvCxnSpPr/>
          <p:nvPr/>
        </p:nvCxnSpPr>
        <p:spPr bwMode="auto">
          <a:xfrm>
            <a:off x="1187624" y="4869160"/>
            <a:ext cx="0" cy="72008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12" name="直線接點 211"/>
          <p:cNvCxnSpPr/>
          <p:nvPr/>
        </p:nvCxnSpPr>
        <p:spPr bwMode="auto">
          <a:xfrm>
            <a:off x="1403648" y="5085184"/>
            <a:ext cx="0" cy="504056"/>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52" name="文字方塊 251"/>
          <p:cNvSpPr txBox="1"/>
          <p:nvPr/>
        </p:nvSpPr>
        <p:spPr>
          <a:xfrm>
            <a:off x="450508" y="5302949"/>
            <a:ext cx="1313180" cy="646331"/>
          </a:xfrm>
          <a:prstGeom prst="rect">
            <a:avLst/>
          </a:prstGeom>
          <a:noFill/>
        </p:spPr>
        <p:txBody>
          <a:bodyPr wrap="none" rtlCol="0">
            <a:spAutoFit/>
          </a:bodyPr>
          <a:lstStyle/>
          <a:p>
            <a:pPr algn="ctr"/>
            <a:r>
              <a:rPr lang="en-US" altLang="zh-TW" dirty="0" err="1" smtClean="0"/>
              <a:t>iSCSI</a:t>
            </a:r>
            <a:endParaRPr lang="en-US" altLang="zh-TW" dirty="0" smtClean="0"/>
          </a:p>
          <a:p>
            <a:pPr algn="ctr"/>
            <a:r>
              <a:rPr lang="en-US" altLang="zh-TW" dirty="0" smtClean="0"/>
              <a:t>(C3750X-4)</a:t>
            </a:r>
            <a:endParaRPr lang="zh-TW" altLang="en-US" dirty="0"/>
          </a:p>
        </p:txBody>
      </p:sp>
      <p:cxnSp>
        <p:nvCxnSpPr>
          <p:cNvPr id="253" name="直線接點 252"/>
          <p:cNvCxnSpPr/>
          <p:nvPr/>
        </p:nvCxnSpPr>
        <p:spPr bwMode="auto">
          <a:xfrm>
            <a:off x="1763688" y="5589240"/>
            <a:ext cx="0" cy="50405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54" name="直線接點 253"/>
          <p:cNvCxnSpPr/>
          <p:nvPr/>
        </p:nvCxnSpPr>
        <p:spPr bwMode="auto">
          <a:xfrm>
            <a:off x="1547664" y="5085184"/>
            <a:ext cx="0" cy="360040"/>
          </a:xfrm>
          <a:prstGeom prst="line">
            <a:avLst/>
          </a:prstGeom>
          <a:solidFill>
            <a:schemeClr val="accent1"/>
          </a:solidFill>
          <a:ln w="19050" cap="flat" cmpd="sng" algn="ctr">
            <a:solidFill>
              <a:srgbClr val="9933FF"/>
            </a:solidFill>
            <a:prstDash val="solid"/>
            <a:round/>
            <a:headEnd type="none" w="med" len="med"/>
            <a:tailEnd type="none" w="med" len="med"/>
          </a:ln>
          <a:effectLst/>
        </p:spPr>
      </p:cxnSp>
      <p:cxnSp>
        <p:nvCxnSpPr>
          <p:cNvPr id="258" name="直線接點 257"/>
          <p:cNvCxnSpPr/>
          <p:nvPr/>
        </p:nvCxnSpPr>
        <p:spPr bwMode="auto">
          <a:xfrm>
            <a:off x="467544" y="5445224"/>
            <a:ext cx="1656184" cy="0"/>
          </a:xfrm>
          <a:prstGeom prst="line">
            <a:avLst/>
          </a:prstGeom>
          <a:solidFill>
            <a:schemeClr val="accent1"/>
          </a:solidFill>
          <a:ln w="19050" cap="flat" cmpd="sng" algn="ctr">
            <a:solidFill>
              <a:srgbClr val="9933FF"/>
            </a:solidFill>
            <a:prstDash val="solid"/>
            <a:round/>
            <a:headEnd type="none" w="med" len="med"/>
            <a:tailEnd type="none" w="med" len="med"/>
          </a:ln>
          <a:effectLst/>
        </p:spPr>
      </p:cxnSp>
      <p:cxnSp>
        <p:nvCxnSpPr>
          <p:cNvPr id="260" name="直線接點 259"/>
          <p:cNvCxnSpPr/>
          <p:nvPr/>
        </p:nvCxnSpPr>
        <p:spPr bwMode="auto">
          <a:xfrm>
            <a:off x="1043608" y="4869160"/>
            <a:ext cx="0" cy="576064"/>
          </a:xfrm>
          <a:prstGeom prst="line">
            <a:avLst/>
          </a:prstGeom>
          <a:solidFill>
            <a:schemeClr val="accent1"/>
          </a:solidFill>
          <a:ln w="19050" cap="flat" cmpd="sng" algn="ctr">
            <a:solidFill>
              <a:srgbClr val="9933FF"/>
            </a:solidFill>
            <a:prstDash val="solid"/>
            <a:round/>
            <a:headEnd type="none" w="med" len="med"/>
            <a:tailEnd type="none" w="med" len="med"/>
          </a:ln>
          <a:effectLst/>
        </p:spPr>
      </p:cxnSp>
      <p:cxnSp>
        <p:nvCxnSpPr>
          <p:cNvPr id="262" name="直線接點 261"/>
          <p:cNvCxnSpPr/>
          <p:nvPr/>
        </p:nvCxnSpPr>
        <p:spPr bwMode="auto">
          <a:xfrm>
            <a:off x="539552" y="4581128"/>
            <a:ext cx="0" cy="864096"/>
          </a:xfrm>
          <a:prstGeom prst="line">
            <a:avLst/>
          </a:prstGeom>
          <a:solidFill>
            <a:schemeClr val="accent1"/>
          </a:solidFill>
          <a:ln w="19050" cap="flat" cmpd="sng" algn="ctr">
            <a:solidFill>
              <a:srgbClr val="9933FF"/>
            </a:solidFill>
            <a:prstDash val="solid"/>
            <a:round/>
            <a:headEnd type="none" w="med" len="med"/>
            <a:tailEnd type="none" w="med" len="med"/>
          </a:ln>
          <a:effectLst/>
        </p:spPr>
      </p:cxnSp>
      <p:sp>
        <p:nvSpPr>
          <p:cNvPr id="265" name="圓角矩形 264"/>
          <p:cNvSpPr/>
          <p:nvPr/>
        </p:nvSpPr>
        <p:spPr bwMode="auto">
          <a:xfrm>
            <a:off x="2123728" y="3573016"/>
            <a:ext cx="1368152"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X86 Server</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266" name="圓角矩形 265"/>
          <p:cNvSpPr/>
          <p:nvPr/>
        </p:nvSpPr>
        <p:spPr bwMode="auto">
          <a:xfrm>
            <a:off x="2492152" y="3725416"/>
            <a:ext cx="1368152"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X86 Server</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267" name="圓角矩形 266"/>
          <p:cNvSpPr/>
          <p:nvPr/>
        </p:nvSpPr>
        <p:spPr bwMode="auto">
          <a:xfrm>
            <a:off x="2771800" y="3877816"/>
            <a:ext cx="1368152"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X86 Server</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268" name="圓角矩形 267"/>
          <p:cNvSpPr/>
          <p:nvPr/>
        </p:nvSpPr>
        <p:spPr bwMode="auto">
          <a:xfrm>
            <a:off x="3131840" y="4077072"/>
            <a:ext cx="1368152"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X86 Server</a:t>
            </a:r>
          </a:p>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(VM)</a:t>
            </a:r>
          </a:p>
        </p:txBody>
      </p:sp>
      <p:sp>
        <p:nvSpPr>
          <p:cNvPr id="290" name="圓角矩形 289"/>
          <p:cNvSpPr/>
          <p:nvPr/>
        </p:nvSpPr>
        <p:spPr bwMode="auto">
          <a:xfrm>
            <a:off x="4932040" y="4005064"/>
            <a:ext cx="1368152"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X86 Server</a:t>
            </a:r>
          </a:p>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rPr>
              <a:t>(DB VMs)</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292" name="圓角矩形 291"/>
          <p:cNvSpPr/>
          <p:nvPr/>
        </p:nvSpPr>
        <p:spPr bwMode="auto">
          <a:xfrm>
            <a:off x="5076056" y="6093296"/>
            <a:ext cx="1512168"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P4000</a:t>
            </a:r>
          </a:p>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0" i="0" u="none" strike="noStrike" cap="none" normalizeH="0" baseline="0" dirty="0" smtClean="0">
                <a:ln>
                  <a:noFill/>
                </a:ln>
                <a:solidFill>
                  <a:srgbClr val="0000CC"/>
                </a:solidFill>
                <a:effectLst/>
                <a:latin typeface="Times New Roman" pitchFamily="18" charset="0"/>
                <a:ea typeface="新細明體" pitchFamily="18" charset="-120"/>
              </a:rPr>
              <a:t>(Storage)</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cxnSp>
        <p:nvCxnSpPr>
          <p:cNvPr id="293" name="直線接點 292"/>
          <p:cNvCxnSpPr/>
          <p:nvPr/>
        </p:nvCxnSpPr>
        <p:spPr bwMode="auto">
          <a:xfrm>
            <a:off x="5364088" y="5445224"/>
            <a:ext cx="0" cy="648072"/>
          </a:xfrm>
          <a:prstGeom prst="line">
            <a:avLst/>
          </a:prstGeom>
          <a:solidFill>
            <a:schemeClr val="accent1"/>
          </a:solidFill>
          <a:ln w="19050" cap="flat" cmpd="sng" algn="ctr">
            <a:solidFill>
              <a:srgbClr val="9933FF"/>
            </a:solidFill>
            <a:prstDash val="solid"/>
            <a:round/>
            <a:headEnd type="none" w="med" len="med"/>
            <a:tailEnd type="none" w="med" len="med"/>
          </a:ln>
          <a:effectLst/>
        </p:spPr>
      </p:cxnSp>
      <p:cxnSp>
        <p:nvCxnSpPr>
          <p:cNvPr id="296" name="直線接點 295"/>
          <p:cNvCxnSpPr/>
          <p:nvPr/>
        </p:nvCxnSpPr>
        <p:spPr bwMode="auto">
          <a:xfrm>
            <a:off x="5004048" y="5589240"/>
            <a:ext cx="50405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97" name="直線接點 296"/>
          <p:cNvCxnSpPr/>
          <p:nvPr/>
        </p:nvCxnSpPr>
        <p:spPr bwMode="auto">
          <a:xfrm>
            <a:off x="5076056" y="4581128"/>
            <a:ext cx="0" cy="100811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02" name="直線接點 301"/>
          <p:cNvCxnSpPr/>
          <p:nvPr/>
        </p:nvCxnSpPr>
        <p:spPr bwMode="auto">
          <a:xfrm>
            <a:off x="5220072" y="5589240"/>
            <a:ext cx="0" cy="50405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04" name="直線接點 303"/>
          <p:cNvCxnSpPr/>
          <p:nvPr/>
        </p:nvCxnSpPr>
        <p:spPr bwMode="auto">
          <a:xfrm>
            <a:off x="5148064" y="5445224"/>
            <a:ext cx="432048" cy="0"/>
          </a:xfrm>
          <a:prstGeom prst="line">
            <a:avLst/>
          </a:prstGeom>
          <a:solidFill>
            <a:schemeClr val="accent1"/>
          </a:solidFill>
          <a:ln w="19050" cap="flat" cmpd="sng" algn="ctr">
            <a:solidFill>
              <a:srgbClr val="9933FF"/>
            </a:solidFill>
            <a:prstDash val="solid"/>
            <a:round/>
            <a:headEnd type="none" w="med" len="med"/>
            <a:tailEnd type="none" w="med" len="med"/>
          </a:ln>
          <a:effectLst/>
        </p:spPr>
      </p:cxnSp>
      <p:cxnSp>
        <p:nvCxnSpPr>
          <p:cNvPr id="306" name="直線接點 305"/>
          <p:cNvCxnSpPr/>
          <p:nvPr/>
        </p:nvCxnSpPr>
        <p:spPr bwMode="auto">
          <a:xfrm>
            <a:off x="5220072" y="4581128"/>
            <a:ext cx="0" cy="864096"/>
          </a:xfrm>
          <a:prstGeom prst="line">
            <a:avLst/>
          </a:prstGeom>
          <a:solidFill>
            <a:schemeClr val="accent1"/>
          </a:solidFill>
          <a:ln w="19050" cap="flat" cmpd="sng" algn="ctr">
            <a:solidFill>
              <a:srgbClr val="9933FF"/>
            </a:solidFill>
            <a:prstDash val="solid"/>
            <a:round/>
            <a:headEnd type="none" w="med" len="med"/>
            <a:tailEnd type="none" w="med" len="med"/>
          </a:ln>
          <a:effectLst/>
        </p:spPr>
      </p:cxnSp>
      <p:cxnSp>
        <p:nvCxnSpPr>
          <p:cNvPr id="322" name="直線接點 321"/>
          <p:cNvCxnSpPr/>
          <p:nvPr/>
        </p:nvCxnSpPr>
        <p:spPr bwMode="auto">
          <a:xfrm>
            <a:off x="683568" y="4725144"/>
            <a:ext cx="0" cy="720080"/>
          </a:xfrm>
          <a:prstGeom prst="line">
            <a:avLst/>
          </a:prstGeom>
          <a:solidFill>
            <a:schemeClr val="accent1"/>
          </a:solidFill>
          <a:ln w="19050" cap="flat" cmpd="sng" algn="ctr">
            <a:solidFill>
              <a:srgbClr val="9933FF"/>
            </a:solidFill>
            <a:prstDash val="solid"/>
            <a:round/>
            <a:headEnd type="none" w="med" len="med"/>
            <a:tailEnd type="none" w="med" len="med"/>
          </a:ln>
          <a:effectLst/>
        </p:spPr>
      </p:cxnSp>
      <p:sp>
        <p:nvSpPr>
          <p:cNvPr id="332" name="向右箭號 331"/>
          <p:cNvSpPr/>
          <p:nvPr/>
        </p:nvSpPr>
        <p:spPr bwMode="auto">
          <a:xfrm>
            <a:off x="2051720" y="6165304"/>
            <a:ext cx="3024336" cy="476672"/>
          </a:xfrm>
          <a:prstGeom prst="right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a:ln w="9525" cap="flat" cmpd="sng" algn="ctr">
            <a:noFill/>
            <a:prstDash val="solid"/>
            <a:round/>
            <a:headEnd type="none" w="med" len="med"/>
            <a:tailEnd type="none" w="med" len="med"/>
          </a:ln>
          <a:effectLst>
            <a:outerShdw blurRad="50800" dist="38100" dir="5400000" algn="t" rotWithShape="0">
              <a:prstClr val="black">
                <a:alpha val="40000"/>
              </a:prstClr>
            </a:outerShdw>
            <a:reflection blurRad="6350" stA="52000" endA="300" endPos="35000" dir="5400000" sy="-100000" algn="bl" rotWithShape="0"/>
          </a:effectLst>
        </p:spPr>
        <p:txBody>
          <a:bodyPr vert="horz" wrap="none" lIns="92075" tIns="46038" rIns="92075" bIns="46038"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000" b="0" i="0" u="none" strike="noStrike" cap="none" normalizeH="0" baseline="0" dirty="0" smtClean="0">
                <a:ln>
                  <a:noFill/>
                </a:ln>
                <a:solidFill>
                  <a:schemeClr val="tx1"/>
                </a:solidFill>
                <a:effectLst/>
                <a:latin typeface="Times New Roman" pitchFamily="18" charset="0"/>
                <a:ea typeface="新細明體" pitchFamily="18" charset="-120"/>
              </a:rPr>
              <a:t>Remote Copy</a:t>
            </a:r>
            <a:endParaRPr kumimoji="1" lang="zh-TW" altLang="en-US" sz="1000" b="0" i="0" u="none" strike="noStrike" cap="none" normalizeH="0" baseline="0" dirty="0" smtClean="0">
              <a:ln>
                <a:noFill/>
              </a:ln>
              <a:solidFill>
                <a:schemeClr val="tx1"/>
              </a:solidFill>
              <a:effectLst/>
              <a:latin typeface="Times New Roman" pitchFamily="18" charset="0"/>
              <a:ea typeface="新細明體" pitchFamily="18" charset="-120"/>
            </a:endParaRPr>
          </a:p>
        </p:txBody>
      </p:sp>
      <p:sp>
        <p:nvSpPr>
          <p:cNvPr id="333" name="手繪多邊形 332"/>
          <p:cNvSpPr/>
          <p:nvPr/>
        </p:nvSpPr>
        <p:spPr bwMode="auto">
          <a:xfrm>
            <a:off x="1979712" y="5661248"/>
            <a:ext cx="3096344" cy="576064"/>
          </a:xfrm>
          <a:custGeom>
            <a:avLst/>
            <a:gdLst>
              <a:gd name="connsiteX0" fmla="*/ 16781 w 587565"/>
              <a:gd name="connsiteY0" fmla="*/ 235134 h 235134"/>
              <a:gd name="connsiteX1" fmla="*/ 29481 w 587565"/>
              <a:gd name="connsiteY1" fmla="*/ 133534 h 235134"/>
              <a:gd name="connsiteX2" fmla="*/ 499381 w 587565"/>
              <a:gd name="connsiteY2" fmla="*/ 44634 h 235134"/>
              <a:gd name="connsiteX3" fmla="*/ 524781 w 587565"/>
              <a:gd name="connsiteY3" fmla="*/ 6534 h 235134"/>
              <a:gd name="connsiteX0" fmla="*/ 1134029 w 1704813"/>
              <a:gd name="connsiteY0" fmla="*/ 235134 h 943795"/>
              <a:gd name="connsiteX1" fmla="*/ 2117 w 1704813"/>
              <a:gd name="connsiteY1" fmla="*/ 926862 h 943795"/>
              <a:gd name="connsiteX2" fmla="*/ 1146729 w 1704813"/>
              <a:gd name="connsiteY2" fmla="*/ 133534 h 943795"/>
              <a:gd name="connsiteX3" fmla="*/ 1616629 w 1704813"/>
              <a:gd name="connsiteY3" fmla="*/ 44634 h 943795"/>
              <a:gd name="connsiteX4" fmla="*/ 1642029 w 1704813"/>
              <a:gd name="connsiteY4" fmla="*/ 6534 h 943795"/>
              <a:gd name="connsiteX0" fmla="*/ 1134029 w 1616629"/>
              <a:gd name="connsiteY0" fmla="*/ 190500 h 899161"/>
              <a:gd name="connsiteX1" fmla="*/ 2117 w 1616629"/>
              <a:gd name="connsiteY1" fmla="*/ 882228 h 899161"/>
              <a:gd name="connsiteX2" fmla="*/ 1146729 w 1616629"/>
              <a:gd name="connsiteY2" fmla="*/ 88900 h 899161"/>
              <a:gd name="connsiteX3" fmla="*/ 1616629 w 1616629"/>
              <a:gd name="connsiteY3" fmla="*/ 0 h 899161"/>
              <a:gd name="connsiteX0" fmla="*/ 1134029 w 3170469"/>
              <a:gd name="connsiteY0" fmla="*/ 177068 h 885729"/>
              <a:gd name="connsiteX1" fmla="*/ 2117 w 3170469"/>
              <a:gd name="connsiteY1" fmla="*/ 868796 h 885729"/>
              <a:gd name="connsiteX2" fmla="*/ 1146729 w 3170469"/>
              <a:gd name="connsiteY2" fmla="*/ 75468 h 885729"/>
              <a:gd name="connsiteX3" fmla="*/ 3170469 w 3170469"/>
              <a:gd name="connsiteY3" fmla="*/ 724780 h 885729"/>
              <a:gd name="connsiteX0" fmla="*/ 0 w 3168352"/>
              <a:gd name="connsiteY0" fmla="*/ 868796 h 868796"/>
              <a:gd name="connsiteX1" fmla="*/ 1144612 w 3168352"/>
              <a:gd name="connsiteY1" fmla="*/ 75468 h 868796"/>
              <a:gd name="connsiteX2" fmla="*/ 3168352 w 3168352"/>
              <a:gd name="connsiteY2" fmla="*/ 724780 h 868796"/>
              <a:gd name="connsiteX0" fmla="*/ 0 w 3168352"/>
              <a:gd name="connsiteY0" fmla="*/ 793328 h 793328"/>
              <a:gd name="connsiteX1" fmla="*/ 1144612 w 3168352"/>
              <a:gd name="connsiteY1" fmla="*/ 0 h 793328"/>
              <a:gd name="connsiteX2" fmla="*/ 3168352 w 3168352"/>
              <a:gd name="connsiteY2" fmla="*/ 649312 h 793328"/>
              <a:gd name="connsiteX0" fmla="*/ 0 w 3168352"/>
              <a:gd name="connsiteY0" fmla="*/ 720080 h 720080"/>
              <a:gd name="connsiteX1" fmla="*/ 1512167 w 3168352"/>
              <a:gd name="connsiteY1" fmla="*/ 0 h 720080"/>
              <a:gd name="connsiteX2" fmla="*/ 3168352 w 3168352"/>
              <a:gd name="connsiteY2" fmla="*/ 576064 h 720080"/>
              <a:gd name="connsiteX0" fmla="*/ 0 w 3168352"/>
              <a:gd name="connsiteY0" fmla="*/ 720080 h 720080"/>
              <a:gd name="connsiteX1" fmla="*/ 1512167 w 3168352"/>
              <a:gd name="connsiteY1" fmla="*/ 0 h 720080"/>
              <a:gd name="connsiteX2" fmla="*/ 3168352 w 3168352"/>
              <a:gd name="connsiteY2" fmla="*/ 576064 h 720080"/>
              <a:gd name="connsiteX0" fmla="*/ 0 w 3096345"/>
              <a:gd name="connsiteY0" fmla="*/ 648072 h 648072"/>
              <a:gd name="connsiteX1" fmla="*/ 1440160 w 3096345"/>
              <a:gd name="connsiteY1" fmla="*/ 0 h 648072"/>
              <a:gd name="connsiteX2" fmla="*/ 3096345 w 3096345"/>
              <a:gd name="connsiteY2" fmla="*/ 576064 h 648072"/>
              <a:gd name="connsiteX0" fmla="*/ 0 w 3024336"/>
              <a:gd name="connsiteY0" fmla="*/ 648072 h 730661"/>
              <a:gd name="connsiteX1" fmla="*/ 1440160 w 3024336"/>
              <a:gd name="connsiteY1" fmla="*/ 0 h 730661"/>
              <a:gd name="connsiteX2" fmla="*/ 3024336 w 3024336"/>
              <a:gd name="connsiteY2" fmla="*/ 720080 h 730661"/>
              <a:gd name="connsiteX0" fmla="*/ 0 w 3024336"/>
              <a:gd name="connsiteY0" fmla="*/ 648072 h 720080"/>
              <a:gd name="connsiteX1" fmla="*/ 1440160 w 3024336"/>
              <a:gd name="connsiteY1" fmla="*/ 0 h 720080"/>
              <a:gd name="connsiteX2" fmla="*/ 3024336 w 3024336"/>
              <a:gd name="connsiteY2" fmla="*/ 720080 h 720080"/>
              <a:gd name="connsiteX0" fmla="*/ 0 w 3024336"/>
              <a:gd name="connsiteY0" fmla="*/ 504056 h 576064"/>
              <a:gd name="connsiteX1" fmla="*/ 1440160 w 3024336"/>
              <a:gd name="connsiteY1" fmla="*/ 0 h 576064"/>
              <a:gd name="connsiteX2" fmla="*/ 3024336 w 3024336"/>
              <a:gd name="connsiteY2" fmla="*/ 576064 h 576064"/>
            </a:gdLst>
            <a:ahLst/>
            <a:cxnLst>
              <a:cxn ang="0">
                <a:pos x="connsiteX0" y="connsiteY0"/>
              </a:cxn>
              <a:cxn ang="0">
                <a:pos x="connsiteX1" y="connsiteY1"/>
              </a:cxn>
              <a:cxn ang="0">
                <a:pos x="connsiteX2" y="connsiteY2"/>
              </a:cxn>
            </a:cxnLst>
            <a:rect l="l" t="t" r="r" b="b"/>
            <a:pathLst>
              <a:path w="3024336" h="576064">
                <a:moveTo>
                  <a:pt x="0" y="504056"/>
                </a:moveTo>
                <a:cubicBezTo>
                  <a:pt x="2117" y="487123"/>
                  <a:pt x="479979" y="57985"/>
                  <a:pt x="1440160" y="0"/>
                </a:cubicBezTo>
                <a:cubicBezTo>
                  <a:pt x="2548302" y="8000"/>
                  <a:pt x="2981995" y="453717"/>
                  <a:pt x="3024336" y="576064"/>
                </a:cubicBezTo>
              </a:path>
            </a:pathLst>
          </a:cu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smtClean="0">
              <a:ln>
                <a:noFill/>
              </a:ln>
              <a:solidFill>
                <a:schemeClr val="tx1"/>
              </a:solidFill>
              <a:effectLst/>
              <a:latin typeface="Times New Roman" pitchFamily="18" charset="0"/>
              <a:ea typeface="新細明體" pitchFamily="18" charset="-120"/>
            </a:endParaRPr>
          </a:p>
        </p:txBody>
      </p:sp>
      <p:sp>
        <p:nvSpPr>
          <p:cNvPr id="334" name="文字方塊 333"/>
          <p:cNvSpPr txBox="1"/>
          <p:nvPr/>
        </p:nvSpPr>
        <p:spPr>
          <a:xfrm>
            <a:off x="3059832" y="5733256"/>
            <a:ext cx="902811" cy="369332"/>
          </a:xfrm>
          <a:prstGeom prst="rect">
            <a:avLst/>
          </a:prstGeom>
          <a:noFill/>
        </p:spPr>
        <p:txBody>
          <a:bodyPr wrap="none" rtlCol="0">
            <a:spAutoFit/>
          </a:bodyPr>
          <a:lstStyle/>
          <a:p>
            <a:r>
              <a:rPr lang="en-US" altLang="zh-TW" dirty="0" smtClean="0"/>
              <a:t>L3VPN</a:t>
            </a:r>
            <a:endParaRPr lang="zh-TW" altLang="en-US" dirty="0"/>
          </a:p>
        </p:txBody>
      </p:sp>
      <p:sp>
        <p:nvSpPr>
          <p:cNvPr id="337" name="圓角矩形 336"/>
          <p:cNvSpPr/>
          <p:nvPr/>
        </p:nvSpPr>
        <p:spPr bwMode="auto">
          <a:xfrm>
            <a:off x="2771800" y="1268760"/>
            <a:ext cx="360040" cy="576064"/>
          </a:xfrm>
          <a:prstGeom prst="roundRect">
            <a:avLst/>
          </a:prstGeom>
          <a:noFill/>
          <a:ln w="28575" cap="flat" cmpd="sng" algn="ctr">
            <a:solidFill>
              <a:srgbClr val="FF0000"/>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FW</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338" name="圓角矩形 337"/>
          <p:cNvSpPr/>
          <p:nvPr/>
        </p:nvSpPr>
        <p:spPr bwMode="auto">
          <a:xfrm>
            <a:off x="3131840" y="1268760"/>
            <a:ext cx="351656" cy="576064"/>
          </a:xfrm>
          <a:prstGeom prst="roundRect">
            <a:avLst/>
          </a:prstGeom>
          <a:noFill/>
          <a:ln w="28575" cap="flat" cmpd="sng" algn="ctr">
            <a:solidFill>
              <a:srgbClr val="FFC000"/>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FW</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339" name="圓角矩形 338"/>
          <p:cNvSpPr/>
          <p:nvPr/>
        </p:nvSpPr>
        <p:spPr bwMode="auto">
          <a:xfrm>
            <a:off x="3491880" y="1268760"/>
            <a:ext cx="432048" cy="576064"/>
          </a:xfrm>
          <a:prstGeom prst="roundRect">
            <a:avLst/>
          </a:prstGeom>
          <a:no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FW</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344" name="圓角矩形 343"/>
          <p:cNvSpPr/>
          <p:nvPr/>
        </p:nvSpPr>
        <p:spPr bwMode="auto">
          <a:xfrm>
            <a:off x="683568" y="1268760"/>
            <a:ext cx="360040" cy="576064"/>
          </a:xfrm>
          <a:prstGeom prst="roundRect">
            <a:avLst/>
          </a:prstGeom>
          <a:noFill/>
          <a:ln w="28575" cap="flat" cmpd="sng" algn="ctr">
            <a:solidFill>
              <a:srgbClr val="FF0000"/>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FW</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345" name="圓角矩形 344"/>
          <p:cNvSpPr/>
          <p:nvPr/>
        </p:nvSpPr>
        <p:spPr bwMode="auto">
          <a:xfrm>
            <a:off x="1043608" y="1268760"/>
            <a:ext cx="351656" cy="576064"/>
          </a:xfrm>
          <a:prstGeom prst="roundRect">
            <a:avLst/>
          </a:prstGeom>
          <a:noFill/>
          <a:ln w="28575" cap="flat" cmpd="sng" algn="ctr">
            <a:solidFill>
              <a:srgbClr val="FFC000"/>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FW</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346" name="圓角矩形 345"/>
          <p:cNvSpPr/>
          <p:nvPr/>
        </p:nvSpPr>
        <p:spPr bwMode="auto">
          <a:xfrm>
            <a:off x="1403648" y="1268760"/>
            <a:ext cx="432048" cy="576064"/>
          </a:xfrm>
          <a:prstGeom prst="roundRect">
            <a:avLst/>
          </a:prstGeom>
          <a:no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FW</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103" name="圓角矩形 102"/>
          <p:cNvSpPr/>
          <p:nvPr/>
        </p:nvSpPr>
        <p:spPr bwMode="auto">
          <a:xfrm>
            <a:off x="619944" y="2429272"/>
            <a:ext cx="3384376"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en-US" altLang="zh-TW" dirty="0" smtClean="0">
                <a:solidFill>
                  <a:srgbClr val="0000CC"/>
                </a:solidFill>
              </a:rPr>
              <a:t>WS-C3750X-48T-S</a:t>
            </a:r>
            <a:endParaRPr lang="zh-TW" altLang="en-US" dirty="0" smtClean="0">
              <a:solidFill>
                <a:srgbClr val="0000CC"/>
              </a:solidFill>
            </a:endParaRPr>
          </a:p>
        </p:txBody>
      </p:sp>
      <p:sp>
        <p:nvSpPr>
          <p:cNvPr id="107" name="圓角矩形 106"/>
          <p:cNvSpPr/>
          <p:nvPr/>
        </p:nvSpPr>
        <p:spPr bwMode="auto">
          <a:xfrm>
            <a:off x="5220072" y="2420888"/>
            <a:ext cx="3384376"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algn="ctr"/>
            <a:r>
              <a:rPr lang="en-US" altLang="zh-TW" dirty="0" smtClean="0">
                <a:solidFill>
                  <a:srgbClr val="0000CC"/>
                </a:solidFill>
              </a:rPr>
              <a:t>WS-C3750X-48T-S</a:t>
            </a:r>
            <a:endParaRPr lang="zh-TW" altLang="en-US" dirty="0" smtClean="0">
              <a:solidFill>
                <a:srgbClr val="0000CC"/>
              </a:solidFill>
            </a:endParaRPr>
          </a:p>
        </p:txBody>
      </p:sp>
      <p:sp>
        <p:nvSpPr>
          <p:cNvPr id="108" name="矩形 107"/>
          <p:cNvSpPr/>
          <p:nvPr/>
        </p:nvSpPr>
        <p:spPr bwMode="auto">
          <a:xfrm>
            <a:off x="7452320" y="1700808"/>
            <a:ext cx="288032" cy="216024"/>
          </a:xfrm>
          <a:prstGeom prst="rect">
            <a:avLst/>
          </a:prstGeom>
          <a:solidFill>
            <a:schemeClr val="accent1"/>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smtClean="0">
              <a:ln>
                <a:noFill/>
              </a:ln>
              <a:solidFill>
                <a:schemeClr val="tx1"/>
              </a:solidFill>
              <a:effectLst/>
              <a:latin typeface="Times New Roman" pitchFamily="18" charset="0"/>
              <a:ea typeface="新細明體" pitchFamily="18" charset="-120"/>
            </a:endParaRPr>
          </a:p>
        </p:txBody>
      </p:sp>
      <p:cxnSp>
        <p:nvCxnSpPr>
          <p:cNvPr id="109" name="直線接點 108"/>
          <p:cNvCxnSpPr/>
          <p:nvPr/>
        </p:nvCxnSpPr>
        <p:spPr bwMode="auto">
          <a:xfrm>
            <a:off x="7524328" y="1916832"/>
            <a:ext cx="0" cy="43204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10" name="矩形 109"/>
          <p:cNvSpPr/>
          <p:nvPr/>
        </p:nvSpPr>
        <p:spPr bwMode="auto">
          <a:xfrm>
            <a:off x="7812360" y="1700808"/>
            <a:ext cx="288032" cy="216024"/>
          </a:xfrm>
          <a:prstGeom prst="rect">
            <a:avLst/>
          </a:prstGeom>
          <a:solidFill>
            <a:schemeClr val="accent1"/>
          </a:solidFill>
          <a:ln w="9525" cap="flat" cmpd="sng" algn="ctr">
            <a:solidFill>
              <a:srgbClr val="FFFF0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smtClean="0">
              <a:ln>
                <a:noFill/>
              </a:ln>
              <a:solidFill>
                <a:schemeClr val="tx1"/>
              </a:solidFill>
              <a:effectLst/>
              <a:latin typeface="Times New Roman" pitchFamily="18" charset="0"/>
              <a:ea typeface="新細明體" pitchFamily="18" charset="-120"/>
            </a:endParaRPr>
          </a:p>
        </p:txBody>
      </p:sp>
      <p:cxnSp>
        <p:nvCxnSpPr>
          <p:cNvPr id="111" name="直線接點 110"/>
          <p:cNvCxnSpPr/>
          <p:nvPr/>
        </p:nvCxnSpPr>
        <p:spPr bwMode="auto">
          <a:xfrm>
            <a:off x="7884368" y="1916832"/>
            <a:ext cx="0" cy="43204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12" name="矩形 111"/>
          <p:cNvSpPr/>
          <p:nvPr/>
        </p:nvSpPr>
        <p:spPr bwMode="auto">
          <a:xfrm>
            <a:off x="8172400" y="1700808"/>
            <a:ext cx="288032" cy="216024"/>
          </a:xfrm>
          <a:prstGeom prst="rect">
            <a:avLst/>
          </a:prstGeom>
          <a:solidFill>
            <a:schemeClr val="accent1"/>
          </a:solidFill>
          <a:ln w="9525" cap="flat" cmpd="sng" algn="ctr">
            <a:solidFill>
              <a:srgbClr val="7030A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1800" b="0" i="0" u="none" strike="noStrike" cap="none" normalizeH="0" baseline="0" smtClean="0">
              <a:ln>
                <a:noFill/>
              </a:ln>
              <a:solidFill>
                <a:schemeClr val="tx1"/>
              </a:solidFill>
              <a:effectLst/>
              <a:latin typeface="Times New Roman" pitchFamily="18" charset="0"/>
              <a:ea typeface="新細明體" pitchFamily="18" charset="-120"/>
            </a:endParaRPr>
          </a:p>
        </p:txBody>
      </p:sp>
      <p:cxnSp>
        <p:nvCxnSpPr>
          <p:cNvPr id="113" name="直線接點 112"/>
          <p:cNvCxnSpPr/>
          <p:nvPr/>
        </p:nvCxnSpPr>
        <p:spPr bwMode="auto">
          <a:xfrm>
            <a:off x="8244408" y="1916832"/>
            <a:ext cx="0" cy="43204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14" name="直線接點 113"/>
          <p:cNvCxnSpPr/>
          <p:nvPr/>
        </p:nvCxnSpPr>
        <p:spPr bwMode="auto">
          <a:xfrm>
            <a:off x="8388424" y="2060848"/>
            <a:ext cx="360040" cy="0"/>
          </a:xfrm>
          <a:prstGeom prst="line">
            <a:avLst/>
          </a:prstGeom>
          <a:solidFill>
            <a:schemeClr val="accent1"/>
          </a:solidFill>
          <a:ln w="57150" cap="flat" cmpd="sng" algn="ctr">
            <a:solidFill>
              <a:schemeClr val="bg2"/>
            </a:solidFill>
            <a:prstDash val="sysDot"/>
            <a:round/>
            <a:headEnd type="none" w="med" len="med"/>
            <a:tailEnd type="none" w="med" len="med"/>
          </a:ln>
          <a:effectLst/>
        </p:spPr>
      </p:cxnSp>
      <p:sp>
        <p:nvSpPr>
          <p:cNvPr id="115" name="圓角矩形 114"/>
          <p:cNvSpPr/>
          <p:nvPr/>
        </p:nvSpPr>
        <p:spPr bwMode="auto">
          <a:xfrm>
            <a:off x="7380312" y="1268760"/>
            <a:ext cx="360040" cy="576064"/>
          </a:xfrm>
          <a:prstGeom prst="roundRect">
            <a:avLst/>
          </a:prstGeom>
          <a:noFill/>
          <a:ln w="28575" cap="flat" cmpd="sng" algn="ctr">
            <a:solidFill>
              <a:srgbClr val="FF0000"/>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FW</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116" name="圓角矩形 115"/>
          <p:cNvSpPr/>
          <p:nvPr/>
        </p:nvSpPr>
        <p:spPr bwMode="auto">
          <a:xfrm>
            <a:off x="7740352" y="1268760"/>
            <a:ext cx="351656" cy="576064"/>
          </a:xfrm>
          <a:prstGeom prst="roundRect">
            <a:avLst/>
          </a:prstGeom>
          <a:noFill/>
          <a:ln w="28575" cap="flat" cmpd="sng" algn="ctr">
            <a:solidFill>
              <a:srgbClr val="FFC000"/>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FW</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117" name="圓角矩形 116"/>
          <p:cNvSpPr/>
          <p:nvPr/>
        </p:nvSpPr>
        <p:spPr bwMode="auto">
          <a:xfrm>
            <a:off x="8100392" y="1268760"/>
            <a:ext cx="432048" cy="576064"/>
          </a:xfrm>
          <a:prstGeom prst="roundRect">
            <a:avLst/>
          </a:prstGeom>
          <a:no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FW</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121" name="文字方塊 120"/>
          <p:cNvSpPr txBox="1"/>
          <p:nvPr/>
        </p:nvSpPr>
        <p:spPr>
          <a:xfrm>
            <a:off x="2051720" y="1124744"/>
            <a:ext cx="518091" cy="369332"/>
          </a:xfrm>
          <a:prstGeom prst="rect">
            <a:avLst/>
          </a:prstGeom>
          <a:noFill/>
        </p:spPr>
        <p:txBody>
          <a:bodyPr wrap="none" rtlCol="0">
            <a:spAutoFit/>
          </a:bodyPr>
          <a:lstStyle/>
          <a:p>
            <a:r>
              <a:rPr lang="en-US" altLang="zh-TW" dirty="0" smtClean="0"/>
              <a:t>HA</a:t>
            </a:r>
            <a:endParaRPr lang="zh-TW" altLang="en-US" dirty="0"/>
          </a:p>
        </p:txBody>
      </p:sp>
      <p:cxnSp>
        <p:nvCxnSpPr>
          <p:cNvPr id="123" name="直線接點 122"/>
          <p:cNvCxnSpPr/>
          <p:nvPr/>
        </p:nvCxnSpPr>
        <p:spPr>
          <a:xfrm>
            <a:off x="1907704" y="1484784"/>
            <a:ext cx="792088" cy="0"/>
          </a:xfrm>
          <a:prstGeom prst="line">
            <a:avLst/>
          </a:prstGeom>
          <a:ln w="28575">
            <a:solidFill>
              <a:srgbClr val="00B050"/>
            </a:solidFill>
            <a:prstDash val="sysDot"/>
          </a:ln>
        </p:spPr>
        <p:style>
          <a:lnRef idx="1">
            <a:schemeClr val="accent1"/>
          </a:lnRef>
          <a:fillRef idx="0">
            <a:schemeClr val="accent1"/>
          </a:fillRef>
          <a:effectRef idx="0">
            <a:schemeClr val="accent1"/>
          </a:effectRef>
          <a:fontRef idx="minor">
            <a:schemeClr val="tx1"/>
          </a:fontRef>
        </p:style>
      </p:cxnSp>
      <p:sp>
        <p:nvSpPr>
          <p:cNvPr id="154" name="矩形 153"/>
          <p:cNvSpPr/>
          <p:nvPr/>
        </p:nvSpPr>
        <p:spPr bwMode="auto">
          <a:xfrm>
            <a:off x="7452320" y="2357264"/>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155" name="矩形 154"/>
          <p:cNvSpPr/>
          <p:nvPr/>
        </p:nvSpPr>
        <p:spPr bwMode="auto">
          <a:xfrm>
            <a:off x="7812360" y="2357264"/>
            <a:ext cx="144016" cy="144016"/>
          </a:xfrm>
          <a:prstGeom prst="rect">
            <a:avLst/>
          </a:prstGeom>
          <a:solidFill>
            <a:srgbClr val="FFFF00"/>
          </a:solidFill>
          <a:ln w="9525" cap="flat" cmpd="sng" algn="ctr">
            <a:solidFill>
              <a:srgbClr val="FFFF0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156" name="矩形 155"/>
          <p:cNvSpPr/>
          <p:nvPr/>
        </p:nvSpPr>
        <p:spPr bwMode="auto">
          <a:xfrm>
            <a:off x="8172400" y="2357264"/>
            <a:ext cx="144016" cy="144016"/>
          </a:xfrm>
          <a:prstGeom prst="rect">
            <a:avLst/>
          </a:prstGeom>
          <a:solidFill>
            <a:srgbClr val="0000CC"/>
          </a:solidFill>
          <a:ln w="9525" cap="flat" cmpd="sng" algn="ctr">
            <a:solidFill>
              <a:srgbClr val="7030A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157" name="矩形 156"/>
          <p:cNvSpPr/>
          <p:nvPr/>
        </p:nvSpPr>
        <p:spPr bwMode="auto">
          <a:xfrm>
            <a:off x="2843808" y="2348880"/>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158" name="矩形 157"/>
          <p:cNvSpPr/>
          <p:nvPr/>
        </p:nvSpPr>
        <p:spPr bwMode="auto">
          <a:xfrm>
            <a:off x="3203848" y="2348880"/>
            <a:ext cx="144016" cy="144016"/>
          </a:xfrm>
          <a:prstGeom prst="rect">
            <a:avLst/>
          </a:prstGeom>
          <a:solidFill>
            <a:srgbClr val="FFFF00"/>
          </a:solidFill>
          <a:ln w="9525" cap="flat" cmpd="sng" algn="ctr">
            <a:solidFill>
              <a:srgbClr val="FFFF0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159" name="矩形 158"/>
          <p:cNvSpPr/>
          <p:nvPr/>
        </p:nvSpPr>
        <p:spPr bwMode="auto">
          <a:xfrm>
            <a:off x="3563888" y="2348880"/>
            <a:ext cx="144016" cy="144016"/>
          </a:xfrm>
          <a:prstGeom prst="rect">
            <a:avLst/>
          </a:prstGeom>
          <a:solidFill>
            <a:srgbClr val="0000CC"/>
          </a:solidFill>
          <a:ln w="9525" cap="flat" cmpd="sng" algn="ctr">
            <a:solidFill>
              <a:srgbClr val="7030A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176" name="矩形 175"/>
          <p:cNvSpPr/>
          <p:nvPr/>
        </p:nvSpPr>
        <p:spPr bwMode="auto">
          <a:xfrm>
            <a:off x="539552" y="3068960"/>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177" name="矩形 176"/>
          <p:cNvSpPr/>
          <p:nvPr/>
        </p:nvSpPr>
        <p:spPr bwMode="auto">
          <a:xfrm>
            <a:off x="683568" y="2924944"/>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178" name="矩形 177"/>
          <p:cNvSpPr/>
          <p:nvPr/>
        </p:nvSpPr>
        <p:spPr bwMode="auto">
          <a:xfrm>
            <a:off x="827584" y="3068960"/>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179" name="矩形 178"/>
          <p:cNvSpPr/>
          <p:nvPr/>
        </p:nvSpPr>
        <p:spPr bwMode="auto">
          <a:xfrm>
            <a:off x="971600" y="2924944"/>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180" name="矩形 179"/>
          <p:cNvSpPr/>
          <p:nvPr/>
        </p:nvSpPr>
        <p:spPr bwMode="auto">
          <a:xfrm>
            <a:off x="1259632" y="3068960"/>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181" name="矩形 180"/>
          <p:cNvSpPr/>
          <p:nvPr/>
        </p:nvSpPr>
        <p:spPr bwMode="auto">
          <a:xfrm>
            <a:off x="1403648" y="2924944"/>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182" name="矩形 181"/>
          <p:cNvSpPr/>
          <p:nvPr/>
        </p:nvSpPr>
        <p:spPr bwMode="auto">
          <a:xfrm>
            <a:off x="1547664" y="3068960"/>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183" name="矩形 182"/>
          <p:cNvSpPr/>
          <p:nvPr/>
        </p:nvSpPr>
        <p:spPr bwMode="auto">
          <a:xfrm>
            <a:off x="1691680" y="2924944"/>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184" name="直線接點 183"/>
          <p:cNvCxnSpPr>
            <a:stCxn id="176" idx="2"/>
          </p:cNvCxnSpPr>
          <p:nvPr/>
        </p:nvCxnSpPr>
        <p:spPr bwMode="auto">
          <a:xfrm>
            <a:off x="611560" y="3212976"/>
            <a:ext cx="0" cy="79208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86" name="直線接點 185"/>
          <p:cNvCxnSpPr>
            <a:stCxn id="177" idx="2"/>
          </p:cNvCxnSpPr>
          <p:nvPr/>
        </p:nvCxnSpPr>
        <p:spPr bwMode="auto">
          <a:xfrm>
            <a:off x="755576" y="3068960"/>
            <a:ext cx="0" cy="936104"/>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11" name="矩形 210"/>
          <p:cNvSpPr/>
          <p:nvPr/>
        </p:nvSpPr>
        <p:spPr bwMode="auto">
          <a:xfrm>
            <a:off x="539552" y="3933056"/>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214" name="矩形 213"/>
          <p:cNvSpPr/>
          <p:nvPr/>
        </p:nvSpPr>
        <p:spPr bwMode="auto">
          <a:xfrm>
            <a:off x="683568" y="3933056"/>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216" name="矩形 215"/>
          <p:cNvSpPr/>
          <p:nvPr/>
        </p:nvSpPr>
        <p:spPr bwMode="auto">
          <a:xfrm>
            <a:off x="827584" y="4077072"/>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217" name="矩形 216"/>
          <p:cNvSpPr/>
          <p:nvPr/>
        </p:nvSpPr>
        <p:spPr bwMode="auto">
          <a:xfrm>
            <a:off x="971600" y="4077072"/>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218" name="直線接點 217"/>
          <p:cNvCxnSpPr>
            <a:endCxn id="217" idx="0"/>
          </p:cNvCxnSpPr>
          <p:nvPr/>
        </p:nvCxnSpPr>
        <p:spPr bwMode="auto">
          <a:xfrm>
            <a:off x="1043608" y="3068960"/>
            <a:ext cx="0" cy="1008112"/>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220" name="直線接點 219"/>
          <p:cNvCxnSpPr>
            <a:endCxn id="216" idx="0"/>
          </p:cNvCxnSpPr>
          <p:nvPr/>
        </p:nvCxnSpPr>
        <p:spPr bwMode="auto">
          <a:xfrm>
            <a:off x="899592" y="3212976"/>
            <a:ext cx="0" cy="864096"/>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22" name="矩形 221"/>
          <p:cNvSpPr/>
          <p:nvPr/>
        </p:nvSpPr>
        <p:spPr bwMode="auto">
          <a:xfrm>
            <a:off x="1259632" y="4221088"/>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223" name="矩形 222"/>
          <p:cNvSpPr/>
          <p:nvPr/>
        </p:nvSpPr>
        <p:spPr bwMode="auto">
          <a:xfrm>
            <a:off x="1403648" y="4221088"/>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224" name="矩形 223"/>
          <p:cNvSpPr/>
          <p:nvPr/>
        </p:nvSpPr>
        <p:spPr bwMode="auto">
          <a:xfrm>
            <a:off x="1547664" y="4437112"/>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225" name="矩形 224"/>
          <p:cNvSpPr/>
          <p:nvPr/>
        </p:nvSpPr>
        <p:spPr bwMode="auto">
          <a:xfrm>
            <a:off x="1691680" y="4437112"/>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226" name="直線接點 225"/>
          <p:cNvCxnSpPr>
            <a:endCxn id="225" idx="0"/>
          </p:cNvCxnSpPr>
          <p:nvPr/>
        </p:nvCxnSpPr>
        <p:spPr bwMode="auto">
          <a:xfrm>
            <a:off x="1763688" y="3068960"/>
            <a:ext cx="0" cy="1368152"/>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228" name="直線接點 227"/>
          <p:cNvCxnSpPr>
            <a:endCxn id="223" idx="0"/>
          </p:cNvCxnSpPr>
          <p:nvPr/>
        </p:nvCxnSpPr>
        <p:spPr bwMode="auto">
          <a:xfrm>
            <a:off x="1475656" y="3068960"/>
            <a:ext cx="0" cy="115212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230" name="直線接點 229"/>
          <p:cNvCxnSpPr>
            <a:endCxn id="222" idx="0"/>
          </p:cNvCxnSpPr>
          <p:nvPr/>
        </p:nvCxnSpPr>
        <p:spPr bwMode="auto">
          <a:xfrm>
            <a:off x="1331640" y="3212976"/>
            <a:ext cx="0" cy="1008112"/>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233" name="直線接點 232"/>
          <p:cNvCxnSpPr>
            <a:endCxn id="224" idx="0"/>
          </p:cNvCxnSpPr>
          <p:nvPr/>
        </p:nvCxnSpPr>
        <p:spPr bwMode="auto">
          <a:xfrm>
            <a:off x="1619672" y="3212976"/>
            <a:ext cx="0" cy="1224136"/>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35" name="橢圓 234"/>
          <p:cNvSpPr/>
          <p:nvPr/>
        </p:nvSpPr>
        <p:spPr>
          <a:xfrm>
            <a:off x="539552" y="3501008"/>
            <a:ext cx="288032" cy="636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n>
                <a:solidFill>
                  <a:sysClr val="windowText" lastClr="000000"/>
                </a:solidFill>
              </a:ln>
            </a:endParaRPr>
          </a:p>
        </p:txBody>
      </p:sp>
      <p:sp>
        <p:nvSpPr>
          <p:cNvPr id="236" name="橢圓 235"/>
          <p:cNvSpPr/>
          <p:nvPr/>
        </p:nvSpPr>
        <p:spPr>
          <a:xfrm>
            <a:off x="827584" y="3653408"/>
            <a:ext cx="288032" cy="636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n>
                <a:solidFill>
                  <a:sysClr val="windowText" lastClr="000000"/>
                </a:solidFill>
              </a:ln>
            </a:endParaRPr>
          </a:p>
        </p:txBody>
      </p:sp>
      <p:sp>
        <p:nvSpPr>
          <p:cNvPr id="237" name="橢圓 236"/>
          <p:cNvSpPr/>
          <p:nvPr/>
        </p:nvSpPr>
        <p:spPr>
          <a:xfrm>
            <a:off x="1259632" y="3501008"/>
            <a:ext cx="288032" cy="636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n>
                <a:solidFill>
                  <a:sysClr val="windowText" lastClr="000000"/>
                </a:solidFill>
              </a:ln>
            </a:endParaRPr>
          </a:p>
        </p:txBody>
      </p:sp>
      <p:sp>
        <p:nvSpPr>
          <p:cNvPr id="238" name="橢圓 237"/>
          <p:cNvSpPr/>
          <p:nvPr/>
        </p:nvSpPr>
        <p:spPr>
          <a:xfrm>
            <a:off x="1547664" y="3717032"/>
            <a:ext cx="288032" cy="636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n>
                <a:solidFill>
                  <a:sysClr val="windowText" lastClr="000000"/>
                </a:solidFill>
              </a:ln>
            </a:endParaRPr>
          </a:p>
        </p:txBody>
      </p:sp>
      <p:sp>
        <p:nvSpPr>
          <p:cNvPr id="300" name="矩形 299"/>
          <p:cNvSpPr/>
          <p:nvPr/>
        </p:nvSpPr>
        <p:spPr bwMode="auto">
          <a:xfrm>
            <a:off x="2699792" y="2924944"/>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303" name="矩形 302"/>
          <p:cNvSpPr/>
          <p:nvPr/>
        </p:nvSpPr>
        <p:spPr bwMode="auto">
          <a:xfrm>
            <a:off x="2843808" y="3077344"/>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305" name="矩形 304"/>
          <p:cNvSpPr/>
          <p:nvPr/>
        </p:nvSpPr>
        <p:spPr bwMode="auto">
          <a:xfrm>
            <a:off x="2699792" y="3501008"/>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308" name="矩形 307"/>
          <p:cNvSpPr/>
          <p:nvPr/>
        </p:nvSpPr>
        <p:spPr bwMode="auto">
          <a:xfrm>
            <a:off x="2843808" y="3501008"/>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310" name="直線接點 309"/>
          <p:cNvCxnSpPr>
            <a:endCxn id="305" idx="0"/>
          </p:cNvCxnSpPr>
          <p:nvPr/>
        </p:nvCxnSpPr>
        <p:spPr bwMode="auto">
          <a:xfrm>
            <a:off x="2771800" y="3068960"/>
            <a:ext cx="0" cy="43204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16" name="直線接點 315"/>
          <p:cNvCxnSpPr/>
          <p:nvPr/>
        </p:nvCxnSpPr>
        <p:spPr bwMode="auto">
          <a:xfrm>
            <a:off x="3284240" y="3221360"/>
            <a:ext cx="0" cy="43204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17" name="矩形 316"/>
          <p:cNvSpPr/>
          <p:nvPr/>
        </p:nvSpPr>
        <p:spPr bwMode="auto">
          <a:xfrm>
            <a:off x="3059832" y="2924944"/>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318" name="矩形 317"/>
          <p:cNvSpPr/>
          <p:nvPr/>
        </p:nvSpPr>
        <p:spPr bwMode="auto">
          <a:xfrm>
            <a:off x="3203848" y="3077344"/>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321" name="矩形 320"/>
          <p:cNvSpPr/>
          <p:nvPr/>
        </p:nvSpPr>
        <p:spPr bwMode="auto">
          <a:xfrm>
            <a:off x="3059832" y="3645024"/>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323" name="矩形 322"/>
          <p:cNvSpPr/>
          <p:nvPr/>
        </p:nvSpPr>
        <p:spPr bwMode="auto">
          <a:xfrm>
            <a:off x="3203848" y="3645024"/>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324" name="直線接點 323"/>
          <p:cNvCxnSpPr>
            <a:stCxn id="317" idx="2"/>
            <a:endCxn id="321" idx="0"/>
          </p:cNvCxnSpPr>
          <p:nvPr/>
        </p:nvCxnSpPr>
        <p:spPr bwMode="auto">
          <a:xfrm>
            <a:off x="3131840" y="3068960"/>
            <a:ext cx="0" cy="576064"/>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25" name="直線接點 324"/>
          <p:cNvCxnSpPr>
            <a:endCxn id="329" idx="0"/>
          </p:cNvCxnSpPr>
          <p:nvPr/>
        </p:nvCxnSpPr>
        <p:spPr bwMode="auto">
          <a:xfrm flipH="1">
            <a:off x="3635896" y="3221360"/>
            <a:ext cx="8384" cy="56768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26" name="矩形 325"/>
          <p:cNvSpPr/>
          <p:nvPr/>
        </p:nvSpPr>
        <p:spPr bwMode="auto">
          <a:xfrm>
            <a:off x="3419872" y="2924944"/>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327" name="矩形 326"/>
          <p:cNvSpPr/>
          <p:nvPr/>
        </p:nvSpPr>
        <p:spPr bwMode="auto">
          <a:xfrm>
            <a:off x="3563888" y="3077344"/>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328" name="矩形 327"/>
          <p:cNvSpPr/>
          <p:nvPr/>
        </p:nvSpPr>
        <p:spPr bwMode="auto">
          <a:xfrm>
            <a:off x="3419872" y="3789040"/>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329" name="矩形 328"/>
          <p:cNvSpPr/>
          <p:nvPr/>
        </p:nvSpPr>
        <p:spPr bwMode="auto">
          <a:xfrm>
            <a:off x="3563888" y="3789040"/>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330" name="直線接點 329"/>
          <p:cNvCxnSpPr>
            <a:stCxn id="326" idx="2"/>
            <a:endCxn id="328" idx="0"/>
          </p:cNvCxnSpPr>
          <p:nvPr/>
        </p:nvCxnSpPr>
        <p:spPr bwMode="auto">
          <a:xfrm>
            <a:off x="3491880" y="3068960"/>
            <a:ext cx="0" cy="72008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31" name="直線接點 330"/>
          <p:cNvCxnSpPr>
            <a:endCxn id="343" idx="0"/>
          </p:cNvCxnSpPr>
          <p:nvPr/>
        </p:nvCxnSpPr>
        <p:spPr bwMode="auto">
          <a:xfrm flipH="1">
            <a:off x="3995936" y="3221360"/>
            <a:ext cx="8384" cy="783704"/>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40" name="矩形 339"/>
          <p:cNvSpPr/>
          <p:nvPr/>
        </p:nvSpPr>
        <p:spPr bwMode="auto">
          <a:xfrm>
            <a:off x="3779912" y="2924944"/>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341" name="矩形 340"/>
          <p:cNvSpPr/>
          <p:nvPr/>
        </p:nvSpPr>
        <p:spPr bwMode="auto">
          <a:xfrm>
            <a:off x="3923928" y="3077344"/>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342" name="矩形 341"/>
          <p:cNvSpPr/>
          <p:nvPr/>
        </p:nvSpPr>
        <p:spPr bwMode="auto">
          <a:xfrm>
            <a:off x="3779912" y="4005064"/>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343" name="矩形 342"/>
          <p:cNvSpPr/>
          <p:nvPr/>
        </p:nvSpPr>
        <p:spPr bwMode="auto">
          <a:xfrm>
            <a:off x="3923928" y="4005064"/>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350" name="直線接點 349"/>
          <p:cNvCxnSpPr>
            <a:stCxn id="340" idx="2"/>
            <a:endCxn id="342" idx="0"/>
          </p:cNvCxnSpPr>
          <p:nvPr/>
        </p:nvCxnSpPr>
        <p:spPr bwMode="auto">
          <a:xfrm>
            <a:off x="3851920" y="3068960"/>
            <a:ext cx="0" cy="936104"/>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56" name="橢圓 355"/>
          <p:cNvSpPr/>
          <p:nvPr/>
        </p:nvSpPr>
        <p:spPr>
          <a:xfrm>
            <a:off x="2699792" y="3284984"/>
            <a:ext cx="288032" cy="7200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n>
                <a:solidFill>
                  <a:sysClr val="windowText" lastClr="000000"/>
                </a:solidFill>
              </a:ln>
            </a:endParaRPr>
          </a:p>
        </p:txBody>
      </p:sp>
      <p:sp>
        <p:nvSpPr>
          <p:cNvPr id="357" name="橢圓 356"/>
          <p:cNvSpPr/>
          <p:nvPr/>
        </p:nvSpPr>
        <p:spPr>
          <a:xfrm>
            <a:off x="3059832" y="3356992"/>
            <a:ext cx="288032" cy="7200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n>
                <a:solidFill>
                  <a:sysClr val="windowText" lastClr="000000"/>
                </a:solidFill>
              </a:ln>
            </a:endParaRPr>
          </a:p>
        </p:txBody>
      </p:sp>
      <p:sp>
        <p:nvSpPr>
          <p:cNvPr id="358" name="橢圓 357"/>
          <p:cNvSpPr/>
          <p:nvPr/>
        </p:nvSpPr>
        <p:spPr>
          <a:xfrm>
            <a:off x="3419872" y="3356992"/>
            <a:ext cx="288032" cy="7200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n>
                <a:solidFill>
                  <a:sysClr val="windowText" lastClr="000000"/>
                </a:solidFill>
              </a:ln>
            </a:endParaRPr>
          </a:p>
        </p:txBody>
      </p:sp>
      <p:sp>
        <p:nvSpPr>
          <p:cNvPr id="359" name="橢圓 358"/>
          <p:cNvSpPr/>
          <p:nvPr/>
        </p:nvSpPr>
        <p:spPr>
          <a:xfrm>
            <a:off x="3779912" y="3573016"/>
            <a:ext cx="288032" cy="7200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n>
                <a:solidFill>
                  <a:sysClr val="windowText" lastClr="000000"/>
                </a:solidFill>
              </a:ln>
            </a:endParaRPr>
          </a:p>
        </p:txBody>
      </p:sp>
      <p:sp>
        <p:nvSpPr>
          <p:cNvPr id="361" name="文字方塊 360"/>
          <p:cNvSpPr txBox="1"/>
          <p:nvPr/>
        </p:nvSpPr>
        <p:spPr>
          <a:xfrm>
            <a:off x="4067944" y="3429000"/>
            <a:ext cx="418704" cy="215444"/>
          </a:xfrm>
          <a:prstGeom prst="rect">
            <a:avLst/>
          </a:prstGeom>
          <a:noFill/>
        </p:spPr>
        <p:txBody>
          <a:bodyPr wrap="none" rtlCol="0">
            <a:spAutoFit/>
          </a:bodyPr>
          <a:lstStyle/>
          <a:p>
            <a:r>
              <a:rPr lang="en-US" altLang="zh-TW" sz="800" dirty="0" smtClean="0"/>
              <a:t>dot1q</a:t>
            </a:r>
            <a:endParaRPr lang="zh-TW" altLang="en-US" sz="800" dirty="0"/>
          </a:p>
        </p:txBody>
      </p:sp>
      <p:sp>
        <p:nvSpPr>
          <p:cNvPr id="362" name="文字方塊 361"/>
          <p:cNvSpPr txBox="1"/>
          <p:nvPr/>
        </p:nvSpPr>
        <p:spPr>
          <a:xfrm>
            <a:off x="3491880" y="4653136"/>
            <a:ext cx="1008112" cy="461665"/>
          </a:xfrm>
          <a:prstGeom prst="rect">
            <a:avLst/>
          </a:prstGeom>
          <a:noFill/>
        </p:spPr>
        <p:txBody>
          <a:bodyPr wrap="square" rtlCol="0">
            <a:spAutoFit/>
          </a:bodyPr>
          <a:lstStyle/>
          <a:p>
            <a:pPr>
              <a:buFont typeface="Arial" pitchFamily="34" charset="0"/>
              <a:buChar char="•"/>
            </a:pPr>
            <a:r>
              <a:rPr lang="en-US" altLang="zh-TW" sz="800" dirty="0" smtClean="0"/>
              <a:t>Service/Production</a:t>
            </a:r>
          </a:p>
          <a:p>
            <a:pPr>
              <a:buFont typeface="Arial" pitchFamily="34" charset="0"/>
              <a:buChar char="•"/>
            </a:pPr>
            <a:r>
              <a:rPr lang="en-US" altLang="zh-TW" sz="800" dirty="0" err="1" smtClean="0"/>
              <a:t>vCenter</a:t>
            </a:r>
            <a:r>
              <a:rPr lang="en-US" altLang="zh-TW" sz="800" dirty="0" smtClean="0"/>
              <a:t>/Mgt</a:t>
            </a:r>
          </a:p>
          <a:p>
            <a:pPr>
              <a:buFont typeface="Arial" pitchFamily="34" charset="0"/>
              <a:buChar char="•"/>
            </a:pPr>
            <a:r>
              <a:rPr lang="en-US" altLang="zh-TW" sz="800" dirty="0" err="1" smtClean="0"/>
              <a:t>vMotion</a:t>
            </a:r>
            <a:r>
              <a:rPr lang="en-US" altLang="zh-TW" sz="800" dirty="0" smtClean="0"/>
              <a:t>/backup</a:t>
            </a:r>
            <a:endParaRPr lang="zh-TW" altLang="en-US" sz="800" dirty="0"/>
          </a:p>
        </p:txBody>
      </p:sp>
      <p:sp>
        <p:nvSpPr>
          <p:cNvPr id="364" name="矩形 363"/>
          <p:cNvSpPr/>
          <p:nvPr/>
        </p:nvSpPr>
        <p:spPr bwMode="auto">
          <a:xfrm>
            <a:off x="5724128" y="2924944"/>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366" name="矩形 365"/>
          <p:cNvSpPr/>
          <p:nvPr/>
        </p:nvSpPr>
        <p:spPr bwMode="auto">
          <a:xfrm>
            <a:off x="5724128" y="3924672"/>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368" name="直線接點 367"/>
          <p:cNvCxnSpPr>
            <a:stCxn id="364" idx="2"/>
            <a:endCxn id="366" idx="0"/>
          </p:cNvCxnSpPr>
          <p:nvPr/>
        </p:nvCxnSpPr>
        <p:spPr bwMode="auto">
          <a:xfrm>
            <a:off x="5796136" y="3068960"/>
            <a:ext cx="0" cy="855712"/>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05" name="圓角矩形 404"/>
          <p:cNvSpPr/>
          <p:nvPr/>
        </p:nvSpPr>
        <p:spPr bwMode="auto">
          <a:xfrm>
            <a:off x="6588224" y="3573016"/>
            <a:ext cx="1368152"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X86 Server</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406" name="圓角矩形 405"/>
          <p:cNvSpPr/>
          <p:nvPr/>
        </p:nvSpPr>
        <p:spPr bwMode="auto">
          <a:xfrm>
            <a:off x="6956648" y="3725416"/>
            <a:ext cx="1368152"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X86 Server</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407" name="圓角矩形 406"/>
          <p:cNvSpPr/>
          <p:nvPr/>
        </p:nvSpPr>
        <p:spPr bwMode="auto">
          <a:xfrm>
            <a:off x="7236296" y="3877816"/>
            <a:ext cx="1368152"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X86 Server</a:t>
            </a:r>
            <a:endParaRPr kumimoji="1" lang="zh-TW" altLang="en-US" sz="1800" b="0" i="0" u="none" strike="noStrike" cap="none" normalizeH="0" baseline="0" dirty="0" smtClean="0">
              <a:ln>
                <a:noFill/>
              </a:ln>
              <a:solidFill>
                <a:srgbClr val="0000CC"/>
              </a:solidFill>
              <a:effectLst/>
              <a:latin typeface="Times New Roman" pitchFamily="18" charset="0"/>
              <a:ea typeface="新細明體" pitchFamily="18" charset="-120"/>
            </a:endParaRPr>
          </a:p>
        </p:txBody>
      </p:sp>
      <p:sp>
        <p:nvSpPr>
          <p:cNvPr id="408" name="圓角矩形 407"/>
          <p:cNvSpPr/>
          <p:nvPr/>
        </p:nvSpPr>
        <p:spPr bwMode="auto">
          <a:xfrm>
            <a:off x="7596336" y="4077072"/>
            <a:ext cx="1368152" cy="576064"/>
          </a:xfrm>
          <a:prstGeom prst="roundRect">
            <a:avLst/>
          </a:prstGeom>
          <a:solidFill>
            <a:schemeClr val="bg1"/>
          </a:solidFill>
          <a:ln w="28575" cap="flat" cmpd="sng" algn="ctr">
            <a:solidFill>
              <a:srgbClr val="0000CC"/>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X86 Server</a:t>
            </a:r>
          </a:p>
          <a:p>
            <a:pPr marL="0" marR="0" indent="0" algn="ctr" defTabSz="914400" rtl="0" eaLnBrk="1" fontAlgn="base" latinLnBrk="0" hangingPunct="1">
              <a:lnSpc>
                <a:spcPct val="100000"/>
              </a:lnSpc>
              <a:spcBef>
                <a:spcPct val="0"/>
              </a:spcBef>
              <a:spcAft>
                <a:spcPct val="0"/>
              </a:spcAft>
              <a:buClrTx/>
              <a:buSzTx/>
              <a:buFontTx/>
              <a:buNone/>
              <a:tabLst/>
            </a:pPr>
            <a:r>
              <a:rPr lang="en-US" altLang="zh-TW" dirty="0" smtClean="0">
                <a:solidFill>
                  <a:srgbClr val="0000CC"/>
                </a:solidFill>
              </a:rPr>
              <a:t>(VM)</a:t>
            </a:r>
          </a:p>
        </p:txBody>
      </p:sp>
      <p:sp>
        <p:nvSpPr>
          <p:cNvPr id="409" name="矩形 408"/>
          <p:cNvSpPr/>
          <p:nvPr/>
        </p:nvSpPr>
        <p:spPr bwMode="auto">
          <a:xfrm>
            <a:off x="7164288" y="2924944"/>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10" name="矩形 409"/>
          <p:cNvSpPr/>
          <p:nvPr/>
        </p:nvSpPr>
        <p:spPr bwMode="auto">
          <a:xfrm>
            <a:off x="7308304" y="3068960"/>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11" name="矩形 410"/>
          <p:cNvSpPr/>
          <p:nvPr/>
        </p:nvSpPr>
        <p:spPr bwMode="auto">
          <a:xfrm>
            <a:off x="7164288" y="3501008"/>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12" name="矩形 411"/>
          <p:cNvSpPr/>
          <p:nvPr/>
        </p:nvSpPr>
        <p:spPr bwMode="auto">
          <a:xfrm>
            <a:off x="7308304" y="3501008"/>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413" name="直線接點 412"/>
          <p:cNvCxnSpPr>
            <a:endCxn id="411" idx="0"/>
          </p:cNvCxnSpPr>
          <p:nvPr/>
        </p:nvCxnSpPr>
        <p:spPr bwMode="auto">
          <a:xfrm>
            <a:off x="7236296" y="3068960"/>
            <a:ext cx="0" cy="43204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414" name="直線接點 413"/>
          <p:cNvCxnSpPr>
            <a:stCxn id="416" idx="2"/>
          </p:cNvCxnSpPr>
          <p:nvPr/>
        </p:nvCxnSpPr>
        <p:spPr bwMode="auto">
          <a:xfrm>
            <a:off x="7740352" y="3212976"/>
            <a:ext cx="8384" cy="58444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15" name="矩形 414"/>
          <p:cNvSpPr/>
          <p:nvPr/>
        </p:nvSpPr>
        <p:spPr bwMode="auto">
          <a:xfrm>
            <a:off x="7524328" y="2924944"/>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16" name="矩形 415"/>
          <p:cNvSpPr/>
          <p:nvPr/>
        </p:nvSpPr>
        <p:spPr bwMode="auto">
          <a:xfrm>
            <a:off x="7668344" y="3068960"/>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17" name="矩形 416"/>
          <p:cNvSpPr/>
          <p:nvPr/>
        </p:nvSpPr>
        <p:spPr bwMode="auto">
          <a:xfrm>
            <a:off x="7524328" y="3645024"/>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18" name="矩形 417"/>
          <p:cNvSpPr/>
          <p:nvPr/>
        </p:nvSpPr>
        <p:spPr bwMode="auto">
          <a:xfrm>
            <a:off x="7668344" y="3645024"/>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419" name="直線接點 418"/>
          <p:cNvCxnSpPr>
            <a:stCxn id="415" idx="2"/>
            <a:endCxn id="417" idx="0"/>
          </p:cNvCxnSpPr>
          <p:nvPr/>
        </p:nvCxnSpPr>
        <p:spPr bwMode="auto">
          <a:xfrm>
            <a:off x="7596336" y="3068960"/>
            <a:ext cx="0" cy="576064"/>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420" name="直線接點 419"/>
          <p:cNvCxnSpPr>
            <a:stCxn id="422" idx="2"/>
            <a:endCxn id="424" idx="0"/>
          </p:cNvCxnSpPr>
          <p:nvPr/>
        </p:nvCxnSpPr>
        <p:spPr bwMode="auto">
          <a:xfrm>
            <a:off x="8100392" y="3212976"/>
            <a:ext cx="0" cy="576064"/>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21" name="矩形 420"/>
          <p:cNvSpPr/>
          <p:nvPr/>
        </p:nvSpPr>
        <p:spPr bwMode="auto">
          <a:xfrm>
            <a:off x="7884368" y="2924944"/>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22" name="矩形 421"/>
          <p:cNvSpPr/>
          <p:nvPr/>
        </p:nvSpPr>
        <p:spPr bwMode="auto">
          <a:xfrm>
            <a:off x="8028384" y="3068960"/>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23" name="矩形 422"/>
          <p:cNvSpPr/>
          <p:nvPr/>
        </p:nvSpPr>
        <p:spPr bwMode="auto">
          <a:xfrm>
            <a:off x="7884368" y="3789040"/>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24" name="矩形 423"/>
          <p:cNvSpPr/>
          <p:nvPr/>
        </p:nvSpPr>
        <p:spPr bwMode="auto">
          <a:xfrm>
            <a:off x="8028384" y="3789040"/>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425" name="直線接點 424"/>
          <p:cNvCxnSpPr>
            <a:stCxn id="421" idx="2"/>
            <a:endCxn id="423" idx="0"/>
          </p:cNvCxnSpPr>
          <p:nvPr/>
        </p:nvCxnSpPr>
        <p:spPr bwMode="auto">
          <a:xfrm>
            <a:off x="7956376" y="3068960"/>
            <a:ext cx="0" cy="72008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426" name="直線接點 425"/>
          <p:cNvCxnSpPr>
            <a:stCxn id="428" idx="2"/>
            <a:endCxn id="430" idx="0"/>
          </p:cNvCxnSpPr>
          <p:nvPr/>
        </p:nvCxnSpPr>
        <p:spPr bwMode="auto">
          <a:xfrm>
            <a:off x="8460432" y="3212976"/>
            <a:ext cx="0" cy="79208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27" name="矩形 426"/>
          <p:cNvSpPr/>
          <p:nvPr/>
        </p:nvSpPr>
        <p:spPr bwMode="auto">
          <a:xfrm>
            <a:off x="8244408" y="2924944"/>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28" name="矩形 427"/>
          <p:cNvSpPr/>
          <p:nvPr/>
        </p:nvSpPr>
        <p:spPr bwMode="auto">
          <a:xfrm>
            <a:off x="8388424" y="3068960"/>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29" name="矩形 428"/>
          <p:cNvSpPr/>
          <p:nvPr/>
        </p:nvSpPr>
        <p:spPr bwMode="auto">
          <a:xfrm>
            <a:off x="8244408" y="4005064"/>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30" name="矩形 429"/>
          <p:cNvSpPr/>
          <p:nvPr/>
        </p:nvSpPr>
        <p:spPr bwMode="auto">
          <a:xfrm>
            <a:off x="8388424" y="4005064"/>
            <a:ext cx="144016" cy="144016"/>
          </a:xfrm>
          <a:prstGeom prst="rect">
            <a:avLst/>
          </a:prstGeom>
          <a:solidFill>
            <a:schemeClr val="bg2">
              <a:lumMod val="50000"/>
            </a:schemeClr>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431" name="直線接點 430"/>
          <p:cNvCxnSpPr>
            <a:stCxn id="427" idx="2"/>
            <a:endCxn id="429" idx="0"/>
          </p:cNvCxnSpPr>
          <p:nvPr/>
        </p:nvCxnSpPr>
        <p:spPr bwMode="auto">
          <a:xfrm>
            <a:off x="8316416" y="3068960"/>
            <a:ext cx="0" cy="936104"/>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32" name="橢圓 431"/>
          <p:cNvSpPr/>
          <p:nvPr/>
        </p:nvSpPr>
        <p:spPr>
          <a:xfrm>
            <a:off x="7164288" y="3284984"/>
            <a:ext cx="288032" cy="7200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n>
                <a:solidFill>
                  <a:sysClr val="windowText" lastClr="000000"/>
                </a:solidFill>
              </a:ln>
            </a:endParaRPr>
          </a:p>
        </p:txBody>
      </p:sp>
      <p:sp>
        <p:nvSpPr>
          <p:cNvPr id="433" name="橢圓 432"/>
          <p:cNvSpPr/>
          <p:nvPr/>
        </p:nvSpPr>
        <p:spPr>
          <a:xfrm>
            <a:off x="7524328" y="3356992"/>
            <a:ext cx="288032" cy="7200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n>
                <a:solidFill>
                  <a:sysClr val="windowText" lastClr="000000"/>
                </a:solidFill>
              </a:ln>
            </a:endParaRPr>
          </a:p>
        </p:txBody>
      </p:sp>
      <p:sp>
        <p:nvSpPr>
          <p:cNvPr id="434" name="橢圓 433"/>
          <p:cNvSpPr/>
          <p:nvPr/>
        </p:nvSpPr>
        <p:spPr>
          <a:xfrm>
            <a:off x="7884368" y="3356992"/>
            <a:ext cx="288032" cy="7200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n>
                <a:solidFill>
                  <a:sysClr val="windowText" lastClr="000000"/>
                </a:solidFill>
              </a:ln>
            </a:endParaRPr>
          </a:p>
        </p:txBody>
      </p:sp>
      <p:sp>
        <p:nvSpPr>
          <p:cNvPr id="435" name="橢圓 434"/>
          <p:cNvSpPr/>
          <p:nvPr/>
        </p:nvSpPr>
        <p:spPr>
          <a:xfrm>
            <a:off x="8244408" y="3573016"/>
            <a:ext cx="288032" cy="7200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n>
                <a:solidFill>
                  <a:sysClr val="windowText" lastClr="000000"/>
                </a:solidFill>
              </a:ln>
            </a:endParaRPr>
          </a:p>
        </p:txBody>
      </p:sp>
      <p:sp>
        <p:nvSpPr>
          <p:cNvPr id="436" name="文字方塊 435"/>
          <p:cNvSpPr txBox="1"/>
          <p:nvPr/>
        </p:nvSpPr>
        <p:spPr>
          <a:xfrm>
            <a:off x="8532440" y="3429000"/>
            <a:ext cx="418704" cy="215444"/>
          </a:xfrm>
          <a:prstGeom prst="rect">
            <a:avLst/>
          </a:prstGeom>
          <a:noFill/>
        </p:spPr>
        <p:txBody>
          <a:bodyPr wrap="none" rtlCol="0">
            <a:spAutoFit/>
          </a:bodyPr>
          <a:lstStyle/>
          <a:p>
            <a:r>
              <a:rPr lang="en-US" altLang="zh-TW" sz="800" dirty="0" smtClean="0"/>
              <a:t>dot1q</a:t>
            </a:r>
            <a:endParaRPr lang="zh-TW" altLang="en-US" sz="800" dirty="0"/>
          </a:p>
        </p:txBody>
      </p:sp>
      <p:sp>
        <p:nvSpPr>
          <p:cNvPr id="445" name="文字方塊 444"/>
          <p:cNvSpPr txBox="1"/>
          <p:nvPr/>
        </p:nvSpPr>
        <p:spPr>
          <a:xfrm>
            <a:off x="5059020" y="5301208"/>
            <a:ext cx="1313180" cy="646331"/>
          </a:xfrm>
          <a:prstGeom prst="rect">
            <a:avLst/>
          </a:prstGeom>
          <a:noFill/>
        </p:spPr>
        <p:txBody>
          <a:bodyPr wrap="none" rtlCol="0">
            <a:spAutoFit/>
          </a:bodyPr>
          <a:lstStyle/>
          <a:p>
            <a:pPr algn="ctr"/>
            <a:r>
              <a:rPr lang="en-US" altLang="zh-TW" dirty="0" err="1" smtClean="0"/>
              <a:t>iSCSI</a:t>
            </a:r>
            <a:endParaRPr lang="en-US" altLang="zh-TW" dirty="0" smtClean="0"/>
          </a:p>
          <a:p>
            <a:pPr algn="ctr"/>
            <a:r>
              <a:rPr lang="en-US" altLang="zh-TW" dirty="0" smtClean="0"/>
              <a:t>(C3750X-5)</a:t>
            </a:r>
            <a:endParaRPr lang="zh-TW" altLang="en-US" dirty="0"/>
          </a:p>
        </p:txBody>
      </p:sp>
      <p:sp>
        <p:nvSpPr>
          <p:cNvPr id="446" name="矩形 445"/>
          <p:cNvSpPr/>
          <p:nvPr/>
        </p:nvSpPr>
        <p:spPr bwMode="auto">
          <a:xfrm>
            <a:off x="3203848" y="4437112"/>
            <a:ext cx="144016" cy="144016"/>
          </a:xfrm>
          <a:prstGeom prst="rect">
            <a:avLst/>
          </a:prstGeom>
          <a:solidFill>
            <a:srgbClr val="C0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47" name="矩形 446"/>
          <p:cNvSpPr/>
          <p:nvPr/>
        </p:nvSpPr>
        <p:spPr bwMode="auto">
          <a:xfrm>
            <a:off x="3347864" y="4437112"/>
            <a:ext cx="144016" cy="144016"/>
          </a:xfrm>
          <a:prstGeom prst="rect">
            <a:avLst/>
          </a:prstGeom>
          <a:solidFill>
            <a:srgbClr val="C0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50" name="矩形 449"/>
          <p:cNvSpPr/>
          <p:nvPr/>
        </p:nvSpPr>
        <p:spPr bwMode="auto">
          <a:xfrm>
            <a:off x="4139952" y="4437112"/>
            <a:ext cx="144016" cy="144016"/>
          </a:xfrm>
          <a:prstGeom prst="rect">
            <a:avLst/>
          </a:prstGeom>
          <a:solidFill>
            <a:srgbClr val="FF9999"/>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51" name="矩形 450"/>
          <p:cNvSpPr/>
          <p:nvPr/>
        </p:nvSpPr>
        <p:spPr bwMode="auto">
          <a:xfrm>
            <a:off x="4283968" y="4437112"/>
            <a:ext cx="144016" cy="144016"/>
          </a:xfrm>
          <a:prstGeom prst="rect">
            <a:avLst/>
          </a:prstGeom>
          <a:solidFill>
            <a:srgbClr val="FF9999"/>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52" name="矩形 451"/>
          <p:cNvSpPr/>
          <p:nvPr/>
        </p:nvSpPr>
        <p:spPr bwMode="auto">
          <a:xfrm>
            <a:off x="7668344" y="4437112"/>
            <a:ext cx="144016" cy="144016"/>
          </a:xfrm>
          <a:prstGeom prst="rect">
            <a:avLst/>
          </a:prstGeom>
          <a:solidFill>
            <a:srgbClr val="C0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53" name="矩形 452"/>
          <p:cNvSpPr/>
          <p:nvPr/>
        </p:nvSpPr>
        <p:spPr bwMode="auto">
          <a:xfrm>
            <a:off x="7812360" y="4437112"/>
            <a:ext cx="144016" cy="144016"/>
          </a:xfrm>
          <a:prstGeom prst="rect">
            <a:avLst/>
          </a:prstGeom>
          <a:solidFill>
            <a:srgbClr val="C0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54" name="矩形 453"/>
          <p:cNvSpPr/>
          <p:nvPr/>
        </p:nvSpPr>
        <p:spPr bwMode="auto">
          <a:xfrm>
            <a:off x="8604448" y="4437112"/>
            <a:ext cx="144016" cy="144016"/>
          </a:xfrm>
          <a:prstGeom prst="rect">
            <a:avLst/>
          </a:prstGeom>
          <a:solidFill>
            <a:srgbClr val="FF9999"/>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55" name="矩形 454"/>
          <p:cNvSpPr/>
          <p:nvPr/>
        </p:nvSpPr>
        <p:spPr bwMode="auto">
          <a:xfrm>
            <a:off x="8748464" y="4437112"/>
            <a:ext cx="144016" cy="144016"/>
          </a:xfrm>
          <a:prstGeom prst="rect">
            <a:avLst/>
          </a:prstGeom>
          <a:solidFill>
            <a:srgbClr val="FF9999"/>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56" name="矩形 455"/>
          <p:cNvSpPr/>
          <p:nvPr/>
        </p:nvSpPr>
        <p:spPr bwMode="auto">
          <a:xfrm>
            <a:off x="5876528" y="2924944"/>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57" name="矩形 456"/>
          <p:cNvSpPr/>
          <p:nvPr/>
        </p:nvSpPr>
        <p:spPr bwMode="auto">
          <a:xfrm>
            <a:off x="5876528" y="3924672"/>
            <a:ext cx="144016" cy="144016"/>
          </a:xfrm>
          <a:prstGeom prst="rect">
            <a:avLst/>
          </a:prstGeom>
          <a:solidFill>
            <a:srgbClr val="FF0000"/>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cxnSp>
        <p:nvCxnSpPr>
          <p:cNvPr id="458" name="直線接點 457"/>
          <p:cNvCxnSpPr>
            <a:stCxn id="456" idx="2"/>
            <a:endCxn id="457" idx="0"/>
          </p:cNvCxnSpPr>
          <p:nvPr/>
        </p:nvCxnSpPr>
        <p:spPr bwMode="auto">
          <a:xfrm>
            <a:off x="5948536" y="3068960"/>
            <a:ext cx="0" cy="855712"/>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59" name="橢圓 458"/>
          <p:cNvSpPr/>
          <p:nvPr/>
        </p:nvSpPr>
        <p:spPr>
          <a:xfrm>
            <a:off x="5724128" y="3501008"/>
            <a:ext cx="288032" cy="636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n>
                <a:solidFill>
                  <a:sysClr val="windowText" lastClr="000000"/>
                </a:solidFill>
              </a:ln>
            </a:endParaRPr>
          </a:p>
        </p:txBody>
      </p:sp>
      <p:cxnSp>
        <p:nvCxnSpPr>
          <p:cNvPr id="460" name="直線接點 459"/>
          <p:cNvCxnSpPr/>
          <p:nvPr/>
        </p:nvCxnSpPr>
        <p:spPr bwMode="auto">
          <a:xfrm>
            <a:off x="1907704" y="5445224"/>
            <a:ext cx="0" cy="648072"/>
          </a:xfrm>
          <a:prstGeom prst="line">
            <a:avLst/>
          </a:prstGeom>
          <a:solidFill>
            <a:schemeClr val="accent1"/>
          </a:solidFill>
          <a:ln w="19050" cap="flat" cmpd="sng" algn="ctr">
            <a:solidFill>
              <a:srgbClr val="9933FF"/>
            </a:solidFill>
            <a:prstDash val="solid"/>
            <a:round/>
            <a:headEnd type="none" w="med" len="med"/>
            <a:tailEnd type="none" w="med" len="med"/>
          </a:ln>
          <a:effectLst/>
        </p:spPr>
      </p:cxnSp>
      <p:cxnSp>
        <p:nvCxnSpPr>
          <p:cNvPr id="461" name="直線接點 460"/>
          <p:cNvCxnSpPr/>
          <p:nvPr/>
        </p:nvCxnSpPr>
        <p:spPr bwMode="auto">
          <a:xfrm>
            <a:off x="1835696" y="5445224"/>
            <a:ext cx="0" cy="648072"/>
          </a:xfrm>
          <a:prstGeom prst="line">
            <a:avLst/>
          </a:prstGeom>
          <a:solidFill>
            <a:schemeClr val="accent1"/>
          </a:solidFill>
          <a:ln w="19050" cap="flat" cmpd="sng" algn="ctr">
            <a:solidFill>
              <a:srgbClr val="9933FF"/>
            </a:solidFill>
            <a:prstDash val="solid"/>
            <a:round/>
            <a:headEnd type="none" w="med" len="med"/>
            <a:tailEnd type="none" w="med" len="med"/>
          </a:ln>
          <a:effectLst/>
        </p:spPr>
      </p:cxnSp>
      <p:cxnSp>
        <p:nvCxnSpPr>
          <p:cNvPr id="463" name="直線接點 462"/>
          <p:cNvCxnSpPr/>
          <p:nvPr/>
        </p:nvCxnSpPr>
        <p:spPr bwMode="auto">
          <a:xfrm>
            <a:off x="1691680" y="5589240"/>
            <a:ext cx="0" cy="50405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69" name="直線接點 468"/>
          <p:cNvCxnSpPr/>
          <p:nvPr/>
        </p:nvCxnSpPr>
        <p:spPr bwMode="auto">
          <a:xfrm>
            <a:off x="5292080" y="5589240"/>
            <a:ext cx="0" cy="50405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71" name="直線接點 470"/>
          <p:cNvCxnSpPr/>
          <p:nvPr/>
        </p:nvCxnSpPr>
        <p:spPr bwMode="auto">
          <a:xfrm>
            <a:off x="5436096" y="5445224"/>
            <a:ext cx="0" cy="648072"/>
          </a:xfrm>
          <a:prstGeom prst="line">
            <a:avLst/>
          </a:prstGeom>
          <a:solidFill>
            <a:schemeClr val="accent1"/>
          </a:solidFill>
          <a:ln w="19050" cap="flat" cmpd="sng" algn="ctr">
            <a:solidFill>
              <a:srgbClr val="9933FF"/>
            </a:solidFill>
            <a:prstDash val="solid"/>
            <a:round/>
            <a:headEnd type="none" w="med" len="med"/>
            <a:tailEnd type="none" w="med" len="med"/>
          </a:ln>
          <a:effectLst/>
        </p:spPr>
      </p:cxnSp>
      <p:sp>
        <p:nvSpPr>
          <p:cNvPr id="477" name="矩形 476"/>
          <p:cNvSpPr/>
          <p:nvPr/>
        </p:nvSpPr>
        <p:spPr bwMode="auto">
          <a:xfrm>
            <a:off x="323528" y="4509120"/>
            <a:ext cx="144016" cy="144016"/>
          </a:xfrm>
          <a:prstGeom prst="rect">
            <a:avLst/>
          </a:prstGeom>
          <a:solidFill>
            <a:srgbClr val="9933FF"/>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78" name="矩形 477"/>
          <p:cNvSpPr/>
          <p:nvPr/>
        </p:nvSpPr>
        <p:spPr bwMode="auto">
          <a:xfrm>
            <a:off x="467544" y="4509120"/>
            <a:ext cx="144016" cy="144016"/>
          </a:xfrm>
          <a:prstGeom prst="rect">
            <a:avLst/>
          </a:prstGeom>
          <a:solidFill>
            <a:srgbClr val="9933FF"/>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79" name="矩形 478"/>
          <p:cNvSpPr/>
          <p:nvPr/>
        </p:nvSpPr>
        <p:spPr bwMode="auto">
          <a:xfrm>
            <a:off x="611560" y="4661520"/>
            <a:ext cx="144016" cy="144016"/>
          </a:xfrm>
          <a:prstGeom prst="rect">
            <a:avLst/>
          </a:prstGeom>
          <a:solidFill>
            <a:srgbClr val="9933FF"/>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80" name="矩形 479"/>
          <p:cNvSpPr/>
          <p:nvPr/>
        </p:nvSpPr>
        <p:spPr bwMode="auto">
          <a:xfrm>
            <a:off x="755576" y="4661520"/>
            <a:ext cx="144016" cy="144016"/>
          </a:xfrm>
          <a:prstGeom prst="rect">
            <a:avLst/>
          </a:prstGeom>
          <a:solidFill>
            <a:srgbClr val="9933FF"/>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81" name="矩形 480"/>
          <p:cNvSpPr/>
          <p:nvPr/>
        </p:nvSpPr>
        <p:spPr bwMode="auto">
          <a:xfrm>
            <a:off x="971600" y="4813920"/>
            <a:ext cx="144016" cy="144016"/>
          </a:xfrm>
          <a:prstGeom prst="rect">
            <a:avLst/>
          </a:prstGeom>
          <a:solidFill>
            <a:srgbClr val="9933FF"/>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82" name="矩形 481"/>
          <p:cNvSpPr/>
          <p:nvPr/>
        </p:nvSpPr>
        <p:spPr bwMode="auto">
          <a:xfrm>
            <a:off x="1115616" y="4813920"/>
            <a:ext cx="144016" cy="144016"/>
          </a:xfrm>
          <a:prstGeom prst="rect">
            <a:avLst/>
          </a:prstGeom>
          <a:solidFill>
            <a:srgbClr val="9933FF"/>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83" name="矩形 482"/>
          <p:cNvSpPr/>
          <p:nvPr/>
        </p:nvSpPr>
        <p:spPr bwMode="auto">
          <a:xfrm>
            <a:off x="1331640" y="4966320"/>
            <a:ext cx="144016" cy="144016"/>
          </a:xfrm>
          <a:prstGeom prst="rect">
            <a:avLst/>
          </a:prstGeom>
          <a:solidFill>
            <a:srgbClr val="9933FF"/>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84" name="矩形 483"/>
          <p:cNvSpPr/>
          <p:nvPr/>
        </p:nvSpPr>
        <p:spPr bwMode="auto">
          <a:xfrm>
            <a:off x="1475656" y="4966320"/>
            <a:ext cx="144016" cy="144016"/>
          </a:xfrm>
          <a:prstGeom prst="rect">
            <a:avLst/>
          </a:prstGeom>
          <a:solidFill>
            <a:srgbClr val="9933FF"/>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85" name="矩形 484"/>
          <p:cNvSpPr/>
          <p:nvPr/>
        </p:nvSpPr>
        <p:spPr bwMode="auto">
          <a:xfrm>
            <a:off x="5004048" y="4509120"/>
            <a:ext cx="144016" cy="144016"/>
          </a:xfrm>
          <a:prstGeom prst="rect">
            <a:avLst/>
          </a:prstGeom>
          <a:solidFill>
            <a:srgbClr val="9933FF"/>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86" name="矩形 485"/>
          <p:cNvSpPr/>
          <p:nvPr/>
        </p:nvSpPr>
        <p:spPr bwMode="auto">
          <a:xfrm>
            <a:off x="5148064" y="4509120"/>
            <a:ext cx="144016" cy="144016"/>
          </a:xfrm>
          <a:prstGeom prst="rect">
            <a:avLst/>
          </a:prstGeom>
          <a:solidFill>
            <a:srgbClr val="9933FF"/>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87" name="矩形 486"/>
          <p:cNvSpPr/>
          <p:nvPr/>
        </p:nvSpPr>
        <p:spPr bwMode="auto">
          <a:xfrm>
            <a:off x="1547664" y="6021288"/>
            <a:ext cx="144016" cy="144016"/>
          </a:xfrm>
          <a:prstGeom prst="rect">
            <a:avLst/>
          </a:prstGeom>
          <a:solidFill>
            <a:srgbClr val="9933FF"/>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88" name="矩形 487"/>
          <p:cNvSpPr/>
          <p:nvPr/>
        </p:nvSpPr>
        <p:spPr bwMode="auto">
          <a:xfrm>
            <a:off x="1691680" y="6021288"/>
            <a:ext cx="144016" cy="144016"/>
          </a:xfrm>
          <a:prstGeom prst="rect">
            <a:avLst/>
          </a:prstGeom>
          <a:solidFill>
            <a:srgbClr val="9933FF"/>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89" name="矩形 488"/>
          <p:cNvSpPr/>
          <p:nvPr/>
        </p:nvSpPr>
        <p:spPr bwMode="auto">
          <a:xfrm>
            <a:off x="1700064" y="6173688"/>
            <a:ext cx="144016" cy="144016"/>
          </a:xfrm>
          <a:prstGeom prst="rect">
            <a:avLst/>
          </a:prstGeom>
          <a:solidFill>
            <a:srgbClr val="9933FF"/>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90" name="矩形 489"/>
          <p:cNvSpPr/>
          <p:nvPr/>
        </p:nvSpPr>
        <p:spPr bwMode="auto">
          <a:xfrm>
            <a:off x="1844080" y="6173688"/>
            <a:ext cx="144016" cy="144016"/>
          </a:xfrm>
          <a:prstGeom prst="rect">
            <a:avLst/>
          </a:prstGeom>
          <a:solidFill>
            <a:srgbClr val="9933FF"/>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91" name="矩形 490"/>
          <p:cNvSpPr/>
          <p:nvPr/>
        </p:nvSpPr>
        <p:spPr bwMode="auto">
          <a:xfrm>
            <a:off x="5139680" y="6021288"/>
            <a:ext cx="144016" cy="144016"/>
          </a:xfrm>
          <a:prstGeom prst="rect">
            <a:avLst/>
          </a:prstGeom>
          <a:solidFill>
            <a:srgbClr val="9933FF"/>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92" name="矩形 491"/>
          <p:cNvSpPr/>
          <p:nvPr/>
        </p:nvSpPr>
        <p:spPr bwMode="auto">
          <a:xfrm>
            <a:off x="5283696" y="6021288"/>
            <a:ext cx="144016" cy="144016"/>
          </a:xfrm>
          <a:prstGeom prst="rect">
            <a:avLst/>
          </a:prstGeom>
          <a:solidFill>
            <a:srgbClr val="9933FF"/>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93" name="矩形 492"/>
          <p:cNvSpPr/>
          <p:nvPr/>
        </p:nvSpPr>
        <p:spPr bwMode="auto">
          <a:xfrm>
            <a:off x="5292080" y="6173688"/>
            <a:ext cx="144016" cy="144016"/>
          </a:xfrm>
          <a:prstGeom prst="rect">
            <a:avLst/>
          </a:prstGeom>
          <a:solidFill>
            <a:srgbClr val="9933FF"/>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94" name="矩形 493"/>
          <p:cNvSpPr/>
          <p:nvPr/>
        </p:nvSpPr>
        <p:spPr bwMode="auto">
          <a:xfrm>
            <a:off x="5436096" y="6173688"/>
            <a:ext cx="144016" cy="144016"/>
          </a:xfrm>
          <a:prstGeom prst="rect">
            <a:avLst/>
          </a:prstGeom>
          <a:solidFill>
            <a:srgbClr val="9933FF"/>
          </a:solidFill>
          <a:ln w="9525" cap="flat" cmpd="sng" algn="ctr">
            <a:solidFill>
              <a:srgbClr val="92D050"/>
            </a:solidFill>
            <a:prstDash val="solid"/>
            <a:round/>
            <a:headEnd type="none" w="med" len="med"/>
            <a:tailEnd type="none" w="med" len="med"/>
          </a:ln>
          <a:effectLst/>
        </p:spPr>
        <p:txBody>
          <a:bodyPr vert="horz" wrap="none" lIns="92075" tIns="46038" rIns="92075" bIns="46038" numCol="1" rtlCol="0" anchor="t" anchorCtr="0" compatLnSpc="1">
            <a:prstTxWarp prst="textNoShape">
              <a:avLst/>
            </a:prstTxWarp>
          </a:bodyPr>
          <a:lstStyle/>
          <a:p>
            <a:endParaRPr lang="zh-TW" altLang="en-US" smtClean="0"/>
          </a:p>
        </p:txBody>
      </p:sp>
      <p:sp>
        <p:nvSpPr>
          <p:cNvPr id="495" name="文字方塊 494"/>
          <p:cNvSpPr txBox="1"/>
          <p:nvPr/>
        </p:nvSpPr>
        <p:spPr>
          <a:xfrm>
            <a:off x="2051720" y="5055567"/>
            <a:ext cx="936104" cy="461665"/>
          </a:xfrm>
          <a:prstGeom prst="rect">
            <a:avLst/>
          </a:prstGeom>
          <a:noFill/>
        </p:spPr>
        <p:txBody>
          <a:bodyPr wrap="square" rtlCol="0">
            <a:spAutoFit/>
          </a:bodyPr>
          <a:lstStyle/>
          <a:p>
            <a:pPr>
              <a:buFont typeface="Arial" pitchFamily="34" charset="0"/>
              <a:buChar char="•"/>
            </a:pPr>
            <a:r>
              <a:rPr lang="en-US" altLang="zh-TW" sz="800" dirty="0" smtClean="0"/>
              <a:t>Service</a:t>
            </a:r>
          </a:p>
          <a:p>
            <a:pPr>
              <a:buFont typeface="Arial" pitchFamily="34" charset="0"/>
              <a:buChar char="•"/>
            </a:pPr>
            <a:r>
              <a:rPr lang="en-US" altLang="zh-TW" sz="800" dirty="0" smtClean="0"/>
              <a:t>HA</a:t>
            </a:r>
            <a:r>
              <a:rPr lang="zh-TW" altLang="en-US" sz="800" dirty="0" smtClean="0"/>
              <a:t> </a:t>
            </a:r>
            <a:r>
              <a:rPr lang="en-US" altLang="zh-TW" sz="800" dirty="0" smtClean="0"/>
              <a:t>Cluster</a:t>
            </a:r>
          </a:p>
          <a:p>
            <a:pPr>
              <a:buFont typeface="Arial" pitchFamily="34" charset="0"/>
              <a:buChar char="•"/>
            </a:pPr>
            <a:r>
              <a:rPr lang="en-US" altLang="zh-TW" sz="800" dirty="0" smtClean="0"/>
              <a:t>Host</a:t>
            </a:r>
            <a:endParaRPr lang="zh-TW" altLang="en-US" sz="800" dirty="0"/>
          </a:p>
        </p:txBody>
      </p:sp>
      <p:sp>
        <p:nvSpPr>
          <p:cNvPr id="227" name="文字方塊 226"/>
          <p:cNvSpPr txBox="1"/>
          <p:nvPr/>
        </p:nvSpPr>
        <p:spPr>
          <a:xfrm>
            <a:off x="5508104" y="4581128"/>
            <a:ext cx="1008112" cy="461665"/>
          </a:xfrm>
          <a:prstGeom prst="rect">
            <a:avLst/>
          </a:prstGeom>
          <a:noFill/>
        </p:spPr>
        <p:txBody>
          <a:bodyPr wrap="square" rtlCol="0">
            <a:spAutoFit/>
          </a:bodyPr>
          <a:lstStyle/>
          <a:p>
            <a:pPr>
              <a:buFont typeface="Arial" pitchFamily="34" charset="0"/>
              <a:buChar char="•"/>
            </a:pPr>
            <a:r>
              <a:rPr lang="en-US" altLang="zh-TW" sz="800" dirty="0" smtClean="0"/>
              <a:t>Service/Production</a:t>
            </a:r>
          </a:p>
          <a:p>
            <a:pPr>
              <a:buFont typeface="Arial" pitchFamily="34" charset="0"/>
              <a:buChar char="•"/>
            </a:pPr>
            <a:r>
              <a:rPr lang="en-US" altLang="zh-TW" sz="800" dirty="0" err="1" smtClean="0"/>
              <a:t>vCenter</a:t>
            </a:r>
            <a:r>
              <a:rPr lang="en-US" altLang="zh-TW" sz="800" dirty="0" smtClean="0"/>
              <a:t>/Mgt</a:t>
            </a:r>
          </a:p>
          <a:p>
            <a:pPr>
              <a:buFont typeface="Arial" pitchFamily="34" charset="0"/>
              <a:buChar char="•"/>
            </a:pPr>
            <a:r>
              <a:rPr lang="en-US" altLang="zh-TW" sz="800" dirty="0" err="1" smtClean="0"/>
              <a:t>vMotion</a:t>
            </a:r>
            <a:r>
              <a:rPr lang="en-US" altLang="zh-TW" sz="800" dirty="0" smtClean="0"/>
              <a:t>/backup</a:t>
            </a:r>
            <a:endParaRPr lang="zh-TW" altLang="en-US" sz="800" dirty="0"/>
          </a:p>
        </p:txBody>
      </p:sp>
      <p:sp>
        <p:nvSpPr>
          <p:cNvPr id="229" name="文字方塊 228"/>
          <p:cNvSpPr txBox="1"/>
          <p:nvPr/>
        </p:nvSpPr>
        <p:spPr>
          <a:xfrm>
            <a:off x="7956376" y="4653136"/>
            <a:ext cx="1008112" cy="461665"/>
          </a:xfrm>
          <a:prstGeom prst="rect">
            <a:avLst/>
          </a:prstGeom>
          <a:noFill/>
        </p:spPr>
        <p:txBody>
          <a:bodyPr wrap="square" rtlCol="0">
            <a:spAutoFit/>
          </a:bodyPr>
          <a:lstStyle/>
          <a:p>
            <a:pPr>
              <a:buFont typeface="Arial" pitchFamily="34" charset="0"/>
              <a:buChar char="•"/>
            </a:pPr>
            <a:r>
              <a:rPr lang="en-US" altLang="zh-TW" sz="800" dirty="0" smtClean="0"/>
              <a:t>Service/Production</a:t>
            </a:r>
          </a:p>
          <a:p>
            <a:pPr>
              <a:buFont typeface="Arial" pitchFamily="34" charset="0"/>
              <a:buChar char="•"/>
            </a:pPr>
            <a:r>
              <a:rPr lang="en-US" altLang="zh-TW" sz="800" dirty="0" err="1" smtClean="0"/>
              <a:t>vCenter</a:t>
            </a:r>
            <a:r>
              <a:rPr lang="en-US" altLang="zh-TW" sz="800" dirty="0" smtClean="0"/>
              <a:t>/Mgt</a:t>
            </a:r>
          </a:p>
          <a:p>
            <a:pPr>
              <a:buFont typeface="Arial" pitchFamily="34" charset="0"/>
              <a:buChar char="•"/>
            </a:pPr>
            <a:r>
              <a:rPr lang="en-US" altLang="zh-TW" sz="800" dirty="0" err="1" smtClean="0"/>
              <a:t>vMotion</a:t>
            </a:r>
            <a:r>
              <a:rPr lang="en-US" altLang="zh-TW" sz="800" dirty="0" smtClean="0"/>
              <a:t>/backup</a:t>
            </a:r>
            <a:endParaRPr lang="zh-TW" altLang="en-US" sz="800" dirty="0"/>
          </a:p>
        </p:txBody>
      </p:sp>
      <p:sp>
        <p:nvSpPr>
          <p:cNvPr id="221" name="文字方塊 220"/>
          <p:cNvSpPr txBox="1"/>
          <p:nvPr/>
        </p:nvSpPr>
        <p:spPr>
          <a:xfrm>
            <a:off x="4355976" y="1988840"/>
            <a:ext cx="432048" cy="2031325"/>
          </a:xfrm>
          <a:prstGeom prst="rect">
            <a:avLst/>
          </a:prstGeom>
          <a:solidFill>
            <a:srgbClr val="FFFF00"/>
          </a:solidFill>
        </p:spPr>
        <p:txBody>
          <a:bodyPr wrap="square" rtlCol="0">
            <a:spAutoFit/>
          </a:bodyPr>
          <a:lstStyle/>
          <a:p>
            <a:pPr algn="ctr"/>
            <a:r>
              <a:rPr lang="zh-TW" altLang="en-US" dirty="0" smtClean="0">
                <a:latin typeface="微軟正黑體" pitchFamily="34" charset="-120"/>
                <a:ea typeface="微軟正黑體" pitchFamily="34" charset="-120"/>
              </a:rPr>
              <a:t>主機可用性架構</a:t>
            </a:r>
            <a:endParaRPr lang="zh-TW" altLang="en-US" dirty="0">
              <a:latin typeface="微軟正黑體" pitchFamily="34" charset="-120"/>
              <a:ea typeface="微軟正黑體" pitchFamily="34" charset="-120"/>
            </a:endParaRPr>
          </a:p>
        </p:txBody>
      </p:sp>
    </p:spTree>
    <p:extLst>
      <p:ext uri="{BB962C8B-B14F-4D97-AF65-F5344CB8AC3E}">
        <p14:creationId xmlns:p14="http://schemas.microsoft.com/office/powerpoint/2010/main" val="2477353691"/>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價格</a:t>
            </a:r>
            <a:endParaRPr lang="zh-TW" altLang="en-US" dirty="0"/>
          </a:p>
        </p:txBody>
      </p:sp>
      <p:graphicFrame>
        <p:nvGraphicFramePr>
          <p:cNvPr id="5" name="物件 4"/>
          <p:cNvGraphicFramePr>
            <a:graphicFrameLocks noChangeAspect="1"/>
          </p:cNvGraphicFramePr>
          <p:nvPr>
            <p:extLst>
              <p:ext uri="{D42A27DB-BD31-4B8C-83A1-F6EECF244321}">
                <p14:modId xmlns:p14="http://schemas.microsoft.com/office/powerpoint/2010/main" val="2610663601"/>
              </p:ext>
            </p:extLst>
          </p:nvPr>
        </p:nvGraphicFramePr>
        <p:xfrm>
          <a:off x="899592" y="1484784"/>
          <a:ext cx="914400" cy="800100"/>
        </p:xfrm>
        <a:graphic>
          <a:graphicData uri="http://schemas.openxmlformats.org/presentationml/2006/ole">
            <mc:AlternateContent xmlns:mc="http://schemas.openxmlformats.org/markup-compatibility/2006">
              <mc:Choice xmlns:v="urn:schemas-microsoft-com:vml" Requires="v">
                <p:oleObj spid="_x0000_s7174" name="工作表" showAsIcon="1" r:id="rId4" imgW="914400" imgH="800280" progId="Excel.Sheet.8">
                  <p:embed/>
                </p:oleObj>
              </mc:Choice>
              <mc:Fallback>
                <p:oleObj name="工作表" showAsIcon="1" r:id="rId4" imgW="914400" imgH="800280" progId="Excel.Sheet.8">
                  <p:embed/>
                  <p:pic>
                    <p:nvPicPr>
                      <p:cNvPr id="0" name=""/>
                      <p:cNvPicPr/>
                      <p:nvPr/>
                    </p:nvPicPr>
                    <p:blipFill>
                      <a:blip r:embed="rId5"/>
                      <a:stretch>
                        <a:fillRect/>
                      </a:stretch>
                    </p:blipFill>
                    <p:spPr>
                      <a:xfrm>
                        <a:off x="899592" y="1484784"/>
                        <a:ext cx="914400" cy="800100"/>
                      </a:xfrm>
                      <a:prstGeom prst="rect">
                        <a:avLst/>
                      </a:prstGeom>
                    </p:spPr>
                  </p:pic>
                </p:oleObj>
              </mc:Fallback>
            </mc:AlternateContent>
          </a:graphicData>
        </a:graphic>
      </p:graphicFrame>
      <p:sp>
        <p:nvSpPr>
          <p:cNvPr id="6" name="文字方塊 5"/>
          <p:cNvSpPr txBox="1"/>
          <p:nvPr/>
        </p:nvSpPr>
        <p:spPr>
          <a:xfrm>
            <a:off x="1259632" y="2780928"/>
            <a:ext cx="6624736" cy="2308324"/>
          </a:xfrm>
          <a:prstGeom prst="rect">
            <a:avLst/>
          </a:prstGeom>
          <a:noFill/>
        </p:spPr>
        <p:txBody>
          <a:bodyPr wrap="square" rtlCol="0">
            <a:spAutoFit/>
          </a:bodyPr>
          <a:lstStyle/>
          <a:p>
            <a:r>
              <a:rPr lang="zh-TW" altLang="en-US" dirty="0" smtClean="0"/>
              <a:t>以上價格非最終價格，台灣詢價方式</a:t>
            </a:r>
            <a:endParaRPr lang="en-US" altLang="zh-TW" dirty="0" smtClean="0"/>
          </a:p>
          <a:p>
            <a:endParaRPr lang="en-US" altLang="zh-TW" dirty="0"/>
          </a:p>
          <a:p>
            <a:r>
              <a:rPr lang="en-US" altLang="zh-TW" dirty="0" smtClean="0"/>
              <a:t>1.</a:t>
            </a:r>
            <a:r>
              <a:rPr lang="zh-TW" altLang="en-US" dirty="0" smtClean="0"/>
              <a:t>確認架構、硬體、規格後，請廠商報價</a:t>
            </a:r>
            <a:r>
              <a:rPr lang="en-US" altLang="zh-TW" dirty="0" smtClean="0"/>
              <a:t>(</a:t>
            </a:r>
            <a:r>
              <a:rPr lang="zh-TW" altLang="en-US" dirty="0" smtClean="0"/>
              <a:t>第一次通常是牌價</a:t>
            </a:r>
            <a:r>
              <a:rPr lang="en-US" altLang="zh-TW" dirty="0" smtClean="0"/>
              <a:t>)</a:t>
            </a:r>
          </a:p>
          <a:p>
            <a:r>
              <a:rPr lang="en-US" altLang="zh-TW" dirty="0" smtClean="0"/>
              <a:t>2.</a:t>
            </a:r>
            <a:r>
              <a:rPr lang="zh-TW" altLang="en-US" dirty="0" smtClean="0"/>
              <a:t>將價格發給三家廠商進行第二次報價</a:t>
            </a:r>
            <a:endParaRPr lang="en-US" altLang="zh-TW" dirty="0" smtClean="0"/>
          </a:p>
          <a:p>
            <a:r>
              <a:rPr lang="en-US" altLang="zh-TW" dirty="0" smtClean="0"/>
              <a:t>3.</a:t>
            </a:r>
            <a:r>
              <a:rPr lang="zh-TW" altLang="en-US" dirty="0" smtClean="0"/>
              <a:t>挑選價格最低、服務最好的廠商</a:t>
            </a:r>
            <a:endParaRPr lang="en-US" altLang="zh-TW" dirty="0" smtClean="0"/>
          </a:p>
          <a:p>
            <a:r>
              <a:rPr lang="en-US" altLang="zh-TW" dirty="0" smtClean="0"/>
              <a:t>4.</a:t>
            </a:r>
            <a:r>
              <a:rPr lang="zh-TW" altLang="en-US" dirty="0" smtClean="0"/>
              <a:t>進行第三次議價</a:t>
            </a:r>
            <a:endParaRPr lang="en-US" altLang="zh-TW" dirty="0" smtClean="0"/>
          </a:p>
          <a:p>
            <a:r>
              <a:rPr lang="en-US" altLang="zh-TW" dirty="0" smtClean="0"/>
              <a:t>5.</a:t>
            </a:r>
            <a:r>
              <a:rPr lang="zh-TW" altLang="en-US" dirty="0" smtClean="0"/>
              <a:t>最後成交價</a:t>
            </a:r>
            <a:endParaRPr lang="en-US" altLang="zh-TW" dirty="0" smtClean="0"/>
          </a:p>
          <a:p>
            <a:endParaRPr lang="zh-TW" altLang="en-US" dirty="0"/>
          </a:p>
        </p:txBody>
      </p:sp>
    </p:spTree>
    <p:extLst>
      <p:ext uri="{BB962C8B-B14F-4D97-AF65-F5344CB8AC3E}">
        <p14:creationId xmlns:p14="http://schemas.microsoft.com/office/powerpoint/2010/main" val="1554802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dirty="0" smtClean="0"/>
              <a:t>內容過濾</a:t>
            </a:r>
            <a:endParaRPr lang="zh-TW" altLang="en-US" dirty="0"/>
          </a:p>
        </p:txBody>
      </p:sp>
    </p:spTree>
    <p:extLst>
      <p:ext uri="{BB962C8B-B14F-4D97-AF65-F5344CB8AC3E}">
        <p14:creationId xmlns:p14="http://schemas.microsoft.com/office/powerpoint/2010/main" val="2860078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圓角矩形 488"/>
          <p:cNvSpPr/>
          <p:nvPr/>
        </p:nvSpPr>
        <p:spPr>
          <a:xfrm>
            <a:off x="4216400" y="5041900"/>
            <a:ext cx="1712913" cy="904875"/>
          </a:xfrm>
          <a:prstGeom prst="roundRect">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zh-TW" altLang="en-US"/>
          </a:p>
        </p:txBody>
      </p:sp>
      <p:cxnSp>
        <p:nvCxnSpPr>
          <p:cNvPr id="472" name="直線接點 471"/>
          <p:cNvCxnSpPr/>
          <p:nvPr/>
        </p:nvCxnSpPr>
        <p:spPr>
          <a:xfrm>
            <a:off x="4497388" y="4667250"/>
            <a:ext cx="363537" cy="355600"/>
          </a:xfrm>
          <a:prstGeom prst="line">
            <a:avLst/>
          </a:prstGeom>
          <a:ln w="762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66" name="直線接點 465"/>
          <p:cNvCxnSpPr/>
          <p:nvPr/>
        </p:nvCxnSpPr>
        <p:spPr>
          <a:xfrm flipH="1">
            <a:off x="5775325" y="4449763"/>
            <a:ext cx="146050" cy="592137"/>
          </a:xfrm>
          <a:prstGeom prst="line">
            <a:avLst/>
          </a:prstGeom>
          <a:ln w="762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58" name="AutoShape 9"/>
          <p:cNvSpPr>
            <a:spLocks noChangeArrowheads="1"/>
          </p:cNvSpPr>
          <p:nvPr/>
        </p:nvSpPr>
        <p:spPr bwMode="auto">
          <a:xfrm flipH="1">
            <a:off x="792163" y="2147888"/>
            <a:ext cx="7358062" cy="1268412"/>
          </a:xfrm>
          <a:prstGeom prst="cube">
            <a:avLst>
              <a:gd name="adj" fmla="val 90171"/>
            </a:avLst>
          </a:prstGeom>
          <a:ln>
            <a:solidFill>
              <a:schemeClr val="accent1">
                <a:lumMod val="20000"/>
                <a:lumOff val="80000"/>
              </a:schemeClr>
            </a:solidFill>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endParaRPr lang="zh-TW" altLang="zh-TW"/>
          </a:p>
        </p:txBody>
      </p:sp>
      <p:cxnSp>
        <p:nvCxnSpPr>
          <p:cNvPr id="435" name="肘形接點 434"/>
          <p:cNvCxnSpPr/>
          <p:nvPr/>
        </p:nvCxnSpPr>
        <p:spPr>
          <a:xfrm rot="16200000" flipH="1">
            <a:off x="5091113" y="920750"/>
            <a:ext cx="596900" cy="2022475"/>
          </a:xfrm>
          <a:prstGeom prst="bentConnector3">
            <a:avLst>
              <a:gd name="adj1" fmla="val 50000"/>
            </a:avLst>
          </a:prstGeom>
          <a:ln w="762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8200"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0925" y="4657725"/>
            <a:ext cx="1020763" cy="111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1" name="標題 1"/>
          <p:cNvSpPr>
            <a:spLocks noGrp="1"/>
          </p:cNvSpPr>
          <p:nvPr>
            <p:ph type="title"/>
          </p:nvPr>
        </p:nvSpPr>
        <p:spPr/>
        <p:txBody>
          <a:bodyPr/>
          <a:lstStyle/>
          <a:p>
            <a:r>
              <a:rPr lang="zh-TW" altLang="en-US" dirty="0" smtClean="0"/>
              <a:t>辦公室規劃</a:t>
            </a:r>
          </a:p>
        </p:txBody>
      </p:sp>
      <p:sp>
        <p:nvSpPr>
          <p:cNvPr id="15" name="Text Box 15"/>
          <p:cNvSpPr txBox="1">
            <a:spLocks noChangeArrowheads="1"/>
          </p:cNvSpPr>
          <p:nvPr/>
        </p:nvSpPr>
        <p:spPr bwMode="auto">
          <a:xfrm>
            <a:off x="4695825" y="1266825"/>
            <a:ext cx="1298575" cy="265113"/>
          </a:xfrm>
          <a:prstGeom prst="rect">
            <a:avLst/>
          </a:prstGeom>
          <a:noFill/>
          <a:ln w="9525">
            <a:noFill/>
            <a:miter lim="800000"/>
            <a:headEnd/>
            <a:tailEnd/>
          </a:ln>
          <a:effectLst/>
        </p:spPr>
        <p:txBody>
          <a:bodyPr wrap="none">
            <a:spAutoFit/>
          </a:bodyPr>
          <a:lstStyle/>
          <a:p>
            <a:pPr>
              <a:lnSpc>
                <a:spcPct val="80000"/>
              </a:lnSpc>
              <a:defRPr/>
            </a:pPr>
            <a:r>
              <a:rPr lang="en-US" altLang="zh-TW" sz="1400" b="1" dirty="0">
                <a:solidFill>
                  <a:schemeClr val="tx1">
                    <a:lumMod val="75000"/>
                    <a:lumOff val="25000"/>
                  </a:schemeClr>
                </a:solidFill>
                <a:effectLst>
                  <a:outerShdw blurRad="38100" dist="38100" dir="2700000" algn="tl">
                    <a:srgbClr val="C0C0C0"/>
                  </a:outerShdw>
                </a:effectLst>
                <a:latin typeface="微軟正黑體" pitchFamily="34" charset="-120"/>
                <a:ea typeface="微軟正黑體" pitchFamily="34" charset="-120"/>
              </a:rPr>
              <a:t>Content SQR</a:t>
            </a:r>
          </a:p>
        </p:txBody>
      </p:sp>
      <p:sp>
        <p:nvSpPr>
          <p:cNvPr id="16" name="Text Box 16"/>
          <p:cNvSpPr txBox="1">
            <a:spLocks noChangeArrowheads="1"/>
          </p:cNvSpPr>
          <p:nvPr/>
        </p:nvSpPr>
        <p:spPr bwMode="auto">
          <a:xfrm>
            <a:off x="3678238" y="2876550"/>
            <a:ext cx="1595437" cy="265113"/>
          </a:xfrm>
          <a:prstGeom prst="rect">
            <a:avLst/>
          </a:prstGeom>
          <a:noFill/>
          <a:ln w="9525">
            <a:noFill/>
            <a:miter lim="800000"/>
            <a:headEnd/>
            <a:tailEnd/>
          </a:ln>
          <a:effectLst/>
        </p:spPr>
        <p:txBody>
          <a:bodyPr>
            <a:spAutoFit/>
          </a:bodyPr>
          <a:lstStyle/>
          <a:p>
            <a:pPr>
              <a:lnSpc>
                <a:spcPct val="80000"/>
              </a:lnSpc>
              <a:defRPr/>
            </a:pPr>
            <a:r>
              <a:rPr lang="en-US" altLang="zh-TW" sz="1400" b="1" dirty="0">
                <a:solidFill>
                  <a:schemeClr val="tx1">
                    <a:lumMod val="75000"/>
                    <a:lumOff val="25000"/>
                  </a:schemeClr>
                </a:solidFill>
                <a:effectLst>
                  <a:outerShdw blurRad="38100" dist="38100" dir="2700000" algn="tl">
                    <a:srgbClr val="C0C0C0"/>
                  </a:outerShdw>
                </a:effectLst>
                <a:latin typeface="微軟正黑體" pitchFamily="34" charset="-120"/>
                <a:ea typeface="微軟正黑體" pitchFamily="34" charset="-120"/>
              </a:rPr>
              <a:t>Mail SQR Expert</a:t>
            </a:r>
          </a:p>
        </p:txBody>
      </p:sp>
      <p:sp>
        <p:nvSpPr>
          <p:cNvPr id="20" name="Text Box 20"/>
          <p:cNvSpPr txBox="1">
            <a:spLocks noChangeArrowheads="1"/>
          </p:cNvSpPr>
          <p:nvPr/>
        </p:nvSpPr>
        <p:spPr bwMode="auto">
          <a:xfrm>
            <a:off x="1882775" y="2820988"/>
            <a:ext cx="1133475" cy="304800"/>
          </a:xfrm>
          <a:prstGeom prst="rect">
            <a:avLst/>
          </a:prstGeom>
          <a:noFill/>
          <a:ln w="9525">
            <a:noFill/>
            <a:miter lim="800000"/>
            <a:headEnd/>
            <a:tailEnd/>
          </a:ln>
          <a:effectLst/>
        </p:spPr>
        <p:txBody>
          <a:bodyPr wrap="none">
            <a:spAutoFit/>
          </a:bodyPr>
          <a:lstStyle/>
          <a:p>
            <a:pPr>
              <a:defRPr/>
            </a:pPr>
            <a:r>
              <a:rPr lang="en-US" altLang="zh-TW" sz="1400" b="1" dirty="0">
                <a:solidFill>
                  <a:schemeClr val="tx1">
                    <a:lumMod val="75000"/>
                    <a:lumOff val="25000"/>
                  </a:schemeClr>
                </a:solidFill>
                <a:effectLst>
                  <a:outerShdw blurRad="38100" dist="38100" dir="2700000" algn="tl">
                    <a:srgbClr val="C0C0C0"/>
                  </a:outerShdw>
                </a:effectLst>
                <a:latin typeface="微軟正黑體" pitchFamily="34" charset="-120"/>
                <a:ea typeface="微軟正黑體" pitchFamily="34" charset="-120"/>
              </a:rPr>
              <a:t>SPAM SQR</a:t>
            </a:r>
          </a:p>
        </p:txBody>
      </p:sp>
      <p:sp>
        <p:nvSpPr>
          <p:cNvPr id="21" name="Text Box 21"/>
          <p:cNvSpPr txBox="1">
            <a:spLocks noChangeArrowheads="1"/>
          </p:cNvSpPr>
          <p:nvPr/>
        </p:nvSpPr>
        <p:spPr bwMode="auto">
          <a:xfrm>
            <a:off x="5781675" y="2860675"/>
            <a:ext cx="1479550" cy="436563"/>
          </a:xfrm>
          <a:prstGeom prst="rect">
            <a:avLst/>
          </a:prstGeom>
          <a:noFill/>
          <a:ln w="9525">
            <a:noFill/>
            <a:miter lim="800000"/>
            <a:headEnd/>
            <a:tailEnd/>
          </a:ln>
          <a:effectLst/>
        </p:spPr>
        <p:txBody>
          <a:bodyPr wrap="none">
            <a:spAutoFit/>
          </a:bodyPr>
          <a:lstStyle/>
          <a:p>
            <a:pPr algn="ctr">
              <a:lnSpc>
                <a:spcPct val="80000"/>
              </a:lnSpc>
              <a:defRPr/>
            </a:pPr>
            <a:r>
              <a:rPr lang="en-US" altLang="zh-TW" sz="1400" b="1" dirty="0">
                <a:solidFill>
                  <a:schemeClr val="tx1">
                    <a:lumMod val="75000"/>
                    <a:lumOff val="25000"/>
                  </a:schemeClr>
                </a:solidFill>
                <a:effectLst>
                  <a:outerShdw blurRad="38100" dist="38100" dir="2700000" algn="tl">
                    <a:srgbClr val="C0C0C0"/>
                  </a:outerShdw>
                </a:effectLst>
                <a:latin typeface="微軟正黑體" pitchFamily="34" charset="-120"/>
                <a:ea typeface="微軟正黑體" pitchFamily="34" charset="-120"/>
              </a:rPr>
              <a:t>Mail Archiving </a:t>
            </a:r>
          </a:p>
          <a:p>
            <a:pPr algn="ctr">
              <a:lnSpc>
                <a:spcPct val="80000"/>
              </a:lnSpc>
              <a:defRPr/>
            </a:pPr>
            <a:r>
              <a:rPr lang="en-US" altLang="zh-TW" sz="1400" b="1" dirty="0">
                <a:solidFill>
                  <a:schemeClr val="tx1">
                    <a:lumMod val="75000"/>
                    <a:lumOff val="25000"/>
                  </a:schemeClr>
                </a:solidFill>
                <a:effectLst>
                  <a:outerShdw blurRad="38100" dist="38100" dir="2700000" algn="tl">
                    <a:srgbClr val="C0C0C0"/>
                  </a:outerShdw>
                </a:effectLst>
                <a:latin typeface="微軟正黑體" pitchFamily="34" charset="-120"/>
                <a:ea typeface="微軟正黑體" pitchFamily="34" charset="-120"/>
              </a:rPr>
              <a:t>Expert</a:t>
            </a:r>
          </a:p>
        </p:txBody>
      </p:sp>
      <p:sp>
        <p:nvSpPr>
          <p:cNvPr id="374" name="AutoShape 377"/>
          <p:cNvSpPr>
            <a:spLocks/>
          </p:cNvSpPr>
          <p:nvPr/>
        </p:nvSpPr>
        <p:spPr bwMode="auto">
          <a:xfrm>
            <a:off x="196850" y="3084513"/>
            <a:ext cx="1720850" cy="715962"/>
          </a:xfrm>
          <a:prstGeom prst="borderCallout1">
            <a:avLst>
              <a:gd name="adj1" fmla="val -6118"/>
              <a:gd name="adj2" fmla="val 85427"/>
              <a:gd name="adj3" fmla="val -67770"/>
              <a:gd name="adj4" fmla="val 108984"/>
            </a:avLst>
          </a:prstGeom>
          <a:solidFill>
            <a:schemeClr val="bg1"/>
          </a:solidFill>
          <a:ln>
            <a:solidFill>
              <a:schemeClr val="bg1">
                <a:lumMod val="50000"/>
              </a:schemeClr>
            </a:solidFill>
            <a:headEnd/>
            <a:tailEnd type="oval" w="med" len="med"/>
          </a:ln>
        </p:spPr>
        <p:style>
          <a:lnRef idx="1">
            <a:schemeClr val="accent2"/>
          </a:lnRef>
          <a:fillRef idx="2">
            <a:schemeClr val="accent2"/>
          </a:fillRef>
          <a:effectRef idx="1">
            <a:schemeClr val="accent2"/>
          </a:effectRef>
          <a:fontRef idx="minor">
            <a:schemeClr val="dk1"/>
          </a:fontRef>
        </p:style>
        <p:txBody>
          <a:bodyPr/>
          <a:lstStyle/>
          <a:p>
            <a:pPr>
              <a:defRPr/>
            </a:pPr>
            <a:r>
              <a:rPr lang="zh-TW" altLang="en-US" sz="1200" dirty="0">
                <a:latin typeface="微軟正黑體" pitchFamily="34" charset="-120"/>
                <a:ea typeface="微軟正黑體" pitchFamily="34" charset="-120"/>
              </a:rPr>
              <a:t>防範企圖竊取資料的釣魚郵件、惡意程式透過</a:t>
            </a:r>
            <a:r>
              <a:rPr lang="en-US" altLang="zh-TW" sz="1200" dirty="0">
                <a:latin typeface="微軟正黑體" pitchFamily="34" charset="-120"/>
                <a:ea typeface="微軟正黑體" pitchFamily="34" charset="-120"/>
              </a:rPr>
              <a:t>Spam</a:t>
            </a:r>
            <a:r>
              <a:rPr lang="zh-TW" altLang="en-US" sz="1200" dirty="0">
                <a:latin typeface="微軟正黑體" pitchFamily="34" charset="-120"/>
                <a:ea typeface="微軟正黑體" pitchFamily="34" charset="-120"/>
              </a:rPr>
              <a:t>入侵內部網路</a:t>
            </a:r>
          </a:p>
        </p:txBody>
      </p:sp>
      <p:sp>
        <p:nvSpPr>
          <p:cNvPr id="375" name="AutoShape 378"/>
          <p:cNvSpPr>
            <a:spLocks/>
          </p:cNvSpPr>
          <p:nvPr/>
        </p:nvSpPr>
        <p:spPr bwMode="auto">
          <a:xfrm>
            <a:off x="6596063" y="1068388"/>
            <a:ext cx="1835150" cy="682625"/>
          </a:xfrm>
          <a:prstGeom prst="borderCallout1">
            <a:avLst>
              <a:gd name="adj1" fmla="val 9199"/>
              <a:gd name="adj2" fmla="val -482"/>
              <a:gd name="adj3" fmla="val 50185"/>
              <a:gd name="adj4" fmla="val -31486"/>
            </a:avLst>
          </a:prstGeom>
          <a:solidFill>
            <a:schemeClr val="bg1"/>
          </a:solidFill>
          <a:ln>
            <a:solidFill>
              <a:schemeClr val="bg1">
                <a:lumMod val="50000"/>
              </a:schemeClr>
            </a:solidFill>
            <a:headEnd/>
            <a:tailEnd type="oval" w="med" len="med"/>
          </a:ln>
        </p:spPr>
        <p:style>
          <a:lnRef idx="1">
            <a:schemeClr val="accent2"/>
          </a:lnRef>
          <a:fillRef idx="2">
            <a:schemeClr val="accent2"/>
          </a:fillRef>
          <a:effectRef idx="1">
            <a:schemeClr val="accent2"/>
          </a:effectRef>
          <a:fontRef idx="minor">
            <a:schemeClr val="dk1"/>
          </a:fontRef>
        </p:style>
        <p:txBody>
          <a:bodyPr/>
          <a:lstStyle/>
          <a:p>
            <a:pPr>
              <a:defRPr/>
            </a:pPr>
            <a:r>
              <a:rPr lang="zh-TW" altLang="en-US" sz="1200" dirty="0">
                <a:latin typeface="微軟正黑體" pitchFamily="34" charset="-120"/>
                <a:ea typeface="微軟正黑體" pitchFamily="34" charset="-120"/>
              </a:rPr>
              <a:t>管制用</a:t>
            </a:r>
            <a:r>
              <a:rPr lang="en-US" altLang="zh-TW" sz="1200" dirty="0">
                <a:latin typeface="微軟正黑體" pitchFamily="34" charset="-120"/>
                <a:ea typeface="微軟正黑體" pitchFamily="34" charset="-120"/>
              </a:rPr>
              <a:t>IM /Web-mail</a:t>
            </a:r>
            <a:r>
              <a:rPr lang="zh-TW" altLang="en-US" sz="1200" dirty="0">
                <a:latin typeface="微軟正黑體" pitchFamily="34" charset="-120"/>
                <a:ea typeface="微軟正黑體" pitchFamily="34" charset="-120"/>
              </a:rPr>
              <a:t>　</a:t>
            </a:r>
            <a:r>
              <a:rPr lang="en-US" altLang="zh-TW" sz="1200" dirty="0">
                <a:latin typeface="微軟正黑體" pitchFamily="34" charset="-120"/>
                <a:ea typeface="微軟正黑體" pitchFamily="34" charset="-120"/>
              </a:rPr>
              <a:t>/P2P/FTP</a:t>
            </a:r>
            <a:r>
              <a:rPr lang="zh-TW" altLang="en-US" sz="1200" dirty="0">
                <a:latin typeface="微軟正黑體" pitchFamily="34" charset="-120"/>
                <a:ea typeface="微軟正黑體" pitchFamily="34" charset="-120"/>
              </a:rPr>
              <a:t>使用行為及禁止不當傳送資料</a:t>
            </a:r>
          </a:p>
        </p:txBody>
      </p:sp>
      <p:sp>
        <p:nvSpPr>
          <p:cNvPr id="376" name="AutoShape 379"/>
          <p:cNvSpPr>
            <a:spLocks/>
          </p:cNvSpPr>
          <p:nvPr/>
        </p:nvSpPr>
        <p:spPr bwMode="auto">
          <a:xfrm>
            <a:off x="1328738" y="3865563"/>
            <a:ext cx="1728787" cy="706437"/>
          </a:xfrm>
          <a:prstGeom prst="borderCallout1">
            <a:avLst>
              <a:gd name="adj1" fmla="val 16181"/>
              <a:gd name="adj2" fmla="val 104407"/>
              <a:gd name="adj3" fmla="val -128345"/>
              <a:gd name="adj4" fmla="val 138600"/>
            </a:avLst>
          </a:prstGeom>
          <a:solidFill>
            <a:schemeClr val="bg1"/>
          </a:solidFill>
          <a:ln>
            <a:solidFill>
              <a:schemeClr val="bg1">
                <a:lumMod val="50000"/>
              </a:schemeClr>
            </a:solidFill>
            <a:headEnd/>
            <a:tailEnd type="oval" w="med" len="med"/>
          </a:ln>
        </p:spPr>
        <p:style>
          <a:lnRef idx="1">
            <a:schemeClr val="accent2"/>
          </a:lnRef>
          <a:fillRef idx="2">
            <a:schemeClr val="accent2"/>
          </a:fillRef>
          <a:effectRef idx="1">
            <a:schemeClr val="accent2"/>
          </a:effectRef>
          <a:fontRef idx="minor">
            <a:schemeClr val="dk1"/>
          </a:fontRef>
        </p:style>
        <p:txBody>
          <a:bodyPr/>
          <a:lstStyle/>
          <a:p>
            <a:pPr>
              <a:defRPr/>
            </a:pPr>
            <a:r>
              <a:rPr lang="zh-TW" altLang="en-US" sz="1200" dirty="0">
                <a:latin typeface="微軟正黑體" pitchFamily="34" charset="-120"/>
                <a:ea typeface="微軟正黑體" pitchFamily="34" charset="-120"/>
              </a:rPr>
              <a:t>防範以</a:t>
            </a:r>
            <a:r>
              <a:rPr lang="en-US" altLang="zh-TW" sz="1200" dirty="0">
                <a:latin typeface="微軟正黑體" pitchFamily="34" charset="-120"/>
                <a:ea typeface="微軟正黑體" pitchFamily="34" charset="-120"/>
              </a:rPr>
              <a:t>Email</a:t>
            </a:r>
            <a:r>
              <a:rPr lang="zh-TW" altLang="en-US" sz="1200" dirty="0">
                <a:latin typeface="微軟正黑體" pitchFamily="34" charset="-120"/>
                <a:ea typeface="微軟正黑體" pitchFamily="34" charset="-120"/>
              </a:rPr>
              <a:t>將內部資料洩露出去</a:t>
            </a:r>
            <a:r>
              <a:rPr lang="en-US" altLang="zh-TW" sz="1200" dirty="0">
                <a:latin typeface="微軟正黑體" pitchFamily="34" charset="-120"/>
                <a:ea typeface="微軟正黑體" pitchFamily="34" charset="-120"/>
              </a:rPr>
              <a:t>,</a:t>
            </a:r>
            <a:r>
              <a:rPr lang="zh-TW" altLang="en-US" sz="1200" dirty="0">
                <a:latin typeface="微軟正黑體" pitchFamily="34" charset="-120"/>
                <a:ea typeface="微軟正黑體" pitchFamily="34" charset="-120"/>
              </a:rPr>
              <a:t>可做郵件稽核管理</a:t>
            </a:r>
          </a:p>
        </p:txBody>
      </p:sp>
      <p:sp>
        <p:nvSpPr>
          <p:cNvPr id="377" name="AutoShape 380"/>
          <p:cNvSpPr>
            <a:spLocks/>
          </p:cNvSpPr>
          <p:nvPr/>
        </p:nvSpPr>
        <p:spPr bwMode="auto">
          <a:xfrm>
            <a:off x="7343775" y="2560638"/>
            <a:ext cx="1527175" cy="469900"/>
          </a:xfrm>
          <a:prstGeom prst="borderCallout1">
            <a:avLst>
              <a:gd name="adj1" fmla="val 17602"/>
              <a:gd name="adj2" fmla="val -4500"/>
              <a:gd name="adj3" fmla="val -5413"/>
              <a:gd name="adj4" fmla="val -32293"/>
            </a:avLst>
          </a:prstGeom>
          <a:solidFill>
            <a:schemeClr val="bg1"/>
          </a:solidFill>
          <a:ln>
            <a:solidFill>
              <a:schemeClr val="bg1">
                <a:lumMod val="50000"/>
              </a:schemeClr>
            </a:solidFill>
            <a:headEnd/>
            <a:tailEnd type="oval" w="med" len="med"/>
          </a:ln>
        </p:spPr>
        <p:style>
          <a:lnRef idx="1">
            <a:schemeClr val="accent2"/>
          </a:lnRef>
          <a:fillRef idx="2">
            <a:schemeClr val="accent2"/>
          </a:fillRef>
          <a:effectRef idx="1">
            <a:schemeClr val="accent2"/>
          </a:effectRef>
          <a:fontRef idx="minor">
            <a:schemeClr val="dk1"/>
          </a:fontRef>
        </p:style>
        <p:txBody>
          <a:bodyPr/>
          <a:lstStyle/>
          <a:p>
            <a:pPr>
              <a:defRPr/>
            </a:pPr>
            <a:r>
              <a:rPr lang="zh-TW" altLang="en-US" sz="1200" dirty="0">
                <a:latin typeface="微軟正黑體" pitchFamily="34" charset="-120"/>
                <a:ea typeface="微軟正黑體" pitchFamily="34" charset="-120"/>
              </a:rPr>
              <a:t>輔助資料外洩稽查</a:t>
            </a:r>
            <a:r>
              <a:rPr lang="en-US" altLang="zh-TW" sz="1200" dirty="0">
                <a:latin typeface="微軟正黑體" pitchFamily="34" charset="-120"/>
                <a:ea typeface="微軟正黑體" pitchFamily="34" charset="-120"/>
              </a:rPr>
              <a:t>,</a:t>
            </a:r>
            <a:r>
              <a:rPr lang="zh-TW" altLang="en-US" sz="1200" dirty="0">
                <a:latin typeface="微軟正黑體" pitchFamily="34" charset="-120"/>
                <a:ea typeface="微軟正黑體" pitchFamily="34" charset="-120"/>
              </a:rPr>
              <a:t>可做電子郵件舉證</a:t>
            </a:r>
          </a:p>
        </p:txBody>
      </p:sp>
      <p:sp>
        <p:nvSpPr>
          <p:cNvPr id="8210" name="Text Box 388"/>
          <p:cNvSpPr txBox="1">
            <a:spLocks noChangeArrowheads="1"/>
          </p:cNvSpPr>
          <p:nvPr/>
        </p:nvSpPr>
        <p:spPr bwMode="auto">
          <a:xfrm>
            <a:off x="5943600" y="5564188"/>
            <a:ext cx="14144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zh-TW" altLang="en-US" sz="1200" b="1">
                <a:latin typeface="微軟正黑體" panose="020B0604030504040204" pitchFamily="34" charset="-120"/>
                <a:ea typeface="微軟正黑體" panose="020B0604030504040204" pitchFamily="34" charset="-120"/>
              </a:rPr>
              <a:t>防禦內部資料外洩</a:t>
            </a:r>
          </a:p>
        </p:txBody>
      </p:sp>
      <p:sp>
        <p:nvSpPr>
          <p:cNvPr id="393" name="Text Box 396"/>
          <p:cNvSpPr txBox="1">
            <a:spLocks noChangeArrowheads="1"/>
          </p:cNvSpPr>
          <p:nvPr/>
        </p:nvSpPr>
        <p:spPr bwMode="auto">
          <a:xfrm>
            <a:off x="4833938" y="5951538"/>
            <a:ext cx="534987" cy="246062"/>
          </a:xfrm>
          <a:prstGeom prst="rect">
            <a:avLst/>
          </a:prstGeom>
          <a:noFill/>
          <a:ln w="9525">
            <a:noFill/>
            <a:miter lim="800000"/>
            <a:headEnd/>
            <a:tailEnd/>
          </a:ln>
        </p:spPr>
        <p:txBody>
          <a:bodyPr wrap="none">
            <a:spAutoFit/>
          </a:bodyPr>
          <a:lstStyle/>
          <a:p>
            <a:pPr>
              <a:defRPr/>
            </a:pPr>
            <a:r>
              <a:rPr lang="en-US" altLang="zh-TW" sz="1000" i="1" dirty="0">
                <a:solidFill>
                  <a:schemeClr val="tx1">
                    <a:lumMod val="50000"/>
                    <a:lumOff val="50000"/>
                  </a:schemeClr>
                </a:solidFill>
                <a:latin typeface="微軟正黑體" pitchFamily="34" charset="-120"/>
                <a:ea typeface="微軟正黑體" pitchFamily="34" charset="-120"/>
              </a:rPr>
              <a:t>Client</a:t>
            </a:r>
          </a:p>
        </p:txBody>
      </p:sp>
      <p:pic>
        <p:nvPicPr>
          <p:cNvPr id="82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4638" y="2247900"/>
            <a:ext cx="593725"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1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0350" y="1108075"/>
            <a:ext cx="617538"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1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3463" y="2230438"/>
            <a:ext cx="573087"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15" name="Picture 7"/>
          <p:cNvPicPr>
            <a:picLocks noChangeAspect="1" noChangeArrowheads="1"/>
          </p:cNvPicPr>
          <p:nvPr/>
        </p:nvPicPr>
        <p:blipFill>
          <a:blip r:embed="rId6">
            <a:extLst>
              <a:ext uri="{28A0092B-C50C-407E-A947-70E740481C1C}">
                <a14:useLocalDpi xmlns:a14="http://schemas.microsoft.com/office/drawing/2010/main" val="0"/>
              </a:ext>
            </a:extLst>
          </a:blip>
          <a:srcRect l="4893"/>
          <a:stretch>
            <a:fillRect/>
          </a:stretch>
        </p:blipFill>
        <p:spPr bwMode="auto">
          <a:xfrm>
            <a:off x="5737225" y="3668713"/>
            <a:ext cx="642938"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16"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7913" y="606425"/>
            <a:ext cx="1020762" cy="111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17" name="Text Box 387"/>
          <p:cNvSpPr txBox="1">
            <a:spLocks noChangeArrowheads="1"/>
          </p:cNvSpPr>
          <p:nvPr/>
        </p:nvSpPr>
        <p:spPr bwMode="auto">
          <a:xfrm>
            <a:off x="1027113" y="1495425"/>
            <a:ext cx="11080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zh-TW" altLang="en-US" sz="1200" b="1">
                <a:latin typeface="微軟正黑體" panose="020B0604030504040204" pitchFamily="34" charset="-120"/>
                <a:ea typeface="微軟正黑體" panose="020B0604030504040204" pitchFamily="34" charset="-120"/>
              </a:rPr>
              <a:t>防禦外部駭客</a:t>
            </a:r>
          </a:p>
        </p:txBody>
      </p:sp>
      <p:pic>
        <p:nvPicPr>
          <p:cNvPr id="8218" name="Picture 4">
            <a:hlinkClick r:id="rId7" action="ppaction://hlinksldjump"/>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49475" y="2243138"/>
            <a:ext cx="6286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28" name="直線接點 427"/>
          <p:cNvCxnSpPr/>
          <p:nvPr/>
        </p:nvCxnSpPr>
        <p:spPr>
          <a:xfrm flipH="1">
            <a:off x="4389438" y="1651000"/>
            <a:ext cx="0" cy="606425"/>
          </a:xfrm>
          <a:prstGeom prst="line">
            <a:avLst/>
          </a:prstGeom>
          <a:ln w="762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37" name="肘形接點 436"/>
          <p:cNvCxnSpPr/>
          <p:nvPr/>
        </p:nvCxnSpPr>
        <p:spPr>
          <a:xfrm rot="5400000">
            <a:off x="3116263" y="981075"/>
            <a:ext cx="609600" cy="1914525"/>
          </a:xfrm>
          <a:prstGeom prst="bentConnector3">
            <a:avLst>
              <a:gd name="adj1" fmla="val 50000"/>
            </a:avLst>
          </a:prstGeom>
          <a:ln w="762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42" name="直線接點 441"/>
          <p:cNvCxnSpPr/>
          <p:nvPr/>
        </p:nvCxnSpPr>
        <p:spPr>
          <a:xfrm flipV="1">
            <a:off x="3397250" y="1370013"/>
            <a:ext cx="673100" cy="6350"/>
          </a:xfrm>
          <a:prstGeom prst="line">
            <a:avLst/>
          </a:prstGeom>
          <a:ln w="762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8222" name="Picture 13"/>
          <p:cNvPicPr>
            <a:picLocks noChangeAspect="1" noChangeArrowheads="1"/>
          </p:cNvPicPr>
          <p:nvPr/>
        </p:nvPicPr>
        <p:blipFill>
          <a:blip r:embed="rId9">
            <a:extLst>
              <a:ext uri="{28A0092B-C50C-407E-A947-70E740481C1C}">
                <a14:useLocalDpi xmlns:a14="http://schemas.microsoft.com/office/drawing/2010/main" val="0"/>
              </a:ext>
            </a:extLst>
          </a:blip>
          <a:srcRect l="15108" r="12199"/>
          <a:stretch>
            <a:fillRect/>
          </a:stretch>
        </p:blipFill>
        <p:spPr bwMode="auto">
          <a:xfrm>
            <a:off x="3832225" y="3810000"/>
            <a:ext cx="420688" cy="84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5" name="Text Box 397"/>
          <p:cNvSpPr txBox="1">
            <a:spLocks noChangeArrowheads="1"/>
          </p:cNvSpPr>
          <p:nvPr/>
        </p:nvSpPr>
        <p:spPr bwMode="auto">
          <a:xfrm>
            <a:off x="3355975" y="4454525"/>
            <a:ext cx="928688" cy="554038"/>
          </a:xfrm>
          <a:prstGeom prst="rect">
            <a:avLst/>
          </a:prstGeom>
          <a:noFill/>
          <a:ln w="9525">
            <a:noFill/>
            <a:miter lim="800000"/>
            <a:headEnd/>
            <a:tailEnd/>
          </a:ln>
        </p:spPr>
        <p:txBody>
          <a:bodyPr wrap="none">
            <a:spAutoFit/>
          </a:bodyPr>
          <a:lstStyle/>
          <a:p>
            <a:pPr>
              <a:defRPr/>
            </a:pPr>
            <a:r>
              <a:rPr lang="en-US" altLang="zh-TW" sz="1000" i="1" dirty="0">
                <a:solidFill>
                  <a:schemeClr val="tx1">
                    <a:lumMod val="50000"/>
                    <a:lumOff val="50000"/>
                  </a:schemeClr>
                </a:solidFill>
                <a:latin typeface="微軟正黑體" pitchFamily="34" charset="-120"/>
                <a:ea typeface="微軟正黑體" pitchFamily="34" charset="-120"/>
              </a:rPr>
              <a:t>Mail Server</a:t>
            </a:r>
          </a:p>
          <a:p>
            <a:pPr>
              <a:defRPr/>
            </a:pPr>
            <a:r>
              <a:rPr lang="en-US" altLang="zh-TW" sz="1000" i="1" dirty="0">
                <a:solidFill>
                  <a:schemeClr val="tx1">
                    <a:lumMod val="50000"/>
                    <a:lumOff val="50000"/>
                  </a:schemeClr>
                </a:solidFill>
                <a:latin typeface="微軟正黑體" pitchFamily="34" charset="-120"/>
                <a:ea typeface="微軟正黑體" pitchFamily="34" charset="-120"/>
              </a:rPr>
              <a:t>Proxy Server</a:t>
            </a:r>
          </a:p>
          <a:p>
            <a:pPr>
              <a:defRPr/>
            </a:pPr>
            <a:r>
              <a:rPr lang="en-US" altLang="zh-TW" sz="1000" i="1" dirty="0">
                <a:solidFill>
                  <a:schemeClr val="tx1">
                    <a:lumMod val="50000"/>
                    <a:lumOff val="50000"/>
                  </a:schemeClr>
                </a:solidFill>
                <a:latin typeface="微軟正黑體" pitchFamily="34" charset="-120"/>
                <a:ea typeface="微軟正黑體" pitchFamily="34" charset="-120"/>
              </a:rPr>
              <a:t>Storage</a:t>
            </a:r>
          </a:p>
        </p:txBody>
      </p:sp>
      <p:pic>
        <p:nvPicPr>
          <p:cNvPr id="8224" name="Picture 13"/>
          <p:cNvPicPr>
            <a:picLocks noChangeAspect="1" noChangeArrowheads="1"/>
          </p:cNvPicPr>
          <p:nvPr/>
        </p:nvPicPr>
        <p:blipFill>
          <a:blip r:embed="rId9">
            <a:extLst>
              <a:ext uri="{28A0092B-C50C-407E-A947-70E740481C1C}">
                <a14:useLocalDpi xmlns:a14="http://schemas.microsoft.com/office/drawing/2010/main" val="0"/>
              </a:ext>
            </a:extLst>
          </a:blip>
          <a:srcRect l="15108" r="12199"/>
          <a:stretch>
            <a:fillRect/>
          </a:stretch>
        </p:blipFill>
        <p:spPr bwMode="auto">
          <a:xfrm>
            <a:off x="4662488" y="3795713"/>
            <a:ext cx="420687" cy="84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57" name="直線接點 456"/>
          <p:cNvCxnSpPr/>
          <p:nvPr/>
        </p:nvCxnSpPr>
        <p:spPr>
          <a:xfrm>
            <a:off x="4379913" y="3435350"/>
            <a:ext cx="0" cy="561975"/>
          </a:xfrm>
          <a:prstGeom prst="line">
            <a:avLst/>
          </a:prstGeom>
          <a:ln w="762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8226" name="Picture 13"/>
          <p:cNvPicPr>
            <a:picLocks noChangeAspect="1" noChangeArrowheads="1"/>
          </p:cNvPicPr>
          <p:nvPr/>
        </p:nvPicPr>
        <p:blipFill>
          <a:blip r:embed="rId9">
            <a:extLst>
              <a:ext uri="{28A0092B-C50C-407E-A947-70E740481C1C}">
                <a14:useLocalDpi xmlns:a14="http://schemas.microsoft.com/office/drawing/2010/main" val="0"/>
              </a:ext>
            </a:extLst>
          </a:blip>
          <a:srcRect l="15108" t="7568" r="12199"/>
          <a:stretch>
            <a:fillRect/>
          </a:stretch>
        </p:blipFill>
        <p:spPr bwMode="auto">
          <a:xfrm>
            <a:off x="4222750" y="3810000"/>
            <a:ext cx="492125"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7" name="Text Box 21"/>
          <p:cNvSpPr txBox="1">
            <a:spLocks noChangeArrowheads="1"/>
          </p:cNvSpPr>
          <p:nvPr/>
        </p:nvSpPr>
        <p:spPr bwMode="auto">
          <a:xfrm>
            <a:off x="5013325" y="4260850"/>
            <a:ext cx="2171700" cy="265113"/>
          </a:xfrm>
          <a:prstGeom prst="rect">
            <a:avLst/>
          </a:prstGeom>
          <a:noFill/>
          <a:ln w="9525">
            <a:noFill/>
            <a:miter lim="800000"/>
            <a:headEnd/>
            <a:tailEnd/>
          </a:ln>
          <a:effectLst/>
        </p:spPr>
        <p:txBody>
          <a:bodyPr>
            <a:spAutoFit/>
          </a:bodyPr>
          <a:lstStyle/>
          <a:p>
            <a:pPr algn="ctr">
              <a:lnSpc>
                <a:spcPct val="80000"/>
              </a:lnSpc>
              <a:defRPr/>
            </a:pPr>
            <a:r>
              <a:rPr lang="en-US" altLang="zh-TW" sz="1400" b="1" dirty="0" err="1">
                <a:solidFill>
                  <a:schemeClr val="tx1">
                    <a:lumMod val="75000"/>
                    <a:lumOff val="25000"/>
                  </a:schemeClr>
                </a:solidFill>
                <a:effectLst>
                  <a:outerShdw blurRad="38100" dist="38100" dir="2700000" algn="tl">
                    <a:srgbClr val="C0C0C0"/>
                  </a:outerShdw>
                </a:effectLst>
                <a:latin typeface="微軟正黑體" pitchFamily="34" charset="-120"/>
                <a:ea typeface="微軟正黑體" pitchFamily="34" charset="-120"/>
              </a:rPr>
              <a:t>DataSeal</a:t>
            </a:r>
            <a:r>
              <a:rPr lang="en-US" altLang="zh-TW" sz="1400" b="1" dirty="0">
                <a:solidFill>
                  <a:schemeClr val="tx1">
                    <a:lumMod val="75000"/>
                    <a:lumOff val="25000"/>
                  </a:schemeClr>
                </a:solidFill>
                <a:effectLst>
                  <a:outerShdw blurRad="38100" dist="38100" dir="2700000" algn="tl">
                    <a:srgbClr val="C0C0C0"/>
                  </a:outerShdw>
                </a:effectLst>
                <a:latin typeface="微軟正黑體" pitchFamily="34" charset="-120"/>
                <a:ea typeface="微軟正黑體" pitchFamily="34" charset="-120"/>
              </a:rPr>
              <a:t> Endpoint</a:t>
            </a:r>
          </a:p>
        </p:txBody>
      </p:sp>
      <p:sp>
        <p:nvSpPr>
          <p:cNvPr id="470" name="AutoShape 380"/>
          <p:cNvSpPr>
            <a:spLocks/>
          </p:cNvSpPr>
          <p:nvPr/>
        </p:nvSpPr>
        <p:spPr bwMode="auto">
          <a:xfrm>
            <a:off x="7345363" y="3816350"/>
            <a:ext cx="1641475" cy="884238"/>
          </a:xfrm>
          <a:prstGeom prst="borderCallout1">
            <a:avLst>
              <a:gd name="adj1" fmla="val 17602"/>
              <a:gd name="adj2" fmla="val -4500"/>
              <a:gd name="adj3" fmla="val 18237"/>
              <a:gd name="adj4" fmla="val -52265"/>
            </a:avLst>
          </a:prstGeom>
          <a:solidFill>
            <a:schemeClr val="bg1"/>
          </a:solidFill>
          <a:ln>
            <a:solidFill>
              <a:schemeClr val="bg1">
                <a:lumMod val="50000"/>
              </a:schemeClr>
            </a:solidFill>
            <a:headEnd/>
            <a:tailEnd type="oval" w="med" len="med"/>
          </a:ln>
        </p:spPr>
        <p:style>
          <a:lnRef idx="1">
            <a:schemeClr val="accent2"/>
          </a:lnRef>
          <a:fillRef idx="2">
            <a:schemeClr val="accent2"/>
          </a:fillRef>
          <a:effectRef idx="1">
            <a:schemeClr val="accent2"/>
          </a:effectRef>
          <a:fontRef idx="minor">
            <a:schemeClr val="dk1"/>
          </a:fontRef>
        </p:style>
        <p:txBody>
          <a:bodyPr/>
          <a:lstStyle/>
          <a:p>
            <a:pPr>
              <a:defRPr/>
            </a:pPr>
            <a:r>
              <a:rPr lang="zh-TW" altLang="en-US" sz="1200" dirty="0">
                <a:latin typeface="微軟正黑體" pitchFamily="34" charset="-120"/>
                <a:ea typeface="微軟正黑體" pitchFamily="34" charset="-120"/>
              </a:rPr>
              <a:t>防資料外洩，</a:t>
            </a:r>
            <a:r>
              <a:rPr lang="zh-TW" altLang="zh-TW" sz="1200" dirty="0">
                <a:latin typeface="微軟正黑體" pitchFamily="34" charset="-120"/>
                <a:ea typeface="微軟正黑體" pitchFamily="34" charset="-120"/>
              </a:rPr>
              <a:t>可依需求選</a:t>
            </a:r>
            <a:r>
              <a:rPr lang="zh-TW" altLang="en-US" sz="1200" dirty="0">
                <a:latin typeface="微軟正黑體" pitchFamily="34" charset="-120"/>
                <a:ea typeface="微軟正黑體" pitchFamily="34" charset="-120"/>
              </a:rPr>
              <a:t>範企業內部</a:t>
            </a:r>
            <a:r>
              <a:rPr lang="zh-TW" altLang="zh-TW" sz="1200" dirty="0">
                <a:latin typeface="微軟正黑體" pitchFamily="34" charset="-120"/>
                <a:ea typeface="微軟正黑體" pitchFamily="34" charset="-120"/>
              </a:rPr>
              <a:t>擇簡易電腦佈署或詳細文件授權的管理方式</a:t>
            </a:r>
            <a:r>
              <a:rPr lang="zh-TW" altLang="en-US" sz="1200" dirty="0">
                <a:latin typeface="微軟正黑體" pitchFamily="34" charset="-120"/>
                <a:ea typeface="微軟正黑體" pitchFamily="34" charset="-120"/>
              </a:rPr>
              <a:t>。</a:t>
            </a:r>
          </a:p>
        </p:txBody>
      </p:sp>
      <p:grpSp>
        <p:nvGrpSpPr>
          <p:cNvPr id="8229" name="Group 384"/>
          <p:cNvGrpSpPr>
            <a:grpSpLocks/>
          </p:cNvGrpSpPr>
          <p:nvPr/>
        </p:nvGrpSpPr>
        <p:grpSpPr bwMode="auto">
          <a:xfrm rot="-4650575">
            <a:off x="1265238" y="914400"/>
            <a:ext cx="574675" cy="574675"/>
            <a:chOff x="930" y="3113"/>
            <a:chExt cx="362" cy="362"/>
          </a:xfrm>
        </p:grpSpPr>
        <p:sp>
          <p:nvSpPr>
            <p:cNvPr id="478" name="Oval 385"/>
            <p:cNvSpPr>
              <a:spLocks noChangeArrowheads="1"/>
            </p:cNvSpPr>
            <p:nvPr/>
          </p:nvSpPr>
          <p:spPr bwMode="auto">
            <a:xfrm>
              <a:off x="930" y="3113"/>
              <a:ext cx="362" cy="362"/>
            </a:xfrm>
            <a:prstGeom prst="ellipse">
              <a:avLst/>
            </a:prstGeom>
            <a:noFill/>
            <a:ln w="57150">
              <a:solidFill>
                <a:schemeClr val="tx2">
                  <a:lumMod val="60000"/>
                  <a:lumOff val="40000"/>
                </a:schemeClr>
              </a:solidFill>
              <a:round/>
              <a:headEnd/>
              <a:tailEnd/>
            </a:ln>
          </p:spPr>
          <p:txBody>
            <a:bodyPr wrap="none" anchor="ctr"/>
            <a:lstStyle/>
            <a:p>
              <a:pPr>
                <a:defRPr/>
              </a:pPr>
              <a:endParaRPr lang="zh-TW" altLang="en-US">
                <a:latin typeface="微軟正黑體" pitchFamily="34" charset="-120"/>
                <a:ea typeface="微軟正黑體" pitchFamily="34" charset="-120"/>
              </a:endParaRPr>
            </a:p>
          </p:txBody>
        </p:sp>
        <p:sp>
          <p:nvSpPr>
            <p:cNvPr id="479" name="Line 386"/>
            <p:cNvSpPr>
              <a:spLocks noChangeShapeType="1"/>
            </p:cNvSpPr>
            <p:nvPr/>
          </p:nvSpPr>
          <p:spPr bwMode="auto">
            <a:xfrm>
              <a:off x="975" y="3203"/>
              <a:ext cx="272" cy="182"/>
            </a:xfrm>
            <a:prstGeom prst="line">
              <a:avLst/>
            </a:prstGeom>
            <a:noFill/>
            <a:ln w="57150">
              <a:solidFill>
                <a:schemeClr val="tx2">
                  <a:lumMod val="60000"/>
                  <a:lumOff val="40000"/>
                </a:schemeClr>
              </a:solidFill>
              <a:round/>
              <a:headEnd/>
              <a:tailEnd/>
            </a:ln>
          </p:spPr>
          <p:txBody>
            <a:bodyPr/>
            <a:lstStyle/>
            <a:p>
              <a:pPr>
                <a:defRPr/>
              </a:pPr>
              <a:endParaRPr lang="zh-TW" altLang="en-US">
                <a:latin typeface="微軟正黑體" pitchFamily="34" charset="-120"/>
                <a:ea typeface="微軟正黑體" pitchFamily="34" charset="-120"/>
              </a:endParaRPr>
            </a:p>
          </p:txBody>
        </p:sp>
      </p:grpSp>
      <p:grpSp>
        <p:nvGrpSpPr>
          <p:cNvPr id="8230" name="Group 384"/>
          <p:cNvGrpSpPr>
            <a:grpSpLocks/>
          </p:cNvGrpSpPr>
          <p:nvPr/>
        </p:nvGrpSpPr>
        <p:grpSpPr bwMode="auto">
          <a:xfrm rot="-4650575">
            <a:off x="6345238" y="4983163"/>
            <a:ext cx="574675" cy="574675"/>
            <a:chOff x="930" y="3113"/>
            <a:chExt cx="362" cy="362"/>
          </a:xfrm>
        </p:grpSpPr>
        <p:sp>
          <p:nvSpPr>
            <p:cNvPr id="481" name="Oval 385"/>
            <p:cNvSpPr>
              <a:spLocks noChangeArrowheads="1"/>
            </p:cNvSpPr>
            <p:nvPr/>
          </p:nvSpPr>
          <p:spPr bwMode="auto">
            <a:xfrm>
              <a:off x="930" y="3113"/>
              <a:ext cx="362" cy="362"/>
            </a:xfrm>
            <a:prstGeom prst="ellipse">
              <a:avLst/>
            </a:prstGeom>
            <a:noFill/>
            <a:ln w="57150">
              <a:solidFill>
                <a:schemeClr val="tx2">
                  <a:lumMod val="60000"/>
                  <a:lumOff val="40000"/>
                </a:schemeClr>
              </a:solidFill>
              <a:round/>
              <a:headEnd/>
              <a:tailEnd/>
            </a:ln>
          </p:spPr>
          <p:txBody>
            <a:bodyPr wrap="none" anchor="ctr"/>
            <a:lstStyle/>
            <a:p>
              <a:pPr>
                <a:defRPr/>
              </a:pPr>
              <a:endParaRPr lang="zh-TW" altLang="en-US">
                <a:latin typeface="微軟正黑體" pitchFamily="34" charset="-120"/>
                <a:ea typeface="微軟正黑體" pitchFamily="34" charset="-120"/>
              </a:endParaRPr>
            </a:p>
          </p:txBody>
        </p:sp>
        <p:sp>
          <p:nvSpPr>
            <p:cNvPr id="482" name="Line 386"/>
            <p:cNvSpPr>
              <a:spLocks noChangeShapeType="1"/>
            </p:cNvSpPr>
            <p:nvPr/>
          </p:nvSpPr>
          <p:spPr bwMode="auto">
            <a:xfrm>
              <a:off x="975" y="3203"/>
              <a:ext cx="272" cy="182"/>
            </a:xfrm>
            <a:prstGeom prst="line">
              <a:avLst/>
            </a:prstGeom>
            <a:noFill/>
            <a:ln w="57150">
              <a:solidFill>
                <a:schemeClr val="tx2">
                  <a:lumMod val="60000"/>
                  <a:lumOff val="40000"/>
                </a:schemeClr>
              </a:solidFill>
              <a:round/>
              <a:headEnd/>
              <a:tailEnd/>
            </a:ln>
          </p:spPr>
          <p:txBody>
            <a:bodyPr/>
            <a:lstStyle/>
            <a:p>
              <a:pPr>
                <a:defRPr/>
              </a:pPr>
              <a:endParaRPr lang="zh-TW" altLang="en-US">
                <a:latin typeface="微軟正黑體" pitchFamily="34" charset="-120"/>
                <a:ea typeface="微軟正黑體" pitchFamily="34" charset="-120"/>
              </a:endParaRPr>
            </a:p>
          </p:txBody>
        </p:sp>
      </p:grpSp>
      <p:pic>
        <p:nvPicPr>
          <p:cNvPr id="8231" name="Picture 14"/>
          <p:cNvPicPr>
            <a:picLocks noChangeAspect="1" noChangeArrowheads="1"/>
          </p:cNvPicPr>
          <p:nvPr/>
        </p:nvPicPr>
        <p:blipFill>
          <a:blip r:embed="rId10">
            <a:extLst>
              <a:ext uri="{28A0092B-C50C-407E-A947-70E740481C1C}">
                <a14:useLocalDpi xmlns:a14="http://schemas.microsoft.com/office/drawing/2010/main" val="0"/>
              </a:ext>
            </a:extLst>
          </a:blip>
          <a:srcRect l="9299" r="9299"/>
          <a:stretch>
            <a:fillRect/>
          </a:stretch>
        </p:blipFill>
        <p:spPr bwMode="auto">
          <a:xfrm>
            <a:off x="4321175" y="5216525"/>
            <a:ext cx="395288"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32" name="Picture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16475" y="5222875"/>
            <a:ext cx="547688"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33" name="Picture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59400" y="5108575"/>
            <a:ext cx="473075"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34" name="Picture 17"/>
          <p:cNvPicPr>
            <a:picLocks noChangeAspect="1" noChangeArrowheads="1"/>
          </p:cNvPicPr>
          <p:nvPr/>
        </p:nvPicPr>
        <p:blipFill>
          <a:blip r:embed="rId13">
            <a:extLst>
              <a:ext uri="{28A0092B-C50C-407E-A947-70E740481C1C}">
                <a14:useLocalDpi xmlns:a14="http://schemas.microsoft.com/office/drawing/2010/main" val="0"/>
              </a:ext>
            </a:extLst>
          </a:blip>
          <a:srcRect l="6943" t="13942"/>
          <a:stretch>
            <a:fillRect/>
          </a:stretch>
        </p:blipFill>
        <p:spPr bwMode="auto">
          <a:xfrm>
            <a:off x="2397125" y="941388"/>
            <a:ext cx="1019175"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95740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458" name="標題 1"/>
          <p:cNvSpPr>
            <a:spLocks noGrp="1"/>
          </p:cNvSpPr>
          <p:nvPr>
            <p:ph type="title"/>
          </p:nvPr>
        </p:nvSpPr>
        <p:spPr>
          <a:xfrm>
            <a:off x="3059113" y="0"/>
            <a:ext cx="6084887" cy="908050"/>
          </a:xfrm>
        </p:spPr>
        <p:txBody>
          <a:bodyPr/>
          <a:lstStyle/>
          <a:p>
            <a:r>
              <a:rPr lang="zh-TW" altLang="en-US" dirty="0" smtClean="0">
                <a:solidFill>
                  <a:srgbClr val="FFC000"/>
                </a:solidFill>
              </a:rPr>
              <a:t>內容安全的方案</a:t>
            </a:r>
            <a:endParaRPr lang="zh-TW" altLang="en-US" dirty="0" smtClean="0"/>
          </a:p>
        </p:txBody>
      </p:sp>
      <p:pic>
        <p:nvPicPr>
          <p:cNvPr id="19459" name="Picture 2" descr="C:\Users\MandyChou\Pictures\流程圖影像\spam_09.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1773238"/>
            <a:ext cx="1296988"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0" name="Picture 4" descr="C:\Users\MandyChou\Pictures\流程圖影像\spam_12.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844675"/>
            <a:ext cx="1439863"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461" name="群組 14"/>
          <p:cNvGrpSpPr>
            <a:grpSpLocks/>
          </p:cNvGrpSpPr>
          <p:nvPr/>
        </p:nvGrpSpPr>
        <p:grpSpPr bwMode="auto">
          <a:xfrm>
            <a:off x="179388" y="2565400"/>
            <a:ext cx="1143000" cy="969963"/>
            <a:chOff x="467544" y="3861048"/>
            <a:chExt cx="1143000" cy="969963"/>
          </a:xfrm>
        </p:grpSpPr>
        <p:sp>
          <p:nvSpPr>
            <p:cNvPr id="6" name="Cloud"/>
            <p:cNvSpPr>
              <a:spLocks noChangeAspect="1" noEditPoints="1" noChangeArrowheads="1"/>
            </p:cNvSpPr>
            <p:nvPr/>
          </p:nvSpPr>
          <p:spPr bwMode="auto">
            <a:xfrm>
              <a:off x="570731" y="4048373"/>
              <a:ext cx="1028700" cy="688975"/>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8F8F8"/>
            </a:solidFill>
            <a:ln w="9525">
              <a:solidFill>
                <a:srgbClr val="000000"/>
              </a:solidFill>
              <a:miter lim="800000"/>
              <a:headEnd/>
              <a:tailEnd/>
            </a:ln>
            <a:effectLst>
              <a:outerShdw dist="107763" dir="2700000" algn="ctr" rotWithShape="0">
                <a:srgbClr val="808080"/>
              </a:outerShdw>
            </a:effectLst>
          </p:spPr>
          <p:txBody>
            <a:bodyPr/>
            <a:lstStyle/>
            <a:p>
              <a:pPr fontAlgn="auto">
                <a:spcBef>
                  <a:spcPts val="0"/>
                </a:spcBef>
                <a:spcAft>
                  <a:spcPts val="0"/>
                </a:spcAft>
                <a:defRPr/>
              </a:pPr>
              <a:endParaRPr kumimoji="0" lang="zh-TW" altLang="en-US" sz="1400">
                <a:latin typeface="+mn-lt"/>
                <a:ea typeface="+mn-ea"/>
              </a:endParaRPr>
            </a:p>
          </p:txBody>
        </p:sp>
        <p:pic>
          <p:nvPicPr>
            <p:cNvPr id="19504" name="Picture 11" descr="email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39044" y="4042023"/>
              <a:ext cx="342900"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505" name="Picture 13" descr="email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67644" y="4337298"/>
              <a:ext cx="3429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506" name="Picture 14" descr="email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0444" y="4518273"/>
              <a:ext cx="3429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507" name="Picture 15" descr="j0389182[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7544" y="3861048"/>
              <a:ext cx="4603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508" name="Picture 16" descr="email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39044" y="4403973"/>
              <a:ext cx="3429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509" name="Picture 17" descr="j0199241[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53344" y="3975348"/>
              <a:ext cx="3429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510" name="Picture 339" descr="na01595_[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972369" y="4435723"/>
              <a:ext cx="38735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9462" name="Picture 6" descr="C:\Users\MandyChou\Pictures\流程圖影像\spam_18.gif"/>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75463" y="2060575"/>
            <a:ext cx="122555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3" name="Rectangle 32"/>
          <p:cNvSpPr>
            <a:spLocks noChangeArrowheads="1"/>
          </p:cNvSpPr>
          <p:nvPr/>
        </p:nvSpPr>
        <p:spPr bwMode="auto">
          <a:xfrm>
            <a:off x="4211638" y="1268413"/>
            <a:ext cx="2303462"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buFontTx/>
              <a:buChar char="•"/>
            </a:pPr>
            <a:r>
              <a:rPr kumimoji="0" lang="en-US" altLang="zh-TW" sz="1400" b="1">
                <a:solidFill>
                  <a:schemeClr val="tx2"/>
                </a:solidFill>
                <a:latin typeface="Calibri" panose="020F0502020204030204" pitchFamily="34" charset="0"/>
                <a:ea typeface="標楷體" panose="03000509000000000000" pitchFamily="65" charset="-120"/>
              </a:rPr>
              <a:t>Webmail/SMTP/POP3</a:t>
            </a:r>
            <a:r>
              <a:rPr kumimoji="0" lang="zh-TW" altLang="en-US" sz="1400" b="1">
                <a:solidFill>
                  <a:schemeClr val="tx2"/>
                </a:solidFill>
                <a:latin typeface="Calibri" panose="020F0502020204030204" pitchFamily="34" charset="0"/>
                <a:ea typeface="標楷體" panose="03000509000000000000" pitchFamily="65" charset="-120"/>
              </a:rPr>
              <a:t>、</a:t>
            </a:r>
            <a:r>
              <a:rPr kumimoji="0" lang="en-US" altLang="zh-TW" sz="1400" b="1">
                <a:solidFill>
                  <a:schemeClr val="tx2"/>
                </a:solidFill>
                <a:latin typeface="Calibri" panose="020F0502020204030204" pitchFamily="34" charset="0"/>
                <a:ea typeface="標楷體" panose="03000509000000000000" pitchFamily="65" charset="-120"/>
              </a:rPr>
              <a:t>Web/IM /P2P</a:t>
            </a:r>
          </a:p>
          <a:p>
            <a:pPr eaLnBrk="1" hangingPunct="1"/>
            <a:r>
              <a:rPr kumimoji="0" lang="en-US" altLang="zh-TW" sz="1400">
                <a:solidFill>
                  <a:schemeClr val="tx2"/>
                </a:solidFill>
                <a:latin typeface="Calibri" panose="020F0502020204030204" pitchFamily="34" charset="0"/>
              </a:rPr>
              <a:t>    </a:t>
            </a:r>
            <a:r>
              <a:rPr kumimoji="0" lang="zh-TW" altLang="en-US" sz="1400">
                <a:solidFill>
                  <a:schemeClr val="tx2"/>
                </a:solidFill>
                <a:latin typeface="Calibri" panose="020F0502020204030204" pitchFamily="34" charset="0"/>
              </a:rPr>
              <a:t>全內容過濾紀錄</a:t>
            </a:r>
          </a:p>
        </p:txBody>
      </p:sp>
      <p:pic>
        <p:nvPicPr>
          <p:cNvPr id="19464" name="Picture 8" descr="C:\Users\MandyChou\Pictures\流程圖影像\spam_15.gif"/>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89725" y="4005263"/>
            <a:ext cx="129698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5" name="Picture 8" descr="C:\Users\MandyChou\Pictures\流程圖影像\spam_15.gif"/>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54463" y="4005263"/>
            <a:ext cx="12954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6" name="Picture 8" descr="C:\Users\MandyChou\Pictures\流程圖影像\spam_15.gif"/>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41575" y="4005263"/>
            <a:ext cx="129698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7" name="Picture 10" descr="C:\Users\MandyChou\Pictures\流程圖影像\spam_06.gif"/>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65763" y="3789363"/>
            <a:ext cx="1152525"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8" name="Picture 12" descr="C:\Users\MandyChou\Pictures\流程圖影像\spam_29.gif"/>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58150" y="3716338"/>
            <a:ext cx="8382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9" name="Picture 14" descr="C:\Users\MandyChou\Pictures\流程圖影像\spam_32.gif"/>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489950" y="3933825"/>
            <a:ext cx="762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470" name="群組 54"/>
          <p:cNvGrpSpPr>
            <a:grpSpLocks/>
          </p:cNvGrpSpPr>
          <p:nvPr/>
        </p:nvGrpSpPr>
        <p:grpSpPr bwMode="auto">
          <a:xfrm>
            <a:off x="2370138" y="4292600"/>
            <a:ext cx="6840537" cy="2022475"/>
            <a:chOff x="2268538" y="4286845"/>
            <a:chExt cx="6553200" cy="2022475"/>
          </a:xfrm>
        </p:grpSpPr>
        <p:sp>
          <p:nvSpPr>
            <p:cNvPr id="19488" name="Text Box 18"/>
            <p:cNvSpPr txBox="1">
              <a:spLocks noChangeArrowheads="1"/>
            </p:cNvSpPr>
            <p:nvPr/>
          </p:nvSpPr>
          <p:spPr bwMode="auto">
            <a:xfrm>
              <a:off x="2268538" y="5248870"/>
              <a:ext cx="1439862"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304800" algn="l"/>
                </a:tabLst>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tabLst>
                  <a:tab pos="304800" algn="l"/>
                </a:tabLst>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tabLst>
                  <a:tab pos="304800" algn="l"/>
                </a:tabLst>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tabLst>
                  <a:tab pos="304800" algn="l"/>
                </a:tabLst>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tabLst>
                  <a:tab pos="304800" algn="l"/>
                </a:tabLst>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tabLst>
                  <a:tab pos="304800" algn="l"/>
                </a:tabLs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tabLst>
                  <a:tab pos="304800" algn="l"/>
                </a:tabLs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tabLst>
                  <a:tab pos="304800" algn="l"/>
                </a:tabLs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tabLst>
                  <a:tab pos="304800" algn="l"/>
                </a:tabLst>
                <a:defRPr kumimoji="1">
                  <a:solidFill>
                    <a:schemeClr val="tx1"/>
                  </a:solidFill>
                  <a:latin typeface="Arial" panose="020B0604020202020204" pitchFamily="34" charset="0"/>
                  <a:ea typeface="新細明體" panose="02020500000000000000" pitchFamily="18" charset="-120"/>
                </a:defRPr>
              </a:lvl9pPr>
            </a:lstStyle>
            <a:p>
              <a:pPr eaLnBrk="1" hangingPunct="1">
                <a:buFontTx/>
                <a:buChar char="•"/>
              </a:pPr>
              <a:r>
                <a:rPr kumimoji="0" lang="zh-TW" altLang="en-US" sz="1400">
                  <a:solidFill>
                    <a:schemeClr val="tx2"/>
                  </a:solidFill>
                  <a:latin typeface="Calibri" panose="020F0502020204030204" pitchFamily="34" charset="0"/>
                  <a:cs typeface="Arial" panose="020B0604020202020204" pitchFamily="34" charset="0"/>
                </a:rPr>
                <a:t>垃圾信過濾</a:t>
              </a:r>
            </a:p>
            <a:p>
              <a:pPr eaLnBrk="1" hangingPunct="1">
                <a:buFontTx/>
                <a:buChar char="•"/>
              </a:pPr>
              <a:r>
                <a:rPr kumimoji="0" lang="zh-TW" altLang="en-US" sz="1400">
                  <a:solidFill>
                    <a:schemeClr val="tx2"/>
                  </a:solidFill>
                  <a:latin typeface="Calibri" panose="020F0502020204030204" pitchFamily="34" charset="0"/>
                  <a:cs typeface="Arial" panose="020B0604020202020204" pitchFamily="34" charset="0"/>
                </a:rPr>
                <a:t>病毒過濾</a:t>
              </a:r>
              <a:endParaRPr kumimoji="0" lang="en-US" altLang="zh-TW" sz="1400">
                <a:solidFill>
                  <a:schemeClr val="tx2"/>
                </a:solidFill>
                <a:latin typeface="Calibri" panose="020F0502020204030204" pitchFamily="34" charset="0"/>
                <a:cs typeface="Arial" panose="020B0604020202020204" pitchFamily="34" charset="0"/>
              </a:endParaRPr>
            </a:p>
          </p:txBody>
        </p:sp>
        <p:sp>
          <p:nvSpPr>
            <p:cNvPr id="19489" name="Text Box 19"/>
            <p:cNvSpPr txBox="1">
              <a:spLocks noChangeArrowheads="1"/>
            </p:cNvSpPr>
            <p:nvPr/>
          </p:nvSpPr>
          <p:spPr bwMode="auto">
            <a:xfrm>
              <a:off x="7643813" y="5439370"/>
              <a:ext cx="117792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buFontTx/>
                <a:buChar char="•"/>
              </a:pPr>
              <a:r>
                <a:rPr kumimoji="0" lang="zh-TW" altLang="en-US" sz="1400">
                  <a:solidFill>
                    <a:schemeClr val="tx2"/>
                  </a:solidFill>
                  <a:latin typeface="Calibri" panose="020F0502020204030204" pitchFamily="34" charset="0"/>
                  <a:cs typeface="Arial" panose="020B0604020202020204" pitchFamily="34" charset="0"/>
                </a:rPr>
                <a:t>個人化郵件安全管理服務</a:t>
              </a:r>
            </a:p>
          </p:txBody>
        </p:sp>
        <p:sp>
          <p:nvSpPr>
            <p:cNvPr id="19490" name="Text Box 23"/>
            <p:cNvSpPr txBox="1">
              <a:spLocks noChangeArrowheads="1"/>
            </p:cNvSpPr>
            <p:nvPr/>
          </p:nvSpPr>
          <p:spPr bwMode="auto">
            <a:xfrm>
              <a:off x="5402263" y="4791670"/>
              <a:ext cx="11414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kumimoji="0" lang="en-US" altLang="zh-TW" sz="1400" b="1" i="1">
                  <a:solidFill>
                    <a:srgbClr val="3D3D3D"/>
                  </a:solidFill>
                  <a:latin typeface="Calibri" panose="020F0502020204030204" pitchFamily="34" charset="0"/>
                  <a:cs typeface="Arial" panose="020B0604020202020204" pitchFamily="34" charset="0"/>
                </a:rPr>
                <a:t>Mail Server</a:t>
              </a:r>
            </a:p>
            <a:p>
              <a:pPr algn="ctr"/>
              <a:endParaRPr kumimoji="0" lang="zh-TW" altLang="en-US" sz="1400" i="1">
                <a:solidFill>
                  <a:srgbClr val="3D3D3D"/>
                </a:solidFill>
                <a:latin typeface="Calibri" panose="020F0502020204030204" pitchFamily="34" charset="0"/>
              </a:endParaRPr>
            </a:p>
          </p:txBody>
        </p:sp>
        <p:sp>
          <p:nvSpPr>
            <p:cNvPr id="19491" name="Rectangle 223"/>
            <p:cNvSpPr>
              <a:spLocks noChangeArrowheads="1"/>
            </p:cNvSpPr>
            <p:nvPr/>
          </p:nvSpPr>
          <p:spPr bwMode="auto">
            <a:xfrm>
              <a:off x="2736850" y="4620220"/>
              <a:ext cx="1511300" cy="360362"/>
            </a:xfrm>
            <a:prstGeom prst="rect">
              <a:avLst/>
            </a:prstGeom>
            <a:solidFill>
              <a:srgbClr val="FFFFFF">
                <a:alpha val="65881"/>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Calibri" panose="020F0502020204030204" pitchFamily="34" charset="0"/>
              </a:endParaRPr>
            </a:p>
          </p:txBody>
        </p:sp>
        <p:pic>
          <p:nvPicPr>
            <p:cNvPr id="19492" name="Picture 224" descr="sqr_logo_s"/>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78075" y="4691657"/>
              <a:ext cx="2873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Text Box 225"/>
            <p:cNvSpPr txBox="1">
              <a:spLocks noChangeArrowheads="1"/>
            </p:cNvSpPr>
            <p:nvPr/>
          </p:nvSpPr>
          <p:spPr bwMode="auto">
            <a:xfrm>
              <a:off x="2555972" y="4528145"/>
              <a:ext cx="1440214" cy="576263"/>
            </a:xfrm>
            <a:prstGeom prst="rect">
              <a:avLst/>
            </a:prstGeom>
            <a:noFill/>
            <a:ln w="9525">
              <a:noFill/>
              <a:miter lim="800000"/>
              <a:headEnd/>
              <a:tailEnd/>
            </a:ln>
          </p:spPr>
          <p:txBody>
            <a:bodyPr/>
            <a:lstStyle/>
            <a:p>
              <a:pPr fontAlgn="auto">
                <a:spcBef>
                  <a:spcPts val="0"/>
                </a:spcBef>
                <a:spcAft>
                  <a:spcPts val="0"/>
                </a:spcAft>
                <a:defRPr/>
              </a:pPr>
              <a:endParaRPr kumimoji="0" lang="zh-TW" altLang="en-US" sz="1400" b="1" dirty="0">
                <a:solidFill>
                  <a:srgbClr val="FF0000"/>
                </a:solidFill>
                <a:effectLst>
                  <a:outerShdw blurRad="38100" dist="38100" dir="2700000" algn="tl">
                    <a:srgbClr val="C0C0C0"/>
                  </a:outerShdw>
                </a:effectLst>
                <a:latin typeface="+mn-lt"/>
                <a:ea typeface="+mn-ea"/>
                <a:cs typeface="Arial" pitchFamily="34" charset="0"/>
              </a:endParaRPr>
            </a:p>
            <a:p>
              <a:pPr eaLnBrk="0" fontAlgn="auto" hangingPunct="0">
                <a:spcBef>
                  <a:spcPts val="0"/>
                </a:spcBef>
                <a:spcAft>
                  <a:spcPts val="0"/>
                </a:spcAft>
                <a:defRPr/>
              </a:pPr>
              <a:r>
                <a:rPr kumimoji="0" lang="zh-TW" altLang="en-US" sz="1400" b="1" dirty="0">
                  <a:solidFill>
                    <a:srgbClr val="FF0000"/>
                  </a:solidFill>
                  <a:effectLst>
                    <a:outerShdw blurRad="38100" dist="38100" dir="2700000" algn="tl">
                      <a:srgbClr val="C0C0C0"/>
                    </a:outerShdw>
                  </a:effectLst>
                  <a:latin typeface="+mn-lt"/>
                  <a:ea typeface="+mn-ea"/>
                  <a:cs typeface="Arial" pitchFamily="34" charset="0"/>
                </a:rPr>
                <a:t>   </a:t>
              </a:r>
              <a:r>
                <a:rPr kumimoji="0" lang="en-US" altLang="zh-TW" sz="1400" b="1" dirty="0">
                  <a:solidFill>
                    <a:srgbClr val="FF0000"/>
                  </a:solidFill>
                  <a:effectLst>
                    <a:outerShdw blurRad="38100" dist="38100" dir="2700000" algn="tl">
                      <a:srgbClr val="C0C0C0"/>
                    </a:outerShdw>
                  </a:effectLst>
                  <a:latin typeface="+mn-lt"/>
                  <a:ea typeface="+mn-ea"/>
                  <a:cs typeface="Arial" pitchFamily="34" charset="0"/>
                </a:rPr>
                <a:t>SPAM SQR</a:t>
              </a:r>
              <a:endParaRPr kumimoji="0" lang="en-US" altLang="zh-TW" sz="1400" dirty="0">
                <a:effectLst>
                  <a:outerShdw blurRad="38100" dist="38100" dir="2700000" algn="tl">
                    <a:srgbClr val="C0C0C0"/>
                  </a:outerShdw>
                </a:effectLst>
                <a:latin typeface="+mn-lt"/>
                <a:ea typeface="+mn-ea"/>
              </a:endParaRPr>
            </a:p>
          </p:txBody>
        </p:sp>
        <p:pic>
          <p:nvPicPr>
            <p:cNvPr id="19494" name="Picture 226" descr="sqr_logo_s"/>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89375" y="4691657"/>
              <a:ext cx="2873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Text Box 227"/>
            <p:cNvSpPr txBox="1">
              <a:spLocks noChangeArrowheads="1"/>
            </p:cNvSpPr>
            <p:nvPr/>
          </p:nvSpPr>
          <p:spPr bwMode="auto">
            <a:xfrm>
              <a:off x="4105685" y="4475758"/>
              <a:ext cx="1079780" cy="792162"/>
            </a:xfrm>
            <a:prstGeom prst="rect">
              <a:avLst/>
            </a:prstGeom>
            <a:noFill/>
            <a:ln w="9525">
              <a:noFill/>
              <a:miter lim="800000"/>
              <a:headEnd/>
              <a:tailEnd/>
            </a:ln>
          </p:spPr>
          <p:txBody>
            <a:bodyPr/>
            <a:lstStyle/>
            <a:p>
              <a:pPr fontAlgn="auto">
                <a:spcBef>
                  <a:spcPts val="0"/>
                </a:spcBef>
                <a:spcAft>
                  <a:spcPts val="0"/>
                </a:spcAft>
                <a:defRPr/>
              </a:pPr>
              <a:endParaRPr kumimoji="0" lang="zh-TW" altLang="en-US" sz="1400" b="1" dirty="0">
                <a:solidFill>
                  <a:srgbClr val="FF0000"/>
                </a:solidFill>
                <a:effectLst>
                  <a:outerShdw blurRad="38100" dist="38100" dir="2700000" algn="tl">
                    <a:srgbClr val="C0C0C0"/>
                  </a:outerShdw>
                </a:effectLst>
                <a:latin typeface="+mn-lt"/>
                <a:ea typeface="+mn-ea"/>
                <a:cs typeface="Arial" pitchFamily="34" charset="0"/>
              </a:endParaRPr>
            </a:p>
            <a:p>
              <a:pPr eaLnBrk="0" fontAlgn="auto" hangingPunct="0">
                <a:spcBef>
                  <a:spcPts val="0"/>
                </a:spcBef>
                <a:spcAft>
                  <a:spcPts val="0"/>
                </a:spcAft>
                <a:defRPr/>
              </a:pPr>
              <a:r>
                <a:rPr kumimoji="0" lang="en-US" altLang="zh-TW" sz="1400" b="1" dirty="0">
                  <a:solidFill>
                    <a:srgbClr val="FF0000"/>
                  </a:solidFill>
                  <a:effectLst>
                    <a:outerShdw blurRad="38100" dist="38100" dir="2700000" algn="tl">
                      <a:srgbClr val="C0C0C0"/>
                    </a:outerShdw>
                  </a:effectLst>
                  <a:latin typeface="+mn-lt"/>
                  <a:ea typeface="+mn-ea"/>
                  <a:cs typeface="Arial" pitchFamily="34" charset="0"/>
                </a:rPr>
                <a:t>Mail SQR</a:t>
              </a:r>
            </a:p>
            <a:p>
              <a:pPr eaLnBrk="0" fontAlgn="auto" hangingPunct="0">
                <a:spcBef>
                  <a:spcPts val="0"/>
                </a:spcBef>
                <a:spcAft>
                  <a:spcPts val="0"/>
                </a:spcAft>
                <a:defRPr/>
              </a:pPr>
              <a:r>
                <a:rPr kumimoji="0" lang="en-US" altLang="zh-TW" sz="1400" b="1" dirty="0">
                  <a:solidFill>
                    <a:srgbClr val="FF0000"/>
                  </a:solidFill>
                  <a:effectLst>
                    <a:outerShdw blurRad="38100" dist="38100" dir="2700000" algn="tl">
                      <a:srgbClr val="C0C0C0"/>
                    </a:outerShdw>
                  </a:effectLst>
                  <a:latin typeface="+mn-lt"/>
                  <a:ea typeface="+mn-ea"/>
                  <a:cs typeface="Arial" pitchFamily="34" charset="0"/>
                </a:rPr>
                <a:t> Expert</a:t>
              </a:r>
              <a:endParaRPr kumimoji="0" lang="en-US" altLang="zh-TW" sz="1400" dirty="0">
                <a:effectLst>
                  <a:outerShdw blurRad="38100" dist="38100" dir="2700000" algn="tl">
                    <a:srgbClr val="C0C0C0"/>
                  </a:outerShdw>
                </a:effectLst>
                <a:latin typeface="+mn-lt"/>
                <a:ea typeface="+mn-ea"/>
              </a:endParaRPr>
            </a:p>
          </p:txBody>
        </p:sp>
        <p:sp>
          <p:nvSpPr>
            <p:cNvPr id="48" name="Text Box 228"/>
            <p:cNvSpPr txBox="1">
              <a:spLocks noChangeArrowheads="1"/>
            </p:cNvSpPr>
            <p:nvPr/>
          </p:nvSpPr>
          <p:spPr bwMode="auto">
            <a:xfrm>
              <a:off x="7670480" y="4575770"/>
              <a:ext cx="1151258" cy="571500"/>
            </a:xfrm>
            <a:prstGeom prst="rect">
              <a:avLst/>
            </a:prstGeom>
            <a:noFill/>
            <a:ln w="9525">
              <a:noFill/>
              <a:miter lim="800000"/>
              <a:headEnd/>
              <a:tailEnd/>
            </a:ln>
          </p:spPr>
          <p:txBody>
            <a:bodyPr/>
            <a:lstStyle/>
            <a:p>
              <a:pPr fontAlgn="auto">
                <a:spcBef>
                  <a:spcPts val="0"/>
                </a:spcBef>
                <a:spcAft>
                  <a:spcPts val="0"/>
                </a:spcAft>
                <a:defRPr/>
              </a:pPr>
              <a:endParaRPr kumimoji="0" lang="zh-TW" altLang="en-US" sz="1400" b="1" dirty="0">
                <a:solidFill>
                  <a:srgbClr val="FF0000"/>
                </a:solidFill>
                <a:effectLst>
                  <a:outerShdw blurRad="38100" dist="38100" dir="2700000" algn="tl">
                    <a:srgbClr val="C0C0C0"/>
                  </a:outerShdw>
                </a:effectLst>
                <a:latin typeface="+mn-lt"/>
                <a:ea typeface="+mn-ea"/>
                <a:cs typeface="Arial" pitchFamily="34" charset="0"/>
              </a:endParaRPr>
            </a:p>
            <a:p>
              <a:pPr algn="ctr" eaLnBrk="0" fontAlgn="auto" hangingPunct="0">
                <a:spcBef>
                  <a:spcPts val="0"/>
                </a:spcBef>
                <a:spcAft>
                  <a:spcPts val="0"/>
                </a:spcAft>
                <a:defRPr/>
              </a:pPr>
              <a:r>
                <a:rPr kumimoji="0" lang="en-US" altLang="zh-TW" sz="1400" b="1" dirty="0" err="1">
                  <a:solidFill>
                    <a:srgbClr val="FF0000"/>
                  </a:solidFill>
                  <a:effectLst>
                    <a:outerShdw blurRad="38100" dist="38100" dir="2700000" algn="tl">
                      <a:srgbClr val="C0C0C0"/>
                    </a:outerShdw>
                  </a:effectLst>
                  <a:latin typeface="+mn-lt"/>
                  <a:ea typeface="+mn-ea"/>
                  <a:cs typeface="Arial" pitchFamily="34" charset="0"/>
                </a:rPr>
                <a:t>MySPAM</a:t>
              </a:r>
              <a:endParaRPr kumimoji="0" lang="en-US" altLang="zh-TW" sz="1400" dirty="0">
                <a:effectLst>
                  <a:outerShdw blurRad="38100" dist="38100" dir="2700000" algn="tl">
                    <a:srgbClr val="C0C0C0"/>
                  </a:outerShdw>
                </a:effectLst>
                <a:latin typeface="+mn-lt"/>
                <a:ea typeface="標楷體" pitchFamily="65" charset="-120"/>
              </a:endParaRPr>
            </a:p>
            <a:p>
              <a:pPr algn="ctr" eaLnBrk="0" fontAlgn="auto" hangingPunct="0">
                <a:spcBef>
                  <a:spcPts val="0"/>
                </a:spcBef>
                <a:spcAft>
                  <a:spcPts val="0"/>
                </a:spcAft>
                <a:defRPr/>
              </a:pPr>
              <a:r>
                <a:rPr kumimoji="0" lang="en-US" altLang="zh-TW" sz="1400" b="1" dirty="0" err="1">
                  <a:solidFill>
                    <a:srgbClr val="FF0000"/>
                  </a:solidFill>
                  <a:effectLst>
                    <a:outerShdw blurRad="38100" dist="38100" dir="2700000" algn="tl">
                      <a:srgbClr val="C0C0C0"/>
                    </a:outerShdw>
                  </a:effectLst>
                  <a:latin typeface="+mn-lt"/>
                  <a:ea typeface="+mn-ea"/>
                  <a:cs typeface="Arial" pitchFamily="34" charset="0"/>
                </a:rPr>
                <a:t>MyMail</a:t>
              </a:r>
              <a:endParaRPr kumimoji="0" lang="zh-TW" altLang="en-US" sz="1400" dirty="0">
                <a:effectLst>
                  <a:outerShdw blurRad="38100" dist="38100" dir="2700000" algn="tl">
                    <a:srgbClr val="C0C0C0"/>
                  </a:outerShdw>
                </a:effectLst>
                <a:latin typeface="+mn-lt"/>
                <a:ea typeface="+mn-ea"/>
              </a:endParaRPr>
            </a:p>
          </p:txBody>
        </p:sp>
        <p:sp>
          <p:nvSpPr>
            <p:cNvPr id="19497" name="Rectangle 231"/>
            <p:cNvSpPr>
              <a:spLocks noChangeArrowheads="1"/>
            </p:cNvSpPr>
            <p:nvPr/>
          </p:nvSpPr>
          <p:spPr bwMode="auto">
            <a:xfrm>
              <a:off x="5257800" y="4863107"/>
              <a:ext cx="1152525" cy="1443038"/>
            </a:xfrm>
            <a:prstGeom prst="rect">
              <a:avLst/>
            </a:prstGeom>
            <a:gradFill rotWithShape="1">
              <a:gsLst>
                <a:gs pos="0">
                  <a:schemeClr val="bg1"/>
                </a:gs>
                <a:gs pos="100000">
                  <a:srgbClr val="E5FFE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kumimoji="0" lang="en-US" altLang="zh-TW" b="1">
                  <a:latin typeface="Calibri" panose="020F0502020204030204" pitchFamily="34" charset="0"/>
                  <a:ea typeface="標楷體" panose="03000509000000000000" pitchFamily="65" charset="-120"/>
                </a:rPr>
                <a:t>Mail </a:t>
              </a:r>
            </a:p>
            <a:p>
              <a:pPr algn="ctr" eaLnBrk="1" hangingPunct="1"/>
              <a:r>
                <a:rPr kumimoji="0" lang="en-US" altLang="zh-TW" b="1">
                  <a:latin typeface="Calibri" panose="020F0502020204030204" pitchFamily="34" charset="0"/>
                  <a:ea typeface="標楷體" panose="03000509000000000000" pitchFamily="65" charset="-120"/>
                </a:rPr>
                <a:t>Server</a:t>
              </a:r>
            </a:p>
          </p:txBody>
        </p:sp>
        <p:sp>
          <p:nvSpPr>
            <p:cNvPr id="19498" name="Text Box 232"/>
            <p:cNvSpPr txBox="1">
              <a:spLocks noChangeArrowheads="1"/>
            </p:cNvSpPr>
            <p:nvPr/>
          </p:nvSpPr>
          <p:spPr bwMode="auto">
            <a:xfrm>
              <a:off x="3602038" y="5339357"/>
              <a:ext cx="172878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2550" indent="-82550" eaLnBrk="0" hangingPunct="0">
                <a:tabLst>
                  <a:tab pos="0" algn="l"/>
                </a:tabLst>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tabLst>
                  <a:tab pos="0" algn="l"/>
                </a:tabLst>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tabLst>
                  <a:tab pos="0" algn="l"/>
                </a:tabLst>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tabLst>
                  <a:tab pos="0" algn="l"/>
                </a:tabLst>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tabLst>
                  <a:tab pos="0" algn="l"/>
                </a:tabLst>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9pPr>
            </a:lstStyle>
            <a:p>
              <a:pPr eaLnBrk="1" hangingPunct="1">
                <a:buFontTx/>
                <a:buChar char="•"/>
              </a:pPr>
              <a:r>
                <a:rPr kumimoji="0" lang="zh-TW" altLang="en-US" sz="1400">
                  <a:solidFill>
                    <a:schemeClr val="tx2"/>
                  </a:solidFill>
                  <a:latin typeface="Calibri" panose="020F0502020204030204" pitchFamily="34" charset="0"/>
                  <a:cs typeface="Times New Roman" panose="02020603050405020304" pitchFamily="18" charset="0"/>
                </a:rPr>
                <a:t>郵件稽核</a:t>
              </a:r>
              <a:r>
                <a:rPr kumimoji="0" lang="en-US" altLang="zh-TW" sz="1400">
                  <a:solidFill>
                    <a:schemeClr val="tx2"/>
                  </a:solidFill>
                  <a:latin typeface="Calibri" panose="020F0502020204030204" pitchFamily="34" charset="0"/>
                  <a:cs typeface="Times New Roman" panose="02020603050405020304" pitchFamily="18" charset="0"/>
                </a:rPr>
                <a:t>/</a:t>
              </a:r>
              <a:r>
                <a:rPr kumimoji="0" lang="zh-TW" altLang="en-US" sz="1400">
                  <a:solidFill>
                    <a:schemeClr val="tx2"/>
                  </a:solidFill>
                  <a:latin typeface="Calibri" panose="020F0502020204030204" pitchFamily="34" charset="0"/>
                  <a:cs typeface="Times New Roman" panose="02020603050405020304" pitchFamily="18" charset="0"/>
                </a:rPr>
                <a:t>政策化</a:t>
              </a:r>
            </a:p>
            <a:p>
              <a:pPr eaLnBrk="1" hangingPunct="1"/>
              <a:r>
                <a:rPr kumimoji="0" lang="zh-TW" altLang="en-US" sz="1400">
                  <a:solidFill>
                    <a:schemeClr val="tx2"/>
                  </a:solidFill>
                  <a:latin typeface="Calibri" panose="020F0502020204030204" pitchFamily="34" charset="0"/>
                  <a:cs typeface="Times New Roman" panose="02020603050405020304" pitchFamily="18" charset="0"/>
                </a:rPr>
                <a:t>    管理</a:t>
              </a:r>
            </a:p>
            <a:p>
              <a:pPr eaLnBrk="1" hangingPunct="1">
                <a:buFontTx/>
                <a:buChar char="•"/>
              </a:pPr>
              <a:r>
                <a:rPr kumimoji="0" lang="en-US" altLang="zh-TW" sz="1400">
                  <a:solidFill>
                    <a:schemeClr val="tx2"/>
                  </a:solidFill>
                  <a:latin typeface="Calibri" panose="020F0502020204030204" pitchFamily="34" charset="0"/>
                  <a:cs typeface="Times New Roman" panose="02020603050405020304" pitchFamily="18" charset="0"/>
                </a:rPr>
                <a:t>Email</a:t>
              </a:r>
              <a:r>
                <a:rPr kumimoji="0" lang="zh-TW" altLang="en-US" sz="1400">
                  <a:solidFill>
                    <a:schemeClr val="tx2"/>
                  </a:solidFill>
                  <a:latin typeface="Calibri" panose="020F0502020204030204" pitchFamily="34" charset="0"/>
                  <a:cs typeface="Times New Roman" panose="02020603050405020304" pitchFamily="18" charset="0"/>
                </a:rPr>
                <a:t>內容</a:t>
              </a:r>
              <a:r>
                <a:rPr kumimoji="0" lang="en-US" altLang="zh-TW" sz="1400">
                  <a:solidFill>
                    <a:schemeClr val="tx2"/>
                  </a:solidFill>
                  <a:latin typeface="Calibri" panose="020F0502020204030204" pitchFamily="34" charset="0"/>
                  <a:cs typeface="Times New Roman" panose="02020603050405020304" pitchFamily="18" charset="0"/>
                </a:rPr>
                <a:t>/</a:t>
              </a:r>
              <a:r>
                <a:rPr kumimoji="0" lang="zh-TW" altLang="en-US" sz="1400">
                  <a:solidFill>
                    <a:schemeClr val="tx2"/>
                  </a:solidFill>
                  <a:latin typeface="Calibri" panose="020F0502020204030204" pitchFamily="34" charset="0"/>
                  <a:cs typeface="Times New Roman" panose="02020603050405020304" pitchFamily="18" charset="0"/>
                </a:rPr>
                <a:t>附件過濾</a:t>
              </a:r>
            </a:p>
          </p:txBody>
        </p:sp>
        <p:sp>
          <p:nvSpPr>
            <p:cNvPr id="19499" name="Text Box 237"/>
            <p:cNvSpPr txBox="1">
              <a:spLocks noChangeArrowheads="1"/>
            </p:cNvSpPr>
            <p:nvPr/>
          </p:nvSpPr>
          <p:spPr bwMode="auto">
            <a:xfrm>
              <a:off x="6337300" y="5510807"/>
              <a:ext cx="13779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tabLst>
                  <a:tab pos="304800" algn="l"/>
                </a:tabLst>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tabLst>
                  <a:tab pos="304800" algn="l"/>
                </a:tabLst>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tabLst>
                  <a:tab pos="304800" algn="l"/>
                </a:tabLst>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tabLst>
                  <a:tab pos="304800" algn="l"/>
                </a:tabLst>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tabLst>
                  <a:tab pos="304800" algn="l"/>
                </a:tabLst>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tabLst>
                  <a:tab pos="304800" algn="l"/>
                </a:tabLs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tabLst>
                  <a:tab pos="304800" algn="l"/>
                </a:tabLs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tabLst>
                  <a:tab pos="304800" algn="l"/>
                </a:tabLs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tabLst>
                  <a:tab pos="304800" algn="l"/>
                </a:tabLst>
                <a:defRPr kumimoji="1">
                  <a:solidFill>
                    <a:schemeClr val="tx1"/>
                  </a:solidFill>
                  <a:latin typeface="Arial" panose="020B0604020202020204" pitchFamily="34" charset="0"/>
                  <a:ea typeface="新細明體" panose="02020500000000000000" pitchFamily="18" charset="-120"/>
                </a:defRPr>
              </a:lvl9pPr>
            </a:lstStyle>
            <a:p>
              <a:pPr eaLnBrk="1" hangingPunct="1">
                <a:buFontTx/>
                <a:buChar char="•"/>
              </a:pPr>
              <a:r>
                <a:rPr kumimoji="0" lang="zh-TW" altLang="en-US" sz="1400">
                  <a:solidFill>
                    <a:schemeClr val="tx2"/>
                  </a:solidFill>
                  <a:latin typeface="Calibri" panose="020F0502020204030204" pitchFamily="34" charset="0"/>
                  <a:cs typeface="Times New Roman" panose="02020603050405020304" pitchFamily="18" charset="0"/>
                </a:rPr>
                <a:t>郵件歸檔及</a:t>
              </a:r>
            </a:p>
            <a:p>
              <a:pPr eaLnBrk="1" hangingPunct="1"/>
              <a:r>
                <a:rPr kumimoji="0" lang="zh-TW" altLang="en-US" sz="1400">
                  <a:solidFill>
                    <a:schemeClr val="tx2"/>
                  </a:solidFill>
                  <a:latin typeface="Calibri" panose="020F0502020204030204" pitchFamily="34" charset="0"/>
                  <a:cs typeface="Times New Roman" panose="02020603050405020304" pitchFamily="18" charset="0"/>
                </a:rPr>
                <a:t>   復原</a:t>
              </a:r>
            </a:p>
            <a:p>
              <a:pPr eaLnBrk="1" hangingPunct="1">
                <a:buFontTx/>
                <a:buChar char="•"/>
              </a:pPr>
              <a:r>
                <a:rPr kumimoji="0" lang="zh-TW" altLang="en-US" sz="1400">
                  <a:solidFill>
                    <a:schemeClr val="tx2"/>
                  </a:solidFill>
                  <a:latin typeface="Calibri" panose="020F0502020204030204" pitchFamily="34" charset="0"/>
                  <a:cs typeface="Times New Roman" panose="02020603050405020304" pitchFamily="18" charset="0"/>
                </a:rPr>
                <a:t>遵循法規</a:t>
              </a:r>
            </a:p>
          </p:txBody>
        </p:sp>
        <p:sp>
          <p:nvSpPr>
            <p:cNvPr id="52" name="Text Box 264"/>
            <p:cNvSpPr txBox="1">
              <a:spLocks noChangeArrowheads="1"/>
            </p:cNvSpPr>
            <p:nvPr/>
          </p:nvSpPr>
          <p:spPr bwMode="auto">
            <a:xfrm>
              <a:off x="6697157" y="4502745"/>
              <a:ext cx="1152779" cy="792163"/>
            </a:xfrm>
            <a:prstGeom prst="rect">
              <a:avLst/>
            </a:prstGeom>
            <a:noFill/>
            <a:ln w="9525">
              <a:noFill/>
              <a:miter lim="800000"/>
              <a:headEnd/>
              <a:tailEnd/>
            </a:ln>
          </p:spPr>
          <p:txBody>
            <a:bodyPr/>
            <a:lstStyle/>
            <a:p>
              <a:pPr fontAlgn="auto">
                <a:spcBef>
                  <a:spcPts val="0"/>
                </a:spcBef>
                <a:spcAft>
                  <a:spcPts val="0"/>
                </a:spcAft>
                <a:defRPr/>
              </a:pPr>
              <a:endParaRPr kumimoji="0" lang="zh-TW" altLang="en-US" sz="1400" b="1" dirty="0">
                <a:solidFill>
                  <a:srgbClr val="FF0000"/>
                </a:solidFill>
                <a:effectLst>
                  <a:outerShdw blurRad="38100" dist="38100" dir="2700000" algn="tl">
                    <a:srgbClr val="C0C0C0"/>
                  </a:outerShdw>
                </a:effectLst>
                <a:latin typeface="+mn-lt"/>
                <a:ea typeface="+mn-ea"/>
                <a:cs typeface="Arial" pitchFamily="34" charset="0"/>
              </a:endParaRPr>
            </a:p>
            <a:p>
              <a:pPr eaLnBrk="0" fontAlgn="auto" hangingPunct="0">
                <a:spcBef>
                  <a:spcPts val="0"/>
                </a:spcBef>
                <a:spcAft>
                  <a:spcPts val="0"/>
                </a:spcAft>
                <a:defRPr/>
              </a:pPr>
              <a:r>
                <a:rPr kumimoji="0" lang="en-US" altLang="zh-TW" sz="1600" b="1" dirty="0">
                  <a:solidFill>
                    <a:srgbClr val="FF0000"/>
                  </a:solidFill>
                  <a:effectLst>
                    <a:outerShdw blurRad="38100" dist="38100" dir="2700000" algn="tl">
                      <a:srgbClr val="C0C0C0"/>
                    </a:outerShdw>
                  </a:effectLst>
                  <a:latin typeface="+mn-lt"/>
                  <a:ea typeface="+mn-ea"/>
                  <a:cs typeface="Arial" pitchFamily="34" charset="0"/>
                </a:rPr>
                <a:t>Mail Archiving Expert</a:t>
              </a:r>
              <a:endParaRPr kumimoji="0" lang="en-US" altLang="zh-TW" sz="1600" dirty="0">
                <a:effectLst>
                  <a:outerShdw blurRad="38100" dist="38100" dir="2700000" algn="tl">
                    <a:srgbClr val="C0C0C0"/>
                  </a:outerShdw>
                </a:effectLst>
                <a:latin typeface="+mn-lt"/>
                <a:ea typeface="+mn-ea"/>
              </a:endParaRPr>
            </a:p>
          </p:txBody>
        </p:sp>
        <p:pic>
          <p:nvPicPr>
            <p:cNvPr id="19501" name="Picture 265" descr="sqr_logo_s"/>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81763" y="4791670"/>
              <a:ext cx="287337"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502" name="Picture 338" descr="spam"/>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09875" y="4286845"/>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7" name="Line 26"/>
          <p:cNvSpPr>
            <a:spLocks noChangeShapeType="1"/>
          </p:cNvSpPr>
          <p:nvPr/>
        </p:nvSpPr>
        <p:spPr bwMode="auto">
          <a:xfrm flipH="1">
            <a:off x="7451725" y="2565400"/>
            <a:ext cx="0" cy="792163"/>
          </a:xfrm>
          <a:prstGeom prst="line">
            <a:avLst/>
          </a:prstGeom>
          <a:noFill/>
          <a:ln w="57150">
            <a:solidFill>
              <a:schemeClr val="tx2">
                <a:lumMod val="75000"/>
              </a:schemeClr>
            </a:solidFill>
            <a:round/>
            <a:headEnd/>
            <a:tailEnd/>
          </a:ln>
        </p:spPr>
        <p:txBody>
          <a:bodyPr/>
          <a:lstStyle/>
          <a:p>
            <a:pPr>
              <a:defRPr/>
            </a:pPr>
            <a:endParaRPr lang="zh-TW" altLang="en-US">
              <a:latin typeface="Arial" charset="0"/>
            </a:endParaRPr>
          </a:p>
        </p:txBody>
      </p:sp>
      <p:sp>
        <p:nvSpPr>
          <p:cNvPr id="58" name="Line 27"/>
          <p:cNvSpPr>
            <a:spLocks noChangeShapeType="1"/>
          </p:cNvSpPr>
          <p:nvPr/>
        </p:nvSpPr>
        <p:spPr bwMode="auto">
          <a:xfrm flipV="1">
            <a:off x="3162300" y="3429000"/>
            <a:ext cx="5400675" cy="0"/>
          </a:xfrm>
          <a:prstGeom prst="line">
            <a:avLst/>
          </a:prstGeom>
          <a:noFill/>
          <a:ln w="57150">
            <a:solidFill>
              <a:schemeClr val="tx2">
                <a:lumMod val="75000"/>
              </a:schemeClr>
            </a:solidFill>
            <a:round/>
            <a:headEnd/>
            <a:tailEnd/>
          </a:ln>
        </p:spPr>
        <p:txBody>
          <a:bodyPr/>
          <a:lstStyle/>
          <a:p>
            <a:pPr>
              <a:defRPr/>
            </a:pPr>
            <a:endParaRPr lang="zh-TW" altLang="en-US">
              <a:latin typeface="Arial" charset="0"/>
            </a:endParaRPr>
          </a:p>
        </p:txBody>
      </p:sp>
      <p:sp>
        <p:nvSpPr>
          <p:cNvPr id="60" name="Line 29"/>
          <p:cNvSpPr>
            <a:spLocks noChangeShapeType="1"/>
          </p:cNvSpPr>
          <p:nvPr/>
        </p:nvSpPr>
        <p:spPr bwMode="auto">
          <a:xfrm flipH="1">
            <a:off x="4673600" y="3429000"/>
            <a:ext cx="1588" cy="647700"/>
          </a:xfrm>
          <a:prstGeom prst="line">
            <a:avLst/>
          </a:prstGeom>
          <a:noFill/>
          <a:ln w="57150">
            <a:solidFill>
              <a:schemeClr val="tx2">
                <a:lumMod val="75000"/>
              </a:schemeClr>
            </a:solidFill>
            <a:round/>
            <a:headEnd/>
            <a:tailEnd/>
          </a:ln>
        </p:spPr>
        <p:txBody>
          <a:bodyPr/>
          <a:lstStyle/>
          <a:p>
            <a:pPr>
              <a:defRPr/>
            </a:pPr>
            <a:endParaRPr lang="zh-TW" altLang="en-US">
              <a:latin typeface="Arial" charset="0"/>
            </a:endParaRPr>
          </a:p>
        </p:txBody>
      </p:sp>
      <p:sp>
        <p:nvSpPr>
          <p:cNvPr id="61" name="Line 30"/>
          <p:cNvSpPr>
            <a:spLocks noChangeShapeType="1"/>
          </p:cNvSpPr>
          <p:nvPr/>
        </p:nvSpPr>
        <p:spPr bwMode="auto">
          <a:xfrm>
            <a:off x="6042025" y="3429000"/>
            <a:ext cx="0" cy="431800"/>
          </a:xfrm>
          <a:prstGeom prst="line">
            <a:avLst/>
          </a:prstGeom>
          <a:noFill/>
          <a:ln w="57150">
            <a:solidFill>
              <a:schemeClr val="tx2">
                <a:lumMod val="75000"/>
              </a:schemeClr>
            </a:solidFill>
            <a:round/>
            <a:headEnd/>
            <a:tailEnd/>
          </a:ln>
        </p:spPr>
        <p:txBody>
          <a:bodyPr/>
          <a:lstStyle/>
          <a:p>
            <a:pPr>
              <a:defRPr/>
            </a:pPr>
            <a:endParaRPr lang="zh-TW" altLang="en-US">
              <a:latin typeface="Arial" charset="0"/>
            </a:endParaRPr>
          </a:p>
        </p:txBody>
      </p:sp>
      <p:sp>
        <p:nvSpPr>
          <p:cNvPr id="63" name="Line 230"/>
          <p:cNvSpPr>
            <a:spLocks noChangeShapeType="1"/>
          </p:cNvSpPr>
          <p:nvPr/>
        </p:nvSpPr>
        <p:spPr bwMode="auto">
          <a:xfrm>
            <a:off x="7412038" y="3429000"/>
            <a:ext cx="0" cy="674688"/>
          </a:xfrm>
          <a:prstGeom prst="line">
            <a:avLst/>
          </a:prstGeom>
          <a:noFill/>
          <a:ln w="57150">
            <a:solidFill>
              <a:schemeClr val="tx2">
                <a:lumMod val="75000"/>
              </a:schemeClr>
            </a:solidFill>
            <a:round/>
            <a:headEnd/>
            <a:tailEnd/>
          </a:ln>
        </p:spPr>
        <p:txBody>
          <a:bodyPr/>
          <a:lstStyle/>
          <a:p>
            <a:pPr>
              <a:defRPr/>
            </a:pPr>
            <a:endParaRPr lang="zh-TW" altLang="en-US">
              <a:latin typeface="Arial" charset="0"/>
            </a:endParaRPr>
          </a:p>
        </p:txBody>
      </p:sp>
      <p:sp>
        <p:nvSpPr>
          <p:cNvPr id="64" name="Line 29"/>
          <p:cNvSpPr>
            <a:spLocks noChangeShapeType="1"/>
          </p:cNvSpPr>
          <p:nvPr/>
        </p:nvSpPr>
        <p:spPr bwMode="auto">
          <a:xfrm flipH="1">
            <a:off x="3162300" y="3429000"/>
            <a:ext cx="0" cy="647700"/>
          </a:xfrm>
          <a:prstGeom prst="line">
            <a:avLst/>
          </a:prstGeom>
          <a:noFill/>
          <a:ln w="57150">
            <a:solidFill>
              <a:schemeClr val="tx2">
                <a:lumMod val="75000"/>
              </a:schemeClr>
            </a:solidFill>
            <a:round/>
            <a:headEnd/>
            <a:tailEnd/>
          </a:ln>
        </p:spPr>
        <p:txBody>
          <a:bodyPr/>
          <a:lstStyle/>
          <a:p>
            <a:pPr>
              <a:defRPr/>
            </a:pPr>
            <a:endParaRPr lang="zh-TW" altLang="en-US">
              <a:latin typeface="Arial" charset="0"/>
            </a:endParaRPr>
          </a:p>
        </p:txBody>
      </p:sp>
      <p:sp>
        <p:nvSpPr>
          <p:cNvPr id="65" name="Line 30"/>
          <p:cNvSpPr>
            <a:spLocks noChangeShapeType="1"/>
          </p:cNvSpPr>
          <p:nvPr/>
        </p:nvSpPr>
        <p:spPr bwMode="auto">
          <a:xfrm>
            <a:off x="8562975" y="3429000"/>
            <a:ext cx="0" cy="287338"/>
          </a:xfrm>
          <a:prstGeom prst="line">
            <a:avLst/>
          </a:prstGeom>
          <a:noFill/>
          <a:ln w="57150">
            <a:solidFill>
              <a:schemeClr val="tx2">
                <a:lumMod val="75000"/>
              </a:schemeClr>
            </a:solidFill>
            <a:round/>
            <a:headEnd/>
            <a:tailEnd/>
          </a:ln>
        </p:spPr>
        <p:txBody>
          <a:bodyPr/>
          <a:lstStyle/>
          <a:p>
            <a:pPr>
              <a:defRPr/>
            </a:pPr>
            <a:endParaRPr lang="zh-TW" altLang="en-US">
              <a:latin typeface="Arial" charset="0"/>
            </a:endParaRPr>
          </a:p>
        </p:txBody>
      </p:sp>
      <p:sp>
        <p:nvSpPr>
          <p:cNvPr id="66" name="Line 8"/>
          <p:cNvSpPr>
            <a:spLocks noChangeShapeType="1"/>
          </p:cNvSpPr>
          <p:nvPr/>
        </p:nvSpPr>
        <p:spPr bwMode="auto">
          <a:xfrm flipV="1">
            <a:off x="3132138" y="2420938"/>
            <a:ext cx="3849687" cy="0"/>
          </a:xfrm>
          <a:prstGeom prst="line">
            <a:avLst/>
          </a:prstGeom>
          <a:noFill/>
          <a:ln w="57150">
            <a:solidFill>
              <a:schemeClr val="tx2">
                <a:lumMod val="75000"/>
              </a:schemeClr>
            </a:solidFill>
            <a:round/>
            <a:headEnd type="none" w="med" len="med"/>
            <a:tailEnd type="triangle" w="med" len="med"/>
          </a:ln>
        </p:spPr>
        <p:txBody>
          <a:bodyPr/>
          <a:lstStyle/>
          <a:p>
            <a:pPr>
              <a:defRPr/>
            </a:pPr>
            <a:endParaRPr lang="zh-TW" altLang="en-US">
              <a:latin typeface="Arial" charset="0"/>
            </a:endParaRPr>
          </a:p>
        </p:txBody>
      </p:sp>
      <p:pic>
        <p:nvPicPr>
          <p:cNvPr id="19479" name="Picture 8" descr="C:\Users\MandyChou\Pictures\流程圖影像\spam_15.gif"/>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56100" y="2133600"/>
            <a:ext cx="12954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AutoShape 288"/>
          <p:cNvSpPr>
            <a:spLocks noChangeArrowheads="1"/>
          </p:cNvSpPr>
          <p:nvPr/>
        </p:nvSpPr>
        <p:spPr bwMode="auto">
          <a:xfrm>
            <a:off x="1187450" y="2133600"/>
            <a:ext cx="863600" cy="649288"/>
          </a:xfrm>
          <a:prstGeom prst="rightArrow">
            <a:avLst>
              <a:gd name="adj1" fmla="val 33880"/>
              <a:gd name="adj2" fmla="val 29456"/>
            </a:avLst>
          </a:prstGeom>
          <a:gradFill rotWithShape="1">
            <a:gsLst>
              <a:gs pos="0">
                <a:srgbClr val="FF0000"/>
              </a:gs>
              <a:gs pos="50000">
                <a:schemeClr val="bg1"/>
              </a:gs>
              <a:gs pos="100000">
                <a:srgbClr val="FF0000"/>
              </a:gs>
            </a:gsLst>
            <a:lin ang="0" scaled="1"/>
          </a:gradFill>
          <a:ln w="9525">
            <a:noFill/>
            <a:miter lim="800000"/>
            <a:headEnd/>
            <a:tailEnd/>
          </a:ln>
          <a:effectLst/>
        </p:spPr>
        <p:txBody>
          <a:bodyPr wrap="none" anchor="ctr"/>
          <a:lstStyle/>
          <a:p>
            <a:pPr fontAlgn="auto">
              <a:spcBef>
                <a:spcPts val="0"/>
              </a:spcBef>
              <a:spcAft>
                <a:spcPts val="0"/>
              </a:spcAft>
              <a:defRPr/>
            </a:pPr>
            <a:endParaRPr kumimoji="0" lang="zh-TW" altLang="en-US" sz="1400">
              <a:latin typeface="+mn-lt"/>
              <a:ea typeface="+mn-ea"/>
            </a:endParaRPr>
          </a:p>
        </p:txBody>
      </p:sp>
      <p:sp>
        <p:nvSpPr>
          <p:cNvPr id="73" name="Line 261"/>
          <p:cNvSpPr>
            <a:spLocks noChangeShapeType="1"/>
          </p:cNvSpPr>
          <p:nvPr/>
        </p:nvSpPr>
        <p:spPr bwMode="auto">
          <a:xfrm>
            <a:off x="2555875" y="2997200"/>
            <a:ext cx="646113" cy="1077913"/>
          </a:xfrm>
          <a:prstGeom prst="line">
            <a:avLst/>
          </a:prstGeom>
          <a:noFill/>
          <a:ln w="57150">
            <a:solidFill>
              <a:srgbClr val="FF99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74" name="Line 267"/>
          <p:cNvSpPr>
            <a:spLocks noChangeShapeType="1"/>
          </p:cNvSpPr>
          <p:nvPr/>
        </p:nvSpPr>
        <p:spPr bwMode="auto">
          <a:xfrm>
            <a:off x="3563938" y="4292600"/>
            <a:ext cx="647700" cy="26988"/>
          </a:xfrm>
          <a:prstGeom prst="line">
            <a:avLst/>
          </a:prstGeom>
          <a:noFill/>
          <a:ln w="57150">
            <a:solidFill>
              <a:srgbClr val="FF99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75" name="Line 267"/>
          <p:cNvSpPr>
            <a:spLocks noChangeShapeType="1"/>
          </p:cNvSpPr>
          <p:nvPr/>
        </p:nvSpPr>
        <p:spPr bwMode="auto">
          <a:xfrm>
            <a:off x="5003800" y="4292600"/>
            <a:ext cx="647700" cy="26988"/>
          </a:xfrm>
          <a:prstGeom prst="line">
            <a:avLst/>
          </a:prstGeom>
          <a:noFill/>
          <a:ln w="57150">
            <a:solidFill>
              <a:srgbClr val="FF99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76" name="Line 305"/>
          <p:cNvSpPr>
            <a:spLocks noChangeShapeType="1"/>
          </p:cNvSpPr>
          <p:nvPr/>
        </p:nvSpPr>
        <p:spPr bwMode="auto">
          <a:xfrm>
            <a:off x="4859338" y="4076700"/>
            <a:ext cx="792162" cy="0"/>
          </a:xfrm>
          <a:prstGeom prst="line">
            <a:avLst/>
          </a:prstGeom>
          <a:noFill/>
          <a:ln w="57150">
            <a:solidFill>
              <a:srgbClr val="FF9900"/>
            </a:solidFill>
            <a:prstDash val="sysDot"/>
            <a:round/>
            <a:headEnd type="triangle" w="med" len="med"/>
            <a:tailEnd/>
          </a:ln>
          <a:extLst>
            <a:ext uri="{909E8E84-426E-40DD-AFC4-6F175D3DCCD1}">
              <a14:hiddenFill xmlns:a14="http://schemas.microsoft.com/office/drawing/2010/main">
                <a:noFill/>
              </a14:hiddenFill>
            </a:ext>
          </a:extLst>
        </p:spPr>
        <p:txBody>
          <a:bodyPr/>
          <a:lstStyle/>
          <a:p>
            <a:endParaRPr lang="zh-TW" altLang="en-US"/>
          </a:p>
        </p:txBody>
      </p:sp>
      <p:sp>
        <p:nvSpPr>
          <p:cNvPr id="77" name="Line 305"/>
          <p:cNvSpPr>
            <a:spLocks noChangeShapeType="1"/>
          </p:cNvSpPr>
          <p:nvPr/>
        </p:nvSpPr>
        <p:spPr bwMode="auto">
          <a:xfrm>
            <a:off x="2987675" y="2565400"/>
            <a:ext cx="1657350" cy="1485900"/>
          </a:xfrm>
          <a:prstGeom prst="line">
            <a:avLst/>
          </a:prstGeom>
          <a:noFill/>
          <a:ln w="57150">
            <a:solidFill>
              <a:srgbClr val="FF9900"/>
            </a:solidFill>
            <a:prstDash val="sysDot"/>
            <a:round/>
            <a:headEnd type="triangle" w="med" len="med"/>
            <a:tailEnd/>
          </a:ln>
          <a:extLst>
            <a:ext uri="{909E8E84-426E-40DD-AFC4-6F175D3DCCD1}">
              <a14:hiddenFill xmlns:a14="http://schemas.microsoft.com/office/drawing/2010/main">
                <a:noFill/>
              </a14:hiddenFill>
            </a:ext>
          </a:extLst>
        </p:spPr>
        <p:txBody>
          <a:bodyPr/>
          <a:lstStyle/>
          <a:p>
            <a:endParaRPr lang="zh-TW" altLang="en-US"/>
          </a:p>
        </p:txBody>
      </p:sp>
      <p:pic>
        <p:nvPicPr>
          <p:cNvPr id="80" name="Picture 13" descr="email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95738" y="3573463"/>
            <a:ext cx="3429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 name="圖片 54" descr="spam_65.gif"/>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2411413" y="3068638"/>
            <a:ext cx="54451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61647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wipe(left)">
                                      <p:cBhvr>
                                        <p:cTn id="7" dur="1000"/>
                                        <p:tgtEl>
                                          <p:spTgt spid="72"/>
                                        </p:tgtEl>
                                      </p:cBhvr>
                                    </p:animEffect>
                                  </p:childTnLst>
                                </p:cTn>
                              </p:par>
                            </p:childTnLst>
                          </p:cTn>
                        </p:par>
                        <p:par>
                          <p:cTn id="8" fill="hold" nodeType="afterGroup">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73"/>
                                        </p:tgtEl>
                                        <p:attrNameLst>
                                          <p:attrName>style.visibility</p:attrName>
                                        </p:attrNameLst>
                                      </p:cBhvr>
                                      <p:to>
                                        <p:strVal val="visible"/>
                                      </p:to>
                                    </p:set>
                                    <p:animEffect transition="in" filter="wipe(up)">
                                      <p:cBhvr>
                                        <p:cTn id="11" dur="1000"/>
                                        <p:tgtEl>
                                          <p:spTgt spid="73"/>
                                        </p:tgtEl>
                                      </p:cBhvr>
                                    </p:animEffect>
                                  </p:childTnLst>
                                </p:cTn>
                              </p:par>
                            </p:childTnLst>
                          </p:cTn>
                        </p:par>
                        <p:par>
                          <p:cTn id="12" fill="hold" nodeType="afterGroup">
                            <p:stCondLst>
                              <p:cond delay="2000"/>
                            </p:stCondLst>
                            <p:childTnLst>
                              <p:par>
                                <p:cTn id="13" presetID="1" presetClass="entr" presetSubtype="0" fill="hold" nodeType="after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par>
                                <p:cTn id="15" presetID="49" presetClass="path" presetSubtype="0" accel="50000" decel="50000" fill="hold" nodeType="withEffect">
                                  <p:stCondLst>
                                    <p:cond delay="0"/>
                                  </p:stCondLst>
                                  <p:childTnLst>
                                    <p:animMotion origin="layout" path="M 3.61111E-6 -3.7037E-6 L 0.05677 0.12084 " pathEditMode="relative" rAng="0" ptsTypes="AA">
                                      <p:cBhvr>
                                        <p:cTn id="16" dur="2000" fill="hold"/>
                                        <p:tgtEl>
                                          <p:spTgt spid="55"/>
                                        </p:tgtEl>
                                        <p:attrNameLst>
                                          <p:attrName>ppt_x</p:attrName>
                                          <p:attrName>ppt_y</p:attrName>
                                        </p:attrNameLst>
                                      </p:cBhvr>
                                      <p:rCtr x="2830" y="6042"/>
                                    </p:animMotion>
                                  </p:childTnLst>
                                </p:cTn>
                              </p:par>
                            </p:childTnLst>
                          </p:cTn>
                        </p:par>
                        <p:par>
                          <p:cTn id="17" fill="hold" nodeType="afterGroup">
                            <p:stCondLst>
                              <p:cond delay="4000"/>
                            </p:stCondLst>
                            <p:childTnLst>
                              <p:par>
                                <p:cTn id="18" presetID="22" presetClass="entr" presetSubtype="8" fill="hold" grpId="0" nodeType="afterEffect">
                                  <p:stCondLst>
                                    <p:cond delay="0"/>
                                  </p:stCondLst>
                                  <p:childTnLst>
                                    <p:set>
                                      <p:cBhvr>
                                        <p:cTn id="19" dur="1" fill="hold">
                                          <p:stCondLst>
                                            <p:cond delay="0"/>
                                          </p:stCondLst>
                                        </p:cTn>
                                        <p:tgtEl>
                                          <p:spTgt spid="74"/>
                                        </p:tgtEl>
                                        <p:attrNameLst>
                                          <p:attrName>style.visibility</p:attrName>
                                        </p:attrNameLst>
                                      </p:cBhvr>
                                      <p:to>
                                        <p:strVal val="visible"/>
                                      </p:to>
                                    </p:set>
                                    <p:animEffect transition="in" filter="wipe(left)">
                                      <p:cBhvr>
                                        <p:cTn id="20" dur="1000"/>
                                        <p:tgtEl>
                                          <p:spTgt spid="74"/>
                                        </p:tgtEl>
                                      </p:cBhvr>
                                    </p:animEffect>
                                  </p:childTnLst>
                                </p:cTn>
                              </p:par>
                            </p:childTnLst>
                          </p:cTn>
                        </p:par>
                        <p:par>
                          <p:cTn id="21" fill="hold" nodeType="afterGroup">
                            <p:stCondLst>
                              <p:cond delay="5000"/>
                            </p:stCondLst>
                            <p:childTnLst>
                              <p:par>
                                <p:cTn id="22" presetID="22" presetClass="entr" presetSubtype="8" fill="hold" grpId="0" nodeType="afterEffect">
                                  <p:stCondLst>
                                    <p:cond delay="0"/>
                                  </p:stCondLst>
                                  <p:childTnLst>
                                    <p:set>
                                      <p:cBhvr>
                                        <p:cTn id="23" dur="1" fill="hold">
                                          <p:stCondLst>
                                            <p:cond delay="0"/>
                                          </p:stCondLst>
                                        </p:cTn>
                                        <p:tgtEl>
                                          <p:spTgt spid="75"/>
                                        </p:tgtEl>
                                        <p:attrNameLst>
                                          <p:attrName>style.visibility</p:attrName>
                                        </p:attrNameLst>
                                      </p:cBhvr>
                                      <p:to>
                                        <p:strVal val="visible"/>
                                      </p:to>
                                    </p:set>
                                    <p:animEffect transition="in" filter="wipe(left)">
                                      <p:cBhvr>
                                        <p:cTn id="24" dur="1000"/>
                                        <p:tgtEl>
                                          <p:spTgt spid="75"/>
                                        </p:tgtEl>
                                      </p:cBhvr>
                                    </p:animEffect>
                                  </p:childTnLst>
                                </p:cTn>
                              </p:par>
                            </p:childTnLst>
                          </p:cTn>
                        </p:par>
                        <p:par>
                          <p:cTn id="25" fill="hold" nodeType="afterGroup">
                            <p:stCondLst>
                              <p:cond delay="6000"/>
                            </p:stCondLst>
                            <p:childTnLst>
                              <p:par>
                                <p:cTn id="26" presetID="4" presetClass="entr" presetSubtype="16" fill="hold" grpId="0" nodeType="afterEffect">
                                  <p:stCondLst>
                                    <p:cond delay="0"/>
                                  </p:stCondLst>
                                  <p:childTnLst>
                                    <p:set>
                                      <p:cBhvr>
                                        <p:cTn id="27" dur="1" fill="hold">
                                          <p:stCondLst>
                                            <p:cond delay="0"/>
                                          </p:stCondLst>
                                        </p:cTn>
                                        <p:tgtEl>
                                          <p:spTgt spid="76"/>
                                        </p:tgtEl>
                                        <p:attrNameLst>
                                          <p:attrName>style.visibility</p:attrName>
                                        </p:attrNameLst>
                                      </p:cBhvr>
                                      <p:to>
                                        <p:strVal val="visible"/>
                                      </p:to>
                                    </p:set>
                                    <p:animEffect transition="in" filter="box(in)">
                                      <p:cBhvr>
                                        <p:cTn id="28" dur="500"/>
                                        <p:tgtEl>
                                          <p:spTgt spid="76"/>
                                        </p:tgtEl>
                                      </p:cBhvr>
                                    </p:animEffect>
                                  </p:childTnLst>
                                </p:cTn>
                              </p:par>
                            </p:childTnLst>
                          </p:cTn>
                        </p:par>
                        <p:par>
                          <p:cTn id="29" fill="hold" nodeType="afterGroup">
                            <p:stCondLst>
                              <p:cond delay="6500"/>
                            </p:stCondLst>
                            <p:childTnLst>
                              <p:par>
                                <p:cTn id="30" presetID="22" presetClass="entr" presetSubtype="4" fill="hold" grpId="0" nodeType="afterEffect">
                                  <p:stCondLst>
                                    <p:cond delay="0"/>
                                  </p:stCondLst>
                                  <p:childTnLst>
                                    <p:set>
                                      <p:cBhvr>
                                        <p:cTn id="31" dur="1" fill="hold">
                                          <p:stCondLst>
                                            <p:cond delay="0"/>
                                          </p:stCondLst>
                                        </p:cTn>
                                        <p:tgtEl>
                                          <p:spTgt spid="77"/>
                                        </p:tgtEl>
                                        <p:attrNameLst>
                                          <p:attrName>style.visibility</p:attrName>
                                        </p:attrNameLst>
                                      </p:cBhvr>
                                      <p:to>
                                        <p:strVal val="visible"/>
                                      </p:to>
                                    </p:set>
                                    <p:animEffect transition="in" filter="wipe(down)">
                                      <p:cBhvr>
                                        <p:cTn id="32" dur="1000"/>
                                        <p:tgtEl>
                                          <p:spTgt spid="77"/>
                                        </p:tgtEl>
                                      </p:cBhvr>
                                    </p:animEffect>
                                  </p:childTnLst>
                                </p:cTn>
                              </p:par>
                              <p:par>
                                <p:cTn id="33" presetID="4" presetClass="entr" presetSubtype="16" fill="hold" nodeType="withEffect">
                                  <p:stCondLst>
                                    <p:cond delay="0"/>
                                  </p:stCondLst>
                                  <p:childTnLst>
                                    <p:set>
                                      <p:cBhvr>
                                        <p:cTn id="34" dur="1" fill="hold">
                                          <p:stCondLst>
                                            <p:cond delay="0"/>
                                          </p:stCondLst>
                                        </p:cTn>
                                        <p:tgtEl>
                                          <p:spTgt spid="80"/>
                                        </p:tgtEl>
                                        <p:attrNameLst>
                                          <p:attrName>style.visibility</p:attrName>
                                        </p:attrNameLst>
                                      </p:cBhvr>
                                      <p:to>
                                        <p:strVal val="visible"/>
                                      </p:to>
                                    </p:set>
                                    <p:animEffect transition="in" filter="box(in)">
                                      <p:cBhvr>
                                        <p:cTn id="35" dur="500"/>
                                        <p:tgtEl>
                                          <p:spTgt spid="80"/>
                                        </p:tgtEl>
                                      </p:cBhvr>
                                    </p:animEffect>
                                  </p:childTnLst>
                                </p:cTn>
                              </p:par>
                            </p:childTnLst>
                          </p:cTn>
                        </p:par>
                        <p:par>
                          <p:cTn id="36" fill="hold" nodeType="afterGroup">
                            <p:stCondLst>
                              <p:cond delay="7500"/>
                            </p:stCondLst>
                            <p:childTnLst>
                              <p:par>
                                <p:cTn id="37" presetID="49" presetClass="path" presetSubtype="0" accel="50000" decel="50000" fill="hold" nodeType="afterEffect">
                                  <p:stCondLst>
                                    <p:cond delay="0"/>
                                  </p:stCondLst>
                                  <p:childTnLst>
                                    <p:animMotion origin="layout" path="M -0.1132 -0.15486 L 0.03333 0.02639 " pathEditMode="relative" rAng="0" ptsTypes="AA">
                                      <p:cBhvr>
                                        <p:cTn id="38" dur="2000" spd="-100000" fill="hold"/>
                                        <p:tgtEl>
                                          <p:spTgt spid="80"/>
                                        </p:tgtEl>
                                        <p:attrNameLst>
                                          <p:attrName>ppt_x</p:attrName>
                                          <p:attrName>ppt_y</p:attrName>
                                        </p:attrNameLst>
                                      </p:cBhvr>
                                      <p:rCtr x="7326" y="905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73" grpId="0" animBg="1"/>
      <p:bldP spid="74" grpId="0" animBg="1"/>
      <p:bldP spid="75" grpId="0" animBg="1"/>
      <p:bldP spid="76" grpId="0" animBg="1"/>
      <p:bldP spid="7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標題 1"/>
          <p:cNvSpPr>
            <a:spLocks noGrp="1"/>
          </p:cNvSpPr>
          <p:nvPr>
            <p:ph type="title"/>
          </p:nvPr>
        </p:nvSpPr>
        <p:spPr/>
        <p:txBody>
          <a:bodyPr>
            <a:normAutofit fontScale="90000"/>
          </a:bodyPr>
          <a:lstStyle/>
          <a:p>
            <a:r>
              <a:rPr lang="zh-TW" altLang="en-US" dirty="0" smtClean="0"/>
              <a:t>網路內容安全 架構</a:t>
            </a:r>
          </a:p>
        </p:txBody>
      </p:sp>
      <p:sp>
        <p:nvSpPr>
          <p:cNvPr id="4099" name="Rectangle 3"/>
          <p:cNvSpPr txBox="1">
            <a:spLocks noChangeArrowheads="1"/>
          </p:cNvSpPr>
          <p:nvPr/>
        </p:nvSpPr>
        <p:spPr bwMode="auto">
          <a:xfrm>
            <a:off x="3339703" y="2672916"/>
            <a:ext cx="4661297" cy="3000375"/>
          </a:xfrm>
          <a:prstGeom prst="rect">
            <a:avLst/>
          </a:prstGeom>
          <a:noFill/>
          <a:ln w="9525">
            <a:noFill/>
            <a:miter lim="800000"/>
            <a:headEnd/>
            <a:tailEnd/>
          </a:ln>
        </p:spPr>
        <p:txBody>
          <a:bodyPr/>
          <a:lstStyle/>
          <a:p>
            <a:pPr marL="257175" indent="-257175">
              <a:spcBef>
                <a:spcPct val="20000"/>
              </a:spcBef>
              <a:buFont typeface="Arial" charset="0"/>
              <a:buChar char="•"/>
            </a:pPr>
            <a:r>
              <a:rPr lang="en-US" altLang="zh-TW">
                <a:solidFill>
                  <a:schemeClr val="tx2"/>
                </a:solidFill>
                <a:latin typeface="微軟正黑體" pitchFamily="34" charset="-120"/>
                <a:ea typeface="標楷體" pitchFamily="65" charset="-120"/>
              </a:rPr>
              <a:t>– </a:t>
            </a:r>
          </a:p>
          <a:p>
            <a:pPr marL="257175" indent="-257175">
              <a:spcBef>
                <a:spcPct val="20000"/>
              </a:spcBef>
              <a:buFont typeface="Arial" charset="0"/>
              <a:buChar char="•"/>
            </a:pPr>
            <a:endParaRPr lang="en-US" altLang="zh-TW" sz="1500">
              <a:solidFill>
                <a:schemeClr val="tx2"/>
              </a:solidFill>
              <a:latin typeface="微軟正黑體" pitchFamily="34" charset="-120"/>
              <a:ea typeface="標楷體" pitchFamily="65" charset="-120"/>
            </a:endParaRPr>
          </a:p>
          <a:p>
            <a:pPr marL="257175" indent="-257175">
              <a:spcBef>
                <a:spcPct val="20000"/>
              </a:spcBef>
              <a:buFont typeface="Arial" charset="0"/>
              <a:buChar char="•"/>
            </a:pPr>
            <a:endParaRPr lang="zh-TW" altLang="en-US" sz="1500">
              <a:solidFill>
                <a:schemeClr val="tx2"/>
              </a:solidFill>
              <a:latin typeface="微軟正黑體" pitchFamily="34" charset="-120"/>
              <a:ea typeface="標楷體" pitchFamily="65" charset="-120"/>
            </a:endParaRPr>
          </a:p>
          <a:p>
            <a:pPr marL="257175" indent="-257175">
              <a:spcBef>
                <a:spcPct val="20000"/>
              </a:spcBef>
              <a:buFont typeface="Arial" charset="0"/>
              <a:buChar char="•"/>
            </a:pPr>
            <a:endParaRPr lang="en-US" altLang="zh-TW">
              <a:solidFill>
                <a:schemeClr val="tx2"/>
              </a:solidFill>
              <a:latin typeface="微軟正黑體" pitchFamily="34" charset="-120"/>
              <a:ea typeface="標楷體" pitchFamily="65" charset="-120"/>
            </a:endParaRPr>
          </a:p>
          <a:p>
            <a:pPr marL="257175" indent="-257175">
              <a:spcBef>
                <a:spcPct val="20000"/>
              </a:spcBef>
              <a:buFont typeface="Arial" charset="0"/>
              <a:buChar char="•"/>
            </a:pPr>
            <a:endParaRPr lang="en-US" altLang="zh-TW" sz="2400">
              <a:solidFill>
                <a:schemeClr val="tx2"/>
              </a:solidFill>
              <a:latin typeface="微軟正黑體" pitchFamily="34" charset="-120"/>
              <a:ea typeface="標楷體" pitchFamily="65" charset="-120"/>
            </a:endParaRPr>
          </a:p>
        </p:txBody>
      </p:sp>
      <p:graphicFrame>
        <p:nvGraphicFramePr>
          <p:cNvPr id="5" name="表格 4"/>
          <p:cNvGraphicFramePr>
            <a:graphicFrameLocks noGrp="1"/>
          </p:cNvGraphicFramePr>
          <p:nvPr>
            <p:extLst/>
          </p:nvPr>
        </p:nvGraphicFramePr>
        <p:xfrm>
          <a:off x="1194855" y="1950584"/>
          <a:ext cx="3295078" cy="3511323"/>
        </p:xfrm>
        <a:graphic>
          <a:graphicData uri="http://schemas.openxmlformats.org/drawingml/2006/table">
            <a:tbl>
              <a:tblPr firstRow="1" bandRow="1">
                <a:tableStyleId>{5C22544A-7EE6-4342-B048-85BDC9FD1C3A}</a:tableStyleId>
              </a:tblPr>
              <a:tblGrid>
                <a:gridCol w="3295078"/>
              </a:tblGrid>
              <a:tr h="507056">
                <a:tc>
                  <a:txBody>
                    <a:bodyPr/>
                    <a:lstStyle/>
                    <a:p>
                      <a:pPr algn="ctr"/>
                      <a:r>
                        <a:rPr lang="zh-TW" altLang="en-US" sz="2400" dirty="0" smtClean="0"/>
                        <a:t>線上</a:t>
                      </a:r>
                      <a:r>
                        <a:rPr lang="en-US" altLang="zh-TW" sz="2400" dirty="0" smtClean="0">
                          <a:ea typeface="標楷體" pitchFamily="65" charset="-120"/>
                        </a:rPr>
                        <a:t> (</a:t>
                      </a:r>
                      <a:r>
                        <a:rPr lang="zh-TW" altLang="en-US" sz="2400" dirty="0" smtClean="0">
                          <a:ea typeface="標楷體" pitchFamily="65" charset="-120"/>
                        </a:rPr>
                        <a:t>統一出口</a:t>
                      </a:r>
                      <a:r>
                        <a:rPr lang="en-US" altLang="zh-TW" sz="2400" dirty="0" smtClean="0">
                          <a:ea typeface="標楷體" pitchFamily="65" charset="-120"/>
                        </a:rPr>
                        <a:t>)</a:t>
                      </a:r>
                    </a:p>
                  </a:txBody>
                  <a:tcPr marL="68580" marR="68580" marT="34290" marB="34290"/>
                </a:tc>
              </a:tr>
              <a:tr h="3004267">
                <a:tc>
                  <a:txBody>
                    <a:bodyPr/>
                    <a:lstStyle/>
                    <a:p>
                      <a:endParaRPr lang="zh-TW" altLang="en-US" sz="1400" dirty="0"/>
                    </a:p>
                  </a:txBody>
                  <a:tcPr marL="68580" marR="68580" marT="34290" marB="34290"/>
                </a:tc>
              </a:tr>
            </a:tbl>
          </a:graphicData>
        </a:graphic>
      </p:graphicFrame>
      <p:graphicFrame>
        <p:nvGraphicFramePr>
          <p:cNvPr id="99" name="表格 98"/>
          <p:cNvGraphicFramePr>
            <a:graphicFrameLocks noGrp="1"/>
          </p:cNvGraphicFramePr>
          <p:nvPr>
            <p:extLst/>
          </p:nvPr>
        </p:nvGraphicFramePr>
        <p:xfrm>
          <a:off x="4615505" y="1948544"/>
          <a:ext cx="3295078" cy="3563792"/>
        </p:xfrm>
        <a:graphic>
          <a:graphicData uri="http://schemas.openxmlformats.org/drawingml/2006/table">
            <a:tbl>
              <a:tblPr firstRow="1" bandRow="1">
                <a:tableStyleId>{93296810-A885-4BE3-A3E7-6D5BEEA58F35}</a:tableStyleId>
              </a:tblPr>
              <a:tblGrid>
                <a:gridCol w="3295078"/>
              </a:tblGrid>
              <a:tr h="508172">
                <a:tc>
                  <a:txBody>
                    <a:bodyPr/>
                    <a:lstStyle/>
                    <a:p>
                      <a:pPr algn="ctr"/>
                      <a:r>
                        <a:rPr lang="zh-TW" altLang="en-US" sz="2400" dirty="0" smtClean="0"/>
                        <a:t>監聽</a:t>
                      </a:r>
                      <a:r>
                        <a:rPr lang="en-US" altLang="zh-TW" sz="2400" dirty="0" smtClean="0"/>
                        <a:t>(</a:t>
                      </a:r>
                      <a:r>
                        <a:rPr lang="zh-TW" altLang="en-US" sz="2400" dirty="0" smtClean="0"/>
                        <a:t>不影響環境</a:t>
                      </a:r>
                      <a:r>
                        <a:rPr lang="en-US" altLang="zh-TW" sz="2400" dirty="0" smtClean="0"/>
                        <a:t>)</a:t>
                      </a:r>
                      <a:endParaRPr lang="zh-TW" altLang="en-US" sz="2400" dirty="0"/>
                    </a:p>
                  </a:txBody>
                  <a:tcPr marL="68580" marR="68580" marT="34290" marB="34290"/>
                </a:tc>
              </a:tr>
              <a:tr h="3037850">
                <a:tc>
                  <a:txBody>
                    <a:bodyPr/>
                    <a:lstStyle/>
                    <a:p>
                      <a:endParaRPr lang="en-US" altLang="zh-TW" sz="1400" dirty="0" smtClean="0"/>
                    </a:p>
                    <a:p>
                      <a:endParaRPr lang="en-US" altLang="zh-TW" sz="1400" dirty="0" smtClean="0"/>
                    </a:p>
                    <a:p>
                      <a:endParaRPr lang="en-US" altLang="zh-TW" sz="1400" dirty="0" smtClean="0"/>
                    </a:p>
                    <a:p>
                      <a:endParaRPr lang="en-US" altLang="zh-TW" sz="1400" dirty="0" smtClean="0"/>
                    </a:p>
                    <a:p>
                      <a:endParaRPr lang="en-US" altLang="zh-TW" sz="1400" dirty="0" smtClean="0"/>
                    </a:p>
                    <a:p>
                      <a:endParaRPr lang="en-US" altLang="zh-TW" sz="1400" dirty="0" smtClean="0"/>
                    </a:p>
                    <a:p>
                      <a:endParaRPr lang="en-US" altLang="zh-TW" sz="1400" dirty="0" smtClean="0"/>
                    </a:p>
                    <a:p>
                      <a:endParaRPr lang="en-US" altLang="zh-TW" sz="1400" dirty="0" smtClean="0"/>
                    </a:p>
                    <a:p>
                      <a:endParaRPr lang="en-US" altLang="zh-TW" sz="1400" dirty="0" smtClean="0"/>
                    </a:p>
                    <a:p>
                      <a:endParaRPr lang="en-US" altLang="zh-TW" sz="1400" dirty="0" smtClean="0"/>
                    </a:p>
                    <a:p>
                      <a:endParaRPr lang="en-US" altLang="zh-TW" sz="1400" dirty="0" smtClean="0"/>
                    </a:p>
                    <a:p>
                      <a:endParaRPr lang="en-US" altLang="zh-TW" sz="1400" dirty="0" smtClean="0"/>
                    </a:p>
                    <a:p>
                      <a:endParaRPr lang="en-US" altLang="zh-TW" sz="1400" dirty="0" smtClean="0"/>
                    </a:p>
                    <a:p>
                      <a:endParaRPr lang="en-US" altLang="zh-TW" sz="1400" dirty="0" smtClean="0"/>
                    </a:p>
                  </a:txBody>
                  <a:tcPr marL="68580" marR="68580" marT="34290" marB="34290"/>
                </a:tc>
              </a:tr>
            </a:tbl>
          </a:graphicData>
        </a:graphic>
      </p:graphicFrame>
      <p:sp>
        <p:nvSpPr>
          <p:cNvPr id="101" name="Line 95"/>
          <p:cNvSpPr>
            <a:spLocks noChangeShapeType="1"/>
          </p:cNvSpPr>
          <p:nvPr/>
        </p:nvSpPr>
        <p:spPr bwMode="auto">
          <a:xfrm>
            <a:off x="5893953" y="2931834"/>
            <a:ext cx="0" cy="1404000"/>
          </a:xfrm>
          <a:prstGeom prst="line">
            <a:avLst/>
          </a:prstGeom>
          <a:noFill/>
          <a:ln w="28575">
            <a:solidFill>
              <a:schemeClr val="accent1"/>
            </a:solidFill>
            <a:round/>
            <a:headEnd/>
            <a:tailEnd/>
          </a:ln>
        </p:spPr>
        <p:txBody>
          <a:bodyPr wrap="none" anchor="ctr"/>
          <a:lstStyle/>
          <a:p>
            <a:endParaRPr lang="zh-TW" altLang="en-US"/>
          </a:p>
        </p:txBody>
      </p:sp>
      <p:sp>
        <p:nvSpPr>
          <p:cNvPr id="104" name="Text Box 121"/>
          <p:cNvSpPr txBox="1">
            <a:spLocks noChangeArrowheads="1"/>
          </p:cNvSpPr>
          <p:nvPr/>
        </p:nvSpPr>
        <p:spPr bwMode="auto">
          <a:xfrm>
            <a:off x="6246187" y="4455115"/>
            <a:ext cx="1269710" cy="253916"/>
          </a:xfrm>
          <a:prstGeom prst="rect">
            <a:avLst/>
          </a:prstGeom>
          <a:noFill/>
          <a:ln w="9525">
            <a:noFill/>
            <a:miter lim="800000"/>
            <a:headEnd/>
            <a:tailEnd/>
          </a:ln>
        </p:spPr>
        <p:txBody>
          <a:bodyPr>
            <a:spAutoFit/>
          </a:bodyPr>
          <a:lstStyle/>
          <a:p>
            <a:pPr algn="ctr">
              <a:spcBef>
                <a:spcPct val="50000"/>
              </a:spcBef>
            </a:pPr>
            <a:r>
              <a:rPr lang="en-US" altLang="zh-CN" sz="1050" dirty="0">
                <a:ea typeface="宋体" pitchFamily="2" charset="-122"/>
              </a:rPr>
              <a:t>Content SQR</a:t>
            </a:r>
            <a:endParaRPr lang="zh-CN" altLang="en-US" sz="1050" dirty="0">
              <a:ea typeface="宋体" pitchFamily="2" charset="-122"/>
            </a:endParaRPr>
          </a:p>
        </p:txBody>
      </p:sp>
      <p:cxnSp>
        <p:nvCxnSpPr>
          <p:cNvPr id="116" name="AutoShape 185"/>
          <p:cNvCxnSpPr>
            <a:cxnSpLocks noChangeShapeType="1"/>
          </p:cNvCxnSpPr>
          <p:nvPr/>
        </p:nvCxnSpPr>
        <p:spPr bwMode="auto">
          <a:xfrm rot="5400000" flipV="1">
            <a:off x="6071236" y="4090006"/>
            <a:ext cx="64616" cy="254774"/>
          </a:xfrm>
          <a:prstGeom prst="curvedConnector4">
            <a:avLst>
              <a:gd name="adj1" fmla="val -177778"/>
              <a:gd name="adj2" fmla="val 157958"/>
            </a:avLst>
          </a:prstGeom>
          <a:noFill/>
          <a:ln w="9525">
            <a:solidFill>
              <a:schemeClr val="tx1"/>
            </a:solidFill>
            <a:round/>
            <a:headEnd/>
            <a:tailEnd type="triangle" w="med" len="med"/>
          </a:ln>
        </p:spPr>
      </p:cxnSp>
      <p:sp>
        <p:nvSpPr>
          <p:cNvPr id="117" name="Line 186"/>
          <p:cNvSpPr>
            <a:spLocks noChangeShapeType="1"/>
          </p:cNvSpPr>
          <p:nvPr/>
        </p:nvSpPr>
        <p:spPr bwMode="auto">
          <a:xfrm flipV="1">
            <a:off x="6138174" y="4401108"/>
            <a:ext cx="424277" cy="0"/>
          </a:xfrm>
          <a:prstGeom prst="line">
            <a:avLst/>
          </a:prstGeom>
          <a:noFill/>
          <a:ln w="28575">
            <a:solidFill>
              <a:schemeClr val="accent1"/>
            </a:solidFill>
            <a:round/>
            <a:headEnd/>
            <a:tailEnd/>
          </a:ln>
        </p:spPr>
        <p:txBody>
          <a:bodyPr wrap="none" anchor="ctr"/>
          <a:lstStyle/>
          <a:p>
            <a:endParaRPr lang="zh-TW" altLang="en-US"/>
          </a:p>
        </p:txBody>
      </p:sp>
      <p:sp>
        <p:nvSpPr>
          <p:cNvPr id="118" name="Text Box 187"/>
          <p:cNvSpPr txBox="1">
            <a:spLocks noChangeArrowheads="1"/>
          </p:cNvSpPr>
          <p:nvPr/>
        </p:nvSpPr>
        <p:spPr bwMode="auto">
          <a:xfrm>
            <a:off x="6300192" y="3915055"/>
            <a:ext cx="883910" cy="253916"/>
          </a:xfrm>
          <a:prstGeom prst="rect">
            <a:avLst/>
          </a:prstGeom>
          <a:noFill/>
          <a:ln w="9525">
            <a:noFill/>
            <a:miter lim="800000"/>
            <a:headEnd/>
            <a:tailEnd/>
          </a:ln>
        </p:spPr>
        <p:txBody>
          <a:bodyPr>
            <a:spAutoFit/>
          </a:bodyPr>
          <a:lstStyle/>
          <a:p>
            <a:pPr algn="ctr">
              <a:spcBef>
                <a:spcPct val="50000"/>
              </a:spcBef>
            </a:pPr>
            <a:r>
              <a:rPr lang="en-US" altLang="zh-CN" sz="1050" dirty="0">
                <a:ea typeface="宋体" pitchFamily="2" charset="-122"/>
              </a:rPr>
              <a:t>Port  mirror</a:t>
            </a:r>
            <a:endParaRPr lang="zh-CN" altLang="en-US" sz="1050" dirty="0">
              <a:ea typeface="宋体" pitchFamily="2" charset="-122"/>
            </a:endParaRPr>
          </a:p>
        </p:txBody>
      </p:sp>
      <p:sp>
        <p:nvSpPr>
          <p:cNvPr id="4209" name="Line 81"/>
          <p:cNvSpPr>
            <a:spLocks noChangeShapeType="1"/>
          </p:cNvSpPr>
          <p:nvPr/>
        </p:nvSpPr>
        <p:spPr bwMode="auto">
          <a:xfrm>
            <a:off x="2872335" y="2898861"/>
            <a:ext cx="28228" cy="1664265"/>
          </a:xfrm>
          <a:prstGeom prst="line">
            <a:avLst/>
          </a:prstGeom>
          <a:noFill/>
          <a:ln w="28575">
            <a:solidFill>
              <a:schemeClr val="accent1"/>
            </a:solidFill>
            <a:round/>
            <a:headEnd/>
            <a:tailEnd/>
          </a:ln>
        </p:spPr>
        <p:txBody>
          <a:bodyPr wrap="none" anchor="ctr"/>
          <a:lstStyle/>
          <a:p>
            <a:endParaRPr lang="zh-TW" altLang="en-US"/>
          </a:p>
        </p:txBody>
      </p:sp>
      <p:sp>
        <p:nvSpPr>
          <p:cNvPr id="4212" name="Text Box 107"/>
          <p:cNvSpPr txBox="1">
            <a:spLocks noChangeArrowheads="1"/>
          </p:cNvSpPr>
          <p:nvPr/>
        </p:nvSpPr>
        <p:spPr bwMode="auto">
          <a:xfrm>
            <a:off x="3005826" y="3807043"/>
            <a:ext cx="1432605" cy="276999"/>
          </a:xfrm>
          <a:prstGeom prst="rect">
            <a:avLst/>
          </a:prstGeom>
          <a:noFill/>
          <a:ln w="9525">
            <a:noFill/>
            <a:miter lim="800000"/>
            <a:headEnd/>
            <a:tailEnd/>
          </a:ln>
        </p:spPr>
        <p:txBody>
          <a:bodyPr>
            <a:spAutoFit/>
          </a:bodyPr>
          <a:lstStyle/>
          <a:p>
            <a:pPr algn="ctr">
              <a:spcBef>
                <a:spcPct val="50000"/>
              </a:spcBef>
            </a:pPr>
            <a:r>
              <a:rPr lang="en-US" altLang="zh-CN" sz="1200" dirty="0">
                <a:ea typeface="宋体" pitchFamily="2" charset="-122"/>
              </a:rPr>
              <a:t>Content SQR</a:t>
            </a:r>
            <a:endParaRPr lang="zh-CN" altLang="en-US" sz="1200" dirty="0">
              <a:ea typeface="宋体" pitchFamily="2" charset="-122"/>
            </a:endParaRPr>
          </a:p>
        </p:txBody>
      </p:sp>
      <p:sp>
        <p:nvSpPr>
          <p:cNvPr id="4220" name="Line 167"/>
          <p:cNvSpPr>
            <a:spLocks noChangeShapeType="1"/>
          </p:cNvSpPr>
          <p:nvPr/>
        </p:nvSpPr>
        <p:spPr bwMode="auto">
          <a:xfrm flipH="1">
            <a:off x="2465766" y="4671138"/>
            <a:ext cx="293870" cy="162018"/>
          </a:xfrm>
          <a:prstGeom prst="line">
            <a:avLst/>
          </a:prstGeom>
          <a:noFill/>
          <a:ln w="28575">
            <a:solidFill>
              <a:schemeClr val="accent1"/>
            </a:solidFill>
            <a:round/>
            <a:headEnd/>
            <a:tailEnd/>
          </a:ln>
        </p:spPr>
        <p:txBody>
          <a:bodyPr wrap="none" anchor="ctr"/>
          <a:lstStyle/>
          <a:p>
            <a:endParaRPr lang="zh-TW" altLang="en-US"/>
          </a:p>
        </p:txBody>
      </p:sp>
      <p:sp>
        <p:nvSpPr>
          <p:cNvPr id="4221" name="Line 168"/>
          <p:cNvSpPr>
            <a:spLocks noChangeShapeType="1"/>
          </p:cNvSpPr>
          <p:nvPr/>
        </p:nvSpPr>
        <p:spPr bwMode="auto">
          <a:xfrm>
            <a:off x="2843810" y="4671138"/>
            <a:ext cx="54005" cy="162018"/>
          </a:xfrm>
          <a:prstGeom prst="line">
            <a:avLst/>
          </a:prstGeom>
          <a:noFill/>
          <a:ln w="28575">
            <a:solidFill>
              <a:schemeClr val="accent1"/>
            </a:solidFill>
            <a:round/>
            <a:headEnd/>
            <a:tailEnd/>
          </a:ln>
        </p:spPr>
        <p:txBody>
          <a:bodyPr wrap="none" anchor="ctr"/>
          <a:lstStyle/>
          <a:p>
            <a:endParaRPr lang="zh-TW" altLang="en-US"/>
          </a:p>
        </p:txBody>
      </p:sp>
      <p:sp>
        <p:nvSpPr>
          <p:cNvPr id="194" name="Line 168"/>
          <p:cNvSpPr>
            <a:spLocks noChangeShapeType="1"/>
          </p:cNvSpPr>
          <p:nvPr/>
        </p:nvSpPr>
        <p:spPr bwMode="auto">
          <a:xfrm>
            <a:off x="3059834" y="4617132"/>
            <a:ext cx="324035" cy="162018"/>
          </a:xfrm>
          <a:prstGeom prst="line">
            <a:avLst/>
          </a:prstGeom>
          <a:noFill/>
          <a:ln w="28575">
            <a:solidFill>
              <a:schemeClr val="accent1"/>
            </a:solidFill>
            <a:round/>
            <a:headEnd/>
            <a:tailEnd/>
          </a:ln>
        </p:spPr>
        <p:txBody>
          <a:bodyPr wrap="none" anchor="ctr"/>
          <a:lstStyle/>
          <a:p>
            <a:endParaRPr lang="zh-TW" altLang="en-US"/>
          </a:p>
        </p:txBody>
      </p:sp>
      <p:pic>
        <p:nvPicPr>
          <p:cNvPr id="200" name="Picture 6"/>
          <p:cNvPicPr>
            <a:picLocks noChangeAspect="1" noChangeArrowheads="1"/>
          </p:cNvPicPr>
          <p:nvPr/>
        </p:nvPicPr>
        <p:blipFill>
          <a:blip r:embed="rId4" cstate="print"/>
          <a:srcRect/>
          <a:stretch>
            <a:fillRect/>
          </a:stretch>
        </p:blipFill>
        <p:spPr bwMode="auto">
          <a:xfrm>
            <a:off x="2141730" y="2430980"/>
            <a:ext cx="1512168" cy="727991"/>
          </a:xfrm>
          <a:prstGeom prst="rect">
            <a:avLst/>
          </a:prstGeom>
          <a:noFill/>
          <a:ln w="9525">
            <a:noFill/>
            <a:miter lim="800000"/>
            <a:headEnd/>
            <a:tailEnd/>
          </a:ln>
          <a:effectLst/>
        </p:spPr>
      </p:pic>
      <p:sp>
        <p:nvSpPr>
          <p:cNvPr id="202" name="Text Box 106"/>
          <p:cNvSpPr txBox="1">
            <a:spLocks noChangeArrowheads="1"/>
          </p:cNvSpPr>
          <p:nvPr/>
        </p:nvSpPr>
        <p:spPr bwMode="auto">
          <a:xfrm>
            <a:off x="2532581" y="2650704"/>
            <a:ext cx="780984" cy="323165"/>
          </a:xfrm>
          <a:prstGeom prst="rect">
            <a:avLst/>
          </a:prstGeom>
          <a:noFill/>
          <a:ln w="9525">
            <a:noFill/>
            <a:miter lim="800000"/>
            <a:headEnd/>
            <a:tailEnd/>
          </a:ln>
        </p:spPr>
        <p:txBody>
          <a:bodyPr wrap="none">
            <a:spAutoFit/>
          </a:bodyPr>
          <a:lstStyle/>
          <a:p>
            <a:pPr algn="ctr"/>
            <a:r>
              <a:rPr lang="en-US" altLang="zh-CN" sz="1500" dirty="0">
                <a:ea typeface="宋体" pitchFamily="2" charset="-122"/>
              </a:rPr>
              <a:t>Internet</a:t>
            </a:r>
          </a:p>
        </p:txBody>
      </p:sp>
      <p:pic>
        <p:nvPicPr>
          <p:cNvPr id="203" name="Picture 7"/>
          <p:cNvPicPr>
            <a:picLocks noChangeAspect="1" noChangeArrowheads="1"/>
          </p:cNvPicPr>
          <p:nvPr/>
        </p:nvPicPr>
        <p:blipFill>
          <a:blip r:embed="rId5" cstate="print"/>
          <a:srcRect/>
          <a:stretch>
            <a:fillRect/>
          </a:stretch>
        </p:blipFill>
        <p:spPr bwMode="auto">
          <a:xfrm>
            <a:off x="2573778" y="3158971"/>
            <a:ext cx="594066" cy="542258"/>
          </a:xfrm>
          <a:prstGeom prst="rect">
            <a:avLst/>
          </a:prstGeom>
          <a:noFill/>
          <a:ln w="9525">
            <a:noFill/>
            <a:miter lim="800000"/>
            <a:headEnd/>
            <a:tailEnd/>
          </a:ln>
          <a:effectLst/>
        </p:spPr>
      </p:pic>
      <p:pic>
        <p:nvPicPr>
          <p:cNvPr id="204" name="Picture 2"/>
          <p:cNvPicPr>
            <a:picLocks noChangeAspect="1" noChangeArrowheads="1"/>
          </p:cNvPicPr>
          <p:nvPr/>
        </p:nvPicPr>
        <p:blipFill>
          <a:blip r:embed="rId6" cstate="print"/>
          <a:srcRect/>
          <a:stretch>
            <a:fillRect/>
          </a:stretch>
        </p:blipFill>
        <p:spPr bwMode="auto">
          <a:xfrm>
            <a:off x="2519773" y="3807043"/>
            <a:ext cx="678377" cy="270518"/>
          </a:xfrm>
          <a:prstGeom prst="rect">
            <a:avLst/>
          </a:prstGeom>
          <a:noFill/>
          <a:ln w="9525">
            <a:noFill/>
            <a:miter lim="800000"/>
            <a:headEnd/>
            <a:tailEnd/>
          </a:ln>
          <a:effectLst/>
        </p:spPr>
      </p:pic>
      <p:pic>
        <p:nvPicPr>
          <p:cNvPr id="205" name="Picture 8"/>
          <p:cNvPicPr>
            <a:picLocks noChangeAspect="1" noChangeArrowheads="1"/>
          </p:cNvPicPr>
          <p:nvPr/>
        </p:nvPicPr>
        <p:blipFill>
          <a:blip r:embed="rId7" cstate="print"/>
          <a:srcRect/>
          <a:stretch>
            <a:fillRect/>
          </a:stretch>
        </p:blipFill>
        <p:spPr bwMode="auto">
          <a:xfrm>
            <a:off x="2573778" y="4185084"/>
            <a:ext cx="620372" cy="576581"/>
          </a:xfrm>
          <a:prstGeom prst="rect">
            <a:avLst/>
          </a:prstGeom>
          <a:noFill/>
          <a:ln w="9525">
            <a:noFill/>
            <a:miter lim="800000"/>
            <a:headEnd/>
            <a:tailEnd/>
          </a:ln>
          <a:effectLst/>
        </p:spPr>
      </p:pic>
      <p:pic>
        <p:nvPicPr>
          <p:cNvPr id="206" name="Picture 3"/>
          <p:cNvPicPr>
            <a:picLocks noChangeAspect="1" noChangeArrowheads="1"/>
          </p:cNvPicPr>
          <p:nvPr/>
        </p:nvPicPr>
        <p:blipFill>
          <a:blip r:embed="rId8" cstate="print"/>
          <a:srcRect/>
          <a:stretch>
            <a:fillRect/>
          </a:stretch>
        </p:blipFill>
        <p:spPr bwMode="auto">
          <a:xfrm>
            <a:off x="3383868" y="4833156"/>
            <a:ext cx="432048" cy="463817"/>
          </a:xfrm>
          <a:prstGeom prst="rect">
            <a:avLst/>
          </a:prstGeom>
          <a:noFill/>
          <a:ln w="9525">
            <a:noFill/>
            <a:miter lim="800000"/>
            <a:headEnd/>
            <a:tailEnd/>
          </a:ln>
          <a:effectLst/>
        </p:spPr>
      </p:pic>
      <p:pic>
        <p:nvPicPr>
          <p:cNvPr id="207" name="Picture 4"/>
          <p:cNvPicPr>
            <a:picLocks noChangeAspect="1" noChangeArrowheads="1"/>
          </p:cNvPicPr>
          <p:nvPr/>
        </p:nvPicPr>
        <p:blipFill>
          <a:blip r:embed="rId9" cstate="print"/>
          <a:srcRect/>
          <a:stretch>
            <a:fillRect/>
          </a:stretch>
        </p:blipFill>
        <p:spPr bwMode="auto">
          <a:xfrm>
            <a:off x="2681791" y="4833157"/>
            <a:ext cx="498761" cy="451109"/>
          </a:xfrm>
          <a:prstGeom prst="rect">
            <a:avLst/>
          </a:prstGeom>
          <a:noFill/>
          <a:ln w="9525">
            <a:noFill/>
            <a:miter lim="800000"/>
            <a:headEnd/>
            <a:tailEnd/>
          </a:ln>
          <a:effectLst/>
        </p:spPr>
      </p:pic>
      <p:pic>
        <p:nvPicPr>
          <p:cNvPr id="208" name="Picture 5"/>
          <p:cNvPicPr>
            <a:picLocks noChangeAspect="1" noChangeArrowheads="1"/>
          </p:cNvPicPr>
          <p:nvPr/>
        </p:nvPicPr>
        <p:blipFill>
          <a:blip r:embed="rId10" cstate="print"/>
          <a:srcRect/>
          <a:stretch>
            <a:fillRect/>
          </a:stretch>
        </p:blipFill>
        <p:spPr bwMode="auto">
          <a:xfrm>
            <a:off x="1925707" y="4833157"/>
            <a:ext cx="638542" cy="476524"/>
          </a:xfrm>
          <a:prstGeom prst="rect">
            <a:avLst/>
          </a:prstGeom>
          <a:noFill/>
          <a:ln w="9525">
            <a:noFill/>
            <a:miter lim="800000"/>
            <a:headEnd/>
            <a:tailEnd/>
          </a:ln>
          <a:effectLst/>
        </p:spPr>
      </p:pic>
      <p:pic>
        <p:nvPicPr>
          <p:cNvPr id="211" name="Picture 6"/>
          <p:cNvPicPr>
            <a:picLocks noChangeAspect="1" noChangeArrowheads="1"/>
          </p:cNvPicPr>
          <p:nvPr/>
        </p:nvPicPr>
        <p:blipFill>
          <a:blip r:embed="rId4" cstate="print"/>
          <a:srcRect/>
          <a:stretch>
            <a:fillRect/>
          </a:stretch>
        </p:blipFill>
        <p:spPr bwMode="auto">
          <a:xfrm>
            <a:off x="5112060" y="2402887"/>
            <a:ext cx="1512168" cy="727991"/>
          </a:xfrm>
          <a:prstGeom prst="rect">
            <a:avLst/>
          </a:prstGeom>
          <a:noFill/>
          <a:ln w="9525">
            <a:noFill/>
            <a:miter lim="800000"/>
            <a:headEnd/>
            <a:tailEnd/>
          </a:ln>
          <a:effectLst/>
        </p:spPr>
      </p:pic>
      <p:sp>
        <p:nvSpPr>
          <p:cNvPr id="212" name="Text Box 106"/>
          <p:cNvSpPr txBox="1">
            <a:spLocks noChangeArrowheads="1"/>
          </p:cNvSpPr>
          <p:nvPr/>
        </p:nvSpPr>
        <p:spPr bwMode="auto">
          <a:xfrm>
            <a:off x="5502911" y="2622611"/>
            <a:ext cx="780984" cy="323165"/>
          </a:xfrm>
          <a:prstGeom prst="rect">
            <a:avLst/>
          </a:prstGeom>
          <a:noFill/>
          <a:ln w="9525">
            <a:noFill/>
            <a:miter lim="800000"/>
            <a:headEnd/>
            <a:tailEnd/>
          </a:ln>
        </p:spPr>
        <p:txBody>
          <a:bodyPr wrap="none">
            <a:spAutoFit/>
          </a:bodyPr>
          <a:lstStyle/>
          <a:p>
            <a:pPr algn="ctr"/>
            <a:r>
              <a:rPr lang="en-US" altLang="zh-CN" sz="1500" dirty="0">
                <a:ea typeface="宋体" pitchFamily="2" charset="-122"/>
              </a:rPr>
              <a:t>Internet</a:t>
            </a:r>
          </a:p>
        </p:txBody>
      </p:sp>
      <p:pic>
        <p:nvPicPr>
          <p:cNvPr id="213" name="Picture 7"/>
          <p:cNvPicPr>
            <a:picLocks noChangeAspect="1" noChangeArrowheads="1"/>
          </p:cNvPicPr>
          <p:nvPr/>
        </p:nvPicPr>
        <p:blipFill>
          <a:blip r:embed="rId5" cstate="print"/>
          <a:srcRect/>
          <a:stretch>
            <a:fillRect/>
          </a:stretch>
        </p:blipFill>
        <p:spPr bwMode="auto">
          <a:xfrm>
            <a:off x="5598114" y="3104965"/>
            <a:ext cx="594066" cy="542258"/>
          </a:xfrm>
          <a:prstGeom prst="rect">
            <a:avLst/>
          </a:prstGeom>
          <a:noFill/>
          <a:ln w="9525">
            <a:noFill/>
            <a:miter lim="800000"/>
            <a:headEnd/>
            <a:tailEnd/>
          </a:ln>
          <a:effectLst/>
        </p:spPr>
      </p:pic>
      <p:pic>
        <p:nvPicPr>
          <p:cNvPr id="214" name="Picture 8"/>
          <p:cNvPicPr>
            <a:picLocks noChangeAspect="1" noChangeArrowheads="1"/>
          </p:cNvPicPr>
          <p:nvPr/>
        </p:nvPicPr>
        <p:blipFill>
          <a:blip r:embed="rId7" cstate="print"/>
          <a:srcRect/>
          <a:stretch>
            <a:fillRect/>
          </a:stretch>
        </p:blipFill>
        <p:spPr bwMode="auto">
          <a:xfrm>
            <a:off x="5598114" y="4077072"/>
            <a:ext cx="620372" cy="576581"/>
          </a:xfrm>
          <a:prstGeom prst="rect">
            <a:avLst/>
          </a:prstGeom>
          <a:noFill/>
          <a:ln w="9525">
            <a:noFill/>
            <a:miter lim="800000"/>
            <a:headEnd/>
            <a:tailEnd/>
          </a:ln>
          <a:effectLst/>
        </p:spPr>
      </p:pic>
      <p:pic>
        <p:nvPicPr>
          <p:cNvPr id="215" name="Picture 2"/>
          <p:cNvPicPr>
            <a:picLocks noChangeAspect="1" noChangeArrowheads="1"/>
          </p:cNvPicPr>
          <p:nvPr/>
        </p:nvPicPr>
        <p:blipFill>
          <a:blip r:embed="rId6" cstate="print"/>
          <a:srcRect/>
          <a:stretch>
            <a:fillRect/>
          </a:stretch>
        </p:blipFill>
        <p:spPr bwMode="auto">
          <a:xfrm>
            <a:off x="6516217" y="4239091"/>
            <a:ext cx="678377" cy="270518"/>
          </a:xfrm>
          <a:prstGeom prst="rect">
            <a:avLst/>
          </a:prstGeom>
          <a:noFill/>
          <a:ln w="9525">
            <a:noFill/>
            <a:miter lim="800000"/>
            <a:headEnd/>
            <a:tailEnd/>
          </a:ln>
          <a:effectLst/>
        </p:spPr>
      </p:pic>
      <p:sp>
        <p:nvSpPr>
          <p:cNvPr id="216" name="Line 167"/>
          <p:cNvSpPr>
            <a:spLocks noChangeShapeType="1"/>
          </p:cNvSpPr>
          <p:nvPr/>
        </p:nvSpPr>
        <p:spPr bwMode="auto">
          <a:xfrm flipH="1">
            <a:off x="5544108" y="4617132"/>
            <a:ext cx="293870" cy="162018"/>
          </a:xfrm>
          <a:prstGeom prst="line">
            <a:avLst/>
          </a:prstGeom>
          <a:noFill/>
          <a:ln w="28575">
            <a:solidFill>
              <a:schemeClr val="accent1"/>
            </a:solidFill>
            <a:round/>
            <a:headEnd/>
            <a:tailEnd/>
          </a:ln>
        </p:spPr>
        <p:txBody>
          <a:bodyPr wrap="none" anchor="ctr"/>
          <a:lstStyle/>
          <a:p>
            <a:endParaRPr lang="zh-TW" altLang="en-US"/>
          </a:p>
        </p:txBody>
      </p:sp>
      <p:sp>
        <p:nvSpPr>
          <p:cNvPr id="217" name="Line 168"/>
          <p:cNvSpPr>
            <a:spLocks noChangeShapeType="1"/>
          </p:cNvSpPr>
          <p:nvPr/>
        </p:nvSpPr>
        <p:spPr bwMode="auto">
          <a:xfrm>
            <a:off x="5922152" y="4617132"/>
            <a:ext cx="54005" cy="162018"/>
          </a:xfrm>
          <a:prstGeom prst="line">
            <a:avLst/>
          </a:prstGeom>
          <a:noFill/>
          <a:ln w="28575">
            <a:solidFill>
              <a:schemeClr val="accent1"/>
            </a:solidFill>
            <a:round/>
            <a:headEnd/>
            <a:tailEnd/>
          </a:ln>
        </p:spPr>
        <p:txBody>
          <a:bodyPr wrap="none" anchor="ctr"/>
          <a:lstStyle/>
          <a:p>
            <a:endParaRPr lang="zh-TW" altLang="en-US"/>
          </a:p>
        </p:txBody>
      </p:sp>
      <p:sp>
        <p:nvSpPr>
          <p:cNvPr id="218" name="Line 168"/>
          <p:cNvSpPr>
            <a:spLocks noChangeShapeType="1"/>
          </p:cNvSpPr>
          <p:nvPr/>
        </p:nvSpPr>
        <p:spPr bwMode="auto">
          <a:xfrm>
            <a:off x="6138176" y="4563126"/>
            <a:ext cx="324035" cy="162018"/>
          </a:xfrm>
          <a:prstGeom prst="line">
            <a:avLst/>
          </a:prstGeom>
          <a:noFill/>
          <a:ln w="28575">
            <a:solidFill>
              <a:schemeClr val="accent1"/>
            </a:solidFill>
            <a:round/>
            <a:headEnd/>
            <a:tailEnd/>
          </a:ln>
        </p:spPr>
        <p:txBody>
          <a:bodyPr wrap="none" anchor="ctr"/>
          <a:lstStyle/>
          <a:p>
            <a:endParaRPr lang="zh-TW" altLang="en-US"/>
          </a:p>
        </p:txBody>
      </p:sp>
      <p:pic>
        <p:nvPicPr>
          <p:cNvPr id="219" name="Picture 3"/>
          <p:cNvPicPr>
            <a:picLocks noChangeAspect="1" noChangeArrowheads="1"/>
          </p:cNvPicPr>
          <p:nvPr/>
        </p:nvPicPr>
        <p:blipFill>
          <a:blip r:embed="rId8" cstate="print"/>
          <a:srcRect/>
          <a:stretch>
            <a:fillRect/>
          </a:stretch>
        </p:blipFill>
        <p:spPr bwMode="auto">
          <a:xfrm>
            <a:off x="6462210" y="4779150"/>
            <a:ext cx="432048" cy="463817"/>
          </a:xfrm>
          <a:prstGeom prst="rect">
            <a:avLst/>
          </a:prstGeom>
          <a:noFill/>
          <a:ln w="9525">
            <a:noFill/>
            <a:miter lim="800000"/>
            <a:headEnd/>
            <a:tailEnd/>
          </a:ln>
          <a:effectLst/>
        </p:spPr>
      </p:pic>
      <p:pic>
        <p:nvPicPr>
          <p:cNvPr id="220" name="Picture 4"/>
          <p:cNvPicPr>
            <a:picLocks noChangeAspect="1" noChangeArrowheads="1"/>
          </p:cNvPicPr>
          <p:nvPr/>
        </p:nvPicPr>
        <p:blipFill>
          <a:blip r:embed="rId9" cstate="print"/>
          <a:srcRect/>
          <a:stretch>
            <a:fillRect/>
          </a:stretch>
        </p:blipFill>
        <p:spPr bwMode="auto">
          <a:xfrm>
            <a:off x="5760133" y="4779151"/>
            <a:ext cx="498761" cy="451109"/>
          </a:xfrm>
          <a:prstGeom prst="rect">
            <a:avLst/>
          </a:prstGeom>
          <a:noFill/>
          <a:ln w="9525">
            <a:noFill/>
            <a:miter lim="800000"/>
            <a:headEnd/>
            <a:tailEnd/>
          </a:ln>
          <a:effectLst/>
        </p:spPr>
      </p:pic>
      <p:pic>
        <p:nvPicPr>
          <p:cNvPr id="221" name="Picture 5"/>
          <p:cNvPicPr>
            <a:picLocks noChangeAspect="1" noChangeArrowheads="1"/>
          </p:cNvPicPr>
          <p:nvPr/>
        </p:nvPicPr>
        <p:blipFill>
          <a:blip r:embed="rId10" cstate="print"/>
          <a:srcRect/>
          <a:stretch>
            <a:fillRect/>
          </a:stretch>
        </p:blipFill>
        <p:spPr bwMode="auto">
          <a:xfrm>
            <a:off x="5004049" y="4779151"/>
            <a:ext cx="638542" cy="476524"/>
          </a:xfrm>
          <a:prstGeom prst="rect">
            <a:avLst/>
          </a:prstGeom>
          <a:noFill/>
          <a:ln w="9525">
            <a:noFill/>
            <a:miter lim="800000"/>
            <a:headEnd/>
            <a:tailEnd/>
          </a:ln>
          <a:effectLst/>
        </p:spPr>
      </p:pic>
      <p:graphicFrame>
        <p:nvGraphicFramePr>
          <p:cNvPr id="4" name="物件 3"/>
          <p:cNvGraphicFramePr>
            <a:graphicFrameLocks noChangeAspect="1"/>
          </p:cNvGraphicFramePr>
          <p:nvPr>
            <p:extLst/>
          </p:nvPr>
        </p:nvGraphicFramePr>
        <p:xfrm>
          <a:off x="7658100" y="1131094"/>
          <a:ext cx="685800" cy="600075"/>
        </p:xfrm>
        <a:graphic>
          <a:graphicData uri="http://schemas.openxmlformats.org/presentationml/2006/ole">
            <mc:AlternateContent xmlns:mc="http://schemas.openxmlformats.org/markup-compatibility/2006">
              <mc:Choice xmlns:v="urn:schemas-microsoft-com:vml" Requires="v">
                <p:oleObj spid="_x0000_s4103" name="文件" showAsIcon="1" r:id="rId12" imgW="914400" imgH="800280" progId="Word.Document.12">
                  <p:embed/>
                </p:oleObj>
              </mc:Choice>
              <mc:Fallback>
                <p:oleObj name="文件" showAsIcon="1" r:id="rId12" imgW="914400" imgH="800280" progId="Word.Document.12">
                  <p:embed/>
                  <p:pic>
                    <p:nvPicPr>
                      <p:cNvPr id="0" name=""/>
                      <p:cNvPicPr/>
                      <p:nvPr/>
                    </p:nvPicPr>
                    <p:blipFill>
                      <a:blip r:embed="rId13"/>
                      <a:stretch>
                        <a:fillRect/>
                      </a:stretch>
                    </p:blipFill>
                    <p:spPr>
                      <a:xfrm>
                        <a:off x="7658100" y="1131094"/>
                        <a:ext cx="685800" cy="600075"/>
                      </a:xfrm>
                      <a:prstGeom prst="rect">
                        <a:avLst/>
                      </a:prstGeom>
                    </p:spPr>
                  </p:pic>
                </p:oleObj>
              </mc:Fallback>
            </mc:AlternateContent>
          </a:graphicData>
        </a:graphic>
      </p:graphicFrame>
    </p:spTree>
    <p:extLst>
      <p:ext uri="{BB962C8B-B14F-4D97-AF65-F5344CB8AC3E}">
        <p14:creationId xmlns:p14="http://schemas.microsoft.com/office/powerpoint/2010/main" val="37884400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4544" y="332656"/>
            <a:ext cx="6172200" cy="544400"/>
          </a:xfrm>
        </p:spPr>
        <p:txBody>
          <a:bodyPr/>
          <a:lstStyle/>
          <a:p>
            <a:r>
              <a:rPr lang="zh-TW" altLang="en-US" dirty="0" smtClean="0"/>
              <a:t>導入效益</a:t>
            </a:r>
            <a:endParaRPr lang="zh-TW" altLang="en-US" dirty="0"/>
          </a:p>
        </p:txBody>
      </p:sp>
      <p:pic>
        <p:nvPicPr>
          <p:cNvPr id="5" name="圖片 4" descr="http://www.uso.com.tw/images/product/info_security/pic_csqr01.jpg"/>
          <p:cNvPicPr/>
          <p:nvPr/>
        </p:nvPicPr>
        <p:blipFill>
          <a:blip r:embed="rId3">
            <a:extLst>
              <a:ext uri="{28A0092B-C50C-407E-A947-70E740481C1C}">
                <a14:useLocalDpi xmlns:a14="http://schemas.microsoft.com/office/drawing/2010/main" val="0"/>
              </a:ext>
            </a:extLst>
          </a:blip>
          <a:srcRect/>
          <a:stretch>
            <a:fillRect/>
          </a:stretch>
        </p:blipFill>
        <p:spPr bwMode="auto">
          <a:xfrm>
            <a:off x="21316" y="1268760"/>
            <a:ext cx="3758596" cy="4048125"/>
          </a:xfrm>
          <a:prstGeom prst="rect">
            <a:avLst/>
          </a:prstGeom>
          <a:noFill/>
          <a:ln>
            <a:noFill/>
          </a:ln>
        </p:spPr>
      </p:pic>
      <p:graphicFrame>
        <p:nvGraphicFramePr>
          <p:cNvPr id="6" name="表格 5"/>
          <p:cNvGraphicFramePr>
            <a:graphicFrameLocks noGrp="1"/>
          </p:cNvGraphicFramePr>
          <p:nvPr>
            <p:extLst>
              <p:ext uri="{D42A27DB-BD31-4B8C-83A1-F6EECF244321}">
                <p14:modId xmlns:p14="http://schemas.microsoft.com/office/powerpoint/2010/main" val="1518019067"/>
              </p:ext>
            </p:extLst>
          </p:nvPr>
        </p:nvGraphicFramePr>
        <p:xfrm>
          <a:off x="3977020" y="411480"/>
          <a:ext cx="5166980" cy="6446520"/>
        </p:xfrm>
        <a:graphic>
          <a:graphicData uri="http://schemas.openxmlformats.org/drawingml/2006/table">
            <a:tbl>
              <a:tblPr firstRow="1" firstCol="1" bandRow="1">
                <a:tableStyleId>{5C22544A-7EE6-4342-B048-85BDC9FD1C3A}</a:tableStyleId>
              </a:tblPr>
              <a:tblGrid>
                <a:gridCol w="830266"/>
                <a:gridCol w="4336714"/>
              </a:tblGrid>
              <a:tr h="136928">
                <a:tc>
                  <a:txBody>
                    <a:bodyPr/>
                    <a:lstStyle/>
                    <a:p>
                      <a:pPr algn="ctr">
                        <a:spcAft>
                          <a:spcPts val="0"/>
                        </a:spcAft>
                      </a:pPr>
                      <a:r>
                        <a:rPr lang="zh-TW" sz="900" kern="0" dirty="0">
                          <a:effectLst/>
                        </a:rPr>
                        <a:t>標準功能</a:t>
                      </a:r>
                      <a:endParaRPr lang="zh-TW" sz="11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lgn="ctr">
                        <a:spcAft>
                          <a:spcPts val="0"/>
                        </a:spcAft>
                      </a:pPr>
                      <a:r>
                        <a:rPr lang="zh-TW" sz="900" kern="0">
                          <a:effectLst/>
                        </a:rPr>
                        <a:t>說明</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r h="136928">
                <a:tc>
                  <a:txBody>
                    <a:bodyPr/>
                    <a:lstStyle/>
                    <a:p>
                      <a:pPr algn="r">
                        <a:spcAft>
                          <a:spcPts val="0"/>
                        </a:spcAft>
                      </a:pPr>
                      <a:r>
                        <a:rPr lang="zh-TW" sz="900" kern="0">
                          <a:effectLst/>
                        </a:rPr>
                        <a:t>網路流量分析</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spcAft>
                          <a:spcPts val="0"/>
                        </a:spcAft>
                      </a:pPr>
                      <a:r>
                        <a:rPr lang="zh-TW" sz="900" kern="0">
                          <a:effectLst/>
                        </a:rPr>
                        <a:t>可依據</a:t>
                      </a:r>
                      <a:r>
                        <a:rPr lang="en-US" sz="900" kern="0">
                          <a:effectLst/>
                        </a:rPr>
                        <a:t>IP</a:t>
                      </a:r>
                      <a:r>
                        <a:rPr lang="zh-TW" sz="900" kern="0">
                          <a:effectLst/>
                        </a:rPr>
                        <a:t>、</a:t>
                      </a:r>
                      <a:r>
                        <a:rPr lang="en-US" sz="900" kern="0">
                          <a:effectLst/>
                        </a:rPr>
                        <a:t>Port</a:t>
                      </a:r>
                      <a:r>
                        <a:rPr lang="zh-TW" sz="900" kern="0">
                          <a:effectLst/>
                        </a:rPr>
                        <a:t>、流量、傳輸方向進行交互查詢與比對，以排出內部所有網路層流量與頻寬使用狀況。</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r h="273856">
                <a:tc>
                  <a:txBody>
                    <a:bodyPr/>
                    <a:lstStyle/>
                    <a:p>
                      <a:pPr algn="r">
                        <a:spcAft>
                          <a:spcPts val="0"/>
                        </a:spcAft>
                      </a:pPr>
                      <a:r>
                        <a:rPr lang="zh-TW" sz="900" kern="0">
                          <a:effectLst/>
                        </a:rPr>
                        <a:t>應用程式流量分析</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spcAft>
                          <a:spcPts val="0"/>
                        </a:spcAft>
                      </a:pPr>
                      <a:r>
                        <a:rPr lang="zh-TW" sz="900" kern="0">
                          <a:effectLst/>
                        </a:rPr>
                        <a:t>特定網路應用</a:t>
                      </a:r>
                      <a:r>
                        <a:rPr lang="en-US" sz="900" kern="0">
                          <a:effectLst/>
                        </a:rPr>
                        <a:t>(</a:t>
                      </a:r>
                      <a:r>
                        <a:rPr lang="zh-TW" sz="900" kern="0">
                          <a:effectLst/>
                        </a:rPr>
                        <a:t>例如</a:t>
                      </a:r>
                      <a:r>
                        <a:rPr lang="en-US" sz="900" kern="0">
                          <a:effectLst/>
                        </a:rPr>
                        <a:t>P2P</a:t>
                      </a:r>
                      <a:r>
                        <a:rPr lang="zh-TW" sz="900" kern="0">
                          <a:effectLst/>
                        </a:rPr>
                        <a:t>、</a:t>
                      </a:r>
                      <a:r>
                        <a:rPr lang="en-US" sz="900" kern="0">
                          <a:effectLst/>
                        </a:rPr>
                        <a:t>IM..</a:t>
                      </a:r>
                      <a:r>
                        <a:rPr lang="zh-TW" sz="900" kern="0">
                          <a:effectLst/>
                        </a:rPr>
                        <a:t>等</a:t>
                      </a:r>
                      <a:r>
                        <a:rPr lang="en-US" sz="900" kern="0">
                          <a:effectLst/>
                        </a:rPr>
                        <a:t>)</a:t>
                      </a:r>
                      <a:r>
                        <a:rPr lang="zh-TW" sz="900" kern="0">
                          <a:effectLst/>
                        </a:rPr>
                        <a:t>會使用變動式的穿透連線技術，</a:t>
                      </a:r>
                      <a:r>
                        <a:rPr lang="en-US" sz="900" kern="0">
                          <a:effectLst/>
                        </a:rPr>
                        <a:t>Content SQR</a:t>
                      </a:r>
                      <a:r>
                        <a:rPr lang="zh-TW" sz="900" kern="0">
                          <a:effectLst/>
                        </a:rPr>
                        <a:t>運用封包特徵比對之技術，能對這些應用服務進行流量及佔用頻寬的分析。</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r h="273856">
                <a:tc>
                  <a:txBody>
                    <a:bodyPr/>
                    <a:lstStyle/>
                    <a:p>
                      <a:pPr algn="r">
                        <a:spcAft>
                          <a:spcPts val="0"/>
                        </a:spcAft>
                      </a:pPr>
                      <a:r>
                        <a:rPr lang="zh-TW" sz="900" kern="0">
                          <a:effectLst/>
                        </a:rPr>
                        <a:t>流量警示</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spcAft>
                          <a:spcPts val="0"/>
                        </a:spcAft>
                      </a:pPr>
                      <a:r>
                        <a:rPr lang="zh-TW" sz="900" kern="0">
                          <a:effectLst/>
                        </a:rPr>
                        <a:t>可對組織內部主機的網路使用狀況，依</a:t>
                      </a:r>
                      <a:r>
                        <a:rPr lang="en-US" sz="900" kern="0">
                          <a:effectLst/>
                        </a:rPr>
                        <a:t>IP</a:t>
                      </a:r>
                      <a:r>
                        <a:rPr lang="zh-TW" sz="900" kern="0">
                          <a:effectLst/>
                        </a:rPr>
                        <a:t>、</a:t>
                      </a:r>
                      <a:r>
                        <a:rPr lang="en-US" sz="900" kern="0">
                          <a:effectLst/>
                        </a:rPr>
                        <a:t>Port</a:t>
                      </a:r>
                      <a:r>
                        <a:rPr lang="zh-TW" sz="900" kern="0">
                          <a:effectLst/>
                        </a:rPr>
                        <a:t>、流量、傳輸方向來設定警示條件，若出現流量異常會即時通知管理者。</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r h="410785">
                <a:tc>
                  <a:txBody>
                    <a:bodyPr/>
                    <a:lstStyle/>
                    <a:p>
                      <a:pPr algn="r">
                        <a:spcAft>
                          <a:spcPts val="0"/>
                        </a:spcAft>
                      </a:pPr>
                      <a:r>
                        <a:rPr lang="zh-TW" sz="900" kern="0">
                          <a:effectLst/>
                        </a:rPr>
                        <a:t>即時通訊軟體</a:t>
                      </a:r>
                      <a:r>
                        <a:rPr lang="en-US" sz="900" kern="0">
                          <a:effectLst/>
                        </a:rPr>
                        <a:t/>
                      </a:r>
                      <a:br>
                        <a:rPr lang="en-US" sz="900" kern="0">
                          <a:effectLst/>
                        </a:rPr>
                      </a:br>
                      <a:r>
                        <a:rPr lang="zh-TW" sz="900" kern="0">
                          <a:effectLst/>
                        </a:rPr>
                        <a:t>交談訊息記錄</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spcAft>
                          <a:spcPts val="0"/>
                        </a:spcAft>
                      </a:pPr>
                      <a:r>
                        <a:rPr lang="zh-TW" sz="900" kern="0">
                          <a:effectLst/>
                        </a:rPr>
                        <a:t>支援目前最常用的多種即時通訊軟體之使用狀態與內文記錄，包括</a:t>
                      </a:r>
                      <a:r>
                        <a:rPr lang="en-US" sz="900" kern="0">
                          <a:effectLst/>
                        </a:rPr>
                        <a:t>MSN</a:t>
                      </a:r>
                      <a:r>
                        <a:rPr lang="zh-TW" sz="900" kern="0">
                          <a:effectLst/>
                        </a:rPr>
                        <a:t>、</a:t>
                      </a:r>
                      <a:r>
                        <a:rPr lang="en-US" sz="900" kern="0">
                          <a:effectLst/>
                        </a:rPr>
                        <a:t>Yahoo!</a:t>
                      </a:r>
                      <a:r>
                        <a:rPr lang="zh-TW" sz="900" kern="0">
                          <a:effectLst/>
                        </a:rPr>
                        <a:t>奇摩即時通、</a:t>
                      </a:r>
                      <a:r>
                        <a:rPr lang="en-US" sz="900" kern="0">
                          <a:effectLst/>
                        </a:rPr>
                        <a:t>AIM/ICQ</a:t>
                      </a:r>
                      <a:r>
                        <a:rPr lang="zh-TW" sz="900" kern="0">
                          <a:effectLst/>
                        </a:rPr>
                        <a:t>、</a:t>
                      </a:r>
                      <a:r>
                        <a:rPr lang="en-US" sz="900" kern="0">
                          <a:effectLst/>
                        </a:rPr>
                        <a:t>QQ</a:t>
                      </a:r>
                      <a:r>
                        <a:rPr lang="zh-TW" sz="900" kern="0">
                          <a:effectLst/>
                        </a:rPr>
                        <a:t>、</a:t>
                      </a:r>
                      <a:r>
                        <a:rPr lang="en-US" sz="900" kern="0">
                          <a:effectLst/>
                        </a:rPr>
                        <a:t>Google Talk..</a:t>
                      </a:r>
                      <a:r>
                        <a:rPr lang="zh-TW" sz="900" kern="0">
                          <a:effectLst/>
                        </a:rPr>
                        <a:t>等，並有方便的查詢功能，可快速的依據</a:t>
                      </a:r>
                      <a:r>
                        <a:rPr lang="en-US" sz="900" kern="0">
                          <a:effectLst/>
                        </a:rPr>
                        <a:t>IP</a:t>
                      </a:r>
                      <a:r>
                        <a:rPr lang="zh-TW" sz="900" kern="0">
                          <a:effectLst/>
                        </a:rPr>
                        <a:t>、使用者帳號、訊息內文關鍵字，檢索出須被查核的內容。</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r h="410785">
                <a:tc>
                  <a:txBody>
                    <a:bodyPr/>
                    <a:lstStyle/>
                    <a:p>
                      <a:pPr algn="r">
                        <a:spcAft>
                          <a:spcPts val="0"/>
                        </a:spcAft>
                      </a:pPr>
                      <a:r>
                        <a:rPr lang="zh-TW" sz="900" kern="0">
                          <a:effectLst/>
                        </a:rPr>
                        <a:t>即時通訊軟體使用管理與傳檔管制</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spcAft>
                          <a:spcPts val="0"/>
                        </a:spcAft>
                      </a:pPr>
                      <a:r>
                        <a:rPr lang="zh-TW" sz="900" kern="0">
                          <a:effectLst/>
                        </a:rPr>
                        <a:t>可依組織政策來設定即時通訊軟體使用方式</a:t>
                      </a:r>
                      <a:r>
                        <a:rPr lang="en-US" sz="900" kern="0">
                          <a:effectLst/>
                        </a:rPr>
                        <a:t>(</a:t>
                      </a:r>
                      <a:r>
                        <a:rPr lang="zh-TW" sz="900" kern="0">
                          <a:effectLst/>
                        </a:rPr>
                        <a:t>如依群組或帳號決定是否開放或阻絕特定即時通訊軟體</a:t>
                      </a:r>
                      <a:r>
                        <a:rPr lang="en-US" sz="900" kern="0">
                          <a:effectLst/>
                        </a:rPr>
                        <a:t>)</a:t>
                      </a:r>
                      <a:r>
                        <a:rPr lang="zh-TW" sz="900" kern="0">
                          <a:effectLst/>
                        </a:rPr>
                        <a:t>，並進行內容訊息關鍵字過濾。並可依不同群組的管理需求，進行透過即時通訊服務來傳收外部檔案的限制或透過檔名關鍵字來設定過濾條件。</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r h="273856">
                <a:tc>
                  <a:txBody>
                    <a:bodyPr/>
                    <a:lstStyle/>
                    <a:p>
                      <a:pPr algn="r">
                        <a:spcAft>
                          <a:spcPts val="0"/>
                        </a:spcAft>
                      </a:pPr>
                      <a:r>
                        <a:rPr lang="zh-TW" sz="900" kern="0">
                          <a:effectLst/>
                        </a:rPr>
                        <a:t>報告中心各式報表統計</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spcAft>
                          <a:spcPts val="0"/>
                        </a:spcAft>
                      </a:pPr>
                      <a:r>
                        <a:rPr lang="zh-TW" sz="900" kern="0">
                          <a:effectLst/>
                        </a:rPr>
                        <a:t>提供連線統計、阻擋統計、群組</a:t>
                      </a:r>
                      <a:r>
                        <a:rPr lang="en-US" sz="900" kern="0">
                          <a:effectLst/>
                        </a:rPr>
                        <a:t>/</a:t>
                      </a:r>
                      <a:r>
                        <a:rPr lang="zh-TW" sz="900" kern="0">
                          <a:effectLst/>
                        </a:rPr>
                        <a:t>人員排名統計等各式報表，呈現網路使用狀況；並提供自訂報表的功能，可依所需條件建立相對應的報表，大大增加報表的閱讀性及實用性。</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r h="136928">
                <a:tc>
                  <a:txBody>
                    <a:bodyPr/>
                    <a:lstStyle/>
                    <a:p>
                      <a:pPr algn="r">
                        <a:spcAft>
                          <a:spcPts val="0"/>
                        </a:spcAft>
                      </a:pPr>
                      <a:r>
                        <a:rPr lang="zh-TW" sz="900" kern="0">
                          <a:effectLst/>
                        </a:rPr>
                        <a:t>即時通訊管理警示</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spcAft>
                          <a:spcPts val="0"/>
                        </a:spcAft>
                      </a:pPr>
                      <a:r>
                        <a:rPr lang="zh-TW" sz="900" kern="0">
                          <a:effectLst/>
                        </a:rPr>
                        <a:t>若使用者登入限制的即時通訊軟體或違反管理政策時，會立即警示使用者。</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r h="136928">
                <a:tc>
                  <a:txBody>
                    <a:bodyPr/>
                    <a:lstStyle/>
                    <a:p>
                      <a:pPr algn="r">
                        <a:spcAft>
                          <a:spcPts val="0"/>
                        </a:spcAft>
                      </a:pPr>
                      <a:r>
                        <a:rPr lang="zh-TW" sz="900" kern="0">
                          <a:effectLst/>
                        </a:rPr>
                        <a:t>完整郵件備份</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spcAft>
                          <a:spcPts val="0"/>
                        </a:spcAft>
                      </a:pPr>
                      <a:r>
                        <a:rPr lang="zh-TW" sz="900" kern="0">
                          <a:effectLst/>
                        </a:rPr>
                        <a:t>提供</a:t>
                      </a:r>
                      <a:r>
                        <a:rPr lang="en-US" sz="900" kern="0">
                          <a:effectLst/>
                        </a:rPr>
                        <a:t>SMTP</a:t>
                      </a:r>
                      <a:r>
                        <a:rPr lang="zh-TW" sz="900" kern="0">
                          <a:effectLst/>
                        </a:rPr>
                        <a:t>、</a:t>
                      </a:r>
                      <a:r>
                        <a:rPr lang="en-US" sz="900" kern="0">
                          <a:effectLst/>
                        </a:rPr>
                        <a:t>POP3</a:t>
                      </a:r>
                      <a:r>
                        <a:rPr lang="zh-TW" sz="900" kern="0">
                          <a:effectLst/>
                        </a:rPr>
                        <a:t>、</a:t>
                      </a:r>
                      <a:r>
                        <a:rPr lang="en-US" sz="900" kern="0">
                          <a:effectLst/>
                        </a:rPr>
                        <a:t>IMAP</a:t>
                      </a:r>
                      <a:r>
                        <a:rPr lang="zh-TW" sz="900" kern="0">
                          <a:effectLst/>
                        </a:rPr>
                        <a:t>及</a:t>
                      </a:r>
                      <a:r>
                        <a:rPr lang="en-US" sz="900" kern="0">
                          <a:effectLst/>
                        </a:rPr>
                        <a:t>WebMail</a:t>
                      </a:r>
                      <a:r>
                        <a:rPr lang="zh-TW" sz="900" kern="0">
                          <a:effectLst/>
                        </a:rPr>
                        <a:t>的郵件傳輸備份，為組織提供完整的郵件備份與稽核機制。</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r h="410785">
                <a:tc>
                  <a:txBody>
                    <a:bodyPr/>
                    <a:lstStyle/>
                    <a:p>
                      <a:pPr algn="r">
                        <a:spcAft>
                          <a:spcPts val="0"/>
                        </a:spcAft>
                      </a:pPr>
                      <a:r>
                        <a:rPr lang="en-US" sz="900" kern="0" dirty="0" err="1">
                          <a:effectLst/>
                        </a:rPr>
                        <a:t>WebMail</a:t>
                      </a:r>
                      <a:r>
                        <a:rPr lang="zh-TW" sz="900" kern="0" dirty="0">
                          <a:effectLst/>
                        </a:rPr>
                        <a:t>通訊記錄</a:t>
                      </a:r>
                      <a:r>
                        <a:rPr lang="en-US" sz="900" kern="0" dirty="0">
                          <a:effectLst/>
                        </a:rPr>
                        <a:t/>
                      </a:r>
                      <a:br>
                        <a:rPr lang="en-US" sz="900" kern="0" dirty="0">
                          <a:effectLst/>
                        </a:rPr>
                      </a:br>
                      <a:r>
                        <a:rPr lang="zh-TW" sz="900" kern="0" dirty="0">
                          <a:effectLst/>
                        </a:rPr>
                        <a:t>與附件管控</a:t>
                      </a:r>
                      <a:endParaRPr lang="zh-TW" sz="11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spcAft>
                          <a:spcPts val="0"/>
                        </a:spcAft>
                      </a:pPr>
                      <a:r>
                        <a:rPr lang="zh-TW" sz="900" kern="0">
                          <a:effectLst/>
                        </a:rPr>
                        <a:t>管理涵蓋面最廣，包含大中華區常用的</a:t>
                      </a:r>
                      <a:r>
                        <a:rPr lang="en-US" sz="900" kern="0">
                          <a:effectLst/>
                        </a:rPr>
                        <a:t>WebMail(</a:t>
                      </a:r>
                      <a:r>
                        <a:rPr lang="zh-TW" sz="900" kern="0">
                          <a:effectLst/>
                        </a:rPr>
                        <a:t>如</a:t>
                      </a:r>
                      <a:r>
                        <a:rPr lang="en-US" sz="900" kern="0">
                          <a:effectLst/>
                        </a:rPr>
                        <a:t> HotMail</a:t>
                      </a:r>
                      <a:r>
                        <a:rPr lang="zh-TW" sz="900" kern="0">
                          <a:effectLst/>
                        </a:rPr>
                        <a:t>、</a:t>
                      </a:r>
                      <a:r>
                        <a:rPr lang="en-US" sz="900" kern="0">
                          <a:effectLst/>
                        </a:rPr>
                        <a:t>Yahoo</a:t>
                      </a:r>
                      <a:r>
                        <a:rPr lang="zh-TW" sz="900" kern="0">
                          <a:effectLst/>
                        </a:rPr>
                        <a:t>、中華電信</a:t>
                      </a:r>
                      <a:r>
                        <a:rPr lang="en-US" sz="900" kern="0">
                          <a:effectLst/>
                        </a:rPr>
                        <a:t>Hinet</a:t>
                      </a:r>
                      <a:r>
                        <a:rPr lang="zh-TW" sz="900" kern="0">
                          <a:effectLst/>
                        </a:rPr>
                        <a:t>、</a:t>
                      </a:r>
                      <a:r>
                        <a:rPr lang="en-US" sz="900" kern="0">
                          <a:effectLst/>
                        </a:rPr>
                        <a:t>263</a:t>
                      </a:r>
                      <a:r>
                        <a:rPr lang="zh-TW" sz="900" kern="0">
                          <a:effectLst/>
                        </a:rPr>
                        <a:t>、網易</a:t>
                      </a:r>
                      <a:r>
                        <a:rPr lang="en-US" sz="900" kern="0">
                          <a:effectLst/>
                        </a:rPr>
                        <a:t>163…</a:t>
                      </a:r>
                      <a:r>
                        <a:rPr lang="zh-TW" sz="900" kern="0">
                          <a:effectLst/>
                        </a:rPr>
                        <a:t>等數十種</a:t>
                      </a:r>
                      <a:r>
                        <a:rPr lang="en-US" sz="900" kern="0">
                          <a:effectLst/>
                        </a:rPr>
                        <a:t>)</a:t>
                      </a:r>
                      <a:r>
                        <a:rPr lang="zh-TW" sz="900" kern="0">
                          <a:effectLst/>
                        </a:rPr>
                        <a:t>，可完整記錄所收發的郵件內文與附件，協助組織落實全面性的電子郵件管理與稽核，並可依據檔名關鍵字來防止內部使用者透過</a:t>
                      </a:r>
                      <a:r>
                        <a:rPr lang="en-US" sz="900" kern="0">
                          <a:effectLst/>
                        </a:rPr>
                        <a:t>WebMail</a:t>
                      </a:r>
                      <a:r>
                        <a:rPr lang="zh-TW" sz="900" kern="0">
                          <a:effectLst/>
                        </a:rPr>
                        <a:t>傳送特定檔案至公司外部</a:t>
                      </a:r>
                      <a:r>
                        <a:rPr lang="en-US" sz="900" kern="0">
                          <a:effectLst/>
                        </a:rPr>
                        <a:t>(</a:t>
                      </a:r>
                      <a:r>
                        <a:rPr lang="zh-TW" sz="900" kern="0">
                          <a:effectLst/>
                        </a:rPr>
                        <a:t>不支援</a:t>
                      </a:r>
                      <a:r>
                        <a:rPr lang="en-US" sz="900" kern="0">
                          <a:effectLst/>
                        </a:rPr>
                        <a:t>HTTPS</a:t>
                      </a:r>
                      <a:r>
                        <a:rPr lang="zh-TW" sz="900" kern="0">
                          <a:effectLst/>
                        </a:rPr>
                        <a:t>協定</a:t>
                      </a:r>
                      <a:r>
                        <a:rPr lang="en-US" sz="900" kern="0">
                          <a:effectLst/>
                        </a:rPr>
                        <a:t>)</a:t>
                      </a:r>
                      <a:r>
                        <a:rPr lang="zh-TW" sz="900" kern="0">
                          <a:effectLst/>
                        </a:rPr>
                        <a:t>。</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r h="136928">
                <a:tc>
                  <a:txBody>
                    <a:bodyPr/>
                    <a:lstStyle/>
                    <a:p>
                      <a:pPr algn="r">
                        <a:spcAft>
                          <a:spcPts val="0"/>
                        </a:spcAft>
                      </a:pPr>
                      <a:r>
                        <a:rPr lang="zh-TW" sz="900" kern="0">
                          <a:effectLst/>
                        </a:rPr>
                        <a:t>網頁瀏覽記錄</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spcAft>
                          <a:spcPts val="0"/>
                        </a:spcAft>
                      </a:pPr>
                      <a:r>
                        <a:rPr lang="zh-TW" sz="900" kern="0">
                          <a:effectLst/>
                        </a:rPr>
                        <a:t>可詳細記錄內部使用者的網頁瀏覽行為，包括時間、伺服器</a:t>
                      </a:r>
                      <a:r>
                        <a:rPr lang="en-US" sz="900" kern="0">
                          <a:effectLst/>
                        </a:rPr>
                        <a:t>IP</a:t>
                      </a:r>
                      <a:r>
                        <a:rPr lang="zh-TW" sz="900" kern="0">
                          <a:effectLst/>
                        </a:rPr>
                        <a:t>、瀏覽網址。</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r h="273856">
                <a:tc>
                  <a:txBody>
                    <a:bodyPr/>
                    <a:lstStyle/>
                    <a:p>
                      <a:pPr algn="r">
                        <a:spcAft>
                          <a:spcPts val="0"/>
                        </a:spcAft>
                      </a:pPr>
                      <a:r>
                        <a:rPr lang="zh-TW" sz="900" kern="0">
                          <a:effectLst/>
                        </a:rPr>
                        <a:t>網址關鍵字過濾</a:t>
                      </a:r>
                      <a:r>
                        <a:rPr lang="en-US" sz="900" kern="0">
                          <a:effectLst/>
                        </a:rPr>
                        <a:t/>
                      </a:r>
                      <a:br>
                        <a:rPr lang="en-US" sz="900" kern="0">
                          <a:effectLst/>
                        </a:rPr>
                      </a:br>
                      <a:r>
                        <a:rPr lang="zh-TW" sz="900" kern="0">
                          <a:effectLst/>
                        </a:rPr>
                        <a:t>與分類資料庫</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spcAft>
                          <a:spcPts val="0"/>
                        </a:spcAft>
                      </a:pPr>
                      <a:r>
                        <a:rPr lang="zh-TW" sz="900" kern="0">
                          <a:effectLst/>
                        </a:rPr>
                        <a:t>可依據網址關鍵字設定開放或禁止使用者瀏覽的網頁頁面。並提供分類網址資料庫，同時允許管理者增加自定之網址或類別，方便進行政策管理與報表統計。</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r h="136928">
                <a:tc>
                  <a:txBody>
                    <a:bodyPr/>
                    <a:lstStyle/>
                    <a:p>
                      <a:pPr algn="r">
                        <a:spcAft>
                          <a:spcPts val="0"/>
                        </a:spcAft>
                      </a:pPr>
                      <a:r>
                        <a:rPr lang="en-US" sz="900" kern="0">
                          <a:effectLst/>
                        </a:rPr>
                        <a:t>P2P </a:t>
                      </a:r>
                      <a:r>
                        <a:rPr lang="zh-TW" sz="900" kern="0">
                          <a:effectLst/>
                        </a:rPr>
                        <a:t>使用管控</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spcAft>
                          <a:spcPts val="0"/>
                        </a:spcAft>
                      </a:pPr>
                      <a:r>
                        <a:rPr lang="zh-TW" sz="900" kern="0" dirty="0">
                          <a:effectLst/>
                        </a:rPr>
                        <a:t>可辨識並管制</a:t>
                      </a:r>
                      <a:r>
                        <a:rPr lang="en-US" sz="900" kern="0" dirty="0">
                          <a:effectLst/>
                        </a:rPr>
                        <a:t>BT</a:t>
                      </a:r>
                      <a:r>
                        <a:rPr lang="zh-TW" sz="900" kern="0" dirty="0">
                          <a:effectLst/>
                        </a:rPr>
                        <a:t>、</a:t>
                      </a:r>
                      <a:r>
                        <a:rPr lang="en-US" sz="900" kern="0" dirty="0" err="1">
                          <a:effectLst/>
                        </a:rPr>
                        <a:t>eDonkey</a:t>
                      </a:r>
                      <a:r>
                        <a:rPr lang="zh-TW" sz="900" kern="0" dirty="0">
                          <a:effectLst/>
                        </a:rPr>
                        <a:t>、</a:t>
                      </a:r>
                      <a:r>
                        <a:rPr lang="en-US" sz="900" kern="0" dirty="0">
                          <a:effectLst/>
                        </a:rPr>
                        <a:t>Foxy</a:t>
                      </a:r>
                      <a:r>
                        <a:rPr lang="zh-TW" sz="900" kern="0" dirty="0">
                          <a:effectLst/>
                        </a:rPr>
                        <a:t>、</a:t>
                      </a:r>
                      <a:r>
                        <a:rPr lang="en-US" sz="900" kern="0" dirty="0" err="1">
                          <a:effectLst/>
                        </a:rPr>
                        <a:t>FlashGet</a:t>
                      </a:r>
                      <a:r>
                        <a:rPr lang="zh-TW" sz="900" kern="0" dirty="0">
                          <a:effectLst/>
                        </a:rPr>
                        <a:t>等多種</a:t>
                      </a:r>
                      <a:r>
                        <a:rPr lang="en-US" sz="900" kern="0" dirty="0">
                          <a:effectLst/>
                        </a:rPr>
                        <a:t>P2P</a:t>
                      </a:r>
                      <a:r>
                        <a:rPr lang="zh-TW" sz="900" kern="0" dirty="0">
                          <a:effectLst/>
                        </a:rPr>
                        <a:t>軟體的使用。</a:t>
                      </a:r>
                      <a:endParaRPr lang="zh-TW" sz="11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r h="136928">
                <a:tc>
                  <a:txBody>
                    <a:bodyPr/>
                    <a:lstStyle/>
                    <a:p>
                      <a:pPr algn="r">
                        <a:spcAft>
                          <a:spcPts val="0"/>
                        </a:spcAft>
                      </a:pPr>
                      <a:r>
                        <a:rPr lang="zh-TW" sz="900" kern="0">
                          <a:effectLst/>
                        </a:rPr>
                        <a:t>通道軟體使用管制</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spcAft>
                          <a:spcPts val="0"/>
                        </a:spcAft>
                      </a:pPr>
                      <a:r>
                        <a:rPr lang="zh-TW" sz="900" kern="0" dirty="0">
                          <a:effectLst/>
                        </a:rPr>
                        <a:t>可辨識並管制</a:t>
                      </a:r>
                      <a:r>
                        <a:rPr lang="en-US" sz="900" kern="0" dirty="0" err="1">
                          <a:effectLst/>
                        </a:rPr>
                        <a:t>SoftEther</a:t>
                      </a:r>
                      <a:r>
                        <a:rPr lang="zh-TW" sz="900" kern="0" dirty="0">
                          <a:effectLst/>
                        </a:rPr>
                        <a:t>、</a:t>
                      </a:r>
                      <a:r>
                        <a:rPr lang="en-US" sz="900" kern="0" dirty="0">
                          <a:effectLst/>
                        </a:rPr>
                        <a:t>VNN</a:t>
                      </a:r>
                      <a:r>
                        <a:rPr lang="zh-TW" sz="900" kern="0" dirty="0">
                          <a:effectLst/>
                        </a:rPr>
                        <a:t>、</a:t>
                      </a:r>
                      <a:r>
                        <a:rPr lang="en-US" sz="900" kern="0" dirty="0">
                          <a:effectLst/>
                        </a:rPr>
                        <a:t>HTTP-Tunnel</a:t>
                      </a:r>
                      <a:r>
                        <a:rPr lang="zh-TW" sz="900" kern="0" dirty="0">
                          <a:effectLst/>
                        </a:rPr>
                        <a:t>、</a:t>
                      </a:r>
                      <a:r>
                        <a:rPr lang="en-US" sz="900" kern="0" dirty="0" err="1">
                          <a:effectLst/>
                        </a:rPr>
                        <a:t>Hopster</a:t>
                      </a:r>
                      <a:r>
                        <a:rPr lang="zh-TW" sz="900" kern="0" dirty="0">
                          <a:effectLst/>
                        </a:rPr>
                        <a:t>、</a:t>
                      </a:r>
                      <a:r>
                        <a:rPr lang="en-US" sz="900" kern="0" dirty="0" err="1">
                          <a:effectLst/>
                        </a:rPr>
                        <a:t>RealTunnel</a:t>
                      </a:r>
                      <a:r>
                        <a:rPr lang="zh-TW" sz="900" kern="0" dirty="0">
                          <a:effectLst/>
                        </a:rPr>
                        <a:t>等通道軟體的使用。</a:t>
                      </a:r>
                      <a:endParaRPr lang="zh-TW" sz="11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r h="136928">
                <a:tc>
                  <a:txBody>
                    <a:bodyPr/>
                    <a:lstStyle/>
                    <a:p>
                      <a:pPr algn="r">
                        <a:spcAft>
                          <a:spcPts val="0"/>
                        </a:spcAft>
                      </a:pPr>
                      <a:r>
                        <a:rPr lang="zh-TW" sz="900" kern="0" dirty="0">
                          <a:effectLst/>
                        </a:rPr>
                        <a:t>傳檔管制</a:t>
                      </a:r>
                      <a:endParaRPr lang="zh-TW" sz="11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spcAft>
                          <a:spcPts val="0"/>
                        </a:spcAft>
                      </a:pPr>
                      <a:r>
                        <a:rPr lang="zh-TW" sz="900" kern="0">
                          <a:effectLst/>
                        </a:rPr>
                        <a:t>可偵測並管制透過</a:t>
                      </a:r>
                      <a:r>
                        <a:rPr lang="en-US" sz="900" kern="0">
                          <a:effectLst/>
                        </a:rPr>
                        <a:t>HTTP</a:t>
                      </a:r>
                      <a:r>
                        <a:rPr lang="zh-TW" sz="900" kern="0">
                          <a:effectLst/>
                        </a:rPr>
                        <a:t>下載檔案與</a:t>
                      </a:r>
                      <a:r>
                        <a:rPr lang="en-US" sz="900" kern="0">
                          <a:effectLst/>
                        </a:rPr>
                        <a:t>FTP</a:t>
                      </a:r>
                      <a:r>
                        <a:rPr lang="zh-TW" sz="900" kern="0">
                          <a:effectLst/>
                        </a:rPr>
                        <a:t>上下傳檔案的行為。</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r h="136928">
                <a:tc>
                  <a:txBody>
                    <a:bodyPr/>
                    <a:lstStyle/>
                    <a:p>
                      <a:pPr algn="r">
                        <a:spcAft>
                          <a:spcPts val="0"/>
                        </a:spcAft>
                      </a:pPr>
                      <a:r>
                        <a:rPr lang="en-US" sz="900" kern="0" dirty="0">
                          <a:effectLst/>
                        </a:rPr>
                        <a:t>Web </a:t>
                      </a:r>
                      <a:r>
                        <a:rPr lang="zh-TW" sz="900" kern="0" dirty="0">
                          <a:effectLst/>
                        </a:rPr>
                        <a:t>影音串流管理</a:t>
                      </a:r>
                      <a:endParaRPr lang="zh-TW" sz="11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spcAft>
                          <a:spcPts val="0"/>
                        </a:spcAft>
                      </a:pPr>
                      <a:r>
                        <a:rPr lang="zh-TW" sz="900" kern="0" dirty="0">
                          <a:effectLst/>
                        </a:rPr>
                        <a:t>可偵測並管制使用</a:t>
                      </a:r>
                      <a:r>
                        <a:rPr lang="en-US" sz="900" kern="0" dirty="0">
                          <a:effectLst/>
                        </a:rPr>
                        <a:t>MMS</a:t>
                      </a:r>
                      <a:r>
                        <a:rPr lang="zh-TW" sz="900" kern="0" dirty="0">
                          <a:effectLst/>
                        </a:rPr>
                        <a:t>、</a:t>
                      </a:r>
                      <a:r>
                        <a:rPr lang="en-US" sz="900" kern="0" dirty="0">
                          <a:effectLst/>
                        </a:rPr>
                        <a:t>MMSH</a:t>
                      </a:r>
                      <a:r>
                        <a:rPr lang="zh-TW" sz="900" kern="0" dirty="0">
                          <a:effectLst/>
                        </a:rPr>
                        <a:t>、</a:t>
                      </a:r>
                      <a:r>
                        <a:rPr lang="en-US" sz="900" kern="0" dirty="0">
                          <a:effectLst/>
                        </a:rPr>
                        <a:t>RTSP</a:t>
                      </a:r>
                      <a:r>
                        <a:rPr lang="zh-TW" sz="900" kern="0" dirty="0">
                          <a:effectLst/>
                        </a:rPr>
                        <a:t>、</a:t>
                      </a:r>
                      <a:r>
                        <a:rPr lang="en-US" sz="900" kern="0" dirty="0">
                          <a:effectLst/>
                        </a:rPr>
                        <a:t>RTMPT</a:t>
                      </a:r>
                      <a:r>
                        <a:rPr lang="zh-TW" sz="900" kern="0" dirty="0">
                          <a:effectLst/>
                        </a:rPr>
                        <a:t>協議的影音串流行為。</a:t>
                      </a:r>
                      <a:endParaRPr lang="zh-TW" sz="11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r h="136928">
                <a:tc>
                  <a:txBody>
                    <a:bodyPr/>
                    <a:lstStyle/>
                    <a:p>
                      <a:pPr algn="r">
                        <a:spcAft>
                          <a:spcPts val="0"/>
                        </a:spcAft>
                      </a:pPr>
                      <a:r>
                        <a:rPr lang="en-US" sz="900" kern="0">
                          <a:effectLst/>
                        </a:rPr>
                        <a:t>HTTP POST </a:t>
                      </a:r>
                      <a:r>
                        <a:rPr lang="zh-TW" sz="900" kern="0">
                          <a:effectLst/>
                        </a:rPr>
                        <a:t>管理</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spcAft>
                          <a:spcPts val="0"/>
                        </a:spcAft>
                      </a:pPr>
                      <a:r>
                        <a:rPr lang="zh-TW" sz="900" kern="0">
                          <a:effectLst/>
                        </a:rPr>
                        <a:t>支援對</a:t>
                      </a:r>
                      <a:r>
                        <a:rPr lang="en-US" sz="900" kern="0">
                          <a:effectLst/>
                        </a:rPr>
                        <a:t>HTTP</a:t>
                      </a:r>
                      <a:r>
                        <a:rPr lang="zh-TW" sz="900" kern="0">
                          <a:effectLst/>
                        </a:rPr>
                        <a:t>協定中，使用</a:t>
                      </a:r>
                      <a:r>
                        <a:rPr lang="en-US" sz="900" kern="0">
                          <a:effectLst/>
                        </a:rPr>
                        <a:t>POST</a:t>
                      </a:r>
                      <a:r>
                        <a:rPr lang="zh-TW" sz="900" kern="0">
                          <a:effectLst/>
                        </a:rPr>
                        <a:t>方法上傳訊息到網站的行為做記錄與管制</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r h="136928">
                <a:tc>
                  <a:txBody>
                    <a:bodyPr/>
                    <a:lstStyle/>
                    <a:p>
                      <a:pPr algn="r">
                        <a:spcAft>
                          <a:spcPts val="0"/>
                        </a:spcAft>
                      </a:pPr>
                      <a:r>
                        <a:rPr lang="en-US" sz="900" kern="0">
                          <a:effectLst/>
                        </a:rPr>
                        <a:t>FTP </a:t>
                      </a:r>
                      <a:r>
                        <a:rPr lang="zh-TW" sz="900" kern="0">
                          <a:effectLst/>
                        </a:rPr>
                        <a:t>訊息記錄</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spcAft>
                          <a:spcPts val="0"/>
                        </a:spcAft>
                      </a:pPr>
                      <a:r>
                        <a:rPr lang="zh-TW" sz="900" kern="0">
                          <a:effectLst/>
                        </a:rPr>
                        <a:t>完整記錄</a:t>
                      </a:r>
                      <a:r>
                        <a:rPr lang="en-US" sz="900" kern="0">
                          <a:effectLst/>
                        </a:rPr>
                        <a:t>FTP</a:t>
                      </a:r>
                      <a:r>
                        <a:rPr lang="zh-TW" sz="900" kern="0">
                          <a:effectLst/>
                        </a:rPr>
                        <a:t>過程中所有指令動作，以及備份所上傳或下載的檔案。</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r h="136928">
                <a:tc>
                  <a:txBody>
                    <a:bodyPr/>
                    <a:lstStyle/>
                    <a:p>
                      <a:pPr algn="r">
                        <a:spcAft>
                          <a:spcPts val="0"/>
                        </a:spcAft>
                      </a:pPr>
                      <a:r>
                        <a:rPr lang="en-US" sz="900" kern="0">
                          <a:effectLst/>
                        </a:rPr>
                        <a:t>Telnet</a:t>
                      </a:r>
                      <a:r>
                        <a:rPr lang="zh-TW" sz="900" kern="0">
                          <a:effectLst/>
                        </a:rPr>
                        <a:t>訊息記錄</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spcAft>
                          <a:spcPts val="0"/>
                        </a:spcAft>
                      </a:pPr>
                      <a:r>
                        <a:rPr lang="zh-TW" sz="900" kern="0">
                          <a:effectLst/>
                        </a:rPr>
                        <a:t>完整記錄</a:t>
                      </a:r>
                      <a:r>
                        <a:rPr lang="en-US" sz="900" kern="0">
                          <a:effectLst/>
                        </a:rPr>
                        <a:t>Telnet</a:t>
                      </a:r>
                      <a:r>
                        <a:rPr lang="zh-TW" sz="900" kern="0">
                          <a:effectLst/>
                        </a:rPr>
                        <a:t>過程的所傳遞的訊息內容。</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r h="136928">
                <a:tc>
                  <a:txBody>
                    <a:bodyPr/>
                    <a:lstStyle/>
                    <a:p>
                      <a:pPr algn="r">
                        <a:spcAft>
                          <a:spcPts val="0"/>
                        </a:spcAft>
                      </a:pPr>
                      <a:r>
                        <a:rPr lang="zh-TW" sz="900" kern="0">
                          <a:effectLst/>
                        </a:rPr>
                        <a:t>遠端桌面記錄</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spcAft>
                          <a:spcPts val="0"/>
                        </a:spcAft>
                      </a:pPr>
                      <a:r>
                        <a:rPr lang="zh-TW" sz="900" kern="0">
                          <a:effectLst/>
                        </a:rPr>
                        <a:t>可辨識並管制</a:t>
                      </a:r>
                      <a:r>
                        <a:rPr lang="en-US" sz="900" kern="0">
                          <a:effectLst/>
                        </a:rPr>
                        <a:t>Windows</a:t>
                      </a:r>
                      <a:r>
                        <a:rPr lang="zh-TW" sz="900" kern="0">
                          <a:effectLst/>
                        </a:rPr>
                        <a:t>遠端桌面、</a:t>
                      </a:r>
                      <a:r>
                        <a:rPr lang="en-US" sz="900" kern="0">
                          <a:effectLst/>
                        </a:rPr>
                        <a:t>VNC</a:t>
                      </a:r>
                      <a:r>
                        <a:rPr lang="zh-TW" sz="900" kern="0">
                          <a:effectLst/>
                        </a:rPr>
                        <a:t>、</a:t>
                      </a:r>
                      <a:r>
                        <a:rPr lang="en-US" sz="900" kern="0">
                          <a:effectLst/>
                        </a:rPr>
                        <a:t>PC Anywhere</a:t>
                      </a:r>
                      <a:r>
                        <a:rPr lang="zh-TW" sz="900" kern="0">
                          <a:effectLst/>
                        </a:rPr>
                        <a:t>、</a:t>
                      </a:r>
                      <a:r>
                        <a:rPr lang="en-US" sz="900" kern="0">
                          <a:effectLst/>
                        </a:rPr>
                        <a:t>TeamViewer</a:t>
                      </a:r>
                      <a:r>
                        <a:rPr lang="zh-TW" sz="900" kern="0">
                          <a:effectLst/>
                        </a:rPr>
                        <a:t>、</a:t>
                      </a:r>
                      <a:r>
                        <a:rPr lang="en-US" sz="900" kern="0">
                          <a:effectLst/>
                        </a:rPr>
                        <a:t>QQ</a:t>
                      </a:r>
                      <a:r>
                        <a:rPr lang="zh-TW" sz="900" kern="0">
                          <a:effectLst/>
                        </a:rPr>
                        <a:t>遠端協助等軟體的使用。</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r h="136928">
                <a:tc>
                  <a:txBody>
                    <a:bodyPr/>
                    <a:lstStyle/>
                    <a:p>
                      <a:pPr algn="r">
                        <a:spcAft>
                          <a:spcPts val="0"/>
                        </a:spcAft>
                      </a:pPr>
                      <a:r>
                        <a:rPr lang="zh-TW" sz="900" kern="0">
                          <a:effectLst/>
                        </a:rPr>
                        <a:t>全文檢索</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spcAft>
                          <a:spcPts val="0"/>
                        </a:spcAft>
                      </a:pPr>
                      <a:r>
                        <a:rPr lang="zh-TW" sz="900" kern="0">
                          <a:effectLst/>
                        </a:rPr>
                        <a:t>支援跨協定內文查詢檢索服務</a:t>
                      </a:r>
                      <a:r>
                        <a:rPr lang="en-US" sz="900" kern="0">
                          <a:effectLst/>
                        </a:rPr>
                        <a:t>(</a:t>
                      </a:r>
                      <a:r>
                        <a:rPr lang="zh-TW" sz="900" kern="0">
                          <a:effectLst/>
                        </a:rPr>
                        <a:t>若未搭配歷史資料調閱模組僅提供七天內的資料查詢</a:t>
                      </a:r>
                      <a:r>
                        <a:rPr lang="en-US" sz="900" kern="0">
                          <a:effectLst/>
                        </a:rPr>
                        <a:t>) </a:t>
                      </a:r>
                      <a:r>
                        <a:rPr lang="zh-TW" sz="900" kern="0">
                          <a:effectLst/>
                        </a:rPr>
                        <a:t>。</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r h="136928">
                <a:tc>
                  <a:txBody>
                    <a:bodyPr/>
                    <a:lstStyle/>
                    <a:p>
                      <a:pPr algn="r">
                        <a:spcAft>
                          <a:spcPts val="0"/>
                        </a:spcAft>
                      </a:pPr>
                      <a:r>
                        <a:rPr lang="zh-TW" sz="900" kern="0">
                          <a:effectLst/>
                        </a:rPr>
                        <a:t>網路使用認證管理</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spcAft>
                          <a:spcPts val="0"/>
                        </a:spcAft>
                      </a:pPr>
                      <a:r>
                        <a:rPr lang="zh-TW" sz="900" kern="0">
                          <a:effectLst/>
                        </a:rPr>
                        <a:t>使用者需先通過指定認證</a:t>
                      </a:r>
                      <a:r>
                        <a:rPr lang="en-US" sz="900" kern="0">
                          <a:effectLst/>
                        </a:rPr>
                        <a:t>(</a:t>
                      </a:r>
                      <a:r>
                        <a:rPr lang="zh-TW" sz="900" kern="0">
                          <a:effectLst/>
                        </a:rPr>
                        <a:t>如</a:t>
                      </a:r>
                      <a:r>
                        <a:rPr lang="en-US" sz="900" kern="0">
                          <a:effectLst/>
                        </a:rPr>
                        <a:t>SMTP</a:t>
                      </a:r>
                      <a:r>
                        <a:rPr lang="zh-TW" sz="900" kern="0">
                          <a:effectLst/>
                        </a:rPr>
                        <a:t>、</a:t>
                      </a:r>
                      <a:r>
                        <a:rPr lang="en-US" sz="900" kern="0">
                          <a:effectLst/>
                        </a:rPr>
                        <a:t>POP3</a:t>
                      </a:r>
                      <a:r>
                        <a:rPr lang="zh-TW" sz="900" kern="0">
                          <a:effectLst/>
                        </a:rPr>
                        <a:t>、</a:t>
                      </a:r>
                      <a:r>
                        <a:rPr lang="en-US" sz="900" kern="0">
                          <a:effectLst/>
                        </a:rPr>
                        <a:t>AD</a:t>
                      </a:r>
                      <a:r>
                        <a:rPr lang="zh-TW" sz="900" kern="0">
                          <a:effectLst/>
                        </a:rPr>
                        <a:t>、</a:t>
                      </a:r>
                      <a:r>
                        <a:rPr lang="en-US" sz="900" kern="0">
                          <a:effectLst/>
                        </a:rPr>
                        <a:t>LDAP…)</a:t>
                      </a:r>
                      <a:r>
                        <a:rPr lang="zh-TW" sz="900" kern="0">
                          <a:effectLst/>
                        </a:rPr>
                        <a:t>，才能在符合規定下使用相關的網路服務。</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r h="273856">
                <a:tc>
                  <a:txBody>
                    <a:bodyPr/>
                    <a:lstStyle/>
                    <a:p>
                      <a:pPr algn="r">
                        <a:spcAft>
                          <a:spcPts val="0"/>
                        </a:spcAft>
                      </a:pPr>
                      <a:r>
                        <a:rPr lang="zh-TW" sz="900" kern="0">
                          <a:effectLst/>
                        </a:rPr>
                        <a:t>政策時程管理</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spcAft>
                          <a:spcPts val="0"/>
                        </a:spcAft>
                      </a:pPr>
                      <a:r>
                        <a:rPr lang="zh-TW" sz="900" kern="0">
                          <a:effectLst/>
                        </a:rPr>
                        <a:t>進行內容過濾條件時，可設定啟用或關閉該條件過濾的時間。方便管理者依據上下班不同時段，設定不同的管理政策。</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r h="273856">
                <a:tc>
                  <a:txBody>
                    <a:bodyPr/>
                    <a:lstStyle/>
                    <a:p>
                      <a:pPr algn="r">
                        <a:spcAft>
                          <a:spcPts val="0"/>
                        </a:spcAft>
                      </a:pPr>
                      <a:r>
                        <a:rPr lang="en-US" sz="900" kern="0">
                          <a:effectLst/>
                        </a:rPr>
                        <a:t>LAN Bypass </a:t>
                      </a:r>
                      <a:r>
                        <a:rPr lang="zh-TW" sz="900" kern="0">
                          <a:effectLst/>
                        </a:rPr>
                        <a:t>機制</a:t>
                      </a:r>
                      <a:endParaRPr lang="zh-TW" sz="11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c>
                  <a:txBody>
                    <a:bodyPr/>
                    <a:lstStyle/>
                    <a:p>
                      <a:pPr>
                        <a:spcAft>
                          <a:spcPts val="0"/>
                        </a:spcAft>
                      </a:pPr>
                      <a:r>
                        <a:rPr lang="zh-TW" sz="900" kern="0" dirty="0">
                          <a:effectLst/>
                        </a:rPr>
                        <a:t>實施橋接模式</a:t>
                      </a:r>
                      <a:r>
                        <a:rPr lang="en-US" sz="900" kern="0" dirty="0">
                          <a:effectLst/>
                        </a:rPr>
                        <a:t>(Inline mode)</a:t>
                      </a:r>
                      <a:r>
                        <a:rPr lang="zh-TW" sz="900" kern="0" dirty="0">
                          <a:effectLst/>
                        </a:rPr>
                        <a:t>的運作架構時，提供故障通透的服務機制。無論發生系統或硬體的任何意外狀況，都能維持網路對外的正常連線。</a:t>
                      </a:r>
                      <a:endParaRPr lang="zh-TW" sz="11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0771" marR="0" marT="0" marB="0" anchor="b"/>
                </a:tc>
              </a:tr>
            </a:tbl>
          </a:graphicData>
        </a:graphic>
      </p:graphicFrame>
    </p:spTree>
    <p:extLst>
      <p:ext uri="{BB962C8B-B14F-4D97-AF65-F5344CB8AC3E}">
        <p14:creationId xmlns:p14="http://schemas.microsoft.com/office/powerpoint/2010/main" val="1253325841"/>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 name="Picture 4" descr="D:\Work\9.製作物\DM\中文版\2012\2012 DM流程圖改版(4月)\流程插畫\完稿png\spam_B.png"/>
          <p:cNvPicPr>
            <a:picLocks noChangeAspect="1" noChangeArrowheads="1"/>
          </p:cNvPicPr>
          <p:nvPr/>
        </p:nvPicPr>
        <p:blipFill>
          <a:blip r:embed="rId4">
            <a:extLst>
              <a:ext uri="{28A0092B-C50C-407E-A947-70E740481C1C}">
                <a14:useLocalDpi xmlns:a14="http://schemas.microsoft.com/office/drawing/2010/main" val="0"/>
              </a:ext>
            </a:extLst>
          </a:blip>
          <a:srcRect l="54599" t="32224" r="37001" b="54694"/>
          <a:stretch>
            <a:fillRect/>
          </a:stretch>
        </p:blipFill>
        <p:spPr bwMode="auto">
          <a:xfrm>
            <a:off x="4193475" y="2294874"/>
            <a:ext cx="540544" cy="486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1" name="Picture 27" descr="D:\Amy\03_Presentation\Pic\word未加密圖示.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94176" y="2304855"/>
            <a:ext cx="357188" cy="3571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4" name="圓角矩形 53"/>
          <p:cNvSpPr/>
          <p:nvPr/>
        </p:nvSpPr>
        <p:spPr>
          <a:xfrm>
            <a:off x="3052286" y="4455115"/>
            <a:ext cx="1630822" cy="906326"/>
          </a:xfrm>
          <a:prstGeom prst="roundRect">
            <a:avLst/>
          </a:prstGeom>
          <a:ln/>
        </p:spPr>
        <p:style>
          <a:lnRef idx="1">
            <a:schemeClr val="accent1"/>
          </a:lnRef>
          <a:fillRef idx="2">
            <a:schemeClr val="accent1"/>
          </a:fillRef>
          <a:effectRef idx="1">
            <a:schemeClr val="accent1"/>
          </a:effectRef>
          <a:fontRef idx="minor">
            <a:schemeClr val="dk1"/>
          </a:fontRef>
        </p:style>
        <p:txBody>
          <a:bodyPr anchor="ctr"/>
          <a:lstStyle/>
          <a:p>
            <a:pPr>
              <a:defRPr/>
            </a:pPr>
            <a:r>
              <a:rPr lang="zh-TW" altLang="en-US" sz="1050" dirty="0">
                <a:solidFill>
                  <a:schemeClr val="tx1"/>
                </a:solidFill>
                <a:latin typeface="微軟正黑體" pitchFamily="34" charset="-120"/>
                <a:ea typeface="微軟正黑體" pitchFamily="34" charset="-120"/>
              </a:rPr>
              <a:t>◎功能：</a:t>
            </a:r>
            <a:endParaRPr lang="en-US" altLang="zh-TW" sz="1050" dirty="0">
              <a:solidFill>
                <a:schemeClr val="tx1"/>
              </a:solidFill>
              <a:latin typeface="微軟正黑體" pitchFamily="34" charset="-120"/>
              <a:ea typeface="微軟正黑體" pitchFamily="34" charset="-120"/>
            </a:endParaRPr>
          </a:p>
          <a:p>
            <a:pPr>
              <a:defRPr/>
            </a:pPr>
            <a:r>
              <a:rPr lang="en-US" altLang="zh-TW" sz="1050" dirty="0">
                <a:solidFill>
                  <a:schemeClr val="tx1"/>
                </a:solidFill>
                <a:latin typeface="微軟正黑體" pitchFamily="34" charset="-120"/>
                <a:ea typeface="微軟正黑體" pitchFamily="34" charset="-120"/>
              </a:rPr>
              <a:t>1.</a:t>
            </a:r>
            <a:r>
              <a:rPr lang="zh-TW" altLang="en-US" sz="1050" dirty="0">
                <a:solidFill>
                  <a:schemeClr val="tx1"/>
                </a:solidFill>
                <a:latin typeface="微軟正黑體" pitchFamily="34" charset="-120"/>
                <a:ea typeface="微軟正黑體" pitchFamily="34" charset="-120"/>
              </a:rPr>
              <a:t>使用者認證</a:t>
            </a:r>
            <a:endParaRPr lang="en-US" altLang="zh-TW" sz="1050" dirty="0">
              <a:solidFill>
                <a:schemeClr val="tx1"/>
              </a:solidFill>
              <a:latin typeface="微軟正黑體" pitchFamily="34" charset="-120"/>
              <a:ea typeface="微軟正黑體" pitchFamily="34" charset="-120"/>
            </a:endParaRPr>
          </a:p>
          <a:p>
            <a:pPr>
              <a:defRPr/>
            </a:pPr>
            <a:r>
              <a:rPr lang="en-US" altLang="zh-TW" sz="1050" dirty="0">
                <a:solidFill>
                  <a:schemeClr val="tx1"/>
                </a:solidFill>
                <a:latin typeface="微軟正黑體" pitchFamily="34" charset="-120"/>
                <a:ea typeface="微軟正黑體" pitchFamily="34" charset="-120"/>
              </a:rPr>
              <a:t>2.</a:t>
            </a:r>
            <a:r>
              <a:rPr lang="zh-TW" altLang="en-US" sz="1050" dirty="0">
                <a:solidFill>
                  <a:schemeClr val="tx1"/>
                </a:solidFill>
                <a:latin typeface="微軟正黑體" pitchFamily="34" charset="-120"/>
                <a:ea typeface="微軟正黑體" pitchFamily="34" charset="-120"/>
              </a:rPr>
              <a:t>金鑰和政策派送</a:t>
            </a:r>
            <a:endParaRPr lang="en-US" altLang="zh-TW" sz="1050" dirty="0">
              <a:solidFill>
                <a:schemeClr val="tx1"/>
              </a:solidFill>
              <a:latin typeface="微軟正黑體" pitchFamily="34" charset="-120"/>
              <a:ea typeface="微軟正黑體" pitchFamily="34" charset="-120"/>
            </a:endParaRPr>
          </a:p>
          <a:p>
            <a:pPr>
              <a:defRPr/>
            </a:pPr>
            <a:r>
              <a:rPr lang="en-US" altLang="zh-TW" sz="1050" dirty="0">
                <a:solidFill>
                  <a:schemeClr val="tx1"/>
                </a:solidFill>
                <a:latin typeface="微軟正黑體" pitchFamily="34" charset="-120"/>
                <a:ea typeface="微軟正黑體" pitchFamily="34" charset="-120"/>
              </a:rPr>
              <a:t>3.</a:t>
            </a:r>
            <a:r>
              <a:rPr lang="zh-TW" altLang="en-US" sz="1050" dirty="0">
                <a:solidFill>
                  <a:schemeClr val="tx1"/>
                </a:solidFill>
                <a:latin typeface="微軟正黑體" pitchFamily="34" charset="-120"/>
                <a:ea typeface="微軟正黑體" pitchFamily="34" charset="-120"/>
              </a:rPr>
              <a:t>操作行為記錄</a:t>
            </a:r>
            <a:endParaRPr lang="en-US" altLang="zh-TW" sz="1050" dirty="0">
              <a:solidFill>
                <a:schemeClr val="tx1"/>
              </a:solidFill>
              <a:latin typeface="微軟正黑體" pitchFamily="34" charset="-120"/>
              <a:ea typeface="微軟正黑體" pitchFamily="34" charset="-120"/>
            </a:endParaRPr>
          </a:p>
          <a:p>
            <a:pPr>
              <a:defRPr/>
            </a:pPr>
            <a:r>
              <a:rPr lang="zh-TW" altLang="en-US" sz="1050" dirty="0">
                <a:solidFill>
                  <a:schemeClr val="tx1"/>
                </a:solidFill>
                <a:latin typeface="微軟正黑體" pitchFamily="34" charset="-120"/>
                <a:ea typeface="微軟正黑體" pitchFamily="34" charset="-120"/>
              </a:rPr>
              <a:t>◎</a:t>
            </a:r>
            <a:r>
              <a:rPr lang="en-US" altLang="zh-TW" sz="1050" dirty="0">
                <a:solidFill>
                  <a:schemeClr val="tx1"/>
                </a:solidFill>
                <a:latin typeface="微軟正黑體" pitchFamily="34" charset="-120"/>
                <a:ea typeface="微軟正黑體" pitchFamily="34" charset="-120"/>
              </a:rPr>
              <a:t>Web</a:t>
            </a:r>
            <a:r>
              <a:rPr lang="zh-TW" altLang="en-US" sz="1050" dirty="0">
                <a:solidFill>
                  <a:schemeClr val="tx1"/>
                </a:solidFill>
                <a:latin typeface="微軟正黑體" pitchFamily="34" charset="-120"/>
                <a:ea typeface="微軟正黑體" pitchFamily="34" charset="-120"/>
              </a:rPr>
              <a:t>管理介面</a:t>
            </a:r>
            <a:endParaRPr lang="en-US" altLang="zh-TW" sz="1050" dirty="0">
              <a:solidFill>
                <a:schemeClr val="tx1"/>
              </a:solidFill>
              <a:latin typeface="微軟正黑體" pitchFamily="34" charset="-120"/>
              <a:ea typeface="微軟正黑體" pitchFamily="34" charset="-120"/>
            </a:endParaRPr>
          </a:p>
        </p:txBody>
      </p:sp>
      <p:cxnSp>
        <p:nvCxnSpPr>
          <p:cNvPr id="55" name="直線單箭頭接點 54"/>
          <p:cNvCxnSpPr/>
          <p:nvPr/>
        </p:nvCxnSpPr>
        <p:spPr>
          <a:xfrm>
            <a:off x="4734018" y="2942946"/>
            <a:ext cx="756084" cy="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67" name="直線單箭頭接點 66"/>
          <p:cNvCxnSpPr/>
          <p:nvPr/>
        </p:nvCxnSpPr>
        <p:spPr>
          <a:xfrm>
            <a:off x="4748824" y="3401989"/>
            <a:ext cx="864096" cy="1011607"/>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pic>
        <p:nvPicPr>
          <p:cNvPr id="96" name="圖片 12" descr="箭頭-1.jpg"/>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3168414">
            <a:off x="6103062" y="3247966"/>
            <a:ext cx="1111147" cy="96869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7" name="圖片 9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17075" y="3320988"/>
            <a:ext cx="199385" cy="162000"/>
          </a:xfrm>
          <a:prstGeom prst="rect">
            <a:avLst/>
          </a:prstGeom>
        </p:spPr>
      </p:pic>
      <p:pic>
        <p:nvPicPr>
          <p:cNvPr id="98" name="圖片 9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960000">
            <a:off x="7049147" y="3516525"/>
            <a:ext cx="268164" cy="270000"/>
          </a:xfrm>
          <a:prstGeom prst="rect">
            <a:avLst/>
          </a:prstGeom>
        </p:spPr>
      </p:pic>
      <p:pic>
        <p:nvPicPr>
          <p:cNvPr id="99" name="圖片 9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017075" y="3818254"/>
            <a:ext cx="235715" cy="221429"/>
          </a:xfrm>
          <a:prstGeom prst="rect">
            <a:avLst/>
          </a:prstGeom>
        </p:spPr>
      </p:pic>
      <p:grpSp>
        <p:nvGrpSpPr>
          <p:cNvPr id="101" name="群組 100"/>
          <p:cNvGrpSpPr/>
          <p:nvPr/>
        </p:nvGrpSpPr>
        <p:grpSpPr>
          <a:xfrm>
            <a:off x="2999836" y="2348881"/>
            <a:ext cx="1794402" cy="2087798"/>
            <a:chOff x="3032103" y="1556792"/>
            <a:chExt cx="2392536" cy="2783730"/>
          </a:xfrm>
        </p:grpSpPr>
        <p:grpSp>
          <p:nvGrpSpPr>
            <p:cNvPr id="102" name="群組 101"/>
            <p:cNvGrpSpPr/>
            <p:nvPr/>
          </p:nvGrpSpPr>
          <p:grpSpPr>
            <a:xfrm>
              <a:off x="3032103" y="1556792"/>
              <a:ext cx="2392536" cy="2783730"/>
              <a:chOff x="2699792" y="2812480"/>
              <a:chExt cx="2392536" cy="2783730"/>
            </a:xfrm>
          </p:grpSpPr>
          <p:grpSp>
            <p:nvGrpSpPr>
              <p:cNvPr id="104" name="群組 103"/>
              <p:cNvGrpSpPr/>
              <p:nvPr/>
            </p:nvGrpSpPr>
            <p:grpSpPr>
              <a:xfrm>
                <a:off x="3248595" y="2812480"/>
                <a:ext cx="1395413" cy="1648857"/>
                <a:chOff x="3131840" y="2812480"/>
                <a:chExt cx="1395413" cy="1648857"/>
              </a:xfrm>
            </p:grpSpPr>
            <p:graphicFrame>
              <p:nvGraphicFramePr>
                <p:cNvPr id="106" name="Object 2"/>
                <p:cNvGraphicFramePr>
                  <a:graphicFrameLocks noChangeAspect="1"/>
                </p:cNvGraphicFramePr>
                <p:nvPr>
                  <p:extLst/>
                </p:nvPr>
              </p:nvGraphicFramePr>
              <p:xfrm>
                <a:off x="3330525" y="2812480"/>
                <a:ext cx="1081087" cy="1381125"/>
              </p:xfrm>
              <a:graphic>
                <a:graphicData uri="http://schemas.openxmlformats.org/presentationml/2006/ole">
                  <mc:AlternateContent xmlns:mc="http://schemas.openxmlformats.org/markup-compatibility/2006">
                    <mc:Choice xmlns:v="urn:schemas-microsoft-com:vml" Requires="v">
                      <p:oleObj spid="_x0000_s3079" name="Visio" r:id="rId10" imgW="760382" imgH="966551" progId="Visio.Drawing.11">
                        <p:embed/>
                      </p:oleObj>
                    </mc:Choice>
                    <mc:Fallback>
                      <p:oleObj name="Visio" r:id="rId10" imgW="760382" imgH="966551" progId="Visio.Drawing.11">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30525" y="2812480"/>
                              <a:ext cx="1081087" cy="13811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07" name="文字方塊 24"/>
                <p:cNvSpPr txBox="1">
                  <a:spLocks noChangeArrowheads="1"/>
                </p:cNvSpPr>
                <p:nvPr/>
              </p:nvSpPr>
              <p:spPr bwMode="auto">
                <a:xfrm>
                  <a:off x="3131840" y="4092005"/>
                  <a:ext cx="1395413"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algn="ctr" eaLnBrk="1" hangingPunct="1"/>
                  <a:r>
                    <a:rPr lang="en-US" altLang="zh-TW" sz="1200" dirty="0">
                      <a:solidFill>
                        <a:srgbClr val="000000"/>
                      </a:solidFill>
                      <a:latin typeface="微軟正黑體" pitchFamily="34" charset="-120"/>
                      <a:ea typeface="微軟正黑體" pitchFamily="34" charset="-120"/>
                      <a:cs typeface="Arial" pitchFamily="34" charset="0"/>
                    </a:rPr>
                    <a:t>Server</a:t>
                  </a:r>
                  <a:endParaRPr lang="zh-TW" altLang="en-US" sz="1200" dirty="0">
                    <a:solidFill>
                      <a:srgbClr val="000000"/>
                    </a:solidFill>
                    <a:latin typeface="微軟正黑體" pitchFamily="34" charset="-120"/>
                    <a:ea typeface="微軟正黑體" pitchFamily="34" charset="-120"/>
                    <a:cs typeface="Arial" pitchFamily="34" charset="0"/>
                  </a:endParaRPr>
                </a:p>
              </p:txBody>
            </p:sp>
          </p:grpSp>
          <p:sp>
            <p:nvSpPr>
              <p:cNvPr id="105" name="文字方塊 104"/>
              <p:cNvSpPr txBox="1"/>
              <p:nvPr/>
            </p:nvSpPr>
            <p:spPr>
              <a:xfrm>
                <a:off x="2699792" y="4365104"/>
                <a:ext cx="2392536" cy="1231106"/>
              </a:xfrm>
              <a:prstGeom prst="rect">
                <a:avLst/>
              </a:prstGeom>
              <a:noFill/>
            </p:spPr>
            <p:txBody>
              <a:bodyPr wrap="none" rtlCol="0">
                <a:spAutoFit/>
              </a:bodyPr>
              <a:lstStyle/>
              <a:p>
                <a:pPr marL="128588" indent="-128588">
                  <a:buFontTx/>
                  <a:buChar char="-"/>
                </a:pPr>
                <a:r>
                  <a:rPr lang="en-US" altLang="zh-TW" sz="900" dirty="0">
                    <a:latin typeface="微軟正黑體" pitchFamily="34" charset="-120"/>
                    <a:ea typeface="微軟正黑體" pitchFamily="34" charset="-120"/>
                    <a:cs typeface="Arial Unicode MS" pitchFamily="34" charset="-120"/>
                  </a:rPr>
                  <a:t>OS</a:t>
                </a:r>
                <a:r>
                  <a:rPr lang="zh-TW" altLang="en-US" sz="900" dirty="0">
                    <a:latin typeface="微軟正黑體" pitchFamily="34" charset="-120"/>
                    <a:ea typeface="微軟正黑體" pitchFamily="34" charset="-120"/>
                    <a:cs typeface="Arial Unicode MS" pitchFamily="34" charset="-120"/>
                  </a:rPr>
                  <a:t>：</a:t>
                </a:r>
                <a:r>
                  <a:rPr lang="en-US" altLang="zh-TW" sz="900" dirty="0">
                    <a:latin typeface="微軟正黑體" pitchFamily="34" charset="-120"/>
                    <a:ea typeface="微軟正黑體" pitchFamily="34" charset="-120"/>
                    <a:cs typeface="Arial Unicode MS" pitchFamily="34" charset="-120"/>
                  </a:rPr>
                  <a:t>Win Server 2003/2008</a:t>
                </a:r>
              </a:p>
              <a:p>
                <a:pPr marL="128588" indent="-128588">
                  <a:buFontTx/>
                  <a:buChar char="-"/>
                </a:pPr>
                <a:r>
                  <a:rPr lang="en-US" altLang="zh-TW" sz="900" dirty="0">
                    <a:latin typeface="微軟正黑體" pitchFamily="34" charset="-120"/>
                    <a:ea typeface="微軟正黑體" pitchFamily="34" charset="-120"/>
                    <a:cs typeface="Arial Unicode MS" pitchFamily="34" charset="-120"/>
                  </a:rPr>
                  <a:t>RAM</a:t>
                </a:r>
                <a:r>
                  <a:rPr lang="zh-TW" altLang="en-US" sz="900" dirty="0">
                    <a:latin typeface="微軟正黑體" pitchFamily="34" charset="-120"/>
                    <a:ea typeface="微軟正黑體" pitchFamily="34" charset="-120"/>
                    <a:cs typeface="Arial Unicode MS" pitchFamily="34" charset="-120"/>
                  </a:rPr>
                  <a:t>：</a:t>
                </a:r>
                <a:r>
                  <a:rPr lang="en-US" altLang="zh-TW" sz="900" dirty="0">
                    <a:latin typeface="微軟正黑體" pitchFamily="34" charset="-120"/>
                    <a:ea typeface="微軟正黑體" pitchFamily="34" charset="-120"/>
                    <a:cs typeface="Arial Unicode MS" pitchFamily="34" charset="-120"/>
                  </a:rPr>
                  <a:t>1GB</a:t>
                </a:r>
                <a:r>
                  <a:rPr lang="zh-TW" altLang="en-US" sz="900" dirty="0">
                    <a:latin typeface="微軟正黑體" pitchFamily="34" charset="-120"/>
                    <a:ea typeface="微軟正黑體" pitchFamily="34" charset="-120"/>
                    <a:cs typeface="Arial Unicode MS" pitchFamily="34" charset="-120"/>
                  </a:rPr>
                  <a:t>以上</a:t>
                </a:r>
                <a:endParaRPr lang="en-US" altLang="zh-TW" sz="900" dirty="0">
                  <a:latin typeface="微軟正黑體" pitchFamily="34" charset="-120"/>
                  <a:ea typeface="微軟正黑體" pitchFamily="34" charset="-120"/>
                  <a:cs typeface="Arial Unicode MS" pitchFamily="34" charset="-120"/>
                </a:endParaRPr>
              </a:p>
              <a:p>
                <a:pPr marL="128588" indent="-128588">
                  <a:buFontTx/>
                  <a:buChar char="-"/>
                </a:pPr>
                <a:r>
                  <a:rPr lang="en-US" altLang="zh-TW" sz="900" dirty="0">
                    <a:latin typeface="微軟正黑體" pitchFamily="34" charset="-120"/>
                    <a:ea typeface="微軟正黑體" pitchFamily="34" charset="-120"/>
                    <a:cs typeface="Arial Unicode MS" pitchFamily="34" charset="-120"/>
                  </a:rPr>
                  <a:t>CPU</a:t>
                </a:r>
                <a:r>
                  <a:rPr lang="zh-TW" altLang="en-US" sz="900" dirty="0">
                    <a:latin typeface="微軟正黑體" pitchFamily="34" charset="-120"/>
                    <a:ea typeface="微軟正黑體" pitchFamily="34" charset="-120"/>
                    <a:cs typeface="Arial Unicode MS" pitchFamily="34" charset="-120"/>
                  </a:rPr>
                  <a:t>：</a:t>
                </a:r>
                <a:r>
                  <a:rPr lang="en-US" altLang="zh-TW" sz="900" dirty="0">
                    <a:latin typeface="微軟正黑體" pitchFamily="34" charset="-120"/>
                    <a:ea typeface="微軟正黑體" pitchFamily="34" charset="-120"/>
                    <a:cs typeface="Arial Unicode MS" pitchFamily="34" charset="-120"/>
                  </a:rPr>
                  <a:t>Intel Xeon</a:t>
                </a:r>
                <a:r>
                  <a:rPr lang="zh-TW" altLang="en-US" sz="900" dirty="0">
                    <a:latin typeface="微軟正黑體" pitchFamily="34" charset="-120"/>
                    <a:ea typeface="微軟正黑體" pitchFamily="34" charset="-120"/>
                    <a:cs typeface="Arial Unicode MS" pitchFamily="34" charset="-120"/>
                  </a:rPr>
                  <a:t>雙核心</a:t>
                </a:r>
                <a:endParaRPr lang="en-US" altLang="zh-TW" sz="900" dirty="0">
                  <a:latin typeface="微軟正黑體" pitchFamily="34" charset="-120"/>
                  <a:ea typeface="微軟正黑體" pitchFamily="34" charset="-120"/>
                  <a:cs typeface="Arial Unicode MS" pitchFamily="34" charset="-120"/>
                </a:endParaRPr>
              </a:p>
              <a:p>
                <a:r>
                  <a:rPr lang="en-US" altLang="zh-TW" sz="900" dirty="0">
                    <a:latin typeface="微軟正黑體" pitchFamily="34" charset="-120"/>
                    <a:ea typeface="微軟正黑體" pitchFamily="34" charset="-120"/>
                    <a:cs typeface="Arial Unicode MS" pitchFamily="34" charset="-120"/>
                  </a:rPr>
                  <a:t>                (</a:t>
                </a:r>
                <a:r>
                  <a:rPr lang="zh-TW" altLang="en-US" sz="900" dirty="0">
                    <a:latin typeface="微軟正黑體" pitchFamily="34" charset="-120"/>
                    <a:ea typeface="微軟正黑體" pitchFamily="34" charset="-120"/>
                    <a:cs typeface="Arial Unicode MS" pitchFamily="34" charset="-120"/>
                  </a:rPr>
                  <a:t>或同等級</a:t>
                </a:r>
                <a:r>
                  <a:rPr lang="en-US" altLang="zh-TW" sz="900" dirty="0">
                    <a:latin typeface="微軟正黑體" pitchFamily="34" charset="-120"/>
                    <a:ea typeface="微軟正黑體" pitchFamily="34" charset="-120"/>
                    <a:cs typeface="Arial Unicode MS" pitchFamily="34" charset="-120"/>
                  </a:rPr>
                  <a:t>)</a:t>
                </a:r>
                <a:r>
                  <a:rPr lang="zh-TW" altLang="en-US" sz="900" dirty="0">
                    <a:latin typeface="微軟正黑體" pitchFamily="34" charset="-120"/>
                    <a:ea typeface="微軟正黑體" pitchFamily="34" charset="-120"/>
                    <a:cs typeface="Arial Unicode MS" pitchFamily="34" charset="-120"/>
                  </a:rPr>
                  <a:t>以上</a:t>
                </a:r>
                <a:endParaRPr lang="en-US" altLang="zh-TW" sz="900" dirty="0">
                  <a:latin typeface="微軟正黑體" pitchFamily="34" charset="-120"/>
                  <a:ea typeface="微軟正黑體" pitchFamily="34" charset="-120"/>
                  <a:cs typeface="Arial Unicode MS" pitchFamily="34" charset="-120"/>
                </a:endParaRPr>
              </a:p>
              <a:p>
                <a:pPr marL="128588" indent="-128588">
                  <a:buFontTx/>
                  <a:buChar char="-"/>
                </a:pPr>
                <a:r>
                  <a:rPr lang="zh-TW" altLang="en-US" sz="900" dirty="0">
                    <a:latin typeface="微軟正黑體" pitchFamily="34" charset="-120"/>
                    <a:ea typeface="微軟正黑體" pitchFamily="34" charset="-120"/>
                    <a:cs typeface="Arial Unicode MS" pitchFamily="34" charset="-120"/>
                  </a:rPr>
                  <a:t>硬碟可用空間：</a:t>
                </a:r>
                <a:r>
                  <a:rPr lang="en-US" altLang="zh-TW" sz="900" dirty="0">
                    <a:latin typeface="微軟正黑體" pitchFamily="34" charset="-120"/>
                    <a:ea typeface="微軟正黑體" pitchFamily="34" charset="-120"/>
                    <a:cs typeface="Arial Unicode MS" pitchFamily="34" charset="-120"/>
                  </a:rPr>
                  <a:t>100G</a:t>
                </a:r>
                <a:r>
                  <a:rPr lang="zh-TW" altLang="en-US" sz="900" dirty="0">
                    <a:latin typeface="微軟正黑體" pitchFamily="34" charset="-120"/>
                    <a:ea typeface="微軟正黑體" pitchFamily="34" charset="-120"/>
                    <a:cs typeface="Arial Unicode MS" pitchFamily="34" charset="-120"/>
                  </a:rPr>
                  <a:t>以上</a:t>
                </a:r>
                <a:endParaRPr lang="en-US" altLang="zh-TW" sz="900" dirty="0">
                  <a:latin typeface="微軟正黑體" pitchFamily="34" charset="-120"/>
                  <a:ea typeface="微軟正黑體" pitchFamily="34" charset="-120"/>
                  <a:cs typeface="Arial Unicode MS" pitchFamily="34" charset="-120"/>
                </a:endParaRPr>
              </a:p>
              <a:p>
                <a:pPr marL="128588" indent="-128588">
                  <a:buFontTx/>
                  <a:buChar char="-"/>
                </a:pPr>
                <a:r>
                  <a:rPr lang="zh-TW" altLang="en-US" sz="900" dirty="0">
                    <a:latin typeface="微軟正黑體" pitchFamily="34" charset="-120"/>
                    <a:ea typeface="微軟正黑體" pitchFamily="34" charset="-120"/>
                    <a:cs typeface="Arial Unicode MS" pitchFamily="34" charset="-120"/>
                  </a:rPr>
                  <a:t>建立採用標準機架式伺服器</a:t>
                </a:r>
                <a:endParaRPr lang="en-US" altLang="zh-TW" sz="900" dirty="0">
                  <a:latin typeface="微軟正黑體" pitchFamily="34" charset="-120"/>
                  <a:ea typeface="微軟正黑體" pitchFamily="34" charset="-120"/>
                  <a:cs typeface="Arial Unicode MS" pitchFamily="34" charset="-120"/>
                </a:endParaRPr>
              </a:p>
            </p:txBody>
          </p:sp>
        </p:grpSp>
        <p:sp>
          <p:nvSpPr>
            <p:cNvPr id="103" name="圓柱 102"/>
            <p:cNvSpPr>
              <a:spLocks noChangeAspect="1"/>
            </p:cNvSpPr>
            <p:nvPr/>
          </p:nvSpPr>
          <p:spPr>
            <a:xfrm>
              <a:off x="4458464" y="2394303"/>
              <a:ext cx="270675" cy="360000"/>
            </a:xfrm>
            <a:prstGeom prst="can">
              <a:avLst/>
            </a:prstGeom>
            <a:gradFill>
              <a:gsLst>
                <a:gs pos="0">
                  <a:schemeClr val="accent5">
                    <a:shade val="51000"/>
                    <a:satMod val="130000"/>
                  </a:schemeClr>
                </a:gs>
                <a:gs pos="80000">
                  <a:schemeClr val="bg1"/>
                </a:gs>
                <a:gs pos="100000">
                  <a:schemeClr val="accent5">
                    <a:shade val="94000"/>
                    <a:satMod val="135000"/>
                  </a:schemeClr>
                </a:gs>
              </a:gsLst>
              <a:lin ang="10800000" scaled="0"/>
            </a:gradFill>
            <a:ln>
              <a:solidFill>
                <a:schemeClr val="tx1"/>
              </a:solidFill>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TW" altLang="en-US"/>
            </a:p>
          </p:txBody>
        </p:sp>
      </p:grpSp>
      <p:pic>
        <p:nvPicPr>
          <p:cNvPr id="47" name="Picture 28" descr="D:\Amy\03_Presentation\Pic\word加密圖示.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473096" y="2294875"/>
            <a:ext cx="371475" cy="364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cxnSp>
        <p:nvCxnSpPr>
          <p:cNvPr id="7" name="直線單箭頭接點 6"/>
          <p:cNvCxnSpPr/>
          <p:nvPr/>
        </p:nvCxnSpPr>
        <p:spPr>
          <a:xfrm>
            <a:off x="2573778" y="2942946"/>
            <a:ext cx="702078" cy="0"/>
          </a:xfrm>
          <a:prstGeom prst="straightConnector1">
            <a:avLst/>
          </a:prstGeom>
          <a:ln>
            <a:prstDash val="dash"/>
            <a:tailEnd type="arrow"/>
          </a:ln>
        </p:spPr>
        <p:style>
          <a:lnRef idx="2">
            <a:schemeClr val="accent1"/>
          </a:lnRef>
          <a:fillRef idx="0">
            <a:schemeClr val="accent1"/>
          </a:fillRef>
          <a:effectRef idx="1">
            <a:schemeClr val="accent1"/>
          </a:effectRef>
          <a:fontRef idx="minor">
            <a:schemeClr val="tx1"/>
          </a:fontRef>
        </p:style>
      </p:cxnSp>
      <p:grpSp>
        <p:nvGrpSpPr>
          <p:cNvPr id="8" name="群組 7"/>
          <p:cNvGrpSpPr/>
          <p:nvPr/>
        </p:nvGrpSpPr>
        <p:grpSpPr>
          <a:xfrm>
            <a:off x="1439652" y="2564906"/>
            <a:ext cx="1300677" cy="1254859"/>
            <a:chOff x="395536" y="2060849"/>
            <a:chExt cx="1734235" cy="1673146"/>
          </a:xfrm>
        </p:grpSpPr>
        <p:grpSp>
          <p:nvGrpSpPr>
            <p:cNvPr id="108" name="群組 107"/>
            <p:cNvGrpSpPr>
              <a:grpSpLocks/>
            </p:cNvGrpSpPr>
            <p:nvPr/>
          </p:nvGrpSpPr>
          <p:grpSpPr bwMode="auto">
            <a:xfrm>
              <a:off x="468344" y="2060849"/>
              <a:ext cx="1481175" cy="1216154"/>
              <a:chOff x="6466282" y="1357298"/>
              <a:chExt cx="1248418" cy="937019"/>
            </a:xfrm>
          </p:grpSpPr>
          <p:pic>
            <p:nvPicPr>
              <p:cNvPr id="109" name="Picture 16" descr="Server sm"/>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6830032" y="1357298"/>
                <a:ext cx="511629" cy="7106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0" name="Rectangle 18"/>
              <p:cNvSpPr>
                <a:spLocks noChangeArrowheads="1"/>
              </p:cNvSpPr>
              <p:nvPr/>
            </p:nvSpPr>
            <p:spPr bwMode="auto">
              <a:xfrm>
                <a:off x="6466282" y="2142550"/>
                <a:ext cx="1248418" cy="151767"/>
              </a:xfrm>
              <a:prstGeom prst="rect">
                <a:avLst/>
              </a:prstGeom>
              <a:noFill/>
              <a:ln w="9525">
                <a:noFill/>
                <a:miter lim="800000"/>
                <a:headEnd/>
                <a:tailEnd/>
              </a:ln>
              <a:effectLst/>
            </p:spPr>
            <p:txBody>
              <a:bodyPr wrap="none" lIns="0" tIns="0" rIns="0" bIns="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hangingPunct="0">
                  <a:lnSpc>
                    <a:spcPct val="80000"/>
                  </a:lnSpc>
                  <a:defRPr/>
                </a:pPr>
                <a:r>
                  <a:rPr lang="en-US" altLang="zh-TW" sz="1200" dirty="0">
                    <a:solidFill>
                      <a:srgbClr val="000000"/>
                    </a:solidFill>
                    <a:latin typeface="Arial" pitchFamily="34" charset="0"/>
                    <a:ea typeface="標楷體" pitchFamily="65" charset="-120"/>
                    <a:cs typeface="Arial" pitchFamily="34" charset="0"/>
                  </a:rPr>
                  <a:t>Account System</a:t>
                </a:r>
              </a:p>
            </p:txBody>
          </p:sp>
          <p:pic>
            <p:nvPicPr>
              <p:cNvPr id="111" name="圖片 110" descr="97.ico"/>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072330" y="1785926"/>
                <a:ext cx="304800" cy="30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sp>
          <p:nvSpPr>
            <p:cNvPr id="112" name="文字方塊 111"/>
            <p:cNvSpPr txBox="1"/>
            <p:nvPr/>
          </p:nvSpPr>
          <p:spPr>
            <a:xfrm>
              <a:off x="395536" y="3241552"/>
              <a:ext cx="1734235" cy="492443"/>
            </a:xfrm>
            <a:prstGeom prst="rect">
              <a:avLst/>
            </a:prstGeom>
            <a:noFill/>
          </p:spPr>
          <p:txBody>
            <a:bodyPr wrap="none" rtlCol="0">
              <a:spAutoFit/>
            </a:bodyPr>
            <a:lstStyle/>
            <a:p>
              <a:pPr marL="128588" indent="-128588">
                <a:buFontTx/>
                <a:buChar char="-"/>
              </a:pPr>
              <a:r>
                <a:rPr lang="en-US" altLang="zh-TW" sz="900" dirty="0">
                  <a:latin typeface="微軟正黑體" pitchFamily="34" charset="-120"/>
                  <a:ea typeface="微軟正黑體" pitchFamily="34" charset="-120"/>
                  <a:cs typeface="Arial Unicode MS" pitchFamily="34" charset="-120"/>
                </a:rPr>
                <a:t>LDAP</a:t>
              </a:r>
              <a:r>
                <a:rPr lang="zh-TW" altLang="en-US" sz="900" dirty="0">
                  <a:latin typeface="微軟正黑體" pitchFamily="34" charset="-120"/>
                  <a:ea typeface="微軟正黑體" pitchFamily="34" charset="-120"/>
                  <a:cs typeface="Arial Unicode MS" pitchFamily="34" charset="-120"/>
                </a:rPr>
                <a:t>帳號自動同步</a:t>
              </a:r>
              <a:endParaRPr lang="en-US" altLang="zh-TW" sz="900" dirty="0">
                <a:latin typeface="微軟正黑體" pitchFamily="34" charset="-120"/>
                <a:ea typeface="微軟正黑體" pitchFamily="34" charset="-120"/>
                <a:cs typeface="Arial Unicode MS" pitchFamily="34" charset="-120"/>
              </a:endParaRPr>
            </a:p>
            <a:p>
              <a:pPr marL="128588" indent="-128588">
                <a:buFontTx/>
                <a:buChar char="-"/>
              </a:pPr>
              <a:r>
                <a:rPr lang="zh-TW" altLang="en-US" sz="900" dirty="0">
                  <a:latin typeface="微軟正黑體" pitchFamily="34" charset="-120"/>
                  <a:ea typeface="微軟正黑體" pitchFamily="34" charset="-120"/>
                  <a:cs typeface="Arial Unicode MS" pitchFamily="34" charset="-120"/>
                </a:rPr>
                <a:t>帳號批次匯入</a:t>
              </a:r>
              <a:endParaRPr lang="en-US" altLang="zh-TW" sz="900" dirty="0">
                <a:latin typeface="微軟正黑體" pitchFamily="34" charset="-120"/>
                <a:ea typeface="微軟正黑體" pitchFamily="34" charset="-120"/>
                <a:cs typeface="Arial Unicode MS" pitchFamily="34" charset="-120"/>
              </a:endParaRPr>
            </a:p>
          </p:txBody>
        </p:sp>
      </p:grpSp>
      <p:pic>
        <p:nvPicPr>
          <p:cNvPr id="48" name="Picture 4" descr="D:\Work\9.製作物\DM\中文版\2012\2012 DM流程圖改版(4月)\流程插畫\完稿png\spam_B.png"/>
          <p:cNvPicPr>
            <a:picLocks noChangeAspect="1" noChangeArrowheads="1"/>
          </p:cNvPicPr>
          <p:nvPr/>
        </p:nvPicPr>
        <p:blipFill>
          <a:blip r:embed="rId4">
            <a:extLst>
              <a:ext uri="{28A0092B-C50C-407E-A947-70E740481C1C}">
                <a14:useLocalDpi xmlns:a14="http://schemas.microsoft.com/office/drawing/2010/main" val="0"/>
              </a:ext>
            </a:extLst>
          </a:blip>
          <a:srcRect l="54599" t="32224" r="37001" b="54694"/>
          <a:stretch>
            <a:fillRect/>
          </a:stretch>
        </p:blipFill>
        <p:spPr bwMode="auto">
          <a:xfrm>
            <a:off x="4193959" y="2294874"/>
            <a:ext cx="540544" cy="486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6" name="Picture 4" descr="D:\Work\9.製作物\DM\中文版\2012\2012 DM流程圖改版(4月)\流程插畫\完稿png\spam_B.png"/>
          <p:cNvPicPr>
            <a:picLocks noChangeAspect="1" noChangeArrowheads="1"/>
          </p:cNvPicPr>
          <p:nvPr/>
        </p:nvPicPr>
        <p:blipFill>
          <a:blip r:embed="rId4">
            <a:extLst>
              <a:ext uri="{28A0092B-C50C-407E-A947-70E740481C1C}">
                <a14:useLocalDpi xmlns:a14="http://schemas.microsoft.com/office/drawing/2010/main" val="0"/>
              </a:ext>
            </a:extLst>
          </a:blip>
          <a:srcRect l="54599" t="32224" r="37001" b="54694"/>
          <a:stretch>
            <a:fillRect/>
          </a:stretch>
        </p:blipFill>
        <p:spPr bwMode="auto">
          <a:xfrm>
            <a:off x="4193959" y="2294874"/>
            <a:ext cx="540544" cy="486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70" name="群組 69"/>
          <p:cNvGrpSpPr/>
          <p:nvPr/>
        </p:nvGrpSpPr>
        <p:grpSpPr>
          <a:xfrm>
            <a:off x="5628413" y="4239092"/>
            <a:ext cx="1712699" cy="979278"/>
            <a:chOff x="6084168" y="4602346"/>
            <a:chExt cx="2283598" cy="1305703"/>
          </a:xfrm>
        </p:grpSpPr>
        <p:grpSp>
          <p:nvGrpSpPr>
            <p:cNvPr id="72" name="群組 71"/>
            <p:cNvGrpSpPr/>
            <p:nvPr/>
          </p:nvGrpSpPr>
          <p:grpSpPr>
            <a:xfrm>
              <a:off x="6084168" y="4602346"/>
              <a:ext cx="2283598" cy="1090010"/>
              <a:chOff x="6732240" y="4509120"/>
              <a:chExt cx="2283598" cy="1090010"/>
            </a:xfrm>
          </p:grpSpPr>
          <p:grpSp>
            <p:nvGrpSpPr>
              <p:cNvPr id="84" name="Group 24"/>
              <p:cNvGrpSpPr>
                <a:grpSpLocks/>
              </p:cNvGrpSpPr>
              <p:nvPr/>
            </p:nvGrpSpPr>
            <p:grpSpPr bwMode="auto">
              <a:xfrm>
                <a:off x="7022597" y="4509120"/>
                <a:ext cx="1993241" cy="1090010"/>
                <a:chOff x="1166044" y="3788206"/>
                <a:chExt cx="1993911" cy="1091069"/>
              </a:xfrm>
            </p:grpSpPr>
            <p:pic>
              <p:nvPicPr>
                <p:cNvPr id="86" name="Picture 3"/>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166044" y="3788206"/>
                  <a:ext cx="792162" cy="78635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3" name="文字方塊 24"/>
                <p:cNvSpPr txBox="1">
                  <a:spLocks noChangeArrowheads="1"/>
                </p:cNvSpPr>
                <p:nvPr/>
              </p:nvSpPr>
              <p:spPr bwMode="auto">
                <a:xfrm>
                  <a:off x="1765659" y="4509585"/>
                  <a:ext cx="1394296" cy="3696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algn="ctr" eaLnBrk="1" hangingPunct="1"/>
                  <a:r>
                    <a:rPr lang="en-US" altLang="zh-TW" sz="1200" dirty="0">
                      <a:solidFill>
                        <a:srgbClr val="000000"/>
                      </a:solidFill>
                      <a:latin typeface="微軟正黑體" pitchFamily="34" charset="-120"/>
                      <a:ea typeface="微軟正黑體" pitchFamily="34" charset="-120"/>
                    </a:rPr>
                    <a:t>(</a:t>
                  </a:r>
                  <a:r>
                    <a:rPr lang="zh-TW" altLang="en-US" sz="1200" dirty="0">
                      <a:solidFill>
                        <a:srgbClr val="000000"/>
                      </a:solidFill>
                      <a:latin typeface="微軟正黑體" pitchFamily="34" charset="-120"/>
                      <a:ea typeface="微軟正黑體" pitchFamily="34" charset="-120"/>
                    </a:rPr>
                    <a:t>使用者</a:t>
                  </a:r>
                  <a:r>
                    <a:rPr lang="en-US" altLang="zh-TW" sz="1200" dirty="0">
                      <a:solidFill>
                        <a:srgbClr val="000000"/>
                      </a:solidFill>
                      <a:latin typeface="微軟正黑體" pitchFamily="34" charset="-120"/>
                      <a:ea typeface="微軟正黑體" pitchFamily="34" charset="-120"/>
                    </a:rPr>
                    <a:t>)</a:t>
                  </a:r>
                  <a:endParaRPr lang="zh-TW" altLang="en-US" sz="1200" dirty="0">
                    <a:solidFill>
                      <a:srgbClr val="000000"/>
                    </a:solidFill>
                    <a:latin typeface="微軟正黑體" pitchFamily="34" charset="-120"/>
                    <a:ea typeface="微軟正黑體" pitchFamily="34" charset="-120"/>
                  </a:endParaRPr>
                </a:p>
              </p:txBody>
            </p:sp>
          </p:grpSp>
          <p:sp>
            <p:nvSpPr>
              <p:cNvPr id="85" name="文字方塊 24"/>
              <p:cNvSpPr txBox="1">
                <a:spLocks noChangeArrowheads="1"/>
              </p:cNvSpPr>
              <p:nvPr/>
            </p:nvSpPr>
            <p:spPr bwMode="auto">
              <a:xfrm>
                <a:off x="6732240" y="5229200"/>
                <a:ext cx="139541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algn="ctr" eaLnBrk="1" hangingPunct="1"/>
                <a:r>
                  <a:rPr lang="en-US" altLang="zh-TW" sz="1200" dirty="0">
                    <a:solidFill>
                      <a:srgbClr val="000000"/>
                    </a:solidFill>
                    <a:latin typeface="微軟正黑體" pitchFamily="34" charset="-120"/>
                    <a:ea typeface="微軟正黑體" pitchFamily="34" charset="-120"/>
                  </a:rPr>
                  <a:t>Client</a:t>
                </a:r>
                <a:endParaRPr lang="zh-TW" altLang="en-US" sz="1200" dirty="0">
                  <a:solidFill>
                    <a:srgbClr val="000000"/>
                  </a:solidFill>
                  <a:latin typeface="微軟正黑體" pitchFamily="34" charset="-120"/>
                  <a:ea typeface="微軟正黑體" pitchFamily="34" charset="-120"/>
                </a:endParaRPr>
              </a:p>
            </p:txBody>
          </p:sp>
        </p:grpSp>
        <p:sp>
          <p:nvSpPr>
            <p:cNvPr id="78" name="文字方塊 77"/>
            <p:cNvSpPr txBox="1"/>
            <p:nvPr/>
          </p:nvSpPr>
          <p:spPr>
            <a:xfrm>
              <a:off x="6212448" y="5600273"/>
              <a:ext cx="1458518" cy="307776"/>
            </a:xfrm>
            <a:prstGeom prst="rect">
              <a:avLst/>
            </a:prstGeom>
            <a:noFill/>
          </p:spPr>
          <p:txBody>
            <a:bodyPr wrap="none" rtlCol="0">
              <a:spAutoFit/>
            </a:bodyPr>
            <a:lstStyle/>
            <a:p>
              <a:pPr marL="128588" indent="-128588">
                <a:buFontTx/>
                <a:buChar char="-"/>
              </a:pPr>
              <a:r>
                <a:rPr lang="en-US" altLang="zh-TW" sz="900" dirty="0">
                  <a:latin typeface="微軟正黑體" pitchFamily="34" charset="-120"/>
                  <a:ea typeface="微軟正黑體" pitchFamily="34" charset="-120"/>
                  <a:cs typeface="Arial Unicode MS" pitchFamily="34" charset="-120"/>
                </a:rPr>
                <a:t>OS</a:t>
              </a:r>
              <a:r>
                <a:rPr lang="zh-TW" altLang="en-US" sz="900" dirty="0">
                  <a:latin typeface="微軟正黑體" pitchFamily="34" charset="-120"/>
                  <a:ea typeface="微軟正黑體" pitchFamily="34" charset="-120"/>
                  <a:cs typeface="Arial Unicode MS" pitchFamily="34" charset="-120"/>
                </a:rPr>
                <a:t>：</a:t>
              </a:r>
              <a:r>
                <a:rPr lang="en-US" altLang="zh-TW" sz="900" dirty="0">
                  <a:latin typeface="微軟正黑體" pitchFamily="34" charset="-120"/>
                  <a:ea typeface="微軟正黑體" pitchFamily="34" charset="-120"/>
                  <a:cs typeface="Arial Unicode MS" pitchFamily="34" charset="-120"/>
                </a:rPr>
                <a:t>Win XP/7</a:t>
              </a:r>
            </a:p>
          </p:txBody>
        </p:sp>
      </p:grpSp>
      <p:grpSp>
        <p:nvGrpSpPr>
          <p:cNvPr id="56" name="群組 55"/>
          <p:cNvGrpSpPr/>
          <p:nvPr/>
        </p:nvGrpSpPr>
        <p:grpSpPr>
          <a:xfrm>
            <a:off x="5612921" y="2240869"/>
            <a:ext cx="1728191" cy="994938"/>
            <a:chOff x="6084168" y="1258064"/>
            <a:chExt cx="2304255" cy="1326584"/>
          </a:xfrm>
        </p:grpSpPr>
        <p:grpSp>
          <p:nvGrpSpPr>
            <p:cNvPr id="57" name="群組 56"/>
            <p:cNvGrpSpPr/>
            <p:nvPr/>
          </p:nvGrpSpPr>
          <p:grpSpPr>
            <a:xfrm>
              <a:off x="6084168" y="1258064"/>
              <a:ext cx="2304255" cy="1114176"/>
              <a:chOff x="6084168" y="1258064"/>
              <a:chExt cx="2304255" cy="1114176"/>
            </a:xfrm>
          </p:grpSpPr>
          <p:grpSp>
            <p:nvGrpSpPr>
              <p:cNvPr id="61" name="Group 1"/>
              <p:cNvGrpSpPr>
                <a:grpSpLocks/>
              </p:cNvGrpSpPr>
              <p:nvPr/>
            </p:nvGrpSpPr>
            <p:grpSpPr bwMode="auto">
              <a:xfrm>
                <a:off x="6394772" y="1258064"/>
                <a:ext cx="1993651" cy="1110294"/>
                <a:chOff x="1166044" y="3785304"/>
                <a:chExt cx="1992054" cy="1109415"/>
              </a:xfrm>
            </p:grpSpPr>
            <p:pic>
              <p:nvPicPr>
                <p:cNvPr id="65" name="Picture 3" descr="C:\Users\IvyChen\Desktop\新增資料夾 (3)\4MAE._people-04.png"/>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1166044" y="3785304"/>
                  <a:ext cx="792162" cy="7921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6" name="文字方塊 24"/>
                <p:cNvSpPr txBox="1">
                  <a:spLocks noChangeArrowheads="1"/>
                </p:cNvSpPr>
                <p:nvPr/>
              </p:nvSpPr>
              <p:spPr bwMode="auto">
                <a:xfrm>
                  <a:off x="1763802" y="4525679"/>
                  <a:ext cx="1394296" cy="36904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algn="ctr" eaLnBrk="1" hangingPunct="1"/>
                  <a:r>
                    <a:rPr lang="en-US" altLang="zh-TW" sz="1200" dirty="0">
                      <a:solidFill>
                        <a:srgbClr val="000000"/>
                      </a:solidFill>
                      <a:latin typeface="微軟正黑體" pitchFamily="34" charset="-120"/>
                      <a:ea typeface="微軟正黑體" pitchFamily="34" charset="-120"/>
                    </a:rPr>
                    <a:t>(</a:t>
                  </a:r>
                  <a:r>
                    <a:rPr lang="zh-TW" altLang="en-US" sz="1200" dirty="0">
                      <a:solidFill>
                        <a:srgbClr val="000000"/>
                      </a:solidFill>
                      <a:latin typeface="微軟正黑體" pitchFamily="34" charset="-120"/>
                      <a:ea typeface="微軟正黑體" pitchFamily="34" charset="-120"/>
                    </a:rPr>
                    <a:t>加密者</a:t>
                  </a:r>
                  <a:r>
                    <a:rPr lang="en-US" altLang="zh-TW" sz="1200" dirty="0">
                      <a:solidFill>
                        <a:srgbClr val="000000"/>
                      </a:solidFill>
                      <a:latin typeface="微軟正黑體" pitchFamily="34" charset="-120"/>
                      <a:ea typeface="微軟正黑體" pitchFamily="34" charset="-120"/>
                    </a:rPr>
                    <a:t>)</a:t>
                  </a:r>
                  <a:endParaRPr lang="zh-TW" altLang="en-US" sz="1200" dirty="0">
                    <a:solidFill>
                      <a:srgbClr val="000000"/>
                    </a:solidFill>
                    <a:latin typeface="微軟正黑體" pitchFamily="34" charset="-120"/>
                    <a:ea typeface="微軟正黑體" pitchFamily="34" charset="-120"/>
                  </a:endParaRPr>
                </a:p>
              </p:txBody>
            </p:sp>
          </p:grpSp>
          <p:sp>
            <p:nvSpPr>
              <p:cNvPr id="62" name="文字方塊 24"/>
              <p:cNvSpPr txBox="1">
                <a:spLocks noChangeArrowheads="1"/>
              </p:cNvSpPr>
              <p:nvPr/>
            </p:nvSpPr>
            <p:spPr bwMode="auto">
              <a:xfrm>
                <a:off x="6084168" y="2002908"/>
                <a:ext cx="139541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algn="ctr" eaLnBrk="1" hangingPunct="1"/>
                <a:r>
                  <a:rPr lang="en-US" altLang="zh-TW" sz="1200" dirty="0">
                    <a:solidFill>
                      <a:srgbClr val="000000"/>
                    </a:solidFill>
                    <a:latin typeface="微軟正黑體" pitchFamily="34" charset="-120"/>
                    <a:ea typeface="微軟正黑體" pitchFamily="34" charset="-120"/>
                  </a:rPr>
                  <a:t>Client</a:t>
                </a:r>
                <a:endParaRPr lang="zh-TW" altLang="en-US" sz="1200" dirty="0">
                  <a:solidFill>
                    <a:srgbClr val="000000"/>
                  </a:solidFill>
                  <a:latin typeface="微軟正黑體" pitchFamily="34" charset="-120"/>
                  <a:ea typeface="微軟正黑體" pitchFamily="34" charset="-120"/>
                </a:endParaRPr>
              </a:p>
            </p:txBody>
          </p:sp>
        </p:grpSp>
        <p:sp>
          <p:nvSpPr>
            <p:cNvPr id="60" name="文字方塊 59"/>
            <p:cNvSpPr txBox="1"/>
            <p:nvPr/>
          </p:nvSpPr>
          <p:spPr>
            <a:xfrm>
              <a:off x="6214116" y="2276872"/>
              <a:ext cx="1458519" cy="307776"/>
            </a:xfrm>
            <a:prstGeom prst="rect">
              <a:avLst/>
            </a:prstGeom>
            <a:noFill/>
          </p:spPr>
          <p:txBody>
            <a:bodyPr wrap="none" rtlCol="0">
              <a:spAutoFit/>
            </a:bodyPr>
            <a:lstStyle/>
            <a:p>
              <a:pPr marL="128588" indent="-128588">
                <a:buFontTx/>
                <a:buChar char="-"/>
              </a:pPr>
              <a:r>
                <a:rPr lang="en-US" altLang="zh-TW" sz="900" dirty="0">
                  <a:latin typeface="微軟正黑體" pitchFamily="34" charset="-120"/>
                  <a:ea typeface="微軟正黑體" pitchFamily="34" charset="-120"/>
                  <a:cs typeface="Arial Unicode MS" pitchFamily="34" charset="-120"/>
                </a:rPr>
                <a:t>OS</a:t>
              </a:r>
              <a:r>
                <a:rPr lang="zh-TW" altLang="en-US" sz="900" dirty="0">
                  <a:latin typeface="微軟正黑體" pitchFamily="34" charset="-120"/>
                  <a:ea typeface="微軟正黑體" pitchFamily="34" charset="-120"/>
                  <a:cs typeface="Arial Unicode MS" pitchFamily="34" charset="-120"/>
                </a:rPr>
                <a:t>：</a:t>
              </a:r>
              <a:r>
                <a:rPr lang="en-US" altLang="zh-TW" sz="900" dirty="0">
                  <a:latin typeface="微軟正黑體" pitchFamily="34" charset="-120"/>
                  <a:ea typeface="微軟正黑體" pitchFamily="34" charset="-120"/>
                  <a:cs typeface="Arial Unicode MS" pitchFamily="34" charset="-120"/>
                </a:rPr>
                <a:t>Win XP/7</a:t>
              </a:r>
            </a:p>
          </p:txBody>
        </p:sp>
      </p:grpSp>
      <p:pic>
        <p:nvPicPr>
          <p:cNvPr id="100" name="Picture 28" descr="D:\Amy\03_Presentation\Pic\word加密圖示.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473096" y="2294875"/>
            <a:ext cx="371475" cy="364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0" name="Picture 28" descr="D:\Amy\03_Presentation\Pic\word加密圖示.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591993" y="4436170"/>
            <a:ext cx="371475" cy="364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 name="標題 2"/>
          <p:cNvSpPr>
            <a:spLocks noGrp="1"/>
          </p:cNvSpPr>
          <p:nvPr>
            <p:ph type="title"/>
          </p:nvPr>
        </p:nvSpPr>
        <p:spPr/>
        <p:txBody>
          <a:bodyPr/>
          <a:lstStyle/>
          <a:p>
            <a:r>
              <a:rPr lang="zh-TW" altLang="en-US" dirty="0" smtClean="0"/>
              <a:t>運作示意</a:t>
            </a:r>
            <a:endParaRPr lang="zh-TW" altLang="en-US" dirty="0"/>
          </a:p>
        </p:txBody>
      </p:sp>
    </p:spTree>
    <p:extLst>
      <p:ext uri="{BB962C8B-B14F-4D97-AF65-F5344CB8AC3E}">
        <p14:creationId xmlns:p14="http://schemas.microsoft.com/office/powerpoint/2010/main" val="10279548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63" presetClass="path" presetSubtype="0" accel="50000" decel="50000" fill="hold" nodeType="clickEffect">
                                  <p:stCondLst>
                                    <p:cond delay="0"/>
                                  </p:stCondLst>
                                  <p:childTnLst>
                                    <p:animMotion origin="layout" path="M -1.38889E-6 1.11111E-6 L 0.19688 0.00532 " pathEditMode="relative" rAng="0" ptsTypes="AA">
                                      <p:cBhvr>
                                        <p:cTn id="19" dur="2000" fill="hold"/>
                                        <p:tgtEl>
                                          <p:spTgt spid="48"/>
                                        </p:tgtEl>
                                        <p:attrNameLst>
                                          <p:attrName>ppt_x</p:attrName>
                                          <p:attrName>ppt_y</p:attrName>
                                        </p:attrNameLst>
                                      </p:cBhvr>
                                      <p:rCtr x="9844" y="255"/>
                                    </p:animMotion>
                                  </p:childTnLst>
                                </p:cTn>
                              </p:par>
                            </p:childTnLst>
                          </p:cTn>
                        </p:par>
                        <p:par>
                          <p:cTn id="20" fill="hold">
                            <p:stCondLst>
                              <p:cond delay="2000"/>
                            </p:stCondLst>
                            <p:childTnLst>
                              <p:par>
                                <p:cTn id="21" presetID="10" presetClass="exit" presetSubtype="0" fill="hold" nodeType="afterEffect">
                                  <p:stCondLst>
                                    <p:cond delay="0"/>
                                  </p:stCondLst>
                                  <p:childTnLst>
                                    <p:animEffect transition="out" filter="fade">
                                      <p:cBhvr>
                                        <p:cTn id="22" dur="500"/>
                                        <p:tgtEl>
                                          <p:spTgt spid="48"/>
                                        </p:tgtEl>
                                      </p:cBhvr>
                                    </p:animEffect>
                                    <p:set>
                                      <p:cBhvr>
                                        <p:cTn id="23" dur="1" fill="hold">
                                          <p:stCondLst>
                                            <p:cond delay="499"/>
                                          </p:stCondLst>
                                        </p:cTn>
                                        <p:tgtEl>
                                          <p:spTgt spid="48"/>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500"/>
                                        <p:tgtEl>
                                          <p:spTgt spid="51"/>
                                        </p:tgtEl>
                                      </p:cBhvr>
                                    </p:animEffect>
                                    <p:set>
                                      <p:cBhvr>
                                        <p:cTn id="28" dur="1" fill="hold">
                                          <p:stCondLst>
                                            <p:cond delay="499"/>
                                          </p:stCondLst>
                                        </p:cTn>
                                        <p:tgtEl>
                                          <p:spTgt spid="51"/>
                                        </p:tgtEl>
                                        <p:attrNameLst>
                                          <p:attrName>style.visibility</p:attrName>
                                        </p:attrNameLst>
                                      </p:cBhvr>
                                      <p:to>
                                        <p:strVal val="hidden"/>
                                      </p:to>
                                    </p:set>
                                  </p:childTnLst>
                                </p:cTn>
                              </p:par>
                              <p:par>
                                <p:cTn id="29" presetID="10" presetClass="entr" presetSubtype="0" fill="hold" nodeType="withEffect">
                                  <p:stCondLst>
                                    <p:cond delay="0"/>
                                  </p:stCondLst>
                                  <p:childTnLst>
                                    <p:set>
                                      <p:cBhvr>
                                        <p:cTn id="30" dur="1" fill="hold">
                                          <p:stCondLst>
                                            <p:cond delay="0"/>
                                          </p:stCondLst>
                                        </p:cTn>
                                        <p:tgtEl>
                                          <p:spTgt spid="100"/>
                                        </p:tgtEl>
                                        <p:attrNameLst>
                                          <p:attrName>style.visibility</p:attrName>
                                        </p:attrNameLst>
                                      </p:cBhvr>
                                      <p:to>
                                        <p:strVal val="visible"/>
                                      </p:to>
                                    </p:set>
                                    <p:animEffect transition="in" filter="fade">
                                      <p:cBhvr>
                                        <p:cTn id="31" dur="500"/>
                                        <p:tgtEl>
                                          <p:spTgt spid="100"/>
                                        </p:tgtEl>
                                      </p:cBhvr>
                                    </p:animEffect>
                                  </p:childTnLst>
                                </p:cTn>
                              </p:par>
                              <p:par>
                                <p:cTn id="32" presetID="10" presetClass="entr" presetSubtype="0" fill="hold" nodeType="withEffect">
                                  <p:stCondLst>
                                    <p:cond delay="0"/>
                                  </p:stCondLst>
                                  <p:childTnLst>
                                    <p:set>
                                      <p:cBhvr>
                                        <p:cTn id="33" dur="1" fill="hold">
                                          <p:stCondLst>
                                            <p:cond delay="0"/>
                                          </p:stCondLst>
                                        </p:cTn>
                                        <p:tgtEl>
                                          <p:spTgt spid="47"/>
                                        </p:tgtEl>
                                        <p:attrNameLst>
                                          <p:attrName>style.visibility</p:attrName>
                                        </p:attrNameLst>
                                      </p:cBhvr>
                                      <p:to>
                                        <p:strVal val="visible"/>
                                      </p:to>
                                    </p:set>
                                    <p:animEffect transition="in" filter="fade">
                                      <p:cBhvr>
                                        <p:cTn id="34" dur="500"/>
                                        <p:tgtEl>
                                          <p:spTgt spid="4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96"/>
                                        </p:tgtEl>
                                        <p:attrNameLst>
                                          <p:attrName>style.visibility</p:attrName>
                                        </p:attrNameLst>
                                      </p:cBhvr>
                                      <p:to>
                                        <p:strVal val="visible"/>
                                      </p:to>
                                    </p:set>
                                    <p:animEffect transition="in" filter="fade">
                                      <p:cBhvr>
                                        <p:cTn id="39" dur="500"/>
                                        <p:tgtEl>
                                          <p:spTgt spid="96"/>
                                        </p:tgtEl>
                                      </p:cBhvr>
                                    </p:animEffect>
                                  </p:childTnLst>
                                </p:cTn>
                              </p:par>
                            </p:childTnLst>
                          </p:cTn>
                        </p:par>
                        <p:par>
                          <p:cTn id="40" fill="hold">
                            <p:stCondLst>
                              <p:cond delay="500"/>
                            </p:stCondLst>
                            <p:childTnLst>
                              <p:par>
                                <p:cTn id="41" presetID="10" presetClass="entr" presetSubtype="0" fill="hold" nodeType="afterEffect">
                                  <p:stCondLst>
                                    <p:cond delay="0"/>
                                  </p:stCondLst>
                                  <p:childTnLst>
                                    <p:set>
                                      <p:cBhvr>
                                        <p:cTn id="42" dur="1" fill="hold">
                                          <p:stCondLst>
                                            <p:cond delay="0"/>
                                          </p:stCondLst>
                                        </p:cTn>
                                        <p:tgtEl>
                                          <p:spTgt spid="97"/>
                                        </p:tgtEl>
                                        <p:attrNameLst>
                                          <p:attrName>style.visibility</p:attrName>
                                        </p:attrNameLst>
                                      </p:cBhvr>
                                      <p:to>
                                        <p:strVal val="visible"/>
                                      </p:to>
                                    </p:set>
                                    <p:animEffect transition="in" filter="fade">
                                      <p:cBhvr>
                                        <p:cTn id="43" dur="500"/>
                                        <p:tgtEl>
                                          <p:spTgt spid="97"/>
                                        </p:tgtEl>
                                      </p:cBhvr>
                                    </p:animEffect>
                                  </p:childTnLst>
                                </p:cTn>
                              </p:par>
                              <p:par>
                                <p:cTn id="44" presetID="10" presetClass="entr" presetSubtype="0" fill="hold" nodeType="withEffect">
                                  <p:stCondLst>
                                    <p:cond delay="0"/>
                                  </p:stCondLst>
                                  <p:childTnLst>
                                    <p:set>
                                      <p:cBhvr>
                                        <p:cTn id="45" dur="1" fill="hold">
                                          <p:stCondLst>
                                            <p:cond delay="0"/>
                                          </p:stCondLst>
                                        </p:cTn>
                                        <p:tgtEl>
                                          <p:spTgt spid="98"/>
                                        </p:tgtEl>
                                        <p:attrNameLst>
                                          <p:attrName>style.visibility</p:attrName>
                                        </p:attrNameLst>
                                      </p:cBhvr>
                                      <p:to>
                                        <p:strVal val="visible"/>
                                      </p:to>
                                    </p:set>
                                    <p:animEffect transition="in" filter="fade">
                                      <p:cBhvr>
                                        <p:cTn id="46" dur="500"/>
                                        <p:tgtEl>
                                          <p:spTgt spid="98"/>
                                        </p:tgtEl>
                                      </p:cBhvr>
                                    </p:animEffect>
                                  </p:childTnLst>
                                </p:cTn>
                              </p:par>
                              <p:par>
                                <p:cTn id="47" presetID="10" presetClass="entr" presetSubtype="0" fill="hold" nodeType="withEffect">
                                  <p:stCondLst>
                                    <p:cond delay="0"/>
                                  </p:stCondLst>
                                  <p:childTnLst>
                                    <p:set>
                                      <p:cBhvr>
                                        <p:cTn id="48" dur="1" fill="hold">
                                          <p:stCondLst>
                                            <p:cond delay="0"/>
                                          </p:stCondLst>
                                        </p:cTn>
                                        <p:tgtEl>
                                          <p:spTgt spid="99"/>
                                        </p:tgtEl>
                                        <p:attrNameLst>
                                          <p:attrName>style.visibility</p:attrName>
                                        </p:attrNameLst>
                                      </p:cBhvr>
                                      <p:to>
                                        <p:strVal val="visible"/>
                                      </p:to>
                                    </p:set>
                                    <p:animEffect transition="in" filter="fade">
                                      <p:cBhvr>
                                        <p:cTn id="49" dur="500"/>
                                        <p:tgtEl>
                                          <p:spTgt spid="99"/>
                                        </p:tgtEl>
                                      </p:cBhvr>
                                    </p:animEffect>
                                  </p:childTnLst>
                                </p:cTn>
                              </p:par>
                            </p:childTnLst>
                          </p:cTn>
                        </p:par>
                        <p:par>
                          <p:cTn id="50" fill="hold">
                            <p:stCondLst>
                              <p:cond delay="1000"/>
                            </p:stCondLst>
                            <p:childTnLst>
                              <p:par>
                                <p:cTn id="51" presetID="50" presetClass="path" presetSubtype="0" accel="50000" decel="50000" fill="hold" nodeType="afterEffect">
                                  <p:stCondLst>
                                    <p:cond delay="0"/>
                                  </p:stCondLst>
                                  <p:childTnLst>
                                    <p:animMotion origin="layout" path="M -5.55556E-7 3.22849E-6 L 0.08073 0.12696 C 0.11701 0.18385 0.12222 0.29856 0.0901 0.33487 L 0.01858 0.41558 " pathEditMode="relative" rAng="2983706" ptsTypes="FfFF">
                                      <p:cBhvr>
                                        <p:cTn id="52" dur="2000" fill="hold"/>
                                        <p:tgtEl>
                                          <p:spTgt spid="100"/>
                                        </p:tgtEl>
                                        <p:attrNameLst>
                                          <p:attrName>ppt_x</p:attrName>
                                          <p:attrName>ppt_y</p:attrName>
                                        </p:attrNameLst>
                                      </p:cBhvr>
                                      <p:rCtr x="920" y="20791"/>
                                    </p:animMotion>
                                  </p:childTnLst>
                                </p:cTn>
                              </p:par>
                            </p:childTnLst>
                          </p:cTn>
                        </p:par>
                        <p:par>
                          <p:cTn id="53" fill="hold">
                            <p:stCondLst>
                              <p:cond delay="3000"/>
                            </p:stCondLst>
                            <p:childTnLst>
                              <p:par>
                                <p:cTn id="54" presetID="10" presetClass="entr" presetSubtype="0" fill="hold" nodeType="afterEffect">
                                  <p:stCondLst>
                                    <p:cond delay="0"/>
                                  </p:stCondLst>
                                  <p:childTnLst>
                                    <p:set>
                                      <p:cBhvr>
                                        <p:cTn id="55" dur="1" fill="hold">
                                          <p:stCondLst>
                                            <p:cond delay="0"/>
                                          </p:stCondLst>
                                        </p:cTn>
                                        <p:tgtEl>
                                          <p:spTgt spid="50"/>
                                        </p:tgtEl>
                                        <p:attrNameLst>
                                          <p:attrName>style.visibility</p:attrName>
                                        </p:attrNameLst>
                                      </p:cBhvr>
                                      <p:to>
                                        <p:strVal val="visible"/>
                                      </p:to>
                                    </p:set>
                                    <p:animEffect transition="in" filter="fade">
                                      <p:cBhvr>
                                        <p:cTn id="56" dur="500"/>
                                        <p:tgtEl>
                                          <p:spTgt spid="50"/>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6"/>
                                        </p:tgtEl>
                                        <p:attrNameLst>
                                          <p:attrName>style.visibility</p:attrName>
                                        </p:attrNameLst>
                                      </p:cBhvr>
                                      <p:to>
                                        <p:strVal val="visible"/>
                                      </p:to>
                                    </p:set>
                                    <p:animEffect transition="in" filter="fade">
                                      <p:cBhvr>
                                        <p:cTn id="61" dur="500"/>
                                        <p:tgtEl>
                                          <p:spTgt spid="46"/>
                                        </p:tgtEl>
                                      </p:cBhvr>
                                    </p:animEffect>
                                  </p:childTnLst>
                                </p:cTn>
                              </p:par>
                            </p:childTnLst>
                          </p:cTn>
                        </p:par>
                        <p:par>
                          <p:cTn id="62" fill="hold">
                            <p:stCondLst>
                              <p:cond delay="500"/>
                            </p:stCondLst>
                            <p:childTnLst>
                              <p:par>
                                <p:cTn id="63" presetID="49" presetClass="path" presetSubtype="0" accel="50000" decel="50000" fill="hold" nodeType="afterEffect">
                                  <p:stCondLst>
                                    <p:cond delay="0"/>
                                  </p:stCondLst>
                                  <p:childTnLst>
                                    <p:animMotion origin="layout" path="M -1.38889E-6 1.11111E-6 L 0.20486 0.32037 " pathEditMode="relative" rAng="0" ptsTypes="AA">
                                      <p:cBhvr>
                                        <p:cTn id="64" dur="2000" fill="hold"/>
                                        <p:tgtEl>
                                          <p:spTgt spid="46"/>
                                        </p:tgtEl>
                                        <p:attrNameLst>
                                          <p:attrName>ppt_x</p:attrName>
                                          <p:attrName>ppt_y</p:attrName>
                                        </p:attrNameLst>
                                      </p:cBhvr>
                                      <p:rCtr x="10243" y="16019"/>
                                    </p:animMotion>
                                  </p:childTnLst>
                                </p:cTn>
                              </p:par>
                            </p:childTnLst>
                          </p:cTn>
                        </p:par>
                        <p:par>
                          <p:cTn id="65" fill="hold">
                            <p:stCondLst>
                              <p:cond delay="2500"/>
                            </p:stCondLst>
                            <p:childTnLst>
                              <p:par>
                                <p:cTn id="66" presetID="10" presetClass="exit" presetSubtype="0" fill="hold" nodeType="afterEffect">
                                  <p:stCondLst>
                                    <p:cond delay="0"/>
                                  </p:stCondLst>
                                  <p:childTnLst>
                                    <p:animEffect transition="out" filter="fade">
                                      <p:cBhvr>
                                        <p:cTn id="67" dur="500"/>
                                        <p:tgtEl>
                                          <p:spTgt spid="46"/>
                                        </p:tgtEl>
                                      </p:cBhvr>
                                    </p:animEffect>
                                    <p:set>
                                      <p:cBhvr>
                                        <p:cTn id="68" dur="1" fill="hold">
                                          <p:stCondLst>
                                            <p:cond delay="499"/>
                                          </p:stCondLst>
                                        </p:cTn>
                                        <p:tgtEl>
                                          <p:spTgt spid="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smtClean="0"/>
              <a:t>特色</a:t>
            </a:r>
            <a:endParaRPr lang="zh-TW" altLang="en-US" dirty="0"/>
          </a:p>
        </p:txBody>
      </p:sp>
      <p:sp>
        <p:nvSpPr>
          <p:cNvPr id="4" name="內容版面配置區 3"/>
          <p:cNvSpPr>
            <a:spLocks noGrp="1"/>
          </p:cNvSpPr>
          <p:nvPr>
            <p:ph idx="1"/>
          </p:nvPr>
        </p:nvSpPr>
        <p:spPr/>
        <p:txBody>
          <a:bodyPr/>
          <a:lstStyle/>
          <a:p>
            <a:endParaRPr lang="en-US" altLang="zh-TW" dirty="0" smtClean="0"/>
          </a:p>
          <a:p>
            <a:endParaRPr lang="zh-TW" altLang="en-US" dirty="0"/>
          </a:p>
        </p:txBody>
      </p:sp>
      <p:sp>
        <p:nvSpPr>
          <p:cNvPr id="11" name="內容版面配置區 2"/>
          <p:cNvSpPr txBox="1">
            <a:spLocks/>
          </p:cNvSpPr>
          <p:nvPr/>
        </p:nvSpPr>
        <p:spPr bwMode="auto">
          <a:xfrm>
            <a:off x="1485900" y="2025255"/>
            <a:ext cx="6172200" cy="342661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2"/>
                </a:solidFill>
                <a:latin typeface="微軟正黑體" pitchFamily="34" charset="-120"/>
                <a:ea typeface="微軟正黑體" pitchFamily="34" charset="-120"/>
                <a:cs typeface="+mn-cs"/>
              </a:defRPr>
            </a:lvl1pPr>
            <a:lvl2pPr marL="742950" indent="-285750" algn="l" rtl="0" eaLnBrk="0" fontAlgn="base" hangingPunct="0">
              <a:spcBef>
                <a:spcPct val="20000"/>
              </a:spcBef>
              <a:spcAft>
                <a:spcPct val="0"/>
              </a:spcAft>
              <a:buFont typeface="Arial" charset="0"/>
              <a:buChar char="–"/>
              <a:defRPr sz="2800" kern="1200">
                <a:solidFill>
                  <a:schemeClr val="accent1"/>
                </a:solidFill>
                <a:latin typeface="微軟正黑體" pitchFamily="34" charset="-120"/>
                <a:ea typeface="微軟正黑體" pitchFamily="34" charset="-120"/>
                <a:cs typeface="+mn-cs"/>
              </a:defRPr>
            </a:lvl2pPr>
            <a:lvl3pPr marL="1143000" indent="-228600" algn="l" rtl="0" eaLnBrk="0" fontAlgn="base" hangingPunct="0">
              <a:spcBef>
                <a:spcPct val="20000"/>
              </a:spcBef>
              <a:spcAft>
                <a:spcPct val="0"/>
              </a:spcAft>
              <a:buFont typeface="Arial" charset="0"/>
              <a:buChar char="•"/>
              <a:defRPr sz="2400" kern="1200">
                <a:solidFill>
                  <a:schemeClr val="accent1"/>
                </a:solidFill>
                <a:latin typeface="微軟正黑體" pitchFamily="34" charset="-120"/>
                <a:ea typeface="微軟正黑體" pitchFamily="34" charset="-120"/>
                <a:cs typeface="+mn-cs"/>
              </a:defRPr>
            </a:lvl3pPr>
            <a:lvl4pPr marL="1600200" indent="-228600" algn="l" rtl="0" eaLnBrk="0" fontAlgn="base" hangingPunct="0">
              <a:spcBef>
                <a:spcPct val="20000"/>
              </a:spcBef>
              <a:spcAft>
                <a:spcPct val="0"/>
              </a:spcAft>
              <a:buFont typeface="Arial" charset="0"/>
              <a:buChar char="–"/>
              <a:defRPr sz="2000" kern="1200">
                <a:solidFill>
                  <a:schemeClr val="accent1"/>
                </a:solidFill>
                <a:latin typeface="微軟正黑體" pitchFamily="34" charset="-120"/>
                <a:ea typeface="微軟正黑體" pitchFamily="34" charset="-120"/>
                <a:cs typeface="+mn-cs"/>
              </a:defRPr>
            </a:lvl4pPr>
            <a:lvl5pPr marL="2057400" indent="-228600" algn="l" rtl="0" eaLnBrk="0" fontAlgn="base" hangingPunct="0">
              <a:spcBef>
                <a:spcPct val="20000"/>
              </a:spcBef>
              <a:spcAft>
                <a:spcPct val="0"/>
              </a:spcAft>
              <a:buFont typeface="Arial" charset="0"/>
              <a:buChar char="»"/>
              <a:defRPr sz="2000" kern="1200">
                <a:solidFill>
                  <a:schemeClr val="accent1"/>
                </a:solidFill>
                <a:latin typeface="微軟正黑體" pitchFamily="34" charset="-120"/>
                <a:ea typeface="微軟正黑體" pitchFamily="34" charset="-12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defRPr/>
            </a:pPr>
            <a:r>
              <a:rPr lang="zh-TW" altLang="en-US" sz="1800" b="1" dirty="0"/>
              <a:t>兼顧資料保護和資產安控兩項需求</a:t>
            </a:r>
            <a:endParaRPr lang="en-US" altLang="zh-TW" sz="1800" b="1" dirty="0"/>
          </a:p>
          <a:p>
            <a:pPr lvl="1" eaLnBrk="1" hangingPunct="1">
              <a:defRPr/>
            </a:pPr>
            <a:r>
              <a:rPr lang="zh-TW" altLang="en-US" sz="1350" dirty="0"/>
              <a:t>資料保護：手動加密、自動加密、資料夾加密</a:t>
            </a:r>
            <a:r>
              <a:rPr lang="en-US" altLang="zh-TW" sz="1350" dirty="0"/>
              <a:t>…</a:t>
            </a:r>
            <a:r>
              <a:rPr lang="zh-TW" altLang="en-US" sz="1350" dirty="0"/>
              <a:t>等</a:t>
            </a:r>
            <a:endParaRPr lang="en-US" altLang="zh-TW" sz="1350" dirty="0"/>
          </a:p>
          <a:p>
            <a:pPr lvl="1" eaLnBrk="1" hangingPunct="1">
              <a:defRPr/>
            </a:pPr>
            <a:r>
              <a:rPr lang="zh-TW" altLang="en-US" sz="1350" dirty="0"/>
              <a:t>資產安控：軟體禁用、周邊控管</a:t>
            </a:r>
            <a:r>
              <a:rPr lang="en-US" altLang="zh-TW" sz="1350" dirty="0"/>
              <a:t>…</a:t>
            </a:r>
            <a:r>
              <a:rPr lang="zh-TW" altLang="en-US" sz="1350" dirty="0"/>
              <a:t>等</a:t>
            </a:r>
            <a:endParaRPr lang="en-US" altLang="zh-TW" sz="1350" dirty="0"/>
          </a:p>
          <a:p>
            <a:pPr lvl="1" eaLnBrk="1" hangingPunct="1">
              <a:defRPr/>
            </a:pPr>
            <a:r>
              <a:rPr lang="zh-TW" altLang="en-US" sz="1350" dirty="0"/>
              <a:t>二合一：</a:t>
            </a:r>
            <a:r>
              <a:rPr lang="en-US" altLang="zh-TW" sz="1350" dirty="0"/>
              <a:t>USB</a:t>
            </a:r>
            <a:r>
              <a:rPr lang="zh-TW" altLang="en-US" sz="1350" dirty="0"/>
              <a:t>裝置使用</a:t>
            </a:r>
            <a:r>
              <a:rPr lang="en-US" altLang="zh-TW" sz="1350" dirty="0"/>
              <a:t>/</a:t>
            </a:r>
            <a:r>
              <a:rPr lang="zh-TW" altLang="en-US" sz="1350" dirty="0"/>
              <a:t>禁用管理，以及外攜檔案加密保護</a:t>
            </a:r>
            <a:endParaRPr lang="en-US" altLang="zh-TW" sz="1350" dirty="0"/>
          </a:p>
          <a:p>
            <a:pPr lvl="1" eaLnBrk="1" hangingPunct="1">
              <a:defRPr/>
            </a:pPr>
            <a:endParaRPr lang="en-US" altLang="zh-TW" sz="675" b="1" dirty="0"/>
          </a:p>
          <a:p>
            <a:pPr eaLnBrk="1" hangingPunct="1">
              <a:defRPr/>
            </a:pPr>
            <a:r>
              <a:rPr lang="zh-TW" altLang="en-US" sz="1800" b="1" dirty="0"/>
              <a:t>採用加密、</a:t>
            </a:r>
            <a:r>
              <a:rPr lang="en-US" altLang="zh-TW" sz="1800" b="1" dirty="0"/>
              <a:t>E-DRM</a:t>
            </a:r>
            <a:r>
              <a:rPr lang="zh-TW" altLang="en-US" sz="1800" b="1" dirty="0"/>
              <a:t>、</a:t>
            </a:r>
            <a:r>
              <a:rPr lang="en-US" altLang="zh-TW" sz="1800" b="1" dirty="0"/>
              <a:t>DLP</a:t>
            </a:r>
            <a:r>
              <a:rPr lang="zh-TW" altLang="en-US" sz="1800" b="1" dirty="0"/>
              <a:t>三項技術</a:t>
            </a:r>
            <a:endParaRPr lang="en-US" altLang="zh-TW" sz="1800" b="1" dirty="0"/>
          </a:p>
          <a:p>
            <a:pPr lvl="1" eaLnBrk="1" hangingPunct="1">
              <a:defRPr/>
            </a:pPr>
            <a:r>
              <a:rPr lang="zh-TW" altLang="en-US" sz="1350" dirty="0"/>
              <a:t>加密：使用</a:t>
            </a:r>
            <a:r>
              <a:rPr lang="en-US" altLang="zh-TW" sz="1350" dirty="0"/>
              <a:t>AES 256-bit</a:t>
            </a:r>
            <a:r>
              <a:rPr lang="zh-TW" altLang="en-US" sz="1350" dirty="0"/>
              <a:t> 對稱式加密金鑰，加密保護檔案</a:t>
            </a:r>
            <a:endParaRPr lang="en-US" altLang="zh-TW" sz="1350" dirty="0"/>
          </a:p>
          <a:p>
            <a:pPr lvl="1" eaLnBrk="1" hangingPunct="1">
              <a:defRPr/>
            </a:pPr>
            <a:r>
              <a:rPr lang="en-US" altLang="zh-TW" sz="1350" dirty="0"/>
              <a:t>E-DRM</a:t>
            </a:r>
            <a:r>
              <a:rPr lang="zh-TW" altLang="en-US" sz="1350" dirty="0"/>
              <a:t>：控管檔案使用權限</a:t>
            </a:r>
            <a:r>
              <a:rPr lang="en-US" altLang="zh-TW" sz="1350" dirty="0"/>
              <a:t>(</a:t>
            </a:r>
            <a:r>
              <a:rPr lang="zh-TW" altLang="en-US" sz="1350" dirty="0"/>
              <a:t>如讀、寫、存、印、截圖等</a:t>
            </a:r>
            <a:r>
              <a:rPr lang="en-US" altLang="zh-TW" sz="1350" dirty="0"/>
              <a:t>)</a:t>
            </a:r>
            <a:r>
              <a:rPr lang="zh-TW" altLang="en-US" sz="1350" dirty="0"/>
              <a:t>，結合審核</a:t>
            </a:r>
            <a:r>
              <a:rPr lang="zh-TW" altLang="en-US" sz="1275" dirty="0"/>
              <a:t>制度</a:t>
            </a:r>
            <a:endParaRPr lang="en-US" altLang="zh-TW" sz="1275" dirty="0"/>
          </a:p>
          <a:p>
            <a:pPr lvl="1" eaLnBrk="1" hangingPunct="1">
              <a:defRPr/>
            </a:pPr>
            <a:r>
              <a:rPr lang="en-US" altLang="zh-TW" sz="1350" dirty="0"/>
              <a:t>DLP</a:t>
            </a:r>
            <a:r>
              <a:rPr lang="zh-TW" altLang="en-US" sz="1350" dirty="0"/>
              <a:t>：控管各種可能造成檔案外流的管道</a:t>
            </a:r>
            <a:r>
              <a:rPr lang="en-US" altLang="zh-TW" sz="1350" dirty="0"/>
              <a:t>(</a:t>
            </a:r>
            <a:r>
              <a:rPr lang="zh-TW" altLang="en-US" sz="1350" dirty="0"/>
              <a:t>如可攜式裝置外攜、</a:t>
            </a:r>
            <a:r>
              <a:rPr lang="en-US" altLang="zh-TW" sz="1350" dirty="0"/>
              <a:t>IM</a:t>
            </a:r>
            <a:r>
              <a:rPr lang="zh-TW" altLang="en-US" sz="1350" dirty="0"/>
              <a:t>傳檔等</a:t>
            </a:r>
            <a:r>
              <a:rPr lang="en-US" altLang="zh-TW" sz="1350" dirty="0"/>
              <a:t>)</a:t>
            </a:r>
          </a:p>
          <a:p>
            <a:pPr lvl="1" eaLnBrk="1" hangingPunct="1">
              <a:defRPr/>
            </a:pPr>
            <a:endParaRPr lang="en-US" altLang="zh-TW" sz="1350" dirty="0"/>
          </a:p>
          <a:p>
            <a:pPr marL="257175" lvl="2" indent="-257175" eaLnBrk="1" hangingPunct="1">
              <a:defRPr/>
            </a:pPr>
            <a:r>
              <a:rPr lang="zh-TW" altLang="en-US" sz="1725" b="1" dirty="0">
                <a:solidFill>
                  <a:schemeClr val="tx2"/>
                </a:solidFill>
              </a:rPr>
              <a:t>使用</a:t>
            </a:r>
            <a:r>
              <a:rPr lang="en-US" altLang="zh-TW" sz="1725" b="1" dirty="0">
                <a:solidFill>
                  <a:schemeClr val="tx2"/>
                </a:solidFill>
              </a:rPr>
              <a:t>HTTP</a:t>
            </a:r>
            <a:r>
              <a:rPr lang="zh-TW" altLang="en-US" sz="1725" b="1" dirty="0">
                <a:solidFill>
                  <a:schemeClr val="tx2"/>
                </a:solidFill>
              </a:rPr>
              <a:t>加密整合企業內部既有應用系統</a:t>
            </a:r>
            <a:endParaRPr lang="en-US" altLang="zh-TW" sz="1725" b="1" dirty="0">
              <a:solidFill>
                <a:schemeClr val="tx2"/>
              </a:solidFill>
            </a:endParaRPr>
          </a:p>
          <a:p>
            <a:pPr lvl="1" eaLnBrk="1" hangingPunct="1">
              <a:defRPr/>
            </a:pPr>
            <a:r>
              <a:rPr lang="zh-TW" altLang="en-US" sz="1350" dirty="0"/>
              <a:t>檔案下載與上傳自動加解密，降低導入障礙</a:t>
            </a:r>
            <a:endParaRPr lang="en-US" altLang="zh-TW" sz="1350" dirty="0"/>
          </a:p>
        </p:txBody>
      </p:sp>
    </p:spTree>
    <p:extLst>
      <p:ext uri="{BB962C8B-B14F-4D97-AF65-F5344CB8AC3E}">
        <p14:creationId xmlns:p14="http://schemas.microsoft.com/office/powerpoint/2010/main" val="2197217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8547" name="AutoShape 3"/>
          <p:cNvSpPr>
            <a:spLocks noChangeArrowheads="1"/>
          </p:cNvSpPr>
          <p:nvPr/>
        </p:nvSpPr>
        <p:spPr bwMode="auto">
          <a:xfrm>
            <a:off x="979488" y="3967163"/>
            <a:ext cx="5761037" cy="576262"/>
          </a:xfrm>
          <a:prstGeom prst="cube">
            <a:avLst>
              <a:gd name="adj" fmla="val 25000"/>
            </a:avLst>
          </a:prstGeom>
          <a:gradFill rotWithShape="1">
            <a:gsLst>
              <a:gs pos="0">
                <a:srgbClr val="666699"/>
              </a:gs>
              <a:gs pos="50000">
                <a:schemeClr val="bg1"/>
              </a:gs>
              <a:gs pos="100000">
                <a:srgbClr val="666699"/>
              </a:gs>
            </a:gsLst>
            <a:lin ang="5400000" scaled="1"/>
          </a:gradFill>
          <a:ln w="9525">
            <a:noFill/>
            <a:miter lim="800000"/>
            <a:headEnd/>
            <a:tailEnd/>
          </a:ln>
          <a:effectLst/>
        </p:spPr>
        <p:txBody>
          <a:bodyPr wrap="none" anchor="ctr"/>
          <a:lstStyle/>
          <a:p>
            <a:pPr fontAlgn="auto">
              <a:spcBef>
                <a:spcPts val="0"/>
              </a:spcBef>
              <a:spcAft>
                <a:spcPts val="0"/>
              </a:spcAft>
              <a:defRPr/>
            </a:pPr>
            <a:endParaRPr kumimoji="0" lang="zh-TW" altLang="en-US" sz="1400">
              <a:latin typeface="標楷體" pitchFamily="65" charset="-120"/>
              <a:ea typeface="標楷體" pitchFamily="65" charset="-120"/>
            </a:endParaRPr>
          </a:p>
        </p:txBody>
      </p:sp>
      <p:sp>
        <p:nvSpPr>
          <p:cNvPr id="108548" name="AutoShape 4"/>
          <p:cNvSpPr>
            <a:spLocks noChangeArrowheads="1"/>
          </p:cNvSpPr>
          <p:nvPr/>
        </p:nvSpPr>
        <p:spPr bwMode="auto">
          <a:xfrm>
            <a:off x="979488" y="3535363"/>
            <a:ext cx="5762625" cy="576262"/>
          </a:xfrm>
          <a:prstGeom prst="cube">
            <a:avLst>
              <a:gd name="adj" fmla="val 25000"/>
            </a:avLst>
          </a:prstGeom>
          <a:gradFill rotWithShape="1">
            <a:gsLst>
              <a:gs pos="0">
                <a:srgbClr val="C0C0C0"/>
              </a:gs>
              <a:gs pos="50000">
                <a:schemeClr val="bg1"/>
              </a:gs>
              <a:gs pos="100000">
                <a:srgbClr val="C0C0C0"/>
              </a:gs>
            </a:gsLst>
            <a:lin ang="5400000" scaled="1"/>
          </a:gradFill>
          <a:ln w="9525">
            <a:noFill/>
            <a:miter lim="800000"/>
            <a:headEnd/>
            <a:tailEnd/>
          </a:ln>
          <a:effectLst/>
        </p:spPr>
        <p:txBody>
          <a:bodyPr wrap="none" anchor="ctr"/>
          <a:lstStyle/>
          <a:p>
            <a:pPr fontAlgn="auto">
              <a:spcBef>
                <a:spcPts val="0"/>
              </a:spcBef>
              <a:spcAft>
                <a:spcPts val="0"/>
              </a:spcAft>
              <a:defRPr/>
            </a:pPr>
            <a:endParaRPr kumimoji="0" lang="zh-TW" altLang="en-US" sz="1400">
              <a:latin typeface="標楷體" pitchFamily="65" charset="-120"/>
              <a:ea typeface="標楷體" pitchFamily="65" charset="-120"/>
            </a:endParaRPr>
          </a:p>
        </p:txBody>
      </p:sp>
      <p:sp>
        <p:nvSpPr>
          <p:cNvPr id="16389" name="Text Box 89"/>
          <p:cNvSpPr txBox="1">
            <a:spLocks noChangeArrowheads="1"/>
          </p:cNvSpPr>
          <p:nvPr/>
        </p:nvSpPr>
        <p:spPr bwMode="auto">
          <a:xfrm>
            <a:off x="2297113" y="136209"/>
            <a:ext cx="8496300" cy="647700"/>
          </a:xfrm>
          <a:prstGeom prst="rect">
            <a:avLst/>
          </a:prstGeom>
          <a:noFill/>
          <a:ln w="9525">
            <a:noFill/>
            <a:miter lim="800000"/>
            <a:headEnd/>
            <a:tailEnd/>
          </a:ln>
        </p:spPr>
        <p:txBody>
          <a:bodyPr>
            <a:spAutoFit/>
          </a:bodyPr>
          <a:lstStyle/>
          <a:p>
            <a:pPr>
              <a:spcBef>
                <a:spcPct val="50000"/>
              </a:spcBef>
              <a:defRPr/>
            </a:pPr>
            <a:r>
              <a:rPr kumimoji="0" lang="zh-TW" altLang="en-US" sz="3600" b="1" dirty="0" smtClean="0">
                <a:latin typeface="+mj-lt"/>
                <a:ea typeface="標楷體" pitchFamily="65" charset="-120"/>
              </a:rPr>
              <a:t>多</a:t>
            </a:r>
            <a:r>
              <a:rPr kumimoji="0" lang="zh-TW" altLang="en-US" sz="3600" b="1" dirty="0">
                <a:latin typeface="+mj-lt"/>
                <a:ea typeface="標楷體" pitchFamily="65" charset="-120"/>
              </a:rPr>
              <a:t>層次垃圾信防禦手法</a:t>
            </a:r>
          </a:p>
        </p:txBody>
      </p:sp>
      <p:grpSp>
        <p:nvGrpSpPr>
          <p:cNvPr id="23557" name="Group 6"/>
          <p:cNvGrpSpPr>
            <a:grpSpLocks/>
          </p:cNvGrpSpPr>
          <p:nvPr/>
        </p:nvGrpSpPr>
        <p:grpSpPr bwMode="auto">
          <a:xfrm>
            <a:off x="5661025" y="2384425"/>
            <a:ext cx="1079500" cy="2087563"/>
            <a:chOff x="3606" y="1253"/>
            <a:chExt cx="680" cy="1315"/>
          </a:xfrm>
        </p:grpSpPr>
        <p:sp>
          <p:nvSpPr>
            <p:cNvPr id="24696" name="AutoShape 7"/>
            <p:cNvSpPr>
              <a:spLocks noChangeArrowheads="1"/>
            </p:cNvSpPr>
            <p:nvPr/>
          </p:nvSpPr>
          <p:spPr bwMode="auto">
            <a:xfrm>
              <a:off x="3607" y="1253"/>
              <a:ext cx="679" cy="817"/>
            </a:xfrm>
            <a:prstGeom prst="cube">
              <a:avLst>
                <a:gd name="adj" fmla="val 14227"/>
              </a:avLst>
            </a:prstGeom>
            <a:solidFill>
              <a:schemeClr val="accent1"/>
            </a:solidFill>
            <a:ln w="9525">
              <a:noFill/>
              <a:miter lim="800000"/>
              <a:headEnd/>
              <a:tailEnd/>
            </a:ln>
            <a:effectLst>
              <a:softEdge rad="31750"/>
            </a:effectLst>
          </p:spPr>
          <p:txBody>
            <a:bodyPr wrap="none" anchor="ctr"/>
            <a:lstStyle/>
            <a:p>
              <a:pPr>
                <a:defRPr/>
              </a:pPr>
              <a:endParaRPr kumimoji="0" lang="zh-TW" altLang="en-US" sz="1400">
                <a:latin typeface="標楷體" pitchFamily="65" charset="-120"/>
                <a:ea typeface="標楷體" pitchFamily="65" charset="-120"/>
              </a:endParaRPr>
            </a:p>
          </p:txBody>
        </p:sp>
        <p:sp>
          <p:nvSpPr>
            <p:cNvPr id="23682" name="Rectangle 36"/>
            <p:cNvSpPr>
              <a:spLocks noChangeArrowheads="1"/>
            </p:cNvSpPr>
            <p:nvPr/>
          </p:nvSpPr>
          <p:spPr bwMode="auto">
            <a:xfrm>
              <a:off x="3606" y="1345"/>
              <a:ext cx="577" cy="225"/>
            </a:xfrm>
            <a:prstGeom prst="rect">
              <a:avLst/>
            </a:prstGeom>
            <a:solidFill>
              <a:srgbClr val="00CC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83" name="Rectangle 37"/>
            <p:cNvSpPr>
              <a:spLocks noChangeArrowheads="1"/>
            </p:cNvSpPr>
            <p:nvPr/>
          </p:nvSpPr>
          <p:spPr bwMode="auto">
            <a:xfrm>
              <a:off x="3606" y="1570"/>
              <a:ext cx="577" cy="998"/>
            </a:xfrm>
            <a:prstGeom prst="rect">
              <a:avLst/>
            </a:prstGeom>
            <a:solidFill>
              <a:srgbClr val="E6FDFE">
                <a:alpha val="38823"/>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84" name="Text Box 38"/>
            <p:cNvSpPr txBox="1">
              <a:spLocks noChangeArrowheads="1"/>
            </p:cNvSpPr>
            <p:nvPr/>
          </p:nvSpPr>
          <p:spPr bwMode="auto">
            <a:xfrm>
              <a:off x="3651" y="1344"/>
              <a:ext cx="51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400" b="1">
                  <a:solidFill>
                    <a:schemeClr val="bg1"/>
                  </a:solidFill>
                  <a:latin typeface="標楷體" panose="03000509000000000000" pitchFamily="65" charset="-120"/>
                  <a:ea typeface="標楷體" panose="03000509000000000000" pitchFamily="65" charset="-120"/>
                </a:rPr>
                <a:t>Layer 5</a:t>
              </a:r>
            </a:p>
          </p:txBody>
        </p:sp>
        <p:sp>
          <p:nvSpPr>
            <p:cNvPr id="23685" name="Rectangle 39"/>
            <p:cNvSpPr>
              <a:spLocks noChangeArrowheads="1"/>
            </p:cNvSpPr>
            <p:nvPr/>
          </p:nvSpPr>
          <p:spPr bwMode="auto">
            <a:xfrm>
              <a:off x="3606" y="1652"/>
              <a:ext cx="58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kumimoji="0" lang="zh-TW" altLang="en-US" sz="1400">
                  <a:latin typeface="標楷體" panose="03000509000000000000" pitchFamily="65" charset="-120"/>
                  <a:ea typeface="標楷體" panose="03000509000000000000" pitchFamily="65" charset="-120"/>
                </a:rPr>
                <a:t>自動學習過濾</a:t>
              </a:r>
            </a:p>
          </p:txBody>
        </p:sp>
      </p:grpSp>
      <p:grpSp>
        <p:nvGrpSpPr>
          <p:cNvPr id="23558" name="Group 12"/>
          <p:cNvGrpSpPr>
            <a:grpSpLocks/>
          </p:cNvGrpSpPr>
          <p:nvPr/>
        </p:nvGrpSpPr>
        <p:grpSpPr bwMode="auto">
          <a:xfrm>
            <a:off x="2132013" y="2384425"/>
            <a:ext cx="1009650" cy="2016125"/>
            <a:chOff x="1383" y="1253"/>
            <a:chExt cx="636" cy="1270"/>
          </a:xfrm>
        </p:grpSpPr>
        <p:sp>
          <p:nvSpPr>
            <p:cNvPr id="24691" name="AutoShape 13"/>
            <p:cNvSpPr>
              <a:spLocks noChangeArrowheads="1"/>
            </p:cNvSpPr>
            <p:nvPr/>
          </p:nvSpPr>
          <p:spPr bwMode="auto">
            <a:xfrm>
              <a:off x="1383" y="1253"/>
              <a:ext cx="636" cy="817"/>
            </a:xfrm>
            <a:prstGeom prst="cube">
              <a:avLst>
                <a:gd name="adj" fmla="val 14227"/>
              </a:avLst>
            </a:prstGeom>
            <a:solidFill>
              <a:schemeClr val="accent1"/>
            </a:solidFill>
            <a:ln w="9525">
              <a:noFill/>
              <a:miter lim="800000"/>
              <a:headEnd/>
              <a:tailEnd/>
            </a:ln>
            <a:effectLst>
              <a:softEdge rad="31750"/>
            </a:effectLst>
          </p:spPr>
          <p:txBody>
            <a:bodyPr wrap="none" anchor="ctr"/>
            <a:lstStyle/>
            <a:p>
              <a:pPr>
                <a:defRPr/>
              </a:pPr>
              <a:endParaRPr kumimoji="0" lang="zh-TW" altLang="en-US" sz="1400">
                <a:latin typeface="標楷體" pitchFamily="65" charset="-120"/>
                <a:ea typeface="標楷體" pitchFamily="65" charset="-120"/>
              </a:endParaRPr>
            </a:p>
          </p:txBody>
        </p:sp>
        <p:sp>
          <p:nvSpPr>
            <p:cNvPr id="23675" name="Rectangle 48"/>
            <p:cNvSpPr>
              <a:spLocks noChangeArrowheads="1"/>
            </p:cNvSpPr>
            <p:nvPr/>
          </p:nvSpPr>
          <p:spPr bwMode="auto">
            <a:xfrm>
              <a:off x="1383" y="1343"/>
              <a:ext cx="547" cy="227"/>
            </a:xfrm>
            <a:prstGeom prst="rect">
              <a:avLst/>
            </a:prstGeom>
            <a:solidFill>
              <a:srgbClr val="00CC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76" name="Rectangle 49"/>
            <p:cNvSpPr>
              <a:spLocks noChangeArrowheads="1"/>
            </p:cNvSpPr>
            <p:nvPr/>
          </p:nvSpPr>
          <p:spPr bwMode="auto">
            <a:xfrm>
              <a:off x="1383" y="1570"/>
              <a:ext cx="547" cy="953"/>
            </a:xfrm>
            <a:prstGeom prst="rect">
              <a:avLst/>
            </a:prstGeom>
            <a:solidFill>
              <a:srgbClr val="E6FDFE">
                <a:alpha val="34117"/>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77" name="Text Box 50"/>
            <p:cNvSpPr txBox="1">
              <a:spLocks noChangeArrowheads="1"/>
            </p:cNvSpPr>
            <p:nvPr/>
          </p:nvSpPr>
          <p:spPr bwMode="auto">
            <a:xfrm>
              <a:off x="1409" y="1344"/>
              <a:ext cx="46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54000" rIns="54000">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400" b="1">
                  <a:solidFill>
                    <a:schemeClr val="bg1"/>
                  </a:solidFill>
                  <a:latin typeface="標楷體" panose="03000509000000000000" pitchFamily="65" charset="-120"/>
                  <a:ea typeface="標楷體" panose="03000509000000000000" pitchFamily="65" charset="-120"/>
                </a:rPr>
                <a:t>Layer 2</a:t>
              </a:r>
            </a:p>
          </p:txBody>
        </p:sp>
        <p:sp>
          <p:nvSpPr>
            <p:cNvPr id="23678" name="Rectangle 51"/>
            <p:cNvSpPr>
              <a:spLocks noChangeArrowheads="1"/>
            </p:cNvSpPr>
            <p:nvPr/>
          </p:nvSpPr>
          <p:spPr bwMode="auto">
            <a:xfrm>
              <a:off x="1383" y="1653"/>
              <a:ext cx="54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kumimoji="0" lang="zh-TW" altLang="en-US" sz="1400">
                  <a:latin typeface="標楷體" panose="03000509000000000000" pitchFamily="65" charset="-120"/>
                  <a:ea typeface="標楷體" panose="03000509000000000000" pitchFamily="65" charset="-120"/>
                </a:rPr>
                <a:t>黑</a:t>
              </a:r>
              <a:r>
                <a:rPr kumimoji="0" lang="en-US" altLang="zh-TW" sz="1400">
                  <a:latin typeface="標楷體" panose="03000509000000000000" pitchFamily="65" charset="-120"/>
                  <a:ea typeface="標楷體" panose="03000509000000000000" pitchFamily="65" charset="-120"/>
                </a:rPr>
                <a:t>/</a:t>
              </a:r>
              <a:r>
                <a:rPr kumimoji="0" lang="zh-TW" altLang="en-US" sz="1400">
                  <a:latin typeface="標楷體" panose="03000509000000000000" pitchFamily="65" charset="-120"/>
                  <a:ea typeface="標楷體" panose="03000509000000000000" pitchFamily="65" charset="-120"/>
                </a:rPr>
                <a:t>白名單過濾 </a:t>
              </a:r>
            </a:p>
          </p:txBody>
        </p:sp>
      </p:grpSp>
      <p:grpSp>
        <p:nvGrpSpPr>
          <p:cNvPr id="23559" name="Group 18"/>
          <p:cNvGrpSpPr>
            <a:grpSpLocks/>
          </p:cNvGrpSpPr>
          <p:nvPr/>
        </p:nvGrpSpPr>
        <p:grpSpPr bwMode="auto">
          <a:xfrm>
            <a:off x="3276600" y="2384425"/>
            <a:ext cx="1087438" cy="2016125"/>
            <a:chOff x="2104" y="1253"/>
            <a:chExt cx="685" cy="1270"/>
          </a:xfrm>
        </p:grpSpPr>
        <p:sp>
          <p:nvSpPr>
            <p:cNvPr id="2" name="AutoShape 19"/>
            <p:cNvSpPr>
              <a:spLocks noChangeArrowheads="1"/>
            </p:cNvSpPr>
            <p:nvPr/>
          </p:nvSpPr>
          <p:spPr bwMode="auto">
            <a:xfrm>
              <a:off x="2109" y="1253"/>
              <a:ext cx="680" cy="817"/>
            </a:xfrm>
            <a:prstGeom prst="cube">
              <a:avLst>
                <a:gd name="adj" fmla="val 14227"/>
              </a:avLst>
            </a:prstGeom>
            <a:solidFill>
              <a:schemeClr val="accent1"/>
            </a:solidFill>
            <a:ln w="9525">
              <a:noFill/>
              <a:miter lim="800000"/>
              <a:headEnd/>
              <a:tailEnd/>
            </a:ln>
            <a:effectLst>
              <a:softEdge rad="31750"/>
            </a:effectLst>
          </p:spPr>
          <p:txBody>
            <a:bodyPr wrap="none" anchor="ctr"/>
            <a:lstStyle/>
            <a:p>
              <a:pPr>
                <a:defRPr/>
              </a:pPr>
              <a:endParaRPr kumimoji="0" lang="zh-TW" altLang="en-US" sz="1400">
                <a:latin typeface="標楷體" pitchFamily="65" charset="-120"/>
                <a:ea typeface="標楷體" pitchFamily="65" charset="-120"/>
              </a:endParaRPr>
            </a:p>
          </p:txBody>
        </p:sp>
        <p:sp>
          <p:nvSpPr>
            <p:cNvPr id="23668" name="Rectangle 56"/>
            <p:cNvSpPr>
              <a:spLocks noChangeArrowheads="1"/>
            </p:cNvSpPr>
            <p:nvPr/>
          </p:nvSpPr>
          <p:spPr bwMode="auto">
            <a:xfrm>
              <a:off x="2104" y="1343"/>
              <a:ext cx="601" cy="227"/>
            </a:xfrm>
            <a:prstGeom prst="rect">
              <a:avLst/>
            </a:prstGeom>
            <a:solidFill>
              <a:srgbClr val="00CC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69" name="Rectangle 57"/>
            <p:cNvSpPr>
              <a:spLocks noChangeArrowheads="1"/>
            </p:cNvSpPr>
            <p:nvPr/>
          </p:nvSpPr>
          <p:spPr bwMode="auto">
            <a:xfrm>
              <a:off x="2109" y="1570"/>
              <a:ext cx="601" cy="953"/>
            </a:xfrm>
            <a:prstGeom prst="rect">
              <a:avLst/>
            </a:prstGeom>
            <a:solidFill>
              <a:srgbClr val="E6FDFE">
                <a:alpha val="38823"/>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70" name="Text Box 58"/>
            <p:cNvSpPr txBox="1">
              <a:spLocks noChangeArrowheads="1"/>
            </p:cNvSpPr>
            <p:nvPr/>
          </p:nvSpPr>
          <p:spPr bwMode="auto">
            <a:xfrm>
              <a:off x="2154" y="1344"/>
              <a:ext cx="53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400" b="1">
                  <a:solidFill>
                    <a:schemeClr val="bg1"/>
                  </a:solidFill>
                  <a:latin typeface="標楷體" panose="03000509000000000000" pitchFamily="65" charset="-120"/>
                  <a:ea typeface="標楷體" panose="03000509000000000000" pitchFamily="65" charset="-120"/>
                </a:rPr>
                <a:t>Layer 3</a:t>
              </a:r>
            </a:p>
          </p:txBody>
        </p:sp>
        <p:sp>
          <p:nvSpPr>
            <p:cNvPr id="23671" name="Rectangle 59"/>
            <p:cNvSpPr>
              <a:spLocks noChangeArrowheads="1"/>
            </p:cNvSpPr>
            <p:nvPr/>
          </p:nvSpPr>
          <p:spPr bwMode="auto">
            <a:xfrm>
              <a:off x="2109" y="1637"/>
              <a:ext cx="59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kumimoji="0" lang="zh-TW" altLang="en-US" sz="1400">
                  <a:latin typeface="標楷體" panose="03000509000000000000" pitchFamily="65" charset="-120"/>
                  <a:ea typeface="標楷體" panose="03000509000000000000" pitchFamily="65" charset="-120"/>
                </a:rPr>
                <a:t>內容絕對</a:t>
              </a:r>
            </a:p>
            <a:p>
              <a:pPr algn="ctr" eaLnBrk="1" hangingPunct="1"/>
              <a:r>
                <a:rPr kumimoji="0" lang="zh-TW" altLang="en-US" sz="1400">
                  <a:latin typeface="標楷體" panose="03000509000000000000" pitchFamily="65" charset="-120"/>
                  <a:ea typeface="標楷體" panose="03000509000000000000" pitchFamily="65" charset="-120"/>
                </a:rPr>
                <a:t>過濾層 </a:t>
              </a:r>
            </a:p>
          </p:txBody>
        </p:sp>
      </p:grpSp>
      <p:grpSp>
        <p:nvGrpSpPr>
          <p:cNvPr id="23560" name="Group 24"/>
          <p:cNvGrpSpPr>
            <a:grpSpLocks/>
          </p:cNvGrpSpPr>
          <p:nvPr/>
        </p:nvGrpSpPr>
        <p:grpSpPr bwMode="auto">
          <a:xfrm>
            <a:off x="4508500" y="2384425"/>
            <a:ext cx="1079500" cy="2087563"/>
            <a:chOff x="2880" y="1253"/>
            <a:chExt cx="680" cy="1315"/>
          </a:xfrm>
        </p:grpSpPr>
        <p:sp>
          <p:nvSpPr>
            <p:cNvPr id="3" name="AutoShape 25"/>
            <p:cNvSpPr>
              <a:spLocks noChangeArrowheads="1"/>
            </p:cNvSpPr>
            <p:nvPr/>
          </p:nvSpPr>
          <p:spPr bwMode="auto">
            <a:xfrm>
              <a:off x="2880" y="1253"/>
              <a:ext cx="680" cy="817"/>
            </a:xfrm>
            <a:prstGeom prst="cube">
              <a:avLst>
                <a:gd name="adj" fmla="val 14227"/>
              </a:avLst>
            </a:prstGeom>
            <a:solidFill>
              <a:schemeClr val="accent1"/>
            </a:solidFill>
            <a:ln w="9525">
              <a:noFill/>
              <a:miter lim="800000"/>
              <a:headEnd/>
              <a:tailEnd/>
            </a:ln>
            <a:effectLst>
              <a:softEdge rad="31750"/>
            </a:effectLst>
          </p:spPr>
          <p:txBody>
            <a:bodyPr wrap="none" anchor="ctr"/>
            <a:lstStyle/>
            <a:p>
              <a:pPr>
                <a:defRPr/>
              </a:pPr>
              <a:endParaRPr kumimoji="0" lang="zh-TW" altLang="en-US" sz="1400">
                <a:latin typeface="標楷體" pitchFamily="65" charset="-120"/>
                <a:ea typeface="標楷體" pitchFamily="65" charset="-120"/>
              </a:endParaRPr>
            </a:p>
          </p:txBody>
        </p:sp>
        <p:sp>
          <p:nvSpPr>
            <p:cNvPr id="23661" name="Rectangle 64"/>
            <p:cNvSpPr>
              <a:spLocks noChangeArrowheads="1"/>
            </p:cNvSpPr>
            <p:nvPr/>
          </p:nvSpPr>
          <p:spPr bwMode="auto">
            <a:xfrm>
              <a:off x="2880" y="1343"/>
              <a:ext cx="575" cy="227"/>
            </a:xfrm>
            <a:prstGeom prst="rect">
              <a:avLst/>
            </a:prstGeom>
            <a:solidFill>
              <a:srgbClr val="00CC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62" name="Rectangle 65"/>
            <p:cNvSpPr>
              <a:spLocks noChangeArrowheads="1"/>
            </p:cNvSpPr>
            <p:nvPr/>
          </p:nvSpPr>
          <p:spPr bwMode="auto">
            <a:xfrm>
              <a:off x="2880" y="1570"/>
              <a:ext cx="575" cy="998"/>
            </a:xfrm>
            <a:prstGeom prst="rect">
              <a:avLst/>
            </a:prstGeom>
            <a:solidFill>
              <a:srgbClr val="E6FDFE">
                <a:alpha val="34117"/>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63" name="Text Box 66"/>
            <p:cNvSpPr txBox="1">
              <a:spLocks noChangeArrowheads="1"/>
            </p:cNvSpPr>
            <p:nvPr/>
          </p:nvSpPr>
          <p:spPr bwMode="auto">
            <a:xfrm>
              <a:off x="2916" y="1344"/>
              <a:ext cx="50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400" b="1">
                  <a:solidFill>
                    <a:schemeClr val="bg1"/>
                  </a:solidFill>
                  <a:latin typeface="標楷體" panose="03000509000000000000" pitchFamily="65" charset="-120"/>
                  <a:ea typeface="標楷體" panose="03000509000000000000" pitchFamily="65" charset="-120"/>
                </a:rPr>
                <a:t>Layer 4</a:t>
              </a:r>
            </a:p>
          </p:txBody>
        </p:sp>
        <p:sp>
          <p:nvSpPr>
            <p:cNvPr id="23664" name="Rectangle 67"/>
            <p:cNvSpPr>
              <a:spLocks noChangeArrowheads="1"/>
            </p:cNvSpPr>
            <p:nvPr/>
          </p:nvSpPr>
          <p:spPr bwMode="auto">
            <a:xfrm>
              <a:off x="2880" y="1637"/>
              <a:ext cx="57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kumimoji="0" lang="zh-TW" altLang="en-US" sz="1400">
                  <a:latin typeface="標楷體" panose="03000509000000000000" pitchFamily="65" charset="-120"/>
                  <a:ea typeface="標楷體" panose="03000509000000000000" pitchFamily="65" charset="-120"/>
                </a:rPr>
                <a:t>內容模糊過濾層</a:t>
              </a:r>
            </a:p>
          </p:txBody>
        </p:sp>
      </p:grpSp>
      <p:grpSp>
        <p:nvGrpSpPr>
          <p:cNvPr id="23561" name="Group 30"/>
          <p:cNvGrpSpPr>
            <a:grpSpLocks/>
          </p:cNvGrpSpPr>
          <p:nvPr/>
        </p:nvGrpSpPr>
        <p:grpSpPr bwMode="auto">
          <a:xfrm>
            <a:off x="979488" y="2384425"/>
            <a:ext cx="1081087" cy="2016125"/>
            <a:chOff x="657" y="1253"/>
            <a:chExt cx="681" cy="1270"/>
          </a:xfrm>
        </p:grpSpPr>
        <p:sp>
          <p:nvSpPr>
            <p:cNvPr id="24676" name="AutoShape 31"/>
            <p:cNvSpPr>
              <a:spLocks noChangeArrowheads="1"/>
            </p:cNvSpPr>
            <p:nvPr/>
          </p:nvSpPr>
          <p:spPr bwMode="auto">
            <a:xfrm>
              <a:off x="657" y="1253"/>
              <a:ext cx="681" cy="817"/>
            </a:xfrm>
            <a:prstGeom prst="cube">
              <a:avLst>
                <a:gd name="adj" fmla="val 14227"/>
              </a:avLst>
            </a:prstGeom>
            <a:solidFill>
              <a:schemeClr val="accent1"/>
            </a:solidFill>
            <a:ln w="9525">
              <a:noFill/>
              <a:miter lim="800000"/>
              <a:headEnd/>
              <a:tailEnd/>
            </a:ln>
            <a:effectLst>
              <a:softEdge rad="31750"/>
            </a:effectLst>
          </p:spPr>
          <p:txBody>
            <a:bodyPr wrap="none" anchor="ctr"/>
            <a:lstStyle/>
            <a:p>
              <a:pPr>
                <a:defRPr/>
              </a:pPr>
              <a:endParaRPr kumimoji="0" lang="zh-TW" altLang="en-US" sz="1400">
                <a:latin typeface="標楷體" pitchFamily="65" charset="-120"/>
                <a:ea typeface="標楷體" pitchFamily="65" charset="-120"/>
              </a:endParaRPr>
            </a:p>
          </p:txBody>
        </p:sp>
        <p:sp>
          <p:nvSpPr>
            <p:cNvPr id="23654" name="Rectangle 71"/>
            <p:cNvSpPr>
              <a:spLocks noChangeArrowheads="1"/>
            </p:cNvSpPr>
            <p:nvPr/>
          </p:nvSpPr>
          <p:spPr bwMode="auto">
            <a:xfrm>
              <a:off x="657" y="1345"/>
              <a:ext cx="578" cy="225"/>
            </a:xfrm>
            <a:prstGeom prst="rect">
              <a:avLst/>
            </a:prstGeom>
            <a:solidFill>
              <a:srgbClr val="00CC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55" name="Rectangle 72"/>
            <p:cNvSpPr>
              <a:spLocks noChangeArrowheads="1"/>
            </p:cNvSpPr>
            <p:nvPr/>
          </p:nvSpPr>
          <p:spPr bwMode="auto">
            <a:xfrm>
              <a:off x="657" y="1570"/>
              <a:ext cx="578" cy="953"/>
            </a:xfrm>
            <a:prstGeom prst="rect">
              <a:avLst/>
            </a:prstGeom>
            <a:solidFill>
              <a:srgbClr val="E6FDFE">
                <a:alpha val="38823"/>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56" name="Text Box 73"/>
            <p:cNvSpPr txBox="1">
              <a:spLocks noChangeArrowheads="1"/>
            </p:cNvSpPr>
            <p:nvPr/>
          </p:nvSpPr>
          <p:spPr bwMode="auto">
            <a:xfrm>
              <a:off x="712" y="1344"/>
              <a:ext cx="51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400" b="1">
                  <a:solidFill>
                    <a:schemeClr val="bg1"/>
                  </a:solidFill>
                  <a:latin typeface="標楷體" panose="03000509000000000000" pitchFamily="65" charset="-120"/>
                  <a:ea typeface="標楷體" panose="03000509000000000000" pitchFamily="65" charset="-120"/>
                </a:rPr>
                <a:t>Layer 1</a:t>
              </a:r>
            </a:p>
          </p:txBody>
        </p:sp>
        <p:sp>
          <p:nvSpPr>
            <p:cNvPr id="23657" name="Rectangle 74"/>
            <p:cNvSpPr>
              <a:spLocks noChangeArrowheads="1"/>
            </p:cNvSpPr>
            <p:nvPr/>
          </p:nvSpPr>
          <p:spPr bwMode="auto">
            <a:xfrm>
              <a:off x="657" y="1652"/>
              <a:ext cx="57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kumimoji="0" lang="zh-TW" altLang="en-US" sz="1400">
                  <a:latin typeface="標楷體" panose="03000509000000000000" pitchFamily="65" charset="-120"/>
                  <a:ea typeface="標楷體" panose="03000509000000000000" pitchFamily="65" charset="-120"/>
                </a:rPr>
                <a:t>連線模式過濾</a:t>
              </a:r>
            </a:p>
          </p:txBody>
        </p:sp>
      </p:grpSp>
      <p:grpSp>
        <p:nvGrpSpPr>
          <p:cNvPr id="9" name="Group 36"/>
          <p:cNvGrpSpPr>
            <a:grpSpLocks/>
          </p:cNvGrpSpPr>
          <p:nvPr/>
        </p:nvGrpSpPr>
        <p:grpSpPr bwMode="auto">
          <a:xfrm>
            <a:off x="1487488" y="1520825"/>
            <a:ext cx="1973262" cy="863600"/>
            <a:chOff x="977" y="891"/>
            <a:chExt cx="1243" cy="544"/>
          </a:xfrm>
        </p:grpSpPr>
        <p:grpSp>
          <p:nvGrpSpPr>
            <p:cNvPr id="23641" name="Group 77"/>
            <p:cNvGrpSpPr>
              <a:grpSpLocks/>
            </p:cNvGrpSpPr>
            <p:nvPr/>
          </p:nvGrpSpPr>
          <p:grpSpPr bwMode="auto">
            <a:xfrm>
              <a:off x="977" y="891"/>
              <a:ext cx="1243" cy="251"/>
              <a:chOff x="1474" y="799"/>
              <a:chExt cx="1300" cy="272"/>
            </a:xfrm>
          </p:grpSpPr>
          <p:grpSp>
            <p:nvGrpSpPr>
              <p:cNvPr id="23644" name="Group 78"/>
              <p:cNvGrpSpPr>
                <a:grpSpLocks/>
              </p:cNvGrpSpPr>
              <p:nvPr/>
            </p:nvGrpSpPr>
            <p:grpSpPr bwMode="auto">
              <a:xfrm>
                <a:off x="1474" y="799"/>
                <a:ext cx="363" cy="227"/>
                <a:chOff x="2676" y="2042"/>
                <a:chExt cx="409" cy="236"/>
              </a:xfrm>
            </p:grpSpPr>
            <p:sp>
              <p:nvSpPr>
                <p:cNvPr id="23649" name="Rectangle 79"/>
                <p:cNvSpPr>
                  <a:spLocks noChangeArrowheads="1"/>
                </p:cNvSpPr>
                <p:nvPr/>
              </p:nvSpPr>
              <p:spPr bwMode="auto">
                <a:xfrm>
                  <a:off x="2700" y="2061"/>
                  <a:ext cx="372" cy="2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50" name="Freeform 80"/>
                <p:cNvSpPr>
                  <a:spLocks/>
                </p:cNvSpPr>
                <p:nvPr/>
              </p:nvSpPr>
              <p:spPr bwMode="auto">
                <a:xfrm>
                  <a:off x="2676" y="2042"/>
                  <a:ext cx="411" cy="235"/>
                </a:xfrm>
                <a:custGeom>
                  <a:avLst/>
                  <a:gdLst>
                    <a:gd name="T0" fmla="*/ 1 w 819"/>
                    <a:gd name="T1" fmla="*/ 1 h 470"/>
                    <a:gd name="T2" fmla="*/ 1 w 819"/>
                    <a:gd name="T3" fmla="*/ 1 h 470"/>
                    <a:gd name="T4" fmla="*/ 1 w 819"/>
                    <a:gd name="T5" fmla="*/ 1 h 470"/>
                    <a:gd name="T6" fmla="*/ 1 w 819"/>
                    <a:gd name="T7" fmla="*/ 1 h 470"/>
                    <a:gd name="T8" fmla="*/ 1 w 819"/>
                    <a:gd name="T9" fmla="*/ 1 h 470"/>
                    <a:gd name="T10" fmla="*/ 1 w 819"/>
                    <a:gd name="T11" fmla="*/ 1 h 470"/>
                    <a:gd name="T12" fmla="*/ 1 w 819"/>
                    <a:gd name="T13" fmla="*/ 1 h 470"/>
                    <a:gd name="T14" fmla="*/ 1 w 819"/>
                    <a:gd name="T15" fmla="*/ 1 h 470"/>
                    <a:gd name="T16" fmla="*/ 1 w 819"/>
                    <a:gd name="T17" fmla="*/ 1 h 470"/>
                    <a:gd name="T18" fmla="*/ 1 w 819"/>
                    <a:gd name="T19" fmla="*/ 1 h 470"/>
                    <a:gd name="T20" fmla="*/ 1 w 819"/>
                    <a:gd name="T21" fmla="*/ 1 h 470"/>
                    <a:gd name="T22" fmla="*/ 1 w 819"/>
                    <a:gd name="T23" fmla="*/ 1 h 470"/>
                    <a:gd name="T24" fmla="*/ 1 w 819"/>
                    <a:gd name="T25" fmla="*/ 1 h 470"/>
                    <a:gd name="T26" fmla="*/ 1 w 819"/>
                    <a:gd name="T27" fmla="*/ 1 h 470"/>
                    <a:gd name="T28" fmla="*/ 1 w 819"/>
                    <a:gd name="T29" fmla="*/ 1 h 470"/>
                    <a:gd name="T30" fmla="*/ 1 w 819"/>
                    <a:gd name="T31" fmla="*/ 1 h 470"/>
                    <a:gd name="T32" fmla="*/ 1 w 819"/>
                    <a:gd name="T33" fmla="*/ 1 h 470"/>
                    <a:gd name="T34" fmla="*/ 1 w 819"/>
                    <a:gd name="T35" fmla="*/ 1 h 470"/>
                    <a:gd name="T36" fmla="*/ 1 w 819"/>
                    <a:gd name="T37" fmla="*/ 1 h 470"/>
                    <a:gd name="T38" fmla="*/ 1 w 819"/>
                    <a:gd name="T39" fmla="*/ 1 h 470"/>
                    <a:gd name="T40" fmla="*/ 1 w 819"/>
                    <a:gd name="T41" fmla="*/ 1 h 470"/>
                    <a:gd name="T42" fmla="*/ 1 w 819"/>
                    <a:gd name="T43" fmla="*/ 1 h 470"/>
                    <a:gd name="T44" fmla="*/ 1 w 819"/>
                    <a:gd name="T45" fmla="*/ 1 h 470"/>
                    <a:gd name="T46" fmla="*/ 1 w 819"/>
                    <a:gd name="T47" fmla="*/ 1 h 470"/>
                    <a:gd name="T48" fmla="*/ 1 w 819"/>
                    <a:gd name="T49" fmla="*/ 1 h 470"/>
                    <a:gd name="T50" fmla="*/ 1 w 819"/>
                    <a:gd name="T51" fmla="*/ 1 h 470"/>
                    <a:gd name="T52" fmla="*/ 1 w 819"/>
                    <a:gd name="T53" fmla="*/ 1 h 470"/>
                    <a:gd name="T54" fmla="*/ 1 w 819"/>
                    <a:gd name="T55" fmla="*/ 1 h 470"/>
                    <a:gd name="T56" fmla="*/ 1 w 819"/>
                    <a:gd name="T57" fmla="*/ 1 h 470"/>
                    <a:gd name="T58" fmla="*/ 1 w 819"/>
                    <a:gd name="T59" fmla="*/ 1 h 470"/>
                    <a:gd name="T60" fmla="*/ 1 w 819"/>
                    <a:gd name="T61" fmla="*/ 1 h 470"/>
                    <a:gd name="T62" fmla="*/ 1 w 819"/>
                    <a:gd name="T63" fmla="*/ 1 h 470"/>
                    <a:gd name="T64" fmla="*/ 1 w 819"/>
                    <a:gd name="T65" fmla="*/ 1 h 470"/>
                    <a:gd name="T66" fmla="*/ 1 w 819"/>
                    <a:gd name="T67" fmla="*/ 1 h 470"/>
                    <a:gd name="T68" fmla="*/ 1 w 819"/>
                    <a:gd name="T69" fmla="*/ 1 h 470"/>
                    <a:gd name="T70" fmla="*/ 1 w 819"/>
                    <a:gd name="T71" fmla="*/ 1 h 470"/>
                    <a:gd name="T72" fmla="*/ 1 w 819"/>
                    <a:gd name="T73" fmla="*/ 0 h 470"/>
                    <a:gd name="T74" fmla="*/ 1 w 819"/>
                    <a:gd name="T75" fmla="*/ 0 h 470"/>
                    <a:gd name="T76" fmla="*/ 1 w 819"/>
                    <a:gd name="T77" fmla="*/ 1 h 470"/>
                    <a:gd name="T78" fmla="*/ 1 w 819"/>
                    <a:gd name="T79" fmla="*/ 1 h 470"/>
                    <a:gd name="T80" fmla="*/ 1 w 819"/>
                    <a:gd name="T81" fmla="*/ 1 h 470"/>
                    <a:gd name="T82" fmla="*/ 1 w 819"/>
                    <a:gd name="T83" fmla="*/ 1 h 470"/>
                    <a:gd name="T84" fmla="*/ 1 w 819"/>
                    <a:gd name="T85" fmla="*/ 1 h 470"/>
                    <a:gd name="T86" fmla="*/ 1 w 819"/>
                    <a:gd name="T87" fmla="*/ 1 h 470"/>
                    <a:gd name="T88" fmla="*/ 1 w 819"/>
                    <a:gd name="T89" fmla="*/ 1 h 470"/>
                    <a:gd name="T90" fmla="*/ 1 w 819"/>
                    <a:gd name="T91" fmla="*/ 1 h 470"/>
                    <a:gd name="T92" fmla="*/ 1 w 819"/>
                    <a:gd name="T93" fmla="*/ 0 h 470"/>
                    <a:gd name="T94" fmla="*/ 1 w 819"/>
                    <a:gd name="T95" fmla="*/ 0 h 470"/>
                    <a:gd name="T96" fmla="*/ 1 w 819"/>
                    <a:gd name="T97" fmla="*/ 1 h 470"/>
                    <a:gd name="T98" fmla="*/ 1 w 819"/>
                    <a:gd name="T99" fmla="*/ 1 h 470"/>
                    <a:gd name="T100" fmla="*/ 1 w 819"/>
                    <a:gd name="T101" fmla="*/ 1 h 470"/>
                    <a:gd name="T102" fmla="*/ 1 w 819"/>
                    <a:gd name="T103" fmla="*/ 1 h 470"/>
                    <a:gd name="T104" fmla="*/ 1 w 819"/>
                    <a:gd name="T105" fmla="*/ 1 h 470"/>
                    <a:gd name="T106" fmla="*/ 1 w 819"/>
                    <a:gd name="T107" fmla="*/ 1 h 470"/>
                    <a:gd name="T108" fmla="*/ 0 w 819"/>
                    <a:gd name="T109" fmla="*/ 1 h 470"/>
                    <a:gd name="T110" fmla="*/ 0 w 819"/>
                    <a:gd name="T111" fmla="*/ 1 h 470"/>
                    <a:gd name="T112" fmla="*/ 1 w 819"/>
                    <a:gd name="T113" fmla="*/ 1 h 470"/>
                    <a:gd name="T114" fmla="*/ 1 w 819"/>
                    <a:gd name="T115" fmla="*/ 1 h 470"/>
                    <a:gd name="T116" fmla="*/ 1 w 819"/>
                    <a:gd name="T117" fmla="*/ 1 h 470"/>
                    <a:gd name="T118" fmla="*/ 1 w 819"/>
                    <a:gd name="T119" fmla="*/ 1 h 470"/>
                    <a:gd name="T120" fmla="*/ 0 w 819"/>
                    <a:gd name="T121" fmla="*/ 1 h 47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819"/>
                    <a:gd name="T184" fmla="*/ 0 h 470"/>
                    <a:gd name="T185" fmla="*/ 819 w 819"/>
                    <a:gd name="T186" fmla="*/ 470 h 47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819" h="470">
                      <a:moveTo>
                        <a:pt x="0" y="441"/>
                      </a:moveTo>
                      <a:lnTo>
                        <a:pt x="0" y="442"/>
                      </a:lnTo>
                      <a:lnTo>
                        <a:pt x="0" y="444"/>
                      </a:lnTo>
                      <a:lnTo>
                        <a:pt x="0" y="445"/>
                      </a:lnTo>
                      <a:lnTo>
                        <a:pt x="1" y="445"/>
                      </a:lnTo>
                      <a:lnTo>
                        <a:pt x="1" y="446"/>
                      </a:lnTo>
                      <a:lnTo>
                        <a:pt x="1" y="447"/>
                      </a:lnTo>
                      <a:lnTo>
                        <a:pt x="1" y="448"/>
                      </a:lnTo>
                      <a:lnTo>
                        <a:pt x="1" y="449"/>
                      </a:lnTo>
                      <a:lnTo>
                        <a:pt x="2" y="449"/>
                      </a:lnTo>
                      <a:lnTo>
                        <a:pt x="2" y="450"/>
                      </a:lnTo>
                      <a:lnTo>
                        <a:pt x="2" y="452"/>
                      </a:lnTo>
                      <a:lnTo>
                        <a:pt x="3" y="453"/>
                      </a:lnTo>
                      <a:lnTo>
                        <a:pt x="3" y="454"/>
                      </a:lnTo>
                      <a:lnTo>
                        <a:pt x="5" y="455"/>
                      </a:lnTo>
                      <a:lnTo>
                        <a:pt x="5" y="456"/>
                      </a:lnTo>
                      <a:lnTo>
                        <a:pt x="6" y="456"/>
                      </a:lnTo>
                      <a:lnTo>
                        <a:pt x="6" y="457"/>
                      </a:lnTo>
                      <a:lnTo>
                        <a:pt x="7" y="458"/>
                      </a:lnTo>
                      <a:lnTo>
                        <a:pt x="7" y="460"/>
                      </a:lnTo>
                      <a:lnTo>
                        <a:pt x="8" y="460"/>
                      </a:lnTo>
                      <a:lnTo>
                        <a:pt x="8" y="461"/>
                      </a:lnTo>
                      <a:lnTo>
                        <a:pt x="9" y="461"/>
                      </a:lnTo>
                      <a:lnTo>
                        <a:pt x="9" y="462"/>
                      </a:lnTo>
                      <a:lnTo>
                        <a:pt x="10" y="462"/>
                      </a:lnTo>
                      <a:lnTo>
                        <a:pt x="10" y="463"/>
                      </a:lnTo>
                      <a:lnTo>
                        <a:pt x="12" y="463"/>
                      </a:lnTo>
                      <a:lnTo>
                        <a:pt x="13" y="464"/>
                      </a:lnTo>
                      <a:lnTo>
                        <a:pt x="14" y="464"/>
                      </a:lnTo>
                      <a:lnTo>
                        <a:pt x="14" y="465"/>
                      </a:lnTo>
                      <a:lnTo>
                        <a:pt x="15" y="465"/>
                      </a:lnTo>
                      <a:lnTo>
                        <a:pt x="16" y="467"/>
                      </a:lnTo>
                      <a:lnTo>
                        <a:pt x="17" y="467"/>
                      </a:lnTo>
                      <a:lnTo>
                        <a:pt x="18" y="468"/>
                      </a:lnTo>
                      <a:lnTo>
                        <a:pt x="20" y="468"/>
                      </a:lnTo>
                      <a:lnTo>
                        <a:pt x="21" y="469"/>
                      </a:lnTo>
                      <a:lnTo>
                        <a:pt x="22" y="469"/>
                      </a:lnTo>
                      <a:lnTo>
                        <a:pt x="23" y="469"/>
                      </a:lnTo>
                      <a:lnTo>
                        <a:pt x="24" y="469"/>
                      </a:lnTo>
                      <a:lnTo>
                        <a:pt x="25" y="469"/>
                      </a:lnTo>
                      <a:lnTo>
                        <a:pt x="27" y="470"/>
                      </a:lnTo>
                      <a:lnTo>
                        <a:pt x="28" y="470"/>
                      </a:lnTo>
                      <a:lnTo>
                        <a:pt x="29" y="470"/>
                      </a:lnTo>
                      <a:lnTo>
                        <a:pt x="30" y="470"/>
                      </a:lnTo>
                      <a:lnTo>
                        <a:pt x="423" y="470"/>
                      </a:lnTo>
                      <a:lnTo>
                        <a:pt x="423" y="409"/>
                      </a:lnTo>
                      <a:lnTo>
                        <a:pt x="116" y="409"/>
                      </a:lnTo>
                      <a:lnTo>
                        <a:pt x="129" y="400"/>
                      </a:lnTo>
                      <a:lnTo>
                        <a:pt x="141" y="389"/>
                      </a:lnTo>
                      <a:lnTo>
                        <a:pt x="153" y="380"/>
                      </a:lnTo>
                      <a:lnTo>
                        <a:pt x="165" y="371"/>
                      </a:lnTo>
                      <a:lnTo>
                        <a:pt x="177" y="362"/>
                      </a:lnTo>
                      <a:lnTo>
                        <a:pt x="189" y="353"/>
                      </a:lnTo>
                      <a:lnTo>
                        <a:pt x="202" y="343"/>
                      </a:lnTo>
                      <a:lnTo>
                        <a:pt x="213" y="334"/>
                      </a:lnTo>
                      <a:lnTo>
                        <a:pt x="225" y="326"/>
                      </a:lnTo>
                      <a:lnTo>
                        <a:pt x="236" y="317"/>
                      </a:lnTo>
                      <a:lnTo>
                        <a:pt x="248" y="309"/>
                      </a:lnTo>
                      <a:lnTo>
                        <a:pt x="259" y="301"/>
                      </a:lnTo>
                      <a:lnTo>
                        <a:pt x="270" y="293"/>
                      </a:lnTo>
                      <a:lnTo>
                        <a:pt x="281" y="285"/>
                      </a:lnTo>
                      <a:lnTo>
                        <a:pt x="291" y="278"/>
                      </a:lnTo>
                      <a:lnTo>
                        <a:pt x="302" y="271"/>
                      </a:lnTo>
                      <a:lnTo>
                        <a:pt x="319" y="281"/>
                      </a:lnTo>
                      <a:lnTo>
                        <a:pt x="335" y="290"/>
                      </a:lnTo>
                      <a:lnTo>
                        <a:pt x="350" y="298"/>
                      </a:lnTo>
                      <a:lnTo>
                        <a:pt x="364" y="305"/>
                      </a:lnTo>
                      <a:lnTo>
                        <a:pt x="378" y="311"/>
                      </a:lnTo>
                      <a:lnTo>
                        <a:pt x="389" y="314"/>
                      </a:lnTo>
                      <a:lnTo>
                        <a:pt x="400" y="317"/>
                      </a:lnTo>
                      <a:lnTo>
                        <a:pt x="409" y="318"/>
                      </a:lnTo>
                      <a:lnTo>
                        <a:pt x="418" y="317"/>
                      </a:lnTo>
                      <a:lnTo>
                        <a:pt x="429" y="314"/>
                      </a:lnTo>
                      <a:lnTo>
                        <a:pt x="441" y="311"/>
                      </a:lnTo>
                      <a:lnTo>
                        <a:pt x="454" y="305"/>
                      </a:lnTo>
                      <a:lnTo>
                        <a:pt x="469" y="298"/>
                      </a:lnTo>
                      <a:lnTo>
                        <a:pt x="484" y="290"/>
                      </a:lnTo>
                      <a:lnTo>
                        <a:pt x="500" y="281"/>
                      </a:lnTo>
                      <a:lnTo>
                        <a:pt x="516" y="271"/>
                      </a:lnTo>
                      <a:lnTo>
                        <a:pt x="527" y="278"/>
                      </a:lnTo>
                      <a:lnTo>
                        <a:pt x="537" y="285"/>
                      </a:lnTo>
                      <a:lnTo>
                        <a:pt x="548" y="293"/>
                      </a:lnTo>
                      <a:lnTo>
                        <a:pt x="559" y="301"/>
                      </a:lnTo>
                      <a:lnTo>
                        <a:pt x="570" y="309"/>
                      </a:lnTo>
                      <a:lnTo>
                        <a:pt x="582" y="317"/>
                      </a:lnTo>
                      <a:lnTo>
                        <a:pt x="593" y="326"/>
                      </a:lnTo>
                      <a:lnTo>
                        <a:pt x="605" y="334"/>
                      </a:lnTo>
                      <a:lnTo>
                        <a:pt x="618" y="343"/>
                      </a:lnTo>
                      <a:lnTo>
                        <a:pt x="629" y="353"/>
                      </a:lnTo>
                      <a:lnTo>
                        <a:pt x="642" y="362"/>
                      </a:lnTo>
                      <a:lnTo>
                        <a:pt x="653" y="371"/>
                      </a:lnTo>
                      <a:lnTo>
                        <a:pt x="666" y="380"/>
                      </a:lnTo>
                      <a:lnTo>
                        <a:pt x="679" y="389"/>
                      </a:lnTo>
                      <a:lnTo>
                        <a:pt x="690" y="400"/>
                      </a:lnTo>
                      <a:lnTo>
                        <a:pt x="703" y="409"/>
                      </a:lnTo>
                      <a:lnTo>
                        <a:pt x="423" y="409"/>
                      </a:lnTo>
                      <a:lnTo>
                        <a:pt x="423" y="470"/>
                      </a:lnTo>
                      <a:lnTo>
                        <a:pt x="788" y="470"/>
                      </a:lnTo>
                      <a:lnTo>
                        <a:pt x="789" y="470"/>
                      </a:lnTo>
                      <a:lnTo>
                        <a:pt x="790" y="470"/>
                      </a:lnTo>
                      <a:lnTo>
                        <a:pt x="791" y="470"/>
                      </a:lnTo>
                      <a:lnTo>
                        <a:pt x="793" y="469"/>
                      </a:lnTo>
                      <a:lnTo>
                        <a:pt x="794" y="469"/>
                      </a:lnTo>
                      <a:lnTo>
                        <a:pt x="795" y="469"/>
                      </a:lnTo>
                      <a:lnTo>
                        <a:pt x="796" y="469"/>
                      </a:lnTo>
                      <a:lnTo>
                        <a:pt x="797" y="469"/>
                      </a:lnTo>
                      <a:lnTo>
                        <a:pt x="798" y="468"/>
                      </a:lnTo>
                      <a:lnTo>
                        <a:pt x="800" y="468"/>
                      </a:lnTo>
                      <a:lnTo>
                        <a:pt x="801" y="468"/>
                      </a:lnTo>
                      <a:lnTo>
                        <a:pt x="801" y="467"/>
                      </a:lnTo>
                      <a:lnTo>
                        <a:pt x="802" y="467"/>
                      </a:lnTo>
                      <a:lnTo>
                        <a:pt x="803" y="467"/>
                      </a:lnTo>
                      <a:lnTo>
                        <a:pt x="804" y="465"/>
                      </a:lnTo>
                      <a:lnTo>
                        <a:pt x="805" y="464"/>
                      </a:lnTo>
                      <a:lnTo>
                        <a:pt x="806" y="464"/>
                      </a:lnTo>
                      <a:lnTo>
                        <a:pt x="806" y="463"/>
                      </a:lnTo>
                      <a:lnTo>
                        <a:pt x="808" y="463"/>
                      </a:lnTo>
                      <a:lnTo>
                        <a:pt x="809" y="462"/>
                      </a:lnTo>
                      <a:lnTo>
                        <a:pt x="810" y="461"/>
                      </a:lnTo>
                      <a:lnTo>
                        <a:pt x="811" y="460"/>
                      </a:lnTo>
                      <a:lnTo>
                        <a:pt x="811" y="458"/>
                      </a:lnTo>
                      <a:lnTo>
                        <a:pt x="812" y="458"/>
                      </a:lnTo>
                      <a:lnTo>
                        <a:pt x="812" y="457"/>
                      </a:lnTo>
                      <a:lnTo>
                        <a:pt x="813" y="457"/>
                      </a:lnTo>
                      <a:lnTo>
                        <a:pt x="813" y="456"/>
                      </a:lnTo>
                      <a:lnTo>
                        <a:pt x="815" y="455"/>
                      </a:lnTo>
                      <a:lnTo>
                        <a:pt x="815" y="454"/>
                      </a:lnTo>
                      <a:lnTo>
                        <a:pt x="816" y="454"/>
                      </a:lnTo>
                      <a:lnTo>
                        <a:pt x="816" y="453"/>
                      </a:lnTo>
                      <a:lnTo>
                        <a:pt x="816" y="452"/>
                      </a:lnTo>
                      <a:lnTo>
                        <a:pt x="817" y="450"/>
                      </a:lnTo>
                      <a:lnTo>
                        <a:pt x="817" y="449"/>
                      </a:lnTo>
                      <a:lnTo>
                        <a:pt x="817" y="448"/>
                      </a:lnTo>
                      <a:lnTo>
                        <a:pt x="818" y="447"/>
                      </a:lnTo>
                      <a:lnTo>
                        <a:pt x="818" y="446"/>
                      </a:lnTo>
                      <a:lnTo>
                        <a:pt x="818" y="445"/>
                      </a:lnTo>
                      <a:lnTo>
                        <a:pt x="818" y="444"/>
                      </a:lnTo>
                      <a:lnTo>
                        <a:pt x="818" y="442"/>
                      </a:lnTo>
                      <a:lnTo>
                        <a:pt x="818" y="441"/>
                      </a:lnTo>
                      <a:lnTo>
                        <a:pt x="818" y="440"/>
                      </a:lnTo>
                      <a:lnTo>
                        <a:pt x="819" y="440"/>
                      </a:lnTo>
                      <a:lnTo>
                        <a:pt x="819" y="229"/>
                      </a:lnTo>
                      <a:lnTo>
                        <a:pt x="758" y="229"/>
                      </a:lnTo>
                      <a:lnTo>
                        <a:pt x="758" y="376"/>
                      </a:lnTo>
                      <a:lnTo>
                        <a:pt x="749" y="367"/>
                      </a:lnTo>
                      <a:lnTo>
                        <a:pt x="738" y="359"/>
                      </a:lnTo>
                      <a:lnTo>
                        <a:pt x="728" y="351"/>
                      </a:lnTo>
                      <a:lnTo>
                        <a:pt x="717" y="343"/>
                      </a:lnTo>
                      <a:lnTo>
                        <a:pt x="705" y="334"/>
                      </a:lnTo>
                      <a:lnTo>
                        <a:pt x="694" y="325"/>
                      </a:lnTo>
                      <a:lnTo>
                        <a:pt x="682" y="316"/>
                      </a:lnTo>
                      <a:lnTo>
                        <a:pt x="671" y="306"/>
                      </a:lnTo>
                      <a:lnTo>
                        <a:pt x="658" y="298"/>
                      </a:lnTo>
                      <a:lnTo>
                        <a:pt x="646" y="289"/>
                      </a:lnTo>
                      <a:lnTo>
                        <a:pt x="634" y="280"/>
                      </a:lnTo>
                      <a:lnTo>
                        <a:pt x="621" y="271"/>
                      </a:lnTo>
                      <a:lnTo>
                        <a:pt x="608" y="261"/>
                      </a:lnTo>
                      <a:lnTo>
                        <a:pt x="597" y="252"/>
                      </a:lnTo>
                      <a:lnTo>
                        <a:pt x="584" y="243"/>
                      </a:lnTo>
                      <a:lnTo>
                        <a:pt x="571" y="235"/>
                      </a:lnTo>
                      <a:lnTo>
                        <a:pt x="584" y="227"/>
                      </a:lnTo>
                      <a:lnTo>
                        <a:pt x="597" y="218"/>
                      </a:lnTo>
                      <a:lnTo>
                        <a:pt x="608" y="209"/>
                      </a:lnTo>
                      <a:lnTo>
                        <a:pt x="621" y="199"/>
                      </a:lnTo>
                      <a:lnTo>
                        <a:pt x="634" y="190"/>
                      </a:lnTo>
                      <a:lnTo>
                        <a:pt x="646" y="181"/>
                      </a:lnTo>
                      <a:lnTo>
                        <a:pt x="658" y="172"/>
                      </a:lnTo>
                      <a:lnTo>
                        <a:pt x="671" y="162"/>
                      </a:lnTo>
                      <a:lnTo>
                        <a:pt x="682" y="154"/>
                      </a:lnTo>
                      <a:lnTo>
                        <a:pt x="694" y="145"/>
                      </a:lnTo>
                      <a:lnTo>
                        <a:pt x="705" y="136"/>
                      </a:lnTo>
                      <a:lnTo>
                        <a:pt x="717" y="127"/>
                      </a:lnTo>
                      <a:lnTo>
                        <a:pt x="728" y="119"/>
                      </a:lnTo>
                      <a:lnTo>
                        <a:pt x="738" y="111"/>
                      </a:lnTo>
                      <a:lnTo>
                        <a:pt x="749" y="103"/>
                      </a:lnTo>
                      <a:lnTo>
                        <a:pt x="758" y="94"/>
                      </a:lnTo>
                      <a:lnTo>
                        <a:pt x="758" y="229"/>
                      </a:lnTo>
                      <a:lnTo>
                        <a:pt x="819" y="229"/>
                      </a:lnTo>
                      <a:lnTo>
                        <a:pt x="819" y="30"/>
                      </a:lnTo>
                      <a:lnTo>
                        <a:pt x="819" y="29"/>
                      </a:lnTo>
                      <a:lnTo>
                        <a:pt x="818" y="29"/>
                      </a:lnTo>
                      <a:lnTo>
                        <a:pt x="818" y="28"/>
                      </a:lnTo>
                      <a:lnTo>
                        <a:pt x="818" y="26"/>
                      </a:lnTo>
                      <a:lnTo>
                        <a:pt x="818" y="25"/>
                      </a:lnTo>
                      <a:lnTo>
                        <a:pt x="818" y="24"/>
                      </a:lnTo>
                      <a:lnTo>
                        <a:pt x="818" y="23"/>
                      </a:lnTo>
                      <a:lnTo>
                        <a:pt x="817" y="22"/>
                      </a:lnTo>
                      <a:lnTo>
                        <a:pt x="817" y="21"/>
                      </a:lnTo>
                      <a:lnTo>
                        <a:pt x="817" y="20"/>
                      </a:lnTo>
                      <a:lnTo>
                        <a:pt x="817" y="18"/>
                      </a:lnTo>
                      <a:lnTo>
                        <a:pt x="816" y="18"/>
                      </a:lnTo>
                      <a:lnTo>
                        <a:pt x="816" y="17"/>
                      </a:lnTo>
                      <a:lnTo>
                        <a:pt x="816" y="16"/>
                      </a:lnTo>
                      <a:lnTo>
                        <a:pt x="815" y="16"/>
                      </a:lnTo>
                      <a:lnTo>
                        <a:pt x="815" y="15"/>
                      </a:lnTo>
                      <a:lnTo>
                        <a:pt x="813" y="14"/>
                      </a:lnTo>
                      <a:lnTo>
                        <a:pt x="813" y="13"/>
                      </a:lnTo>
                      <a:lnTo>
                        <a:pt x="812" y="12"/>
                      </a:lnTo>
                      <a:lnTo>
                        <a:pt x="811" y="10"/>
                      </a:lnTo>
                      <a:lnTo>
                        <a:pt x="810" y="9"/>
                      </a:lnTo>
                      <a:lnTo>
                        <a:pt x="809" y="8"/>
                      </a:lnTo>
                      <a:lnTo>
                        <a:pt x="808" y="7"/>
                      </a:lnTo>
                      <a:lnTo>
                        <a:pt x="806" y="7"/>
                      </a:lnTo>
                      <a:lnTo>
                        <a:pt x="806" y="6"/>
                      </a:lnTo>
                      <a:lnTo>
                        <a:pt x="805" y="6"/>
                      </a:lnTo>
                      <a:lnTo>
                        <a:pt x="805" y="5"/>
                      </a:lnTo>
                      <a:lnTo>
                        <a:pt x="804" y="5"/>
                      </a:lnTo>
                      <a:lnTo>
                        <a:pt x="803" y="3"/>
                      </a:lnTo>
                      <a:lnTo>
                        <a:pt x="802" y="3"/>
                      </a:lnTo>
                      <a:lnTo>
                        <a:pt x="801" y="3"/>
                      </a:lnTo>
                      <a:lnTo>
                        <a:pt x="801" y="2"/>
                      </a:lnTo>
                      <a:lnTo>
                        <a:pt x="800" y="2"/>
                      </a:lnTo>
                      <a:lnTo>
                        <a:pt x="798" y="2"/>
                      </a:lnTo>
                      <a:lnTo>
                        <a:pt x="797" y="1"/>
                      </a:lnTo>
                      <a:lnTo>
                        <a:pt x="796" y="1"/>
                      </a:lnTo>
                      <a:lnTo>
                        <a:pt x="795" y="1"/>
                      </a:lnTo>
                      <a:lnTo>
                        <a:pt x="795" y="0"/>
                      </a:lnTo>
                      <a:lnTo>
                        <a:pt x="794" y="0"/>
                      </a:lnTo>
                      <a:lnTo>
                        <a:pt x="793" y="0"/>
                      </a:lnTo>
                      <a:lnTo>
                        <a:pt x="791" y="0"/>
                      </a:lnTo>
                      <a:lnTo>
                        <a:pt x="790" y="0"/>
                      </a:lnTo>
                      <a:lnTo>
                        <a:pt x="789" y="0"/>
                      </a:lnTo>
                      <a:lnTo>
                        <a:pt x="788" y="0"/>
                      </a:lnTo>
                      <a:lnTo>
                        <a:pt x="385" y="0"/>
                      </a:lnTo>
                      <a:lnTo>
                        <a:pt x="385" y="61"/>
                      </a:lnTo>
                      <a:lnTo>
                        <a:pt x="703" y="61"/>
                      </a:lnTo>
                      <a:lnTo>
                        <a:pt x="690" y="70"/>
                      </a:lnTo>
                      <a:lnTo>
                        <a:pt x="679" y="81"/>
                      </a:lnTo>
                      <a:lnTo>
                        <a:pt x="666" y="90"/>
                      </a:lnTo>
                      <a:lnTo>
                        <a:pt x="653" y="99"/>
                      </a:lnTo>
                      <a:lnTo>
                        <a:pt x="642" y="108"/>
                      </a:lnTo>
                      <a:lnTo>
                        <a:pt x="629" y="117"/>
                      </a:lnTo>
                      <a:lnTo>
                        <a:pt x="618" y="127"/>
                      </a:lnTo>
                      <a:lnTo>
                        <a:pt x="605" y="136"/>
                      </a:lnTo>
                      <a:lnTo>
                        <a:pt x="593" y="144"/>
                      </a:lnTo>
                      <a:lnTo>
                        <a:pt x="582" y="153"/>
                      </a:lnTo>
                      <a:lnTo>
                        <a:pt x="570" y="161"/>
                      </a:lnTo>
                      <a:lnTo>
                        <a:pt x="559" y="169"/>
                      </a:lnTo>
                      <a:lnTo>
                        <a:pt x="548" y="177"/>
                      </a:lnTo>
                      <a:lnTo>
                        <a:pt x="537" y="185"/>
                      </a:lnTo>
                      <a:lnTo>
                        <a:pt x="527" y="192"/>
                      </a:lnTo>
                      <a:lnTo>
                        <a:pt x="516" y="199"/>
                      </a:lnTo>
                      <a:lnTo>
                        <a:pt x="508" y="204"/>
                      </a:lnTo>
                      <a:lnTo>
                        <a:pt x="501" y="210"/>
                      </a:lnTo>
                      <a:lnTo>
                        <a:pt x="494" y="214"/>
                      </a:lnTo>
                      <a:lnTo>
                        <a:pt x="487" y="219"/>
                      </a:lnTo>
                      <a:lnTo>
                        <a:pt x="480" y="223"/>
                      </a:lnTo>
                      <a:lnTo>
                        <a:pt x="474" y="227"/>
                      </a:lnTo>
                      <a:lnTo>
                        <a:pt x="467" y="232"/>
                      </a:lnTo>
                      <a:lnTo>
                        <a:pt x="461" y="235"/>
                      </a:lnTo>
                      <a:lnTo>
                        <a:pt x="452" y="240"/>
                      </a:lnTo>
                      <a:lnTo>
                        <a:pt x="444" y="244"/>
                      </a:lnTo>
                      <a:lnTo>
                        <a:pt x="437" y="248"/>
                      </a:lnTo>
                      <a:lnTo>
                        <a:pt x="430" y="251"/>
                      </a:lnTo>
                      <a:lnTo>
                        <a:pt x="423" y="253"/>
                      </a:lnTo>
                      <a:lnTo>
                        <a:pt x="417" y="256"/>
                      </a:lnTo>
                      <a:lnTo>
                        <a:pt x="412" y="257"/>
                      </a:lnTo>
                      <a:lnTo>
                        <a:pt x="409" y="258"/>
                      </a:lnTo>
                      <a:lnTo>
                        <a:pt x="406" y="257"/>
                      </a:lnTo>
                      <a:lnTo>
                        <a:pt x="401" y="256"/>
                      </a:lnTo>
                      <a:lnTo>
                        <a:pt x="395" y="253"/>
                      </a:lnTo>
                      <a:lnTo>
                        <a:pt x="389" y="251"/>
                      </a:lnTo>
                      <a:lnTo>
                        <a:pt x="383" y="248"/>
                      </a:lnTo>
                      <a:lnTo>
                        <a:pt x="376" y="244"/>
                      </a:lnTo>
                      <a:lnTo>
                        <a:pt x="368" y="240"/>
                      </a:lnTo>
                      <a:lnTo>
                        <a:pt x="358" y="235"/>
                      </a:lnTo>
                      <a:lnTo>
                        <a:pt x="353" y="232"/>
                      </a:lnTo>
                      <a:lnTo>
                        <a:pt x="346" y="227"/>
                      </a:lnTo>
                      <a:lnTo>
                        <a:pt x="339" y="223"/>
                      </a:lnTo>
                      <a:lnTo>
                        <a:pt x="332" y="219"/>
                      </a:lnTo>
                      <a:lnTo>
                        <a:pt x="325" y="214"/>
                      </a:lnTo>
                      <a:lnTo>
                        <a:pt x="317" y="210"/>
                      </a:lnTo>
                      <a:lnTo>
                        <a:pt x="310" y="204"/>
                      </a:lnTo>
                      <a:lnTo>
                        <a:pt x="302" y="199"/>
                      </a:lnTo>
                      <a:lnTo>
                        <a:pt x="291" y="192"/>
                      </a:lnTo>
                      <a:lnTo>
                        <a:pt x="281" y="185"/>
                      </a:lnTo>
                      <a:lnTo>
                        <a:pt x="270" y="177"/>
                      </a:lnTo>
                      <a:lnTo>
                        <a:pt x="259" y="169"/>
                      </a:lnTo>
                      <a:lnTo>
                        <a:pt x="248" y="161"/>
                      </a:lnTo>
                      <a:lnTo>
                        <a:pt x="236" y="153"/>
                      </a:lnTo>
                      <a:lnTo>
                        <a:pt x="225" y="144"/>
                      </a:lnTo>
                      <a:lnTo>
                        <a:pt x="213" y="136"/>
                      </a:lnTo>
                      <a:lnTo>
                        <a:pt x="202" y="127"/>
                      </a:lnTo>
                      <a:lnTo>
                        <a:pt x="189" y="117"/>
                      </a:lnTo>
                      <a:lnTo>
                        <a:pt x="177" y="108"/>
                      </a:lnTo>
                      <a:lnTo>
                        <a:pt x="165" y="99"/>
                      </a:lnTo>
                      <a:lnTo>
                        <a:pt x="153" y="90"/>
                      </a:lnTo>
                      <a:lnTo>
                        <a:pt x="141" y="81"/>
                      </a:lnTo>
                      <a:lnTo>
                        <a:pt x="129" y="70"/>
                      </a:lnTo>
                      <a:lnTo>
                        <a:pt x="116" y="61"/>
                      </a:lnTo>
                      <a:lnTo>
                        <a:pt x="385" y="61"/>
                      </a:lnTo>
                      <a:lnTo>
                        <a:pt x="385" y="0"/>
                      </a:lnTo>
                      <a:lnTo>
                        <a:pt x="30" y="0"/>
                      </a:lnTo>
                      <a:lnTo>
                        <a:pt x="29" y="0"/>
                      </a:lnTo>
                      <a:lnTo>
                        <a:pt x="28" y="0"/>
                      </a:lnTo>
                      <a:lnTo>
                        <a:pt x="27" y="0"/>
                      </a:lnTo>
                      <a:lnTo>
                        <a:pt x="25" y="0"/>
                      </a:lnTo>
                      <a:lnTo>
                        <a:pt x="24" y="0"/>
                      </a:lnTo>
                      <a:lnTo>
                        <a:pt x="24" y="1"/>
                      </a:lnTo>
                      <a:lnTo>
                        <a:pt x="23" y="1"/>
                      </a:lnTo>
                      <a:lnTo>
                        <a:pt x="22" y="1"/>
                      </a:lnTo>
                      <a:lnTo>
                        <a:pt x="21" y="1"/>
                      </a:lnTo>
                      <a:lnTo>
                        <a:pt x="20" y="2"/>
                      </a:lnTo>
                      <a:lnTo>
                        <a:pt x="18" y="2"/>
                      </a:lnTo>
                      <a:lnTo>
                        <a:pt x="17" y="3"/>
                      </a:lnTo>
                      <a:lnTo>
                        <a:pt x="16" y="3"/>
                      </a:lnTo>
                      <a:lnTo>
                        <a:pt x="15" y="5"/>
                      </a:lnTo>
                      <a:lnTo>
                        <a:pt x="14" y="5"/>
                      </a:lnTo>
                      <a:lnTo>
                        <a:pt x="13" y="6"/>
                      </a:lnTo>
                      <a:lnTo>
                        <a:pt x="12" y="7"/>
                      </a:lnTo>
                      <a:lnTo>
                        <a:pt x="10" y="7"/>
                      </a:lnTo>
                      <a:lnTo>
                        <a:pt x="10" y="8"/>
                      </a:lnTo>
                      <a:lnTo>
                        <a:pt x="9" y="8"/>
                      </a:lnTo>
                      <a:lnTo>
                        <a:pt x="9" y="9"/>
                      </a:lnTo>
                      <a:lnTo>
                        <a:pt x="8" y="10"/>
                      </a:lnTo>
                      <a:lnTo>
                        <a:pt x="7" y="10"/>
                      </a:lnTo>
                      <a:lnTo>
                        <a:pt x="7" y="12"/>
                      </a:lnTo>
                      <a:lnTo>
                        <a:pt x="6" y="12"/>
                      </a:lnTo>
                      <a:lnTo>
                        <a:pt x="6" y="13"/>
                      </a:lnTo>
                      <a:lnTo>
                        <a:pt x="5" y="14"/>
                      </a:lnTo>
                      <a:lnTo>
                        <a:pt x="5" y="15"/>
                      </a:lnTo>
                      <a:lnTo>
                        <a:pt x="3" y="16"/>
                      </a:lnTo>
                      <a:lnTo>
                        <a:pt x="3" y="17"/>
                      </a:lnTo>
                      <a:lnTo>
                        <a:pt x="2" y="18"/>
                      </a:lnTo>
                      <a:lnTo>
                        <a:pt x="2" y="20"/>
                      </a:lnTo>
                      <a:lnTo>
                        <a:pt x="1" y="21"/>
                      </a:lnTo>
                      <a:lnTo>
                        <a:pt x="1" y="22"/>
                      </a:lnTo>
                      <a:lnTo>
                        <a:pt x="1" y="23"/>
                      </a:lnTo>
                      <a:lnTo>
                        <a:pt x="1" y="24"/>
                      </a:lnTo>
                      <a:lnTo>
                        <a:pt x="0" y="25"/>
                      </a:lnTo>
                      <a:lnTo>
                        <a:pt x="0" y="26"/>
                      </a:lnTo>
                      <a:lnTo>
                        <a:pt x="0" y="28"/>
                      </a:lnTo>
                      <a:lnTo>
                        <a:pt x="0" y="29"/>
                      </a:lnTo>
                      <a:lnTo>
                        <a:pt x="0" y="30"/>
                      </a:lnTo>
                      <a:lnTo>
                        <a:pt x="0" y="222"/>
                      </a:lnTo>
                      <a:lnTo>
                        <a:pt x="61" y="222"/>
                      </a:lnTo>
                      <a:lnTo>
                        <a:pt x="61" y="94"/>
                      </a:lnTo>
                      <a:lnTo>
                        <a:pt x="70" y="103"/>
                      </a:lnTo>
                      <a:lnTo>
                        <a:pt x="81" y="111"/>
                      </a:lnTo>
                      <a:lnTo>
                        <a:pt x="91" y="119"/>
                      </a:lnTo>
                      <a:lnTo>
                        <a:pt x="101" y="127"/>
                      </a:lnTo>
                      <a:lnTo>
                        <a:pt x="113" y="136"/>
                      </a:lnTo>
                      <a:lnTo>
                        <a:pt x="124" y="145"/>
                      </a:lnTo>
                      <a:lnTo>
                        <a:pt x="136" y="154"/>
                      </a:lnTo>
                      <a:lnTo>
                        <a:pt x="147" y="162"/>
                      </a:lnTo>
                      <a:lnTo>
                        <a:pt x="160" y="172"/>
                      </a:lnTo>
                      <a:lnTo>
                        <a:pt x="172" y="181"/>
                      </a:lnTo>
                      <a:lnTo>
                        <a:pt x="184" y="190"/>
                      </a:lnTo>
                      <a:lnTo>
                        <a:pt x="197" y="199"/>
                      </a:lnTo>
                      <a:lnTo>
                        <a:pt x="210" y="209"/>
                      </a:lnTo>
                      <a:lnTo>
                        <a:pt x="221" y="218"/>
                      </a:lnTo>
                      <a:lnTo>
                        <a:pt x="234" y="227"/>
                      </a:lnTo>
                      <a:lnTo>
                        <a:pt x="247" y="235"/>
                      </a:lnTo>
                      <a:lnTo>
                        <a:pt x="234" y="243"/>
                      </a:lnTo>
                      <a:lnTo>
                        <a:pt x="221" y="252"/>
                      </a:lnTo>
                      <a:lnTo>
                        <a:pt x="210" y="261"/>
                      </a:lnTo>
                      <a:lnTo>
                        <a:pt x="197" y="271"/>
                      </a:lnTo>
                      <a:lnTo>
                        <a:pt x="184" y="280"/>
                      </a:lnTo>
                      <a:lnTo>
                        <a:pt x="172" y="289"/>
                      </a:lnTo>
                      <a:lnTo>
                        <a:pt x="160" y="298"/>
                      </a:lnTo>
                      <a:lnTo>
                        <a:pt x="147" y="306"/>
                      </a:lnTo>
                      <a:lnTo>
                        <a:pt x="136" y="316"/>
                      </a:lnTo>
                      <a:lnTo>
                        <a:pt x="124" y="325"/>
                      </a:lnTo>
                      <a:lnTo>
                        <a:pt x="113" y="334"/>
                      </a:lnTo>
                      <a:lnTo>
                        <a:pt x="101" y="343"/>
                      </a:lnTo>
                      <a:lnTo>
                        <a:pt x="91" y="351"/>
                      </a:lnTo>
                      <a:lnTo>
                        <a:pt x="81" y="359"/>
                      </a:lnTo>
                      <a:lnTo>
                        <a:pt x="70" y="367"/>
                      </a:lnTo>
                      <a:lnTo>
                        <a:pt x="61" y="376"/>
                      </a:lnTo>
                      <a:lnTo>
                        <a:pt x="61" y="222"/>
                      </a:lnTo>
                      <a:lnTo>
                        <a:pt x="0" y="222"/>
                      </a:lnTo>
                      <a:lnTo>
                        <a:pt x="0" y="440"/>
                      </a:lnTo>
                      <a:lnTo>
                        <a:pt x="0" y="44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grpSp>
          <p:sp>
            <p:nvSpPr>
              <p:cNvPr id="23645" name="Rectangle 81"/>
              <p:cNvSpPr>
                <a:spLocks noChangeArrowheads="1"/>
              </p:cNvSpPr>
              <p:nvPr/>
            </p:nvSpPr>
            <p:spPr bwMode="auto">
              <a:xfrm>
                <a:off x="1706" y="849"/>
                <a:ext cx="106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zh-TW" altLang="en-US" sz="1400">
                    <a:latin typeface="標楷體" panose="03000509000000000000" pitchFamily="65" charset="-120"/>
                    <a:ea typeface="標楷體" panose="03000509000000000000" pitchFamily="65" charset="-120"/>
                  </a:rPr>
                  <a:t>   丟棄不當郵件 </a:t>
                </a:r>
              </a:p>
            </p:txBody>
          </p:sp>
          <p:grpSp>
            <p:nvGrpSpPr>
              <p:cNvPr id="23646" name="Group 82"/>
              <p:cNvGrpSpPr>
                <a:grpSpLocks/>
              </p:cNvGrpSpPr>
              <p:nvPr/>
            </p:nvGrpSpPr>
            <p:grpSpPr bwMode="auto">
              <a:xfrm>
                <a:off x="1701" y="935"/>
                <a:ext cx="181" cy="136"/>
                <a:chOff x="703" y="2750"/>
                <a:chExt cx="181" cy="136"/>
              </a:xfrm>
            </p:grpSpPr>
            <p:sp>
              <p:nvSpPr>
                <p:cNvPr id="23647" name="Line 83"/>
                <p:cNvSpPr>
                  <a:spLocks noChangeShapeType="1"/>
                </p:cNvSpPr>
                <p:nvPr/>
              </p:nvSpPr>
              <p:spPr bwMode="auto">
                <a:xfrm>
                  <a:off x="703" y="2757"/>
                  <a:ext cx="181" cy="129"/>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23648" name="Line 84"/>
                <p:cNvSpPr>
                  <a:spLocks noChangeShapeType="1"/>
                </p:cNvSpPr>
                <p:nvPr/>
              </p:nvSpPr>
              <p:spPr bwMode="auto">
                <a:xfrm flipV="1">
                  <a:off x="703" y="2757"/>
                  <a:ext cx="181" cy="129"/>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grpSp>
        </p:grpSp>
        <p:sp>
          <p:nvSpPr>
            <p:cNvPr id="23642" name="AutoShape 85"/>
            <p:cNvSpPr>
              <a:spLocks noChangeArrowheads="1"/>
            </p:cNvSpPr>
            <p:nvPr/>
          </p:nvSpPr>
          <p:spPr bwMode="auto">
            <a:xfrm>
              <a:off x="1020" y="1226"/>
              <a:ext cx="130" cy="209"/>
            </a:xfrm>
            <a:prstGeom prst="upArrow">
              <a:avLst>
                <a:gd name="adj1" fmla="val 50000"/>
                <a:gd name="adj2" fmla="val 57363"/>
              </a:avLst>
            </a:prstGeom>
            <a:solidFill>
              <a:srgbClr val="FF0000"/>
            </a:solidFill>
            <a:ln w="9525" algn="ctr">
              <a:solidFill>
                <a:srgbClr val="B2B2B2"/>
              </a:solidFill>
              <a:miter lim="800000"/>
              <a:headEnd/>
              <a:tailEnd/>
            </a:ln>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43" name="AutoShape 86"/>
            <p:cNvSpPr>
              <a:spLocks noChangeArrowheads="1"/>
            </p:cNvSpPr>
            <p:nvPr/>
          </p:nvSpPr>
          <p:spPr bwMode="auto">
            <a:xfrm>
              <a:off x="1573" y="1226"/>
              <a:ext cx="128" cy="209"/>
            </a:xfrm>
            <a:prstGeom prst="upArrow">
              <a:avLst>
                <a:gd name="adj1" fmla="val 50000"/>
                <a:gd name="adj2" fmla="val 57405"/>
              </a:avLst>
            </a:prstGeom>
            <a:solidFill>
              <a:srgbClr val="FF0000"/>
            </a:solidFill>
            <a:ln w="9525" algn="ctr">
              <a:solidFill>
                <a:srgbClr val="B2B2B2"/>
              </a:solidFill>
              <a:miter lim="800000"/>
              <a:headEnd/>
              <a:tailEnd/>
            </a:ln>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grpSp>
      <p:grpSp>
        <p:nvGrpSpPr>
          <p:cNvPr id="13" name="Group 47"/>
          <p:cNvGrpSpPr>
            <a:grpSpLocks/>
          </p:cNvGrpSpPr>
          <p:nvPr/>
        </p:nvGrpSpPr>
        <p:grpSpPr bwMode="auto">
          <a:xfrm>
            <a:off x="4032250" y="1520825"/>
            <a:ext cx="2392363" cy="863600"/>
            <a:chOff x="2580" y="891"/>
            <a:chExt cx="1507" cy="544"/>
          </a:xfrm>
        </p:grpSpPr>
        <p:grpSp>
          <p:nvGrpSpPr>
            <p:cNvPr id="23629" name="Group 88"/>
            <p:cNvGrpSpPr>
              <a:grpSpLocks/>
            </p:cNvGrpSpPr>
            <p:nvPr/>
          </p:nvGrpSpPr>
          <p:grpSpPr bwMode="auto">
            <a:xfrm>
              <a:off x="2653" y="891"/>
              <a:ext cx="1434" cy="319"/>
              <a:chOff x="2880" y="754"/>
              <a:chExt cx="1434" cy="346"/>
            </a:xfrm>
          </p:grpSpPr>
          <p:grpSp>
            <p:nvGrpSpPr>
              <p:cNvPr id="23633" name="Group 89"/>
              <p:cNvGrpSpPr>
                <a:grpSpLocks/>
              </p:cNvGrpSpPr>
              <p:nvPr/>
            </p:nvGrpSpPr>
            <p:grpSpPr bwMode="auto">
              <a:xfrm>
                <a:off x="2880" y="754"/>
                <a:ext cx="326" cy="227"/>
                <a:chOff x="2676" y="2042"/>
                <a:chExt cx="409" cy="236"/>
              </a:xfrm>
            </p:grpSpPr>
            <p:sp>
              <p:nvSpPr>
                <p:cNvPr id="23639" name="Rectangle 90"/>
                <p:cNvSpPr>
                  <a:spLocks noChangeArrowheads="1"/>
                </p:cNvSpPr>
                <p:nvPr/>
              </p:nvSpPr>
              <p:spPr bwMode="auto">
                <a:xfrm>
                  <a:off x="2699" y="2061"/>
                  <a:ext cx="371" cy="20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40" name="Freeform 91"/>
                <p:cNvSpPr>
                  <a:spLocks/>
                </p:cNvSpPr>
                <p:nvPr/>
              </p:nvSpPr>
              <p:spPr bwMode="auto">
                <a:xfrm>
                  <a:off x="2676" y="2042"/>
                  <a:ext cx="409" cy="236"/>
                </a:xfrm>
                <a:custGeom>
                  <a:avLst/>
                  <a:gdLst>
                    <a:gd name="T0" fmla="*/ 0 w 819"/>
                    <a:gd name="T1" fmla="*/ 1 h 470"/>
                    <a:gd name="T2" fmla="*/ 0 w 819"/>
                    <a:gd name="T3" fmla="*/ 1 h 470"/>
                    <a:gd name="T4" fmla="*/ 0 w 819"/>
                    <a:gd name="T5" fmla="*/ 1 h 470"/>
                    <a:gd name="T6" fmla="*/ 0 w 819"/>
                    <a:gd name="T7" fmla="*/ 1 h 470"/>
                    <a:gd name="T8" fmla="*/ 0 w 819"/>
                    <a:gd name="T9" fmla="*/ 1 h 470"/>
                    <a:gd name="T10" fmla="*/ 0 w 819"/>
                    <a:gd name="T11" fmla="*/ 1 h 470"/>
                    <a:gd name="T12" fmla="*/ 0 w 819"/>
                    <a:gd name="T13" fmla="*/ 1 h 470"/>
                    <a:gd name="T14" fmla="*/ 0 w 819"/>
                    <a:gd name="T15" fmla="*/ 1 h 470"/>
                    <a:gd name="T16" fmla="*/ 0 w 819"/>
                    <a:gd name="T17" fmla="*/ 1 h 470"/>
                    <a:gd name="T18" fmla="*/ 0 w 819"/>
                    <a:gd name="T19" fmla="*/ 1 h 470"/>
                    <a:gd name="T20" fmla="*/ 0 w 819"/>
                    <a:gd name="T21" fmla="*/ 1 h 470"/>
                    <a:gd name="T22" fmla="*/ 0 w 819"/>
                    <a:gd name="T23" fmla="*/ 1 h 470"/>
                    <a:gd name="T24" fmla="*/ 0 w 819"/>
                    <a:gd name="T25" fmla="*/ 1 h 470"/>
                    <a:gd name="T26" fmla="*/ 0 w 819"/>
                    <a:gd name="T27" fmla="*/ 1 h 470"/>
                    <a:gd name="T28" fmla="*/ 0 w 819"/>
                    <a:gd name="T29" fmla="*/ 1 h 470"/>
                    <a:gd name="T30" fmla="*/ 0 w 819"/>
                    <a:gd name="T31" fmla="*/ 1 h 470"/>
                    <a:gd name="T32" fmla="*/ 0 w 819"/>
                    <a:gd name="T33" fmla="*/ 1 h 470"/>
                    <a:gd name="T34" fmla="*/ 0 w 819"/>
                    <a:gd name="T35" fmla="*/ 1 h 470"/>
                    <a:gd name="T36" fmla="*/ 0 w 819"/>
                    <a:gd name="T37" fmla="*/ 1 h 470"/>
                    <a:gd name="T38" fmla="*/ 0 w 819"/>
                    <a:gd name="T39" fmla="*/ 1 h 470"/>
                    <a:gd name="T40" fmla="*/ 0 w 819"/>
                    <a:gd name="T41" fmla="*/ 1 h 470"/>
                    <a:gd name="T42" fmla="*/ 0 w 819"/>
                    <a:gd name="T43" fmla="*/ 1 h 470"/>
                    <a:gd name="T44" fmla="*/ 0 w 819"/>
                    <a:gd name="T45" fmla="*/ 1 h 470"/>
                    <a:gd name="T46" fmla="*/ 0 w 819"/>
                    <a:gd name="T47" fmla="*/ 1 h 470"/>
                    <a:gd name="T48" fmla="*/ 0 w 819"/>
                    <a:gd name="T49" fmla="*/ 1 h 470"/>
                    <a:gd name="T50" fmla="*/ 0 w 819"/>
                    <a:gd name="T51" fmla="*/ 1 h 470"/>
                    <a:gd name="T52" fmla="*/ 0 w 819"/>
                    <a:gd name="T53" fmla="*/ 1 h 470"/>
                    <a:gd name="T54" fmla="*/ 0 w 819"/>
                    <a:gd name="T55" fmla="*/ 1 h 470"/>
                    <a:gd name="T56" fmla="*/ 0 w 819"/>
                    <a:gd name="T57" fmla="*/ 1 h 470"/>
                    <a:gd name="T58" fmla="*/ 0 w 819"/>
                    <a:gd name="T59" fmla="*/ 1 h 470"/>
                    <a:gd name="T60" fmla="*/ 0 w 819"/>
                    <a:gd name="T61" fmla="*/ 1 h 470"/>
                    <a:gd name="T62" fmla="*/ 0 w 819"/>
                    <a:gd name="T63" fmla="*/ 1 h 470"/>
                    <a:gd name="T64" fmla="*/ 0 w 819"/>
                    <a:gd name="T65" fmla="*/ 1 h 470"/>
                    <a:gd name="T66" fmla="*/ 0 w 819"/>
                    <a:gd name="T67" fmla="*/ 1 h 470"/>
                    <a:gd name="T68" fmla="*/ 0 w 819"/>
                    <a:gd name="T69" fmla="*/ 1 h 470"/>
                    <a:gd name="T70" fmla="*/ 0 w 819"/>
                    <a:gd name="T71" fmla="*/ 1 h 470"/>
                    <a:gd name="T72" fmla="*/ 0 w 819"/>
                    <a:gd name="T73" fmla="*/ 0 h 470"/>
                    <a:gd name="T74" fmla="*/ 0 w 819"/>
                    <a:gd name="T75" fmla="*/ 0 h 470"/>
                    <a:gd name="T76" fmla="*/ 0 w 819"/>
                    <a:gd name="T77" fmla="*/ 1 h 470"/>
                    <a:gd name="T78" fmla="*/ 0 w 819"/>
                    <a:gd name="T79" fmla="*/ 1 h 470"/>
                    <a:gd name="T80" fmla="*/ 0 w 819"/>
                    <a:gd name="T81" fmla="*/ 1 h 470"/>
                    <a:gd name="T82" fmla="*/ 0 w 819"/>
                    <a:gd name="T83" fmla="*/ 1 h 470"/>
                    <a:gd name="T84" fmla="*/ 0 w 819"/>
                    <a:gd name="T85" fmla="*/ 1 h 470"/>
                    <a:gd name="T86" fmla="*/ 0 w 819"/>
                    <a:gd name="T87" fmla="*/ 1 h 470"/>
                    <a:gd name="T88" fmla="*/ 0 w 819"/>
                    <a:gd name="T89" fmla="*/ 1 h 470"/>
                    <a:gd name="T90" fmla="*/ 0 w 819"/>
                    <a:gd name="T91" fmla="*/ 1 h 470"/>
                    <a:gd name="T92" fmla="*/ 0 w 819"/>
                    <a:gd name="T93" fmla="*/ 0 h 470"/>
                    <a:gd name="T94" fmla="*/ 0 w 819"/>
                    <a:gd name="T95" fmla="*/ 0 h 470"/>
                    <a:gd name="T96" fmla="*/ 0 w 819"/>
                    <a:gd name="T97" fmla="*/ 1 h 470"/>
                    <a:gd name="T98" fmla="*/ 0 w 819"/>
                    <a:gd name="T99" fmla="*/ 1 h 470"/>
                    <a:gd name="T100" fmla="*/ 0 w 819"/>
                    <a:gd name="T101" fmla="*/ 1 h 470"/>
                    <a:gd name="T102" fmla="*/ 0 w 819"/>
                    <a:gd name="T103" fmla="*/ 1 h 470"/>
                    <a:gd name="T104" fmla="*/ 0 w 819"/>
                    <a:gd name="T105" fmla="*/ 1 h 470"/>
                    <a:gd name="T106" fmla="*/ 0 w 819"/>
                    <a:gd name="T107" fmla="*/ 1 h 470"/>
                    <a:gd name="T108" fmla="*/ 0 w 819"/>
                    <a:gd name="T109" fmla="*/ 1 h 470"/>
                    <a:gd name="T110" fmla="*/ 0 w 819"/>
                    <a:gd name="T111" fmla="*/ 1 h 470"/>
                    <a:gd name="T112" fmla="*/ 0 w 819"/>
                    <a:gd name="T113" fmla="*/ 1 h 470"/>
                    <a:gd name="T114" fmla="*/ 0 w 819"/>
                    <a:gd name="T115" fmla="*/ 1 h 470"/>
                    <a:gd name="T116" fmla="*/ 0 w 819"/>
                    <a:gd name="T117" fmla="*/ 1 h 470"/>
                    <a:gd name="T118" fmla="*/ 0 w 819"/>
                    <a:gd name="T119" fmla="*/ 1 h 470"/>
                    <a:gd name="T120" fmla="*/ 0 w 819"/>
                    <a:gd name="T121" fmla="*/ 1 h 47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819"/>
                    <a:gd name="T184" fmla="*/ 0 h 470"/>
                    <a:gd name="T185" fmla="*/ 819 w 819"/>
                    <a:gd name="T186" fmla="*/ 470 h 47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819" h="470">
                      <a:moveTo>
                        <a:pt x="0" y="441"/>
                      </a:moveTo>
                      <a:lnTo>
                        <a:pt x="0" y="442"/>
                      </a:lnTo>
                      <a:lnTo>
                        <a:pt x="0" y="444"/>
                      </a:lnTo>
                      <a:lnTo>
                        <a:pt x="0" y="445"/>
                      </a:lnTo>
                      <a:lnTo>
                        <a:pt x="1" y="445"/>
                      </a:lnTo>
                      <a:lnTo>
                        <a:pt x="1" y="446"/>
                      </a:lnTo>
                      <a:lnTo>
                        <a:pt x="1" y="447"/>
                      </a:lnTo>
                      <a:lnTo>
                        <a:pt x="1" y="448"/>
                      </a:lnTo>
                      <a:lnTo>
                        <a:pt x="1" y="449"/>
                      </a:lnTo>
                      <a:lnTo>
                        <a:pt x="2" y="449"/>
                      </a:lnTo>
                      <a:lnTo>
                        <a:pt x="2" y="450"/>
                      </a:lnTo>
                      <a:lnTo>
                        <a:pt x="2" y="452"/>
                      </a:lnTo>
                      <a:lnTo>
                        <a:pt x="3" y="453"/>
                      </a:lnTo>
                      <a:lnTo>
                        <a:pt x="3" y="454"/>
                      </a:lnTo>
                      <a:lnTo>
                        <a:pt x="5" y="455"/>
                      </a:lnTo>
                      <a:lnTo>
                        <a:pt x="5" y="456"/>
                      </a:lnTo>
                      <a:lnTo>
                        <a:pt x="6" y="456"/>
                      </a:lnTo>
                      <a:lnTo>
                        <a:pt x="6" y="457"/>
                      </a:lnTo>
                      <a:lnTo>
                        <a:pt x="7" y="458"/>
                      </a:lnTo>
                      <a:lnTo>
                        <a:pt x="7" y="460"/>
                      </a:lnTo>
                      <a:lnTo>
                        <a:pt x="8" y="460"/>
                      </a:lnTo>
                      <a:lnTo>
                        <a:pt x="8" y="461"/>
                      </a:lnTo>
                      <a:lnTo>
                        <a:pt x="9" y="461"/>
                      </a:lnTo>
                      <a:lnTo>
                        <a:pt x="9" y="462"/>
                      </a:lnTo>
                      <a:lnTo>
                        <a:pt x="10" y="462"/>
                      </a:lnTo>
                      <a:lnTo>
                        <a:pt x="10" y="463"/>
                      </a:lnTo>
                      <a:lnTo>
                        <a:pt x="12" y="463"/>
                      </a:lnTo>
                      <a:lnTo>
                        <a:pt x="13" y="464"/>
                      </a:lnTo>
                      <a:lnTo>
                        <a:pt x="14" y="464"/>
                      </a:lnTo>
                      <a:lnTo>
                        <a:pt x="14" y="465"/>
                      </a:lnTo>
                      <a:lnTo>
                        <a:pt x="15" y="465"/>
                      </a:lnTo>
                      <a:lnTo>
                        <a:pt x="16" y="467"/>
                      </a:lnTo>
                      <a:lnTo>
                        <a:pt x="17" y="467"/>
                      </a:lnTo>
                      <a:lnTo>
                        <a:pt x="18" y="468"/>
                      </a:lnTo>
                      <a:lnTo>
                        <a:pt x="20" y="468"/>
                      </a:lnTo>
                      <a:lnTo>
                        <a:pt x="21" y="469"/>
                      </a:lnTo>
                      <a:lnTo>
                        <a:pt x="22" y="469"/>
                      </a:lnTo>
                      <a:lnTo>
                        <a:pt x="23" y="469"/>
                      </a:lnTo>
                      <a:lnTo>
                        <a:pt x="24" y="469"/>
                      </a:lnTo>
                      <a:lnTo>
                        <a:pt x="25" y="469"/>
                      </a:lnTo>
                      <a:lnTo>
                        <a:pt x="27" y="470"/>
                      </a:lnTo>
                      <a:lnTo>
                        <a:pt x="28" y="470"/>
                      </a:lnTo>
                      <a:lnTo>
                        <a:pt x="29" y="470"/>
                      </a:lnTo>
                      <a:lnTo>
                        <a:pt x="30" y="470"/>
                      </a:lnTo>
                      <a:lnTo>
                        <a:pt x="423" y="470"/>
                      </a:lnTo>
                      <a:lnTo>
                        <a:pt x="423" y="409"/>
                      </a:lnTo>
                      <a:lnTo>
                        <a:pt x="116" y="409"/>
                      </a:lnTo>
                      <a:lnTo>
                        <a:pt x="129" y="400"/>
                      </a:lnTo>
                      <a:lnTo>
                        <a:pt x="141" y="389"/>
                      </a:lnTo>
                      <a:lnTo>
                        <a:pt x="153" y="380"/>
                      </a:lnTo>
                      <a:lnTo>
                        <a:pt x="165" y="371"/>
                      </a:lnTo>
                      <a:lnTo>
                        <a:pt x="177" y="362"/>
                      </a:lnTo>
                      <a:lnTo>
                        <a:pt x="189" y="353"/>
                      </a:lnTo>
                      <a:lnTo>
                        <a:pt x="202" y="343"/>
                      </a:lnTo>
                      <a:lnTo>
                        <a:pt x="213" y="334"/>
                      </a:lnTo>
                      <a:lnTo>
                        <a:pt x="225" y="326"/>
                      </a:lnTo>
                      <a:lnTo>
                        <a:pt x="236" y="317"/>
                      </a:lnTo>
                      <a:lnTo>
                        <a:pt x="248" y="309"/>
                      </a:lnTo>
                      <a:lnTo>
                        <a:pt x="259" y="301"/>
                      </a:lnTo>
                      <a:lnTo>
                        <a:pt x="270" y="293"/>
                      </a:lnTo>
                      <a:lnTo>
                        <a:pt x="281" y="285"/>
                      </a:lnTo>
                      <a:lnTo>
                        <a:pt x="291" y="278"/>
                      </a:lnTo>
                      <a:lnTo>
                        <a:pt x="302" y="271"/>
                      </a:lnTo>
                      <a:lnTo>
                        <a:pt x="319" y="281"/>
                      </a:lnTo>
                      <a:lnTo>
                        <a:pt x="335" y="290"/>
                      </a:lnTo>
                      <a:lnTo>
                        <a:pt x="350" y="298"/>
                      </a:lnTo>
                      <a:lnTo>
                        <a:pt x="364" y="305"/>
                      </a:lnTo>
                      <a:lnTo>
                        <a:pt x="378" y="311"/>
                      </a:lnTo>
                      <a:lnTo>
                        <a:pt x="389" y="314"/>
                      </a:lnTo>
                      <a:lnTo>
                        <a:pt x="400" y="317"/>
                      </a:lnTo>
                      <a:lnTo>
                        <a:pt x="409" y="318"/>
                      </a:lnTo>
                      <a:lnTo>
                        <a:pt x="418" y="317"/>
                      </a:lnTo>
                      <a:lnTo>
                        <a:pt x="429" y="314"/>
                      </a:lnTo>
                      <a:lnTo>
                        <a:pt x="441" y="311"/>
                      </a:lnTo>
                      <a:lnTo>
                        <a:pt x="454" y="305"/>
                      </a:lnTo>
                      <a:lnTo>
                        <a:pt x="469" y="298"/>
                      </a:lnTo>
                      <a:lnTo>
                        <a:pt x="484" y="290"/>
                      </a:lnTo>
                      <a:lnTo>
                        <a:pt x="500" y="281"/>
                      </a:lnTo>
                      <a:lnTo>
                        <a:pt x="516" y="271"/>
                      </a:lnTo>
                      <a:lnTo>
                        <a:pt x="527" y="278"/>
                      </a:lnTo>
                      <a:lnTo>
                        <a:pt x="537" y="285"/>
                      </a:lnTo>
                      <a:lnTo>
                        <a:pt x="548" y="293"/>
                      </a:lnTo>
                      <a:lnTo>
                        <a:pt x="559" y="301"/>
                      </a:lnTo>
                      <a:lnTo>
                        <a:pt x="570" y="309"/>
                      </a:lnTo>
                      <a:lnTo>
                        <a:pt x="582" y="317"/>
                      </a:lnTo>
                      <a:lnTo>
                        <a:pt x="593" y="326"/>
                      </a:lnTo>
                      <a:lnTo>
                        <a:pt x="605" y="334"/>
                      </a:lnTo>
                      <a:lnTo>
                        <a:pt x="618" y="343"/>
                      </a:lnTo>
                      <a:lnTo>
                        <a:pt x="629" y="353"/>
                      </a:lnTo>
                      <a:lnTo>
                        <a:pt x="642" y="362"/>
                      </a:lnTo>
                      <a:lnTo>
                        <a:pt x="653" y="371"/>
                      </a:lnTo>
                      <a:lnTo>
                        <a:pt x="666" y="380"/>
                      </a:lnTo>
                      <a:lnTo>
                        <a:pt x="679" y="389"/>
                      </a:lnTo>
                      <a:lnTo>
                        <a:pt x="690" y="400"/>
                      </a:lnTo>
                      <a:lnTo>
                        <a:pt x="703" y="409"/>
                      </a:lnTo>
                      <a:lnTo>
                        <a:pt x="423" y="409"/>
                      </a:lnTo>
                      <a:lnTo>
                        <a:pt x="423" y="470"/>
                      </a:lnTo>
                      <a:lnTo>
                        <a:pt x="788" y="470"/>
                      </a:lnTo>
                      <a:lnTo>
                        <a:pt x="789" y="470"/>
                      </a:lnTo>
                      <a:lnTo>
                        <a:pt x="790" y="470"/>
                      </a:lnTo>
                      <a:lnTo>
                        <a:pt x="791" y="470"/>
                      </a:lnTo>
                      <a:lnTo>
                        <a:pt x="793" y="469"/>
                      </a:lnTo>
                      <a:lnTo>
                        <a:pt x="794" y="469"/>
                      </a:lnTo>
                      <a:lnTo>
                        <a:pt x="795" y="469"/>
                      </a:lnTo>
                      <a:lnTo>
                        <a:pt x="796" y="469"/>
                      </a:lnTo>
                      <a:lnTo>
                        <a:pt x="797" y="469"/>
                      </a:lnTo>
                      <a:lnTo>
                        <a:pt x="798" y="468"/>
                      </a:lnTo>
                      <a:lnTo>
                        <a:pt x="800" y="468"/>
                      </a:lnTo>
                      <a:lnTo>
                        <a:pt x="801" y="468"/>
                      </a:lnTo>
                      <a:lnTo>
                        <a:pt x="801" y="467"/>
                      </a:lnTo>
                      <a:lnTo>
                        <a:pt x="802" y="467"/>
                      </a:lnTo>
                      <a:lnTo>
                        <a:pt x="803" y="467"/>
                      </a:lnTo>
                      <a:lnTo>
                        <a:pt x="804" y="465"/>
                      </a:lnTo>
                      <a:lnTo>
                        <a:pt x="805" y="464"/>
                      </a:lnTo>
                      <a:lnTo>
                        <a:pt x="806" y="464"/>
                      </a:lnTo>
                      <a:lnTo>
                        <a:pt x="806" y="463"/>
                      </a:lnTo>
                      <a:lnTo>
                        <a:pt x="808" y="463"/>
                      </a:lnTo>
                      <a:lnTo>
                        <a:pt x="809" y="462"/>
                      </a:lnTo>
                      <a:lnTo>
                        <a:pt x="810" y="461"/>
                      </a:lnTo>
                      <a:lnTo>
                        <a:pt x="811" y="460"/>
                      </a:lnTo>
                      <a:lnTo>
                        <a:pt x="811" y="458"/>
                      </a:lnTo>
                      <a:lnTo>
                        <a:pt x="812" y="458"/>
                      </a:lnTo>
                      <a:lnTo>
                        <a:pt x="812" y="457"/>
                      </a:lnTo>
                      <a:lnTo>
                        <a:pt x="813" y="457"/>
                      </a:lnTo>
                      <a:lnTo>
                        <a:pt x="813" y="456"/>
                      </a:lnTo>
                      <a:lnTo>
                        <a:pt x="815" y="455"/>
                      </a:lnTo>
                      <a:lnTo>
                        <a:pt x="815" y="454"/>
                      </a:lnTo>
                      <a:lnTo>
                        <a:pt x="816" y="454"/>
                      </a:lnTo>
                      <a:lnTo>
                        <a:pt x="816" y="453"/>
                      </a:lnTo>
                      <a:lnTo>
                        <a:pt x="816" y="452"/>
                      </a:lnTo>
                      <a:lnTo>
                        <a:pt x="817" y="450"/>
                      </a:lnTo>
                      <a:lnTo>
                        <a:pt x="817" y="449"/>
                      </a:lnTo>
                      <a:lnTo>
                        <a:pt x="817" y="448"/>
                      </a:lnTo>
                      <a:lnTo>
                        <a:pt x="818" y="447"/>
                      </a:lnTo>
                      <a:lnTo>
                        <a:pt x="818" y="446"/>
                      </a:lnTo>
                      <a:lnTo>
                        <a:pt x="818" y="445"/>
                      </a:lnTo>
                      <a:lnTo>
                        <a:pt x="818" y="444"/>
                      </a:lnTo>
                      <a:lnTo>
                        <a:pt x="818" y="442"/>
                      </a:lnTo>
                      <a:lnTo>
                        <a:pt x="818" y="441"/>
                      </a:lnTo>
                      <a:lnTo>
                        <a:pt x="818" y="440"/>
                      </a:lnTo>
                      <a:lnTo>
                        <a:pt x="819" y="440"/>
                      </a:lnTo>
                      <a:lnTo>
                        <a:pt x="819" y="229"/>
                      </a:lnTo>
                      <a:lnTo>
                        <a:pt x="758" y="229"/>
                      </a:lnTo>
                      <a:lnTo>
                        <a:pt x="758" y="376"/>
                      </a:lnTo>
                      <a:lnTo>
                        <a:pt x="749" y="367"/>
                      </a:lnTo>
                      <a:lnTo>
                        <a:pt x="738" y="359"/>
                      </a:lnTo>
                      <a:lnTo>
                        <a:pt x="728" y="351"/>
                      </a:lnTo>
                      <a:lnTo>
                        <a:pt x="717" y="343"/>
                      </a:lnTo>
                      <a:lnTo>
                        <a:pt x="705" y="334"/>
                      </a:lnTo>
                      <a:lnTo>
                        <a:pt x="694" y="325"/>
                      </a:lnTo>
                      <a:lnTo>
                        <a:pt x="682" y="316"/>
                      </a:lnTo>
                      <a:lnTo>
                        <a:pt x="671" y="306"/>
                      </a:lnTo>
                      <a:lnTo>
                        <a:pt x="658" y="298"/>
                      </a:lnTo>
                      <a:lnTo>
                        <a:pt x="646" y="289"/>
                      </a:lnTo>
                      <a:lnTo>
                        <a:pt x="634" y="280"/>
                      </a:lnTo>
                      <a:lnTo>
                        <a:pt x="621" y="271"/>
                      </a:lnTo>
                      <a:lnTo>
                        <a:pt x="608" y="261"/>
                      </a:lnTo>
                      <a:lnTo>
                        <a:pt x="597" y="252"/>
                      </a:lnTo>
                      <a:lnTo>
                        <a:pt x="584" y="243"/>
                      </a:lnTo>
                      <a:lnTo>
                        <a:pt x="571" y="235"/>
                      </a:lnTo>
                      <a:lnTo>
                        <a:pt x="584" y="227"/>
                      </a:lnTo>
                      <a:lnTo>
                        <a:pt x="597" y="218"/>
                      </a:lnTo>
                      <a:lnTo>
                        <a:pt x="608" y="209"/>
                      </a:lnTo>
                      <a:lnTo>
                        <a:pt x="621" y="199"/>
                      </a:lnTo>
                      <a:lnTo>
                        <a:pt x="634" y="190"/>
                      </a:lnTo>
                      <a:lnTo>
                        <a:pt x="646" y="181"/>
                      </a:lnTo>
                      <a:lnTo>
                        <a:pt x="658" y="172"/>
                      </a:lnTo>
                      <a:lnTo>
                        <a:pt x="671" y="162"/>
                      </a:lnTo>
                      <a:lnTo>
                        <a:pt x="682" y="154"/>
                      </a:lnTo>
                      <a:lnTo>
                        <a:pt x="694" y="145"/>
                      </a:lnTo>
                      <a:lnTo>
                        <a:pt x="705" y="136"/>
                      </a:lnTo>
                      <a:lnTo>
                        <a:pt x="717" y="127"/>
                      </a:lnTo>
                      <a:lnTo>
                        <a:pt x="728" y="119"/>
                      </a:lnTo>
                      <a:lnTo>
                        <a:pt x="738" y="111"/>
                      </a:lnTo>
                      <a:lnTo>
                        <a:pt x="749" y="103"/>
                      </a:lnTo>
                      <a:lnTo>
                        <a:pt x="758" y="94"/>
                      </a:lnTo>
                      <a:lnTo>
                        <a:pt x="758" y="229"/>
                      </a:lnTo>
                      <a:lnTo>
                        <a:pt x="819" y="229"/>
                      </a:lnTo>
                      <a:lnTo>
                        <a:pt x="819" y="30"/>
                      </a:lnTo>
                      <a:lnTo>
                        <a:pt x="819" y="29"/>
                      </a:lnTo>
                      <a:lnTo>
                        <a:pt x="818" y="29"/>
                      </a:lnTo>
                      <a:lnTo>
                        <a:pt x="818" y="28"/>
                      </a:lnTo>
                      <a:lnTo>
                        <a:pt x="818" y="26"/>
                      </a:lnTo>
                      <a:lnTo>
                        <a:pt x="818" y="25"/>
                      </a:lnTo>
                      <a:lnTo>
                        <a:pt x="818" y="24"/>
                      </a:lnTo>
                      <a:lnTo>
                        <a:pt x="818" y="23"/>
                      </a:lnTo>
                      <a:lnTo>
                        <a:pt x="817" y="22"/>
                      </a:lnTo>
                      <a:lnTo>
                        <a:pt x="817" y="21"/>
                      </a:lnTo>
                      <a:lnTo>
                        <a:pt x="817" y="20"/>
                      </a:lnTo>
                      <a:lnTo>
                        <a:pt x="817" y="18"/>
                      </a:lnTo>
                      <a:lnTo>
                        <a:pt x="816" y="18"/>
                      </a:lnTo>
                      <a:lnTo>
                        <a:pt x="816" y="17"/>
                      </a:lnTo>
                      <a:lnTo>
                        <a:pt x="816" y="16"/>
                      </a:lnTo>
                      <a:lnTo>
                        <a:pt x="815" y="16"/>
                      </a:lnTo>
                      <a:lnTo>
                        <a:pt x="815" y="15"/>
                      </a:lnTo>
                      <a:lnTo>
                        <a:pt x="813" y="14"/>
                      </a:lnTo>
                      <a:lnTo>
                        <a:pt x="813" y="13"/>
                      </a:lnTo>
                      <a:lnTo>
                        <a:pt x="812" y="12"/>
                      </a:lnTo>
                      <a:lnTo>
                        <a:pt x="811" y="10"/>
                      </a:lnTo>
                      <a:lnTo>
                        <a:pt x="810" y="9"/>
                      </a:lnTo>
                      <a:lnTo>
                        <a:pt x="809" y="8"/>
                      </a:lnTo>
                      <a:lnTo>
                        <a:pt x="808" y="7"/>
                      </a:lnTo>
                      <a:lnTo>
                        <a:pt x="806" y="7"/>
                      </a:lnTo>
                      <a:lnTo>
                        <a:pt x="806" y="6"/>
                      </a:lnTo>
                      <a:lnTo>
                        <a:pt x="805" y="6"/>
                      </a:lnTo>
                      <a:lnTo>
                        <a:pt x="805" y="5"/>
                      </a:lnTo>
                      <a:lnTo>
                        <a:pt x="804" y="5"/>
                      </a:lnTo>
                      <a:lnTo>
                        <a:pt x="803" y="3"/>
                      </a:lnTo>
                      <a:lnTo>
                        <a:pt x="802" y="3"/>
                      </a:lnTo>
                      <a:lnTo>
                        <a:pt x="801" y="3"/>
                      </a:lnTo>
                      <a:lnTo>
                        <a:pt x="801" y="2"/>
                      </a:lnTo>
                      <a:lnTo>
                        <a:pt x="800" y="2"/>
                      </a:lnTo>
                      <a:lnTo>
                        <a:pt x="798" y="2"/>
                      </a:lnTo>
                      <a:lnTo>
                        <a:pt x="797" y="1"/>
                      </a:lnTo>
                      <a:lnTo>
                        <a:pt x="796" y="1"/>
                      </a:lnTo>
                      <a:lnTo>
                        <a:pt x="795" y="1"/>
                      </a:lnTo>
                      <a:lnTo>
                        <a:pt x="795" y="0"/>
                      </a:lnTo>
                      <a:lnTo>
                        <a:pt x="794" y="0"/>
                      </a:lnTo>
                      <a:lnTo>
                        <a:pt x="793" y="0"/>
                      </a:lnTo>
                      <a:lnTo>
                        <a:pt x="791" y="0"/>
                      </a:lnTo>
                      <a:lnTo>
                        <a:pt x="790" y="0"/>
                      </a:lnTo>
                      <a:lnTo>
                        <a:pt x="789" y="0"/>
                      </a:lnTo>
                      <a:lnTo>
                        <a:pt x="788" y="0"/>
                      </a:lnTo>
                      <a:lnTo>
                        <a:pt x="385" y="0"/>
                      </a:lnTo>
                      <a:lnTo>
                        <a:pt x="385" y="61"/>
                      </a:lnTo>
                      <a:lnTo>
                        <a:pt x="703" y="61"/>
                      </a:lnTo>
                      <a:lnTo>
                        <a:pt x="690" y="70"/>
                      </a:lnTo>
                      <a:lnTo>
                        <a:pt x="679" y="81"/>
                      </a:lnTo>
                      <a:lnTo>
                        <a:pt x="666" y="90"/>
                      </a:lnTo>
                      <a:lnTo>
                        <a:pt x="653" y="99"/>
                      </a:lnTo>
                      <a:lnTo>
                        <a:pt x="642" y="108"/>
                      </a:lnTo>
                      <a:lnTo>
                        <a:pt x="629" y="117"/>
                      </a:lnTo>
                      <a:lnTo>
                        <a:pt x="618" y="127"/>
                      </a:lnTo>
                      <a:lnTo>
                        <a:pt x="605" y="136"/>
                      </a:lnTo>
                      <a:lnTo>
                        <a:pt x="593" y="144"/>
                      </a:lnTo>
                      <a:lnTo>
                        <a:pt x="582" y="153"/>
                      </a:lnTo>
                      <a:lnTo>
                        <a:pt x="570" y="161"/>
                      </a:lnTo>
                      <a:lnTo>
                        <a:pt x="559" y="169"/>
                      </a:lnTo>
                      <a:lnTo>
                        <a:pt x="548" y="177"/>
                      </a:lnTo>
                      <a:lnTo>
                        <a:pt x="537" y="185"/>
                      </a:lnTo>
                      <a:lnTo>
                        <a:pt x="527" y="192"/>
                      </a:lnTo>
                      <a:lnTo>
                        <a:pt x="516" y="199"/>
                      </a:lnTo>
                      <a:lnTo>
                        <a:pt x="508" y="204"/>
                      </a:lnTo>
                      <a:lnTo>
                        <a:pt x="501" y="210"/>
                      </a:lnTo>
                      <a:lnTo>
                        <a:pt x="494" y="214"/>
                      </a:lnTo>
                      <a:lnTo>
                        <a:pt x="487" y="219"/>
                      </a:lnTo>
                      <a:lnTo>
                        <a:pt x="480" y="223"/>
                      </a:lnTo>
                      <a:lnTo>
                        <a:pt x="474" y="227"/>
                      </a:lnTo>
                      <a:lnTo>
                        <a:pt x="467" y="232"/>
                      </a:lnTo>
                      <a:lnTo>
                        <a:pt x="461" y="235"/>
                      </a:lnTo>
                      <a:lnTo>
                        <a:pt x="452" y="240"/>
                      </a:lnTo>
                      <a:lnTo>
                        <a:pt x="444" y="244"/>
                      </a:lnTo>
                      <a:lnTo>
                        <a:pt x="437" y="248"/>
                      </a:lnTo>
                      <a:lnTo>
                        <a:pt x="430" y="251"/>
                      </a:lnTo>
                      <a:lnTo>
                        <a:pt x="423" y="253"/>
                      </a:lnTo>
                      <a:lnTo>
                        <a:pt x="417" y="256"/>
                      </a:lnTo>
                      <a:lnTo>
                        <a:pt x="412" y="257"/>
                      </a:lnTo>
                      <a:lnTo>
                        <a:pt x="409" y="258"/>
                      </a:lnTo>
                      <a:lnTo>
                        <a:pt x="406" y="257"/>
                      </a:lnTo>
                      <a:lnTo>
                        <a:pt x="401" y="256"/>
                      </a:lnTo>
                      <a:lnTo>
                        <a:pt x="395" y="253"/>
                      </a:lnTo>
                      <a:lnTo>
                        <a:pt x="389" y="251"/>
                      </a:lnTo>
                      <a:lnTo>
                        <a:pt x="383" y="248"/>
                      </a:lnTo>
                      <a:lnTo>
                        <a:pt x="376" y="244"/>
                      </a:lnTo>
                      <a:lnTo>
                        <a:pt x="368" y="240"/>
                      </a:lnTo>
                      <a:lnTo>
                        <a:pt x="358" y="235"/>
                      </a:lnTo>
                      <a:lnTo>
                        <a:pt x="353" y="232"/>
                      </a:lnTo>
                      <a:lnTo>
                        <a:pt x="346" y="227"/>
                      </a:lnTo>
                      <a:lnTo>
                        <a:pt x="339" y="223"/>
                      </a:lnTo>
                      <a:lnTo>
                        <a:pt x="332" y="219"/>
                      </a:lnTo>
                      <a:lnTo>
                        <a:pt x="325" y="214"/>
                      </a:lnTo>
                      <a:lnTo>
                        <a:pt x="317" y="210"/>
                      </a:lnTo>
                      <a:lnTo>
                        <a:pt x="310" y="204"/>
                      </a:lnTo>
                      <a:lnTo>
                        <a:pt x="302" y="199"/>
                      </a:lnTo>
                      <a:lnTo>
                        <a:pt x="291" y="192"/>
                      </a:lnTo>
                      <a:lnTo>
                        <a:pt x="281" y="185"/>
                      </a:lnTo>
                      <a:lnTo>
                        <a:pt x="270" y="177"/>
                      </a:lnTo>
                      <a:lnTo>
                        <a:pt x="259" y="169"/>
                      </a:lnTo>
                      <a:lnTo>
                        <a:pt x="248" y="161"/>
                      </a:lnTo>
                      <a:lnTo>
                        <a:pt x="236" y="153"/>
                      </a:lnTo>
                      <a:lnTo>
                        <a:pt x="225" y="144"/>
                      </a:lnTo>
                      <a:lnTo>
                        <a:pt x="213" y="136"/>
                      </a:lnTo>
                      <a:lnTo>
                        <a:pt x="202" y="127"/>
                      </a:lnTo>
                      <a:lnTo>
                        <a:pt x="189" y="117"/>
                      </a:lnTo>
                      <a:lnTo>
                        <a:pt x="177" y="108"/>
                      </a:lnTo>
                      <a:lnTo>
                        <a:pt x="165" y="99"/>
                      </a:lnTo>
                      <a:lnTo>
                        <a:pt x="153" y="90"/>
                      </a:lnTo>
                      <a:lnTo>
                        <a:pt x="141" y="81"/>
                      </a:lnTo>
                      <a:lnTo>
                        <a:pt x="129" y="70"/>
                      </a:lnTo>
                      <a:lnTo>
                        <a:pt x="116" y="61"/>
                      </a:lnTo>
                      <a:lnTo>
                        <a:pt x="385" y="61"/>
                      </a:lnTo>
                      <a:lnTo>
                        <a:pt x="385" y="0"/>
                      </a:lnTo>
                      <a:lnTo>
                        <a:pt x="30" y="0"/>
                      </a:lnTo>
                      <a:lnTo>
                        <a:pt x="29" y="0"/>
                      </a:lnTo>
                      <a:lnTo>
                        <a:pt x="28" y="0"/>
                      </a:lnTo>
                      <a:lnTo>
                        <a:pt x="27" y="0"/>
                      </a:lnTo>
                      <a:lnTo>
                        <a:pt x="25" y="0"/>
                      </a:lnTo>
                      <a:lnTo>
                        <a:pt x="24" y="0"/>
                      </a:lnTo>
                      <a:lnTo>
                        <a:pt x="24" y="1"/>
                      </a:lnTo>
                      <a:lnTo>
                        <a:pt x="23" y="1"/>
                      </a:lnTo>
                      <a:lnTo>
                        <a:pt x="22" y="1"/>
                      </a:lnTo>
                      <a:lnTo>
                        <a:pt x="21" y="1"/>
                      </a:lnTo>
                      <a:lnTo>
                        <a:pt x="20" y="2"/>
                      </a:lnTo>
                      <a:lnTo>
                        <a:pt x="18" y="2"/>
                      </a:lnTo>
                      <a:lnTo>
                        <a:pt x="17" y="3"/>
                      </a:lnTo>
                      <a:lnTo>
                        <a:pt x="16" y="3"/>
                      </a:lnTo>
                      <a:lnTo>
                        <a:pt x="15" y="5"/>
                      </a:lnTo>
                      <a:lnTo>
                        <a:pt x="14" y="5"/>
                      </a:lnTo>
                      <a:lnTo>
                        <a:pt x="13" y="6"/>
                      </a:lnTo>
                      <a:lnTo>
                        <a:pt x="12" y="7"/>
                      </a:lnTo>
                      <a:lnTo>
                        <a:pt x="10" y="7"/>
                      </a:lnTo>
                      <a:lnTo>
                        <a:pt x="10" y="8"/>
                      </a:lnTo>
                      <a:lnTo>
                        <a:pt x="9" y="8"/>
                      </a:lnTo>
                      <a:lnTo>
                        <a:pt x="9" y="9"/>
                      </a:lnTo>
                      <a:lnTo>
                        <a:pt x="8" y="10"/>
                      </a:lnTo>
                      <a:lnTo>
                        <a:pt x="7" y="10"/>
                      </a:lnTo>
                      <a:lnTo>
                        <a:pt x="7" y="12"/>
                      </a:lnTo>
                      <a:lnTo>
                        <a:pt x="6" y="12"/>
                      </a:lnTo>
                      <a:lnTo>
                        <a:pt x="6" y="13"/>
                      </a:lnTo>
                      <a:lnTo>
                        <a:pt x="5" y="14"/>
                      </a:lnTo>
                      <a:lnTo>
                        <a:pt x="5" y="15"/>
                      </a:lnTo>
                      <a:lnTo>
                        <a:pt x="3" y="16"/>
                      </a:lnTo>
                      <a:lnTo>
                        <a:pt x="3" y="17"/>
                      </a:lnTo>
                      <a:lnTo>
                        <a:pt x="2" y="18"/>
                      </a:lnTo>
                      <a:lnTo>
                        <a:pt x="2" y="20"/>
                      </a:lnTo>
                      <a:lnTo>
                        <a:pt x="1" y="21"/>
                      </a:lnTo>
                      <a:lnTo>
                        <a:pt x="1" y="22"/>
                      </a:lnTo>
                      <a:lnTo>
                        <a:pt x="1" y="23"/>
                      </a:lnTo>
                      <a:lnTo>
                        <a:pt x="1" y="24"/>
                      </a:lnTo>
                      <a:lnTo>
                        <a:pt x="0" y="25"/>
                      </a:lnTo>
                      <a:lnTo>
                        <a:pt x="0" y="26"/>
                      </a:lnTo>
                      <a:lnTo>
                        <a:pt x="0" y="28"/>
                      </a:lnTo>
                      <a:lnTo>
                        <a:pt x="0" y="29"/>
                      </a:lnTo>
                      <a:lnTo>
                        <a:pt x="0" y="30"/>
                      </a:lnTo>
                      <a:lnTo>
                        <a:pt x="0" y="222"/>
                      </a:lnTo>
                      <a:lnTo>
                        <a:pt x="61" y="222"/>
                      </a:lnTo>
                      <a:lnTo>
                        <a:pt x="61" y="94"/>
                      </a:lnTo>
                      <a:lnTo>
                        <a:pt x="70" y="103"/>
                      </a:lnTo>
                      <a:lnTo>
                        <a:pt x="81" y="111"/>
                      </a:lnTo>
                      <a:lnTo>
                        <a:pt x="91" y="119"/>
                      </a:lnTo>
                      <a:lnTo>
                        <a:pt x="101" y="127"/>
                      </a:lnTo>
                      <a:lnTo>
                        <a:pt x="113" y="136"/>
                      </a:lnTo>
                      <a:lnTo>
                        <a:pt x="124" y="145"/>
                      </a:lnTo>
                      <a:lnTo>
                        <a:pt x="136" y="154"/>
                      </a:lnTo>
                      <a:lnTo>
                        <a:pt x="147" y="162"/>
                      </a:lnTo>
                      <a:lnTo>
                        <a:pt x="160" y="172"/>
                      </a:lnTo>
                      <a:lnTo>
                        <a:pt x="172" y="181"/>
                      </a:lnTo>
                      <a:lnTo>
                        <a:pt x="184" y="190"/>
                      </a:lnTo>
                      <a:lnTo>
                        <a:pt x="197" y="199"/>
                      </a:lnTo>
                      <a:lnTo>
                        <a:pt x="210" y="209"/>
                      </a:lnTo>
                      <a:lnTo>
                        <a:pt x="221" y="218"/>
                      </a:lnTo>
                      <a:lnTo>
                        <a:pt x="234" y="227"/>
                      </a:lnTo>
                      <a:lnTo>
                        <a:pt x="247" y="235"/>
                      </a:lnTo>
                      <a:lnTo>
                        <a:pt x="234" y="243"/>
                      </a:lnTo>
                      <a:lnTo>
                        <a:pt x="221" y="252"/>
                      </a:lnTo>
                      <a:lnTo>
                        <a:pt x="210" y="261"/>
                      </a:lnTo>
                      <a:lnTo>
                        <a:pt x="197" y="271"/>
                      </a:lnTo>
                      <a:lnTo>
                        <a:pt x="184" y="280"/>
                      </a:lnTo>
                      <a:lnTo>
                        <a:pt x="172" y="289"/>
                      </a:lnTo>
                      <a:lnTo>
                        <a:pt x="160" y="298"/>
                      </a:lnTo>
                      <a:lnTo>
                        <a:pt x="147" y="306"/>
                      </a:lnTo>
                      <a:lnTo>
                        <a:pt x="136" y="316"/>
                      </a:lnTo>
                      <a:lnTo>
                        <a:pt x="124" y="325"/>
                      </a:lnTo>
                      <a:lnTo>
                        <a:pt x="113" y="334"/>
                      </a:lnTo>
                      <a:lnTo>
                        <a:pt x="101" y="343"/>
                      </a:lnTo>
                      <a:lnTo>
                        <a:pt x="91" y="351"/>
                      </a:lnTo>
                      <a:lnTo>
                        <a:pt x="81" y="359"/>
                      </a:lnTo>
                      <a:lnTo>
                        <a:pt x="70" y="367"/>
                      </a:lnTo>
                      <a:lnTo>
                        <a:pt x="61" y="376"/>
                      </a:lnTo>
                      <a:lnTo>
                        <a:pt x="61" y="222"/>
                      </a:lnTo>
                      <a:lnTo>
                        <a:pt x="0" y="222"/>
                      </a:lnTo>
                      <a:lnTo>
                        <a:pt x="0" y="440"/>
                      </a:lnTo>
                      <a:lnTo>
                        <a:pt x="0" y="44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grpSp>
          <p:sp>
            <p:nvSpPr>
              <p:cNvPr id="23634" name="Rectangle 92"/>
              <p:cNvSpPr>
                <a:spLocks noChangeArrowheads="1"/>
              </p:cNvSpPr>
              <p:nvPr/>
            </p:nvSpPr>
            <p:spPr bwMode="auto">
              <a:xfrm>
                <a:off x="3067" y="798"/>
                <a:ext cx="124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zh-TW" altLang="en-US" sz="1400">
                    <a:latin typeface="標楷體" panose="03000509000000000000" pitchFamily="65" charset="-120"/>
                    <a:ea typeface="標楷體" panose="03000509000000000000" pitchFamily="65" charset="-120"/>
                  </a:rPr>
                  <a:t>    郵件攔截審查處理</a:t>
                </a:r>
              </a:p>
            </p:txBody>
          </p:sp>
          <p:grpSp>
            <p:nvGrpSpPr>
              <p:cNvPr id="23635" name="Group 93"/>
              <p:cNvGrpSpPr>
                <a:grpSpLocks/>
              </p:cNvGrpSpPr>
              <p:nvPr/>
            </p:nvGrpSpPr>
            <p:grpSpPr bwMode="auto">
              <a:xfrm>
                <a:off x="3013" y="784"/>
                <a:ext cx="303" cy="316"/>
                <a:chOff x="2699" y="1706"/>
                <a:chExt cx="230" cy="195"/>
              </a:xfrm>
            </p:grpSpPr>
            <p:sp>
              <p:nvSpPr>
                <p:cNvPr id="23636" name="Rectangle 94"/>
                <p:cNvSpPr>
                  <a:spLocks noChangeArrowheads="1"/>
                </p:cNvSpPr>
                <p:nvPr/>
              </p:nvSpPr>
              <p:spPr bwMode="auto">
                <a:xfrm>
                  <a:off x="2765" y="1766"/>
                  <a:ext cx="98" cy="90"/>
                </a:xfrm>
                <a:prstGeom prst="rect">
                  <a:avLst/>
                </a:prstGeom>
                <a:noFill/>
                <a:ln w="53975"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37" name="Line 95"/>
                <p:cNvSpPr>
                  <a:spLocks noChangeShapeType="1"/>
                </p:cNvSpPr>
                <p:nvPr/>
              </p:nvSpPr>
              <p:spPr bwMode="auto">
                <a:xfrm>
                  <a:off x="2699" y="1811"/>
                  <a:ext cx="230" cy="0"/>
                </a:xfrm>
                <a:prstGeom prst="line">
                  <a:avLst/>
                </a:prstGeom>
                <a:noFill/>
                <a:ln w="50800">
                  <a:solidFill>
                    <a:srgbClr val="FF9900"/>
                  </a:solid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sp>
              <p:nvSpPr>
                <p:cNvPr id="23638" name="Line 96"/>
                <p:cNvSpPr>
                  <a:spLocks noChangeShapeType="1"/>
                </p:cNvSpPr>
                <p:nvPr/>
              </p:nvSpPr>
              <p:spPr bwMode="auto">
                <a:xfrm>
                  <a:off x="2814" y="1706"/>
                  <a:ext cx="0" cy="195"/>
                </a:xfrm>
                <a:prstGeom prst="line">
                  <a:avLst/>
                </a:prstGeom>
                <a:noFill/>
                <a:ln w="50800">
                  <a:solidFill>
                    <a:srgbClr val="FF9900"/>
                  </a:solidFill>
                  <a:round/>
                  <a:headEnd/>
                  <a:tailEnd/>
                </a:ln>
                <a:extLst>
                  <a:ext uri="{909E8E84-426E-40DD-AFC4-6F175D3DCCD1}">
                    <a14:hiddenFill xmlns:a14="http://schemas.microsoft.com/office/drawing/2010/main">
                      <a:noFill/>
                    </a14:hiddenFill>
                  </a:ext>
                </a:extLst>
              </p:spPr>
              <p:txBody>
                <a:bodyPr wrap="none" anchor="ctr"/>
                <a:lstStyle/>
                <a:p>
                  <a:endParaRPr lang="zh-TW" altLang="en-US"/>
                </a:p>
              </p:txBody>
            </p:sp>
          </p:grpSp>
        </p:grpSp>
        <p:sp>
          <p:nvSpPr>
            <p:cNvPr id="23630" name="AutoShape 97"/>
            <p:cNvSpPr>
              <a:spLocks noChangeArrowheads="1"/>
            </p:cNvSpPr>
            <p:nvPr/>
          </p:nvSpPr>
          <p:spPr bwMode="auto">
            <a:xfrm>
              <a:off x="2580" y="1226"/>
              <a:ext cx="131" cy="209"/>
            </a:xfrm>
            <a:prstGeom prst="upArrow">
              <a:avLst>
                <a:gd name="adj1" fmla="val 50000"/>
                <a:gd name="adj2" fmla="val 56925"/>
              </a:avLst>
            </a:prstGeom>
            <a:solidFill>
              <a:srgbClr val="FF9900"/>
            </a:solidFill>
            <a:ln w="9525" algn="ctr">
              <a:solidFill>
                <a:srgbClr val="B2B2B2"/>
              </a:solidFill>
              <a:miter lim="800000"/>
              <a:headEnd/>
              <a:tailEnd/>
            </a:ln>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31" name="AutoShape 98"/>
            <p:cNvSpPr>
              <a:spLocks noChangeArrowheads="1"/>
            </p:cNvSpPr>
            <p:nvPr/>
          </p:nvSpPr>
          <p:spPr bwMode="auto">
            <a:xfrm>
              <a:off x="3101" y="1226"/>
              <a:ext cx="129" cy="209"/>
            </a:xfrm>
            <a:prstGeom prst="upArrow">
              <a:avLst>
                <a:gd name="adj1" fmla="val 50000"/>
                <a:gd name="adj2" fmla="val 57808"/>
              </a:avLst>
            </a:prstGeom>
            <a:solidFill>
              <a:srgbClr val="FF9900"/>
            </a:solidFill>
            <a:ln w="9525" algn="ctr">
              <a:solidFill>
                <a:srgbClr val="B2B2B2"/>
              </a:solidFill>
              <a:miter lim="800000"/>
              <a:headEnd/>
              <a:tailEnd/>
            </a:ln>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32" name="AutoShape 99"/>
            <p:cNvSpPr>
              <a:spLocks noChangeArrowheads="1"/>
            </p:cNvSpPr>
            <p:nvPr/>
          </p:nvSpPr>
          <p:spPr bwMode="auto">
            <a:xfrm>
              <a:off x="3696" y="1226"/>
              <a:ext cx="130" cy="209"/>
            </a:xfrm>
            <a:prstGeom prst="upArrow">
              <a:avLst>
                <a:gd name="adj1" fmla="val 50000"/>
                <a:gd name="adj2" fmla="val 57363"/>
              </a:avLst>
            </a:prstGeom>
            <a:solidFill>
              <a:srgbClr val="FF9900"/>
            </a:solidFill>
            <a:ln w="9525" algn="ctr">
              <a:solidFill>
                <a:srgbClr val="B2B2B2"/>
              </a:solidFill>
              <a:miter lim="800000"/>
              <a:headEnd/>
              <a:tailEnd/>
            </a:ln>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grpSp>
      <p:grpSp>
        <p:nvGrpSpPr>
          <p:cNvPr id="23564" name="Group 60"/>
          <p:cNvGrpSpPr>
            <a:grpSpLocks/>
          </p:cNvGrpSpPr>
          <p:nvPr/>
        </p:nvGrpSpPr>
        <p:grpSpPr bwMode="auto">
          <a:xfrm>
            <a:off x="42863" y="5622925"/>
            <a:ext cx="1801812" cy="1262063"/>
            <a:chOff x="21" y="3452"/>
            <a:chExt cx="1135" cy="795"/>
          </a:xfrm>
        </p:grpSpPr>
        <p:sp>
          <p:nvSpPr>
            <p:cNvPr id="23622" name="AutoShape 110"/>
            <p:cNvSpPr>
              <a:spLocks noChangeArrowheads="1"/>
            </p:cNvSpPr>
            <p:nvPr/>
          </p:nvSpPr>
          <p:spPr bwMode="auto">
            <a:xfrm>
              <a:off x="787" y="3535"/>
              <a:ext cx="280" cy="168"/>
            </a:xfrm>
            <a:prstGeom prst="rightArrow">
              <a:avLst>
                <a:gd name="adj1" fmla="val 50546"/>
                <a:gd name="adj2" fmla="val 48210"/>
              </a:avLst>
            </a:prstGeom>
            <a:solidFill>
              <a:srgbClr val="3333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2000">
                <a:latin typeface="標楷體" panose="03000509000000000000" pitchFamily="65" charset="-120"/>
                <a:ea typeface="標楷體" panose="03000509000000000000" pitchFamily="65" charset="-120"/>
              </a:endParaRPr>
            </a:p>
          </p:txBody>
        </p:sp>
        <p:sp>
          <p:nvSpPr>
            <p:cNvPr id="23623" name="Rectangle 111"/>
            <p:cNvSpPr>
              <a:spLocks noChangeArrowheads="1"/>
            </p:cNvSpPr>
            <p:nvPr/>
          </p:nvSpPr>
          <p:spPr bwMode="auto">
            <a:xfrm>
              <a:off x="250" y="3930"/>
              <a:ext cx="56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zh-TW" altLang="en-US" sz="1400">
                  <a:latin typeface="標楷體" panose="03000509000000000000" pitchFamily="65" charset="-120"/>
                  <a:ea typeface="標楷體" panose="03000509000000000000" pitchFamily="65" charset="-120"/>
                </a:rPr>
                <a:t>合格通過</a:t>
              </a:r>
            </a:p>
          </p:txBody>
        </p:sp>
        <p:sp>
          <p:nvSpPr>
            <p:cNvPr id="23624" name="AutoShape 112"/>
            <p:cNvSpPr>
              <a:spLocks noChangeArrowheads="1"/>
            </p:cNvSpPr>
            <p:nvPr/>
          </p:nvSpPr>
          <p:spPr bwMode="auto">
            <a:xfrm>
              <a:off x="787" y="3748"/>
              <a:ext cx="279" cy="168"/>
            </a:xfrm>
            <a:prstGeom prst="rightArrow">
              <a:avLst>
                <a:gd name="adj1" fmla="val 50546"/>
                <a:gd name="adj2" fmla="val 44340"/>
              </a:avLst>
            </a:prstGeom>
            <a:solidFill>
              <a:srgbClr val="FF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2000">
                <a:latin typeface="標楷體" panose="03000509000000000000" pitchFamily="65" charset="-120"/>
                <a:ea typeface="標楷體" panose="03000509000000000000" pitchFamily="65" charset="-120"/>
              </a:endParaRPr>
            </a:p>
          </p:txBody>
        </p:sp>
        <p:sp>
          <p:nvSpPr>
            <p:cNvPr id="23625" name="Rectangle 113"/>
            <p:cNvSpPr>
              <a:spLocks noChangeArrowheads="1"/>
            </p:cNvSpPr>
            <p:nvPr/>
          </p:nvSpPr>
          <p:spPr bwMode="auto">
            <a:xfrm>
              <a:off x="36" y="3721"/>
              <a:ext cx="79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zh-TW" altLang="en-US" sz="1400">
                  <a:latin typeface="標楷體" panose="03000509000000000000" pitchFamily="65" charset="-120"/>
                  <a:ea typeface="標楷體" panose="03000509000000000000" pitchFamily="65" charset="-120"/>
                </a:rPr>
                <a:t>    垃圾郵件</a:t>
              </a:r>
            </a:p>
          </p:txBody>
        </p:sp>
        <p:sp>
          <p:nvSpPr>
            <p:cNvPr id="23626" name="AutoShape 114"/>
            <p:cNvSpPr>
              <a:spLocks noChangeArrowheads="1"/>
            </p:cNvSpPr>
            <p:nvPr/>
          </p:nvSpPr>
          <p:spPr bwMode="auto">
            <a:xfrm>
              <a:off x="783" y="3954"/>
              <a:ext cx="279" cy="168"/>
            </a:xfrm>
            <a:prstGeom prst="rightArrow">
              <a:avLst>
                <a:gd name="adj1" fmla="val 50546"/>
                <a:gd name="adj2" fmla="val 44340"/>
              </a:avLst>
            </a:prstGeom>
            <a:solidFill>
              <a:srgbClr val="99CC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2000">
                <a:latin typeface="標楷體" panose="03000509000000000000" pitchFamily="65" charset="-120"/>
                <a:ea typeface="標楷體" panose="03000509000000000000" pitchFamily="65" charset="-120"/>
              </a:endParaRPr>
            </a:p>
          </p:txBody>
        </p:sp>
        <p:sp>
          <p:nvSpPr>
            <p:cNvPr id="23627" name="Rectangle 115"/>
            <p:cNvSpPr>
              <a:spLocks noChangeArrowheads="1"/>
            </p:cNvSpPr>
            <p:nvPr/>
          </p:nvSpPr>
          <p:spPr bwMode="auto">
            <a:xfrm>
              <a:off x="97" y="3521"/>
              <a:ext cx="69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r" eaLnBrk="1" hangingPunct="1"/>
              <a:r>
                <a:rPr kumimoji="0" lang="zh-TW" altLang="en-US" sz="1400">
                  <a:latin typeface="標楷體" panose="03000509000000000000" pitchFamily="65" charset="-120"/>
                  <a:ea typeface="標楷體" panose="03000509000000000000" pitchFamily="65" charset="-120"/>
                </a:rPr>
                <a:t>過濾流向</a:t>
              </a:r>
            </a:p>
          </p:txBody>
        </p:sp>
        <p:sp>
          <p:nvSpPr>
            <p:cNvPr id="23628" name="Rectangle 116"/>
            <p:cNvSpPr>
              <a:spLocks noChangeArrowheads="1"/>
            </p:cNvSpPr>
            <p:nvPr/>
          </p:nvSpPr>
          <p:spPr bwMode="auto">
            <a:xfrm>
              <a:off x="21" y="3452"/>
              <a:ext cx="1135" cy="795"/>
            </a:xfrm>
            <a:prstGeom prst="rect">
              <a:avLst/>
            </a:prstGeom>
            <a:noFill/>
            <a:ln w="15875" algn="ctr">
              <a:solidFill>
                <a:srgbClr val="969696"/>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2000">
                <a:latin typeface="標楷體" panose="03000509000000000000" pitchFamily="65" charset="-120"/>
                <a:ea typeface="標楷體" panose="03000509000000000000" pitchFamily="65" charset="-120"/>
              </a:endParaRPr>
            </a:p>
          </p:txBody>
        </p:sp>
      </p:grpSp>
      <p:grpSp>
        <p:nvGrpSpPr>
          <p:cNvPr id="18" name="Group 68"/>
          <p:cNvGrpSpPr>
            <a:grpSpLocks/>
          </p:cNvGrpSpPr>
          <p:nvPr/>
        </p:nvGrpSpPr>
        <p:grpSpPr bwMode="auto">
          <a:xfrm>
            <a:off x="2563813" y="3805238"/>
            <a:ext cx="4051300" cy="2801937"/>
            <a:chOff x="1655" y="2297"/>
            <a:chExt cx="2552" cy="1765"/>
          </a:xfrm>
        </p:grpSpPr>
        <p:sp>
          <p:nvSpPr>
            <p:cNvPr id="23610" name="Rectangle 41"/>
            <p:cNvSpPr>
              <a:spLocks noChangeArrowheads="1"/>
            </p:cNvSpPr>
            <p:nvPr/>
          </p:nvSpPr>
          <p:spPr bwMode="auto">
            <a:xfrm>
              <a:off x="2766" y="3312"/>
              <a:ext cx="1346" cy="209"/>
            </a:xfrm>
            <a:prstGeom prst="rect">
              <a:avLst/>
            </a:prstGeom>
            <a:solidFill>
              <a:srgbClr val="FF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11" name="Rectangle 42"/>
            <p:cNvSpPr>
              <a:spLocks noChangeArrowheads="1"/>
            </p:cNvSpPr>
            <p:nvPr/>
          </p:nvSpPr>
          <p:spPr bwMode="auto">
            <a:xfrm>
              <a:off x="2868" y="3326"/>
              <a:ext cx="121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en-US" altLang="zh-TW" sz="1600" b="1">
                  <a:latin typeface="標楷體" panose="03000509000000000000" pitchFamily="65" charset="-120"/>
                  <a:ea typeface="標楷體" panose="03000509000000000000" pitchFamily="65" charset="-120"/>
                </a:rPr>
                <a:t>MySPAM </a:t>
              </a:r>
              <a:r>
                <a:rPr kumimoji="0" lang="zh-TW" altLang="en-US" sz="1600" b="1">
                  <a:latin typeface="標楷體" panose="03000509000000000000" pitchFamily="65" charset="-120"/>
                  <a:ea typeface="標楷體" panose="03000509000000000000" pitchFamily="65" charset="-120"/>
                </a:rPr>
                <a:t>個人化服務 </a:t>
              </a:r>
            </a:p>
          </p:txBody>
        </p:sp>
        <p:sp>
          <p:nvSpPr>
            <p:cNvPr id="23612" name="Rectangle 101"/>
            <p:cNvSpPr>
              <a:spLocks noChangeArrowheads="1"/>
            </p:cNvSpPr>
            <p:nvPr/>
          </p:nvSpPr>
          <p:spPr bwMode="auto">
            <a:xfrm>
              <a:off x="2931" y="3748"/>
              <a:ext cx="1210" cy="314"/>
            </a:xfrm>
            <a:prstGeom prst="rect">
              <a:avLst/>
            </a:prstGeom>
            <a:solidFill>
              <a:srgbClr val="99CC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13" name="Rectangle 103"/>
            <p:cNvSpPr>
              <a:spLocks noChangeArrowheads="1"/>
            </p:cNvSpPr>
            <p:nvPr/>
          </p:nvSpPr>
          <p:spPr bwMode="auto">
            <a:xfrm>
              <a:off x="2731" y="3794"/>
              <a:ext cx="276" cy="21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14" name="Freeform 104"/>
            <p:cNvSpPr>
              <a:spLocks/>
            </p:cNvSpPr>
            <p:nvPr/>
          </p:nvSpPr>
          <p:spPr bwMode="auto">
            <a:xfrm>
              <a:off x="2714" y="3774"/>
              <a:ext cx="304" cy="249"/>
            </a:xfrm>
            <a:custGeom>
              <a:avLst/>
              <a:gdLst>
                <a:gd name="T0" fmla="*/ 0 w 819"/>
                <a:gd name="T1" fmla="*/ 1 h 470"/>
                <a:gd name="T2" fmla="*/ 0 w 819"/>
                <a:gd name="T3" fmla="*/ 1 h 470"/>
                <a:gd name="T4" fmla="*/ 0 w 819"/>
                <a:gd name="T5" fmla="*/ 1 h 470"/>
                <a:gd name="T6" fmla="*/ 0 w 819"/>
                <a:gd name="T7" fmla="*/ 1 h 470"/>
                <a:gd name="T8" fmla="*/ 0 w 819"/>
                <a:gd name="T9" fmla="*/ 1 h 470"/>
                <a:gd name="T10" fmla="*/ 0 w 819"/>
                <a:gd name="T11" fmla="*/ 1 h 470"/>
                <a:gd name="T12" fmla="*/ 0 w 819"/>
                <a:gd name="T13" fmla="*/ 1 h 470"/>
                <a:gd name="T14" fmla="*/ 0 w 819"/>
                <a:gd name="T15" fmla="*/ 1 h 470"/>
                <a:gd name="T16" fmla="*/ 0 w 819"/>
                <a:gd name="T17" fmla="*/ 1 h 470"/>
                <a:gd name="T18" fmla="*/ 0 w 819"/>
                <a:gd name="T19" fmla="*/ 1 h 470"/>
                <a:gd name="T20" fmla="*/ 0 w 819"/>
                <a:gd name="T21" fmla="*/ 1 h 470"/>
                <a:gd name="T22" fmla="*/ 0 w 819"/>
                <a:gd name="T23" fmla="*/ 1 h 470"/>
                <a:gd name="T24" fmla="*/ 0 w 819"/>
                <a:gd name="T25" fmla="*/ 1 h 470"/>
                <a:gd name="T26" fmla="*/ 0 w 819"/>
                <a:gd name="T27" fmla="*/ 1 h 470"/>
                <a:gd name="T28" fmla="*/ 0 w 819"/>
                <a:gd name="T29" fmla="*/ 1 h 470"/>
                <a:gd name="T30" fmla="*/ 0 w 819"/>
                <a:gd name="T31" fmla="*/ 1 h 470"/>
                <a:gd name="T32" fmla="*/ 0 w 819"/>
                <a:gd name="T33" fmla="*/ 1 h 470"/>
                <a:gd name="T34" fmla="*/ 0 w 819"/>
                <a:gd name="T35" fmla="*/ 1 h 470"/>
                <a:gd name="T36" fmla="*/ 0 w 819"/>
                <a:gd name="T37" fmla="*/ 1 h 470"/>
                <a:gd name="T38" fmla="*/ 0 w 819"/>
                <a:gd name="T39" fmla="*/ 1 h 470"/>
                <a:gd name="T40" fmla="*/ 0 w 819"/>
                <a:gd name="T41" fmla="*/ 1 h 470"/>
                <a:gd name="T42" fmla="*/ 0 w 819"/>
                <a:gd name="T43" fmla="*/ 1 h 470"/>
                <a:gd name="T44" fmla="*/ 0 w 819"/>
                <a:gd name="T45" fmla="*/ 1 h 470"/>
                <a:gd name="T46" fmla="*/ 0 w 819"/>
                <a:gd name="T47" fmla="*/ 1 h 470"/>
                <a:gd name="T48" fmla="*/ 0 w 819"/>
                <a:gd name="T49" fmla="*/ 1 h 470"/>
                <a:gd name="T50" fmla="*/ 0 w 819"/>
                <a:gd name="T51" fmla="*/ 1 h 470"/>
                <a:gd name="T52" fmla="*/ 0 w 819"/>
                <a:gd name="T53" fmla="*/ 1 h 470"/>
                <a:gd name="T54" fmla="*/ 0 w 819"/>
                <a:gd name="T55" fmla="*/ 1 h 470"/>
                <a:gd name="T56" fmla="*/ 0 w 819"/>
                <a:gd name="T57" fmla="*/ 1 h 470"/>
                <a:gd name="T58" fmla="*/ 0 w 819"/>
                <a:gd name="T59" fmla="*/ 1 h 470"/>
                <a:gd name="T60" fmla="*/ 0 w 819"/>
                <a:gd name="T61" fmla="*/ 1 h 470"/>
                <a:gd name="T62" fmla="*/ 0 w 819"/>
                <a:gd name="T63" fmla="*/ 1 h 470"/>
                <a:gd name="T64" fmla="*/ 0 w 819"/>
                <a:gd name="T65" fmla="*/ 1 h 470"/>
                <a:gd name="T66" fmla="*/ 0 w 819"/>
                <a:gd name="T67" fmla="*/ 1 h 470"/>
                <a:gd name="T68" fmla="*/ 0 w 819"/>
                <a:gd name="T69" fmla="*/ 1 h 470"/>
                <a:gd name="T70" fmla="*/ 0 w 819"/>
                <a:gd name="T71" fmla="*/ 1 h 470"/>
                <a:gd name="T72" fmla="*/ 0 w 819"/>
                <a:gd name="T73" fmla="*/ 0 h 470"/>
                <a:gd name="T74" fmla="*/ 0 w 819"/>
                <a:gd name="T75" fmla="*/ 0 h 470"/>
                <a:gd name="T76" fmla="*/ 0 w 819"/>
                <a:gd name="T77" fmla="*/ 1 h 470"/>
                <a:gd name="T78" fmla="*/ 0 w 819"/>
                <a:gd name="T79" fmla="*/ 1 h 470"/>
                <a:gd name="T80" fmla="*/ 0 w 819"/>
                <a:gd name="T81" fmla="*/ 1 h 470"/>
                <a:gd name="T82" fmla="*/ 0 w 819"/>
                <a:gd name="T83" fmla="*/ 1 h 470"/>
                <a:gd name="T84" fmla="*/ 0 w 819"/>
                <a:gd name="T85" fmla="*/ 1 h 470"/>
                <a:gd name="T86" fmla="*/ 0 w 819"/>
                <a:gd name="T87" fmla="*/ 1 h 470"/>
                <a:gd name="T88" fmla="*/ 0 w 819"/>
                <a:gd name="T89" fmla="*/ 1 h 470"/>
                <a:gd name="T90" fmla="*/ 0 w 819"/>
                <a:gd name="T91" fmla="*/ 1 h 470"/>
                <a:gd name="T92" fmla="*/ 0 w 819"/>
                <a:gd name="T93" fmla="*/ 0 h 470"/>
                <a:gd name="T94" fmla="*/ 0 w 819"/>
                <a:gd name="T95" fmla="*/ 0 h 470"/>
                <a:gd name="T96" fmla="*/ 0 w 819"/>
                <a:gd name="T97" fmla="*/ 1 h 470"/>
                <a:gd name="T98" fmla="*/ 0 w 819"/>
                <a:gd name="T99" fmla="*/ 1 h 470"/>
                <a:gd name="T100" fmla="*/ 0 w 819"/>
                <a:gd name="T101" fmla="*/ 1 h 470"/>
                <a:gd name="T102" fmla="*/ 0 w 819"/>
                <a:gd name="T103" fmla="*/ 1 h 470"/>
                <a:gd name="T104" fmla="*/ 0 w 819"/>
                <a:gd name="T105" fmla="*/ 1 h 470"/>
                <a:gd name="T106" fmla="*/ 0 w 819"/>
                <a:gd name="T107" fmla="*/ 1 h 470"/>
                <a:gd name="T108" fmla="*/ 0 w 819"/>
                <a:gd name="T109" fmla="*/ 1 h 470"/>
                <a:gd name="T110" fmla="*/ 0 w 819"/>
                <a:gd name="T111" fmla="*/ 1 h 470"/>
                <a:gd name="T112" fmla="*/ 0 w 819"/>
                <a:gd name="T113" fmla="*/ 1 h 470"/>
                <a:gd name="T114" fmla="*/ 0 w 819"/>
                <a:gd name="T115" fmla="*/ 1 h 470"/>
                <a:gd name="T116" fmla="*/ 0 w 819"/>
                <a:gd name="T117" fmla="*/ 1 h 470"/>
                <a:gd name="T118" fmla="*/ 0 w 819"/>
                <a:gd name="T119" fmla="*/ 1 h 470"/>
                <a:gd name="T120" fmla="*/ 0 w 819"/>
                <a:gd name="T121" fmla="*/ 1 h 47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819"/>
                <a:gd name="T184" fmla="*/ 0 h 470"/>
                <a:gd name="T185" fmla="*/ 819 w 819"/>
                <a:gd name="T186" fmla="*/ 470 h 47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819" h="470">
                  <a:moveTo>
                    <a:pt x="0" y="441"/>
                  </a:moveTo>
                  <a:lnTo>
                    <a:pt x="0" y="442"/>
                  </a:lnTo>
                  <a:lnTo>
                    <a:pt x="0" y="444"/>
                  </a:lnTo>
                  <a:lnTo>
                    <a:pt x="0" y="445"/>
                  </a:lnTo>
                  <a:lnTo>
                    <a:pt x="1" y="445"/>
                  </a:lnTo>
                  <a:lnTo>
                    <a:pt x="1" y="446"/>
                  </a:lnTo>
                  <a:lnTo>
                    <a:pt x="1" y="447"/>
                  </a:lnTo>
                  <a:lnTo>
                    <a:pt x="1" y="448"/>
                  </a:lnTo>
                  <a:lnTo>
                    <a:pt x="1" y="449"/>
                  </a:lnTo>
                  <a:lnTo>
                    <a:pt x="2" y="449"/>
                  </a:lnTo>
                  <a:lnTo>
                    <a:pt x="2" y="450"/>
                  </a:lnTo>
                  <a:lnTo>
                    <a:pt x="2" y="452"/>
                  </a:lnTo>
                  <a:lnTo>
                    <a:pt x="3" y="453"/>
                  </a:lnTo>
                  <a:lnTo>
                    <a:pt x="3" y="454"/>
                  </a:lnTo>
                  <a:lnTo>
                    <a:pt x="5" y="455"/>
                  </a:lnTo>
                  <a:lnTo>
                    <a:pt x="5" y="456"/>
                  </a:lnTo>
                  <a:lnTo>
                    <a:pt x="6" y="456"/>
                  </a:lnTo>
                  <a:lnTo>
                    <a:pt x="6" y="457"/>
                  </a:lnTo>
                  <a:lnTo>
                    <a:pt x="7" y="458"/>
                  </a:lnTo>
                  <a:lnTo>
                    <a:pt x="7" y="460"/>
                  </a:lnTo>
                  <a:lnTo>
                    <a:pt x="8" y="460"/>
                  </a:lnTo>
                  <a:lnTo>
                    <a:pt x="8" y="461"/>
                  </a:lnTo>
                  <a:lnTo>
                    <a:pt x="9" y="461"/>
                  </a:lnTo>
                  <a:lnTo>
                    <a:pt x="9" y="462"/>
                  </a:lnTo>
                  <a:lnTo>
                    <a:pt x="10" y="462"/>
                  </a:lnTo>
                  <a:lnTo>
                    <a:pt x="10" y="463"/>
                  </a:lnTo>
                  <a:lnTo>
                    <a:pt x="12" y="463"/>
                  </a:lnTo>
                  <a:lnTo>
                    <a:pt x="13" y="464"/>
                  </a:lnTo>
                  <a:lnTo>
                    <a:pt x="14" y="464"/>
                  </a:lnTo>
                  <a:lnTo>
                    <a:pt x="14" y="465"/>
                  </a:lnTo>
                  <a:lnTo>
                    <a:pt x="15" y="465"/>
                  </a:lnTo>
                  <a:lnTo>
                    <a:pt x="16" y="467"/>
                  </a:lnTo>
                  <a:lnTo>
                    <a:pt x="17" y="467"/>
                  </a:lnTo>
                  <a:lnTo>
                    <a:pt x="18" y="468"/>
                  </a:lnTo>
                  <a:lnTo>
                    <a:pt x="20" y="468"/>
                  </a:lnTo>
                  <a:lnTo>
                    <a:pt x="21" y="469"/>
                  </a:lnTo>
                  <a:lnTo>
                    <a:pt x="22" y="469"/>
                  </a:lnTo>
                  <a:lnTo>
                    <a:pt x="23" y="469"/>
                  </a:lnTo>
                  <a:lnTo>
                    <a:pt x="24" y="469"/>
                  </a:lnTo>
                  <a:lnTo>
                    <a:pt x="25" y="469"/>
                  </a:lnTo>
                  <a:lnTo>
                    <a:pt x="27" y="470"/>
                  </a:lnTo>
                  <a:lnTo>
                    <a:pt x="28" y="470"/>
                  </a:lnTo>
                  <a:lnTo>
                    <a:pt x="29" y="470"/>
                  </a:lnTo>
                  <a:lnTo>
                    <a:pt x="30" y="470"/>
                  </a:lnTo>
                  <a:lnTo>
                    <a:pt x="423" y="470"/>
                  </a:lnTo>
                  <a:lnTo>
                    <a:pt x="423" y="409"/>
                  </a:lnTo>
                  <a:lnTo>
                    <a:pt x="116" y="409"/>
                  </a:lnTo>
                  <a:lnTo>
                    <a:pt x="129" y="400"/>
                  </a:lnTo>
                  <a:lnTo>
                    <a:pt x="141" y="389"/>
                  </a:lnTo>
                  <a:lnTo>
                    <a:pt x="153" y="380"/>
                  </a:lnTo>
                  <a:lnTo>
                    <a:pt x="165" y="371"/>
                  </a:lnTo>
                  <a:lnTo>
                    <a:pt x="177" y="362"/>
                  </a:lnTo>
                  <a:lnTo>
                    <a:pt x="189" y="353"/>
                  </a:lnTo>
                  <a:lnTo>
                    <a:pt x="202" y="343"/>
                  </a:lnTo>
                  <a:lnTo>
                    <a:pt x="213" y="334"/>
                  </a:lnTo>
                  <a:lnTo>
                    <a:pt x="225" y="326"/>
                  </a:lnTo>
                  <a:lnTo>
                    <a:pt x="236" y="317"/>
                  </a:lnTo>
                  <a:lnTo>
                    <a:pt x="248" y="309"/>
                  </a:lnTo>
                  <a:lnTo>
                    <a:pt x="259" y="301"/>
                  </a:lnTo>
                  <a:lnTo>
                    <a:pt x="270" y="293"/>
                  </a:lnTo>
                  <a:lnTo>
                    <a:pt x="281" y="285"/>
                  </a:lnTo>
                  <a:lnTo>
                    <a:pt x="291" y="278"/>
                  </a:lnTo>
                  <a:lnTo>
                    <a:pt x="302" y="271"/>
                  </a:lnTo>
                  <a:lnTo>
                    <a:pt x="319" y="281"/>
                  </a:lnTo>
                  <a:lnTo>
                    <a:pt x="335" y="290"/>
                  </a:lnTo>
                  <a:lnTo>
                    <a:pt x="350" y="298"/>
                  </a:lnTo>
                  <a:lnTo>
                    <a:pt x="364" y="305"/>
                  </a:lnTo>
                  <a:lnTo>
                    <a:pt x="378" y="311"/>
                  </a:lnTo>
                  <a:lnTo>
                    <a:pt x="389" y="314"/>
                  </a:lnTo>
                  <a:lnTo>
                    <a:pt x="400" y="317"/>
                  </a:lnTo>
                  <a:lnTo>
                    <a:pt x="409" y="318"/>
                  </a:lnTo>
                  <a:lnTo>
                    <a:pt x="418" y="317"/>
                  </a:lnTo>
                  <a:lnTo>
                    <a:pt x="429" y="314"/>
                  </a:lnTo>
                  <a:lnTo>
                    <a:pt x="441" y="311"/>
                  </a:lnTo>
                  <a:lnTo>
                    <a:pt x="454" y="305"/>
                  </a:lnTo>
                  <a:lnTo>
                    <a:pt x="469" y="298"/>
                  </a:lnTo>
                  <a:lnTo>
                    <a:pt x="484" y="290"/>
                  </a:lnTo>
                  <a:lnTo>
                    <a:pt x="500" y="281"/>
                  </a:lnTo>
                  <a:lnTo>
                    <a:pt x="516" y="271"/>
                  </a:lnTo>
                  <a:lnTo>
                    <a:pt x="527" y="278"/>
                  </a:lnTo>
                  <a:lnTo>
                    <a:pt x="537" y="285"/>
                  </a:lnTo>
                  <a:lnTo>
                    <a:pt x="548" y="293"/>
                  </a:lnTo>
                  <a:lnTo>
                    <a:pt x="559" y="301"/>
                  </a:lnTo>
                  <a:lnTo>
                    <a:pt x="570" y="309"/>
                  </a:lnTo>
                  <a:lnTo>
                    <a:pt x="582" y="317"/>
                  </a:lnTo>
                  <a:lnTo>
                    <a:pt x="593" y="326"/>
                  </a:lnTo>
                  <a:lnTo>
                    <a:pt x="605" y="334"/>
                  </a:lnTo>
                  <a:lnTo>
                    <a:pt x="618" y="343"/>
                  </a:lnTo>
                  <a:lnTo>
                    <a:pt x="629" y="353"/>
                  </a:lnTo>
                  <a:lnTo>
                    <a:pt x="642" y="362"/>
                  </a:lnTo>
                  <a:lnTo>
                    <a:pt x="653" y="371"/>
                  </a:lnTo>
                  <a:lnTo>
                    <a:pt x="666" y="380"/>
                  </a:lnTo>
                  <a:lnTo>
                    <a:pt x="679" y="389"/>
                  </a:lnTo>
                  <a:lnTo>
                    <a:pt x="690" y="400"/>
                  </a:lnTo>
                  <a:lnTo>
                    <a:pt x="703" y="409"/>
                  </a:lnTo>
                  <a:lnTo>
                    <a:pt x="423" y="409"/>
                  </a:lnTo>
                  <a:lnTo>
                    <a:pt x="423" y="470"/>
                  </a:lnTo>
                  <a:lnTo>
                    <a:pt x="788" y="470"/>
                  </a:lnTo>
                  <a:lnTo>
                    <a:pt x="789" y="470"/>
                  </a:lnTo>
                  <a:lnTo>
                    <a:pt x="790" y="470"/>
                  </a:lnTo>
                  <a:lnTo>
                    <a:pt x="791" y="470"/>
                  </a:lnTo>
                  <a:lnTo>
                    <a:pt x="793" y="469"/>
                  </a:lnTo>
                  <a:lnTo>
                    <a:pt x="794" y="469"/>
                  </a:lnTo>
                  <a:lnTo>
                    <a:pt x="795" y="469"/>
                  </a:lnTo>
                  <a:lnTo>
                    <a:pt x="796" y="469"/>
                  </a:lnTo>
                  <a:lnTo>
                    <a:pt x="797" y="469"/>
                  </a:lnTo>
                  <a:lnTo>
                    <a:pt x="798" y="468"/>
                  </a:lnTo>
                  <a:lnTo>
                    <a:pt x="800" y="468"/>
                  </a:lnTo>
                  <a:lnTo>
                    <a:pt x="801" y="468"/>
                  </a:lnTo>
                  <a:lnTo>
                    <a:pt x="801" y="467"/>
                  </a:lnTo>
                  <a:lnTo>
                    <a:pt x="802" y="467"/>
                  </a:lnTo>
                  <a:lnTo>
                    <a:pt x="803" y="467"/>
                  </a:lnTo>
                  <a:lnTo>
                    <a:pt x="804" y="465"/>
                  </a:lnTo>
                  <a:lnTo>
                    <a:pt x="805" y="464"/>
                  </a:lnTo>
                  <a:lnTo>
                    <a:pt x="806" y="464"/>
                  </a:lnTo>
                  <a:lnTo>
                    <a:pt x="806" y="463"/>
                  </a:lnTo>
                  <a:lnTo>
                    <a:pt x="808" y="463"/>
                  </a:lnTo>
                  <a:lnTo>
                    <a:pt x="809" y="462"/>
                  </a:lnTo>
                  <a:lnTo>
                    <a:pt x="810" y="461"/>
                  </a:lnTo>
                  <a:lnTo>
                    <a:pt x="811" y="460"/>
                  </a:lnTo>
                  <a:lnTo>
                    <a:pt x="811" y="458"/>
                  </a:lnTo>
                  <a:lnTo>
                    <a:pt x="812" y="458"/>
                  </a:lnTo>
                  <a:lnTo>
                    <a:pt x="812" y="457"/>
                  </a:lnTo>
                  <a:lnTo>
                    <a:pt x="813" y="457"/>
                  </a:lnTo>
                  <a:lnTo>
                    <a:pt x="813" y="456"/>
                  </a:lnTo>
                  <a:lnTo>
                    <a:pt x="815" y="455"/>
                  </a:lnTo>
                  <a:lnTo>
                    <a:pt x="815" y="454"/>
                  </a:lnTo>
                  <a:lnTo>
                    <a:pt x="816" y="454"/>
                  </a:lnTo>
                  <a:lnTo>
                    <a:pt x="816" y="453"/>
                  </a:lnTo>
                  <a:lnTo>
                    <a:pt x="816" y="452"/>
                  </a:lnTo>
                  <a:lnTo>
                    <a:pt x="817" y="450"/>
                  </a:lnTo>
                  <a:lnTo>
                    <a:pt x="817" y="449"/>
                  </a:lnTo>
                  <a:lnTo>
                    <a:pt x="817" y="448"/>
                  </a:lnTo>
                  <a:lnTo>
                    <a:pt x="818" y="447"/>
                  </a:lnTo>
                  <a:lnTo>
                    <a:pt x="818" y="446"/>
                  </a:lnTo>
                  <a:lnTo>
                    <a:pt x="818" y="445"/>
                  </a:lnTo>
                  <a:lnTo>
                    <a:pt x="818" y="444"/>
                  </a:lnTo>
                  <a:lnTo>
                    <a:pt x="818" y="442"/>
                  </a:lnTo>
                  <a:lnTo>
                    <a:pt x="818" y="441"/>
                  </a:lnTo>
                  <a:lnTo>
                    <a:pt x="818" y="440"/>
                  </a:lnTo>
                  <a:lnTo>
                    <a:pt x="819" y="440"/>
                  </a:lnTo>
                  <a:lnTo>
                    <a:pt x="819" y="229"/>
                  </a:lnTo>
                  <a:lnTo>
                    <a:pt x="758" y="229"/>
                  </a:lnTo>
                  <a:lnTo>
                    <a:pt x="758" y="376"/>
                  </a:lnTo>
                  <a:lnTo>
                    <a:pt x="749" y="367"/>
                  </a:lnTo>
                  <a:lnTo>
                    <a:pt x="738" y="359"/>
                  </a:lnTo>
                  <a:lnTo>
                    <a:pt x="728" y="351"/>
                  </a:lnTo>
                  <a:lnTo>
                    <a:pt x="717" y="343"/>
                  </a:lnTo>
                  <a:lnTo>
                    <a:pt x="705" y="334"/>
                  </a:lnTo>
                  <a:lnTo>
                    <a:pt x="694" y="325"/>
                  </a:lnTo>
                  <a:lnTo>
                    <a:pt x="682" y="316"/>
                  </a:lnTo>
                  <a:lnTo>
                    <a:pt x="671" y="306"/>
                  </a:lnTo>
                  <a:lnTo>
                    <a:pt x="658" y="298"/>
                  </a:lnTo>
                  <a:lnTo>
                    <a:pt x="646" y="289"/>
                  </a:lnTo>
                  <a:lnTo>
                    <a:pt x="634" y="280"/>
                  </a:lnTo>
                  <a:lnTo>
                    <a:pt x="621" y="271"/>
                  </a:lnTo>
                  <a:lnTo>
                    <a:pt x="608" y="261"/>
                  </a:lnTo>
                  <a:lnTo>
                    <a:pt x="597" y="252"/>
                  </a:lnTo>
                  <a:lnTo>
                    <a:pt x="584" y="243"/>
                  </a:lnTo>
                  <a:lnTo>
                    <a:pt x="571" y="235"/>
                  </a:lnTo>
                  <a:lnTo>
                    <a:pt x="584" y="227"/>
                  </a:lnTo>
                  <a:lnTo>
                    <a:pt x="597" y="218"/>
                  </a:lnTo>
                  <a:lnTo>
                    <a:pt x="608" y="209"/>
                  </a:lnTo>
                  <a:lnTo>
                    <a:pt x="621" y="199"/>
                  </a:lnTo>
                  <a:lnTo>
                    <a:pt x="634" y="190"/>
                  </a:lnTo>
                  <a:lnTo>
                    <a:pt x="646" y="181"/>
                  </a:lnTo>
                  <a:lnTo>
                    <a:pt x="658" y="172"/>
                  </a:lnTo>
                  <a:lnTo>
                    <a:pt x="671" y="162"/>
                  </a:lnTo>
                  <a:lnTo>
                    <a:pt x="682" y="154"/>
                  </a:lnTo>
                  <a:lnTo>
                    <a:pt x="694" y="145"/>
                  </a:lnTo>
                  <a:lnTo>
                    <a:pt x="705" y="136"/>
                  </a:lnTo>
                  <a:lnTo>
                    <a:pt x="717" y="127"/>
                  </a:lnTo>
                  <a:lnTo>
                    <a:pt x="728" y="119"/>
                  </a:lnTo>
                  <a:lnTo>
                    <a:pt x="738" y="111"/>
                  </a:lnTo>
                  <a:lnTo>
                    <a:pt x="749" y="103"/>
                  </a:lnTo>
                  <a:lnTo>
                    <a:pt x="758" y="94"/>
                  </a:lnTo>
                  <a:lnTo>
                    <a:pt x="758" y="229"/>
                  </a:lnTo>
                  <a:lnTo>
                    <a:pt x="819" y="229"/>
                  </a:lnTo>
                  <a:lnTo>
                    <a:pt x="819" y="30"/>
                  </a:lnTo>
                  <a:lnTo>
                    <a:pt x="819" y="29"/>
                  </a:lnTo>
                  <a:lnTo>
                    <a:pt x="818" y="29"/>
                  </a:lnTo>
                  <a:lnTo>
                    <a:pt x="818" y="28"/>
                  </a:lnTo>
                  <a:lnTo>
                    <a:pt x="818" y="26"/>
                  </a:lnTo>
                  <a:lnTo>
                    <a:pt x="818" y="25"/>
                  </a:lnTo>
                  <a:lnTo>
                    <a:pt x="818" y="24"/>
                  </a:lnTo>
                  <a:lnTo>
                    <a:pt x="818" y="23"/>
                  </a:lnTo>
                  <a:lnTo>
                    <a:pt x="817" y="22"/>
                  </a:lnTo>
                  <a:lnTo>
                    <a:pt x="817" y="21"/>
                  </a:lnTo>
                  <a:lnTo>
                    <a:pt x="817" y="20"/>
                  </a:lnTo>
                  <a:lnTo>
                    <a:pt x="817" y="18"/>
                  </a:lnTo>
                  <a:lnTo>
                    <a:pt x="816" y="18"/>
                  </a:lnTo>
                  <a:lnTo>
                    <a:pt x="816" y="17"/>
                  </a:lnTo>
                  <a:lnTo>
                    <a:pt x="816" y="16"/>
                  </a:lnTo>
                  <a:lnTo>
                    <a:pt x="815" y="16"/>
                  </a:lnTo>
                  <a:lnTo>
                    <a:pt x="815" y="15"/>
                  </a:lnTo>
                  <a:lnTo>
                    <a:pt x="813" y="14"/>
                  </a:lnTo>
                  <a:lnTo>
                    <a:pt x="813" y="13"/>
                  </a:lnTo>
                  <a:lnTo>
                    <a:pt x="812" y="12"/>
                  </a:lnTo>
                  <a:lnTo>
                    <a:pt x="811" y="10"/>
                  </a:lnTo>
                  <a:lnTo>
                    <a:pt x="810" y="9"/>
                  </a:lnTo>
                  <a:lnTo>
                    <a:pt x="809" y="8"/>
                  </a:lnTo>
                  <a:lnTo>
                    <a:pt x="808" y="7"/>
                  </a:lnTo>
                  <a:lnTo>
                    <a:pt x="806" y="7"/>
                  </a:lnTo>
                  <a:lnTo>
                    <a:pt x="806" y="6"/>
                  </a:lnTo>
                  <a:lnTo>
                    <a:pt x="805" y="6"/>
                  </a:lnTo>
                  <a:lnTo>
                    <a:pt x="805" y="5"/>
                  </a:lnTo>
                  <a:lnTo>
                    <a:pt x="804" y="5"/>
                  </a:lnTo>
                  <a:lnTo>
                    <a:pt x="803" y="3"/>
                  </a:lnTo>
                  <a:lnTo>
                    <a:pt x="802" y="3"/>
                  </a:lnTo>
                  <a:lnTo>
                    <a:pt x="801" y="3"/>
                  </a:lnTo>
                  <a:lnTo>
                    <a:pt x="801" y="2"/>
                  </a:lnTo>
                  <a:lnTo>
                    <a:pt x="800" y="2"/>
                  </a:lnTo>
                  <a:lnTo>
                    <a:pt x="798" y="2"/>
                  </a:lnTo>
                  <a:lnTo>
                    <a:pt x="797" y="1"/>
                  </a:lnTo>
                  <a:lnTo>
                    <a:pt x="796" y="1"/>
                  </a:lnTo>
                  <a:lnTo>
                    <a:pt x="795" y="1"/>
                  </a:lnTo>
                  <a:lnTo>
                    <a:pt x="795" y="0"/>
                  </a:lnTo>
                  <a:lnTo>
                    <a:pt x="794" y="0"/>
                  </a:lnTo>
                  <a:lnTo>
                    <a:pt x="793" y="0"/>
                  </a:lnTo>
                  <a:lnTo>
                    <a:pt x="791" y="0"/>
                  </a:lnTo>
                  <a:lnTo>
                    <a:pt x="790" y="0"/>
                  </a:lnTo>
                  <a:lnTo>
                    <a:pt x="789" y="0"/>
                  </a:lnTo>
                  <a:lnTo>
                    <a:pt x="788" y="0"/>
                  </a:lnTo>
                  <a:lnTo>
                    <a:pt x="385" y="0"/>
                  </a:lnTo>
                  <a:lnTo>
                    <a:pt x="385" y="61"/>
                  </a:lnTo>
                  <a:lnTo>
                    <a:pt x="703" y="61"/>
                  </a:lnTo>
                  <a:lnTo>
                    <a:pt x="690" y="70"/>
                  </a:lnTo>
                  <a:lnTo>
                    <a:pt x="679" y="81"/>
                  </a:lnTo>
                  <a:lnTo>
                    <a:pt x="666" y="90"/>
                  </a:lnTo>
                  <a:lnTo>
                    <a:pt x="653" y="99"/>
                  </a:lnTo>
                  <a:lnTo>
                    <a:pt x="642" y="108"/>
                  </a:lnTo>
                  <a:lnTo>
                    <a:pt x="629" y="117"/>
                  </a:lnTo>
                  <a:lnTo>
                    <a:pt x="618" y="127"/>
                  </a:lnTo>
                  <a:lnTo>
                    <a:pt x="605" y="136"/>
                  </a:lnTo>
                  <a:lnTo>
                    <a:pt x="593" y="144"/>
                  </a:lnTo>
                  <a:lnTo>
                    <a:pt x="582" y="153"/>
                  </a:lnTo>
                  <a:lnTo>
                    <a:pt x="570" y="161"/>
                  </a:lnTo>
                  <a:lnTo>
                    <a:pt x="559" y="169"/>
                  </a:lnTo>
                  <a:lnTo>
                    <a:pt x="548" y="177"/>
                  </a:lnTo>
                  <a:lnTo>
                    <a:pt x="537" y="185"/>
                  </a:lnTo>
                  <a:lnTo>
                    <a:pt x="527" y="192"/>
                  </a:lnTo>
                  <a:lnTo>
                    <a:pt x="516" y="199"/>
                  </a:lnTo>
                  <a:lnTo>
                    <a:pt x="508" y="204"/>
                  </a:lnTo>
                  <a:lnTo>
                    <a:pt x="501" y="210"/>
                  </a:lnTo>
                  <a:lnTo>
                    <a:pt x="494" y="214"/>
                  </a:lnTo>
                  <a:lnTo>
                    <a:pt x="487" y="219"/>
                  </a:lnTo>
                  <a:lnTo>
                    <a:pt x="480" y="223"/>
                  </a:lnTo>
                  <a:lnTo>
                    <a:pt x="474" y="227"/>
                  </a:lnTo>
                  <a:lnTo>
                    <a:pt x="467" y="232"/>
                  </a:lnTo>
                  <a:lnTo>
                    <a:pt x="461" y="235"/>
                  </a:lnTo>
                  <a:lnTo>
                    <a:pt x="452" y="240"/>
                  </a:lnTo>
                  <a:lnTo>
                    <a:pt x="444" y="244"/>
                  </a:lnTo>
                  <a:lnTo>
                    <a:pt x="437" y="248"/>
                  </a:lnTo>
                  <a:lnTo>
                    <a:pt x="430" y="251"/>
                  </a:lnTo>
                  <a:lnTo>
                    <a:pt x="423" y="253"/>
                  </a:lnTo>
                  <a:lnTo>
                    <a:pt x="417" y="256"/>
                  </a:lnTo>
                  <a:lnTo>
                    <a:pt x="412" y="257"/>
                  </a:lnTo>
                  <a:lnTo>
                    <a:pt x="409" y="258"/>
                  </a:lnTo>
                  <a:lnTo>
                    <a:pt x="406" y="257"/>
                  </a:lnTo>
                  <a:lnTo>
                    <a:pt x="401" y="256"/>
                  </a:lnTo>
                  <a:lnTo>
                    <a:pt x="395" y="253"/>
                  </a:lnTo>
                  <a:lnTo>
                    <a:pt x="389" y="251"/>
                  </a:lnTo>
                  <a:lnTo>
                    <a:pt x="383" y="248"/>
                  </a:lnTo>
                  <a:lnTo>
                    <a:pt x="376" y="244"/>
                  </a:lnTo>
                  <a:lnTo>
                    <a:pt x="368" y="240"/>
                  </a:lnTo>
                  <a:lnTo>
                    <a:pt x="358" y="235"/>
                  </a:lnTo>
                  <a:lnTo>
                    <a:pt x="353" y="232"/>
                  </a:lnTo>
                  <a:lnTo>
                    <a:pt x="346" y="227"/>
                  </a:lnTo>
                  <a:lnTo>
                    <a:pt x="339" y="223"/>
                  </a:lnTo>
                  <a:lnTo>
                    <a:pt x="332" y="219"/>
                  </a:lnTo>
                  <a:lnTo>
                    <a:pt x="325" y="214"/>
                  </a:lnTo>
                  <a:lnTo>
                    <a:pt x="317" y="210"/>
                  </a:lnTo>
                  <a:lnTo>
                    <a:pt x="310" y="204"/>
                  </a:lnTo>
                  <a:lnTo>
                    <a:pt x="302" y="199"/>
                  </a:lnTo>
                  <a:lnTo>
                    <a:pt x="291" y="192"/>
                  </a:lnTo>
                  <a:lnTo>
                    <a:pt x="281" y="185"/>
                  </a:lnTo>
                  <a:lnTo>
                    <a:pt x="270" y="177"/>
                  </a:lnTo>
                  <a:lnTo>
                    <a:pt x="259" y="169"/>
                  </a:lnTo>
                  <a:lnTo>
                    <a:pt x="248" y="161"/>
                  </a:lnTo>
                  <a:lnTo>
                    <a:pt x="236" y="153"/>
                  </a:lnTo>
                  <a:lnTo>
                    <a:pt x="225" y="144"/>
                  </a:lnTo>
                  <a:lnTo>
                    <a:pt x="213" y="136"/>
                  </a:lnTo>
                  <a:lnTo>
                    <a:pt x="202" y="127"/>
                  </a:lnTo>
                  <a:lnTo>
                    <a:pt x="189" y="117"/>
                  </a:lnTo>
                  <a:lnTo>
                    <a:pt x="177" y="108"/>
                  </a:lnTo>
                  <a:lnTo>
                    <a:pt x="165" y="99"/>
                  </a:lnTo>
                  <a:lnTo>
                    <a:pt x="153" y="90"/>
                  </a:lnTo>
                  <a:lnTo>
                    <a:pt x="141" y="81"/>
                  </a:lnTo>
                  <a:lnTo>
                    <a:pt x="129" y="70"/>
                  </a:lnTo>
                  <a:lnTo>
                    <a:pt x="116" y="61"/>
                  </a:lnTo>
                  <a:lnTo>
                    <a:pt x="385" y="61"/>
                  </a:lnTo>
                  <a:lnTo>
                    <a:pt x="385" y="0"/>
                  </a:lnTo>
                  <a:lnTo>
                    <a:pt x="30" y="0"/>
                  </a:lnTo>
                  <a:lnTo>
                    <a:pt x="29" y="0"/>
                  </a:lnTo>
                  <a:lnTo>
                    <a:pt x="28" y="0"/>
                  </a:lnTo>
                  <a:lnTo>
                    <a:pt x="27" y="0"/>
                  </a:lnTo>
                  <a:lnTo>
                    <a:pt x="25" y="0"/>
                  </a:lnTo>
                  <a:lnTo>
                    <a:pt x="24" y="0"/>
                  </a:lnTo>
                  <a:lnTo>
                    <a:pt x="24" y="1"/>
                  </a:lnTo>
                  <a:lnTo>
                    <a:pt x="23" y="1"/>
                  </a:lnTo>
                  <a:lnTo>
                    <a:pt x="22" y="1"/>
                  </a:lnTo>
                  <a:lnTo>
                    <a:pt x="21" y="1"/>
                  </a:lnTo>
                  <a:lnTo>
                    <a:pt x="20" y="2"/>
                  </a:lnTo>
                  <a:lnTo>
                    <a:pt x="18" y="2"/>
                  </a:lnTo>
                  <a:lnTo>
                    <a:pt x="17" y="3"/>
                  </a:lnTo>
                  <a:lnTo>
                    <a:pt x="16" y="3"/>
                  </a:lnTo>
                  <a:lnTo>
                    <a:pt x="15" y="5"/>
                  </a:lnTo>
                  <a:lnTo>
                    <a:pt x="14" y="5"/>
                  </a:lnTo>
                  <a:lnTo>
                    <a:pt x="13" y="6"/>
                  </a:lnTo>
                  <a:lnTo>
                    <a:pt x="12" y="7"/>
                  </a:lnTo>
                  <a:lnTo>
                    <a:pt x="10" y="7"/>
                  </a:lnTo>
                  <a:lnTo>
                    <a:pt x="10" y="8"/>
                  </a:lnTo>
                  <a:lnTo>
                    <a:pt x="9" y="8"/>
                  </a:lnTo>
                  <a:lnTo>
                    <a:pt x="9" y="9"/>
                  </a:lnTo>
                  <a:lnTo>
                    <a:pt x="8" y="10"/>
                  </a:lnTo>
                  <a:lnTo>
                    <a:pt x="7" y="10"/>
                  </a:lnTo>
                  <a:lnTo>
                    <a:pt x="7" y="12"/>
                  </a:lnTo>
                  <a:lnTo>
                    <a:pt x="6" y="12"/>
                  </a:lnTo>
                  <a:lnTo>
                    <a:pt x="6" y="13"/>
                  </a:lnTo>
                  <a:lnTo>
                    <a:pt x="5" y="14"/>
                  </a:lnTo>
                  <a:lnTo>
                    <a:pt x="5" y="15"/>
                  </a:lnTo>
                  <a:lnTo>
                    <a:pt x="3" y="16"/>
                  </a:lnTo>
                  <a:lnTo>
                    <a:pt x="3" y="17"/>
                  </a:lnTo>
                  <a:lnTo>
                    <a:pt x="2" y="18"/>
                  </a:lnTo>
                  <a:lnTo>
                    <a:pt x="2" y="20"/>
                  </a:lnTo>
                  <a:lnTo>
                    <a:pt x="1" y="21"/>
                  </a:lnTo>
                  <a:lnTo>
                    <a:pt x="1" y="22"/>
                  </a:lnTo>
                  <a:lnTo>
                    <a:pt x="1" y="23"/>
                  </a:lnTo>
                  <a:lnTo>
                    <a:pt x="1" y="24"/>
                  </a:lnTo>
                  <a:lnTo>
                    <a:pt x="0" y="25"/>
                  </a:lnTo>
                  <a:lnTo>
                    <a:pt x="0" y="26"/>
                  </a:lnTo>
                  <a:lnTo>
                    <a:pt x="0" y="28"/>
                  </a:lnTo>
                  <a:lnTo>
                    <a:pt x="0" y="29"/>
                  </a:lnTo>
                  <a:lnTo>
                    <a:pt x="0" y="30"/>
                  </a:lnTo>
                  <a:lnTo>
                    <a:pt x="0" y="222"/>
                  </a:lnTo>
                  <a:lnTo>
                    <a:pt x="61" y="222"/>
                  </a:lnTo>
                  <a:lnTo>
                    <a:pt x="61" y="94"/>
                  </a:lnTo>
                  <a:lnTo>
                    <a:pt x="70" y="103"/>
                  </a:lnTo>
                  <a:lnTo>
                    <a:pt x="81" y="111"/>
                  </a:lnTo>
                  <a:lnTo>
                    <a:pt x="91" y="119"/>
                  </a:lnTo>
                  <a:lnTo>
                    <a:pt x="101" y="127"/>
                  </a:lnTo>
                  <a:lnTo>
                    <a:pt x="113" y="136"/>
                  </a:lnTo>
                  <a:lnTo>
                    <a:pt x="124" y="145"/>
                  </a:lnTo>
                  <a:lnTo>
                    <a:pt x="136" y="154"/>
                  </a:lnTo>
                  <a:lnTo>
                    <a:pt x="147" y="162"/>
                  </a:lnTo>
                  <a:lnTo>
                    <a:pt x="160" y="172"/>
                  </a:lnTo>
                  <a:lnTo>
                    <a:pt x="172" y="181"/>
                  </a:lnTo>
                  <a:lnTo>
                    <a:pt x="184" y="190"/>
                  </a:lnTo>
                  <a:lnTo>
                    <a:pt x="197" y="199"/>
                  </a:lnTo>
                  <a:lnTo>
                    <a:pt x="210" y="209"/>
                  </a:lnTo>
                  <a:lnTo>
                    <a:pt x="221" y="218"/>
                  </a:lnTo>
                  <a:lnTo>
                    <a:pt x="234" y="227"/>
                  </a:lnTo>
                  <a:lnTo>
                    <a:pt x="247" y="235"/>
                  </a:lnTo>
                  <a:lnTo>
                    <a:pt x="234" y="243"/>
                  </a:lnTo>
                  <a:lnTo>
                    <a:pt x="221" y="252"/>
                  </a:lnTo>
                  <a:lnTo>
                    <a:pt x="210" y="261"/>
                  </a:lnTo>
                  <a:lnTo>
                    <a:pt x="197" y="271"/>
                  </a:lnTo>
                  <a:lnTo>
                    <a:pt x="184" y="280"/>
                  </a:lnTo>
                  <a:lnTo>
                    <a:pt x="172" y="289"/>
                  </a:lnTo>
                  <a:lnTo>
                    <a:pt x="160" y="298"/>
                  </a:lnTo>
                  <a:lnTo>
                    <a:pt x="147" y="306"/>
                  </a:lnTo>
                  <a:lnTo>
                    <a:pt x="136" y="316"/>
                  </a:lnTo>
                  <a:lnTo>
                    <a:pt x="124" y="325"/>
                  </a:lnTo>
                  <a:lnTo>
                    <a:pt x="113" y="334"/>
                  </a:lnTo>
                  <a:lnTo>
                    <a:pt x="101" y="343"/>
                  </a:lnTo>
                  <a:lnTo>
                    <a:pt x="91" y="351"/>
                  </a:lnTo>
                  <a:lnTo>
                    <a:pt x="81" y="359"/>
                  </a:lnTo>
                  <a:lnTo>
                    <a:pt x="70" y="367"/>
                  </a:lnTo>
                  <a:lnTo>
                    <a:pt x="61" y="376"/>
                  </a:lnTo>
                  <a:lnTo>
                    <a:pt x="61" y="222"/>
                  </a:lnTo>
                  <a:lnTo>
                    <a:pt x="0" y="222"/>
                  </a:lnTo>
                  <a:lnTo>
                    <a:pt x="0" y="440"/>
                  </a:lnTo>
                  <a:lnTo>
                    <a:pt x="0" y="44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23615" name="Rectangle 105"/>
            <p:cNvSpPr>
              <a:spLocks noChangeArrowheads="1"/>
            </p:cNvSpPr>
            <p:nvPr/>
          </p:nvSpPr>
          <p:spPr bwMode="auto">
            <a:xfrm>
              <a:off x="3016" y="3793"/>
              <a:ext cx="119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zh-TW" altLang="en-US" sz="1400">
                  <a:latin typeface="標楷體" panose="03000509000000000000" pitchFamily="65" charset="-120"/>
                  <a:ea typeface="標楷體" panose="03000509000000000000" pitchFamily="65" charset="-120"/>
                </a:rPr>
                <a:t>合格放行</a:t>
              </a:r>
              <a:r>
                <a:rPr kumimoji="0" lang="en-US" altLang="zh-TW" sz="1400">
                  <a:latin typeface="標楷體" panose="03000509000000000000" pitchFamily="65" charset="-120"/>
                  <a:ea typeface="標楷體" panose="03000509000000000000" pitchFamily="65" charset="-120"/>
                </a:rPr>
                <a:t>,</a:t>
              </a:r>
              <a:r>
                <a:rPr kumimoji="0" lang="zh-TW" altLang="en-US" sz="1400">
                  <a:latin typeface="標楷體" panose="03000509000000000000" pitchFamily="65" charset="-120"/>
                  <a:ea typeface="標楷體" panose="03000509000000000000" pitchFamily="65" charset="-120"/>
                </a:rPr>
                <a:t>使用者收信</a:t>
              </a:r>
            </a:p>
          </p:txBody>
        </p:sp>
        <p:sp>
          <p:nvSpPr>
            <p:cNvPr id="23616" name="AutoShape 107"/>
            <p:cNvSpPr>
              <a:spLocks noChangeArrowheads="1"/>
            </p:cNvSpPr>
            <p:nvPr/>
          </p:nvSpPr>
          <p:spPr bwMode="auto">
            <a:xfrm rot="5400000" flipH="1">
              <a:off x="2049" y="3460"/>
              <a:ext cx="183" cy="971"/>
            </a:xfrm>
            <a:prstGeom prst="upArrow">
              <a:avLst>
                <a:gd name="adj1" fmla="val 42648"/>
                <a:gd name="adj2" fmla="val 55222"/>
              </a:avLst>
            </a:prstGeom>
            <a:solidFill>
              <a:srgbClr val="99CC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17" name="Rectangle 108"/>
            <p:cNvSpPr>
              <a:spLocks noChangeArrowheads="1"/>
            </p:cNvSpPr>
            <p:nvPr/>
          </p:nvSpPr>
          <p:spPr bwMode="auto">
            <a:xfrm>
              <a:off x="1655" y="2297"/>
              <a:ext cx="61" cy="1624"/>
            </a:xfrm>
            <a:prstGeom prst="rect">
              <a:avLst/>
            </a:prstGeom>
            <a:solidFill>
              <a:srgbClr val="99CC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18" name="Rectangle 118"/>
            <p:cNvSpPr>
              <a:spLocks noChangeArrowheads="1"/>
            </p:cNvSpPr>
            <p:nvPr/>
          </p:nvSpPr>
          <p:spPr bwMode="auto">
            <a:xfrm>
              <a:off x="2739" y="3039"/>
              <a:ext cx="1373" cy="210"/>
            </a:xfrm>
            <a:prstGeom prst="rect">
              <a:avLst/>
            </a:prstGeom>
            <a:solidFill>
              <a:srgbClr val="FFFF99"/>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19" name="Rectangle 119"/>
            <p:cNvSpPr>
              <a:spLocks noChangeArrowheads="1"/>
            </p:cNvSpPr>
            <p:nvPr/>
          </p:nvSpPr>
          <p:spPr bwMode="auto">
            <a:xfrm>
              <a:off x="2832" y="3039"/>
              <a:ext cx="1241"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36000" rIns="0" bIns="0">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kumimoji="0" lang="zh-TW" altLang="en-US" sz="1600" b="1">
                  <a:latin typeface="標楷體" panose="03000509000000000000" pitchFamily="65" charset="-120"/>
                  <a:ea typeface="標楷體" panose="03000509000000000000" pitchFamily="65" charset="-120"/>
                </a:rPr>
                <a:t>雙重回報功能</a:t>
              </a:r>
              <a:endParaRPr kumimoji="0" lang="en-US" altLang="zh-TW" sz="1600" b="1">
                <a:latin typeface="標楷體" panose="03000509000000000000" pitchFamily="65" charset="-120"/>
                <a:ea typeface="標楷體" panose="03000509000000000000" pitchFamily="65" charset="-120"/>
              </a:endParaRPr>
            </a:p>
          </p:txBody>
        </p:sp>
        <p:sp>
          <p:nvSpPr>
            <p:cNvPr id="23620" name="AutoShape 120"/>
            <p:cNvSpPr>
              <a:spLocks noChangeArrowheads="1"/>
            </p:cNvSpPr>
            <p:nvPr/>
          </p:nvSpPr>
          <p:spPr bwMode="auto">
            <a:xfrm>
              <a:off x="3742" y="2751"/>
              <a:ext cx="131" cy="317"/>
            </a:xfrm>
            <a:prstGeom prst="downArrow">
              <a:avLst>
                <a:gd name="adj1" fmla="val 50000"/>
                <a:gd name="adj2" fmla="val 102205"/>
              </a:avLst>
            </a:prstGeom>
            <a:solidFill>
              <a:srgbClr val="800000">
                <a:alpha val="56862"/>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21" name="AutoShape 121"/>
            <p:cNvSpPr>
              <a:spLocks noChangeArrowheads="1"/>
            </p:cNvSpPr>
            <p:nvPr/>
          </p:nvSpPr>
          <p:spPr bwMode="auto">
            <a:xfrm flipV="1">
              <a:off x="3918" y="2706"/>
              <a:ext cx="136" cy="316"/>
            </a:xfrm>
            <a:prstGeom prst="downArrow">
              <a:avLst>
                <a:gd name="adj1" fmla="val 50778"/>
                <a:gd name="adj2" fmla="val 120781"/>
              </a:avLst>
            </a:prstGeom>
            <a:solidFill>
              <a:srgbClr val="800000">
                <a:alpha val="65097"/>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rot="10800000"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grpSp>
      <p:grpSp>
        <p:nvGrpSpPr>
          <p:cNvPr id="19" name="Group 82"/>
          <p:cNvGrpSpPr>
            <a:grpSpLocks/>
          </p:cNvGrpSpPr>
          <p:nvPr/>
        </p:nvGrpSpPr>
        <p:grpSpPr bwMode="auto">
          <a:xfrm>
            <a:off x="6884988" y="2384425"/>
            <a:ext cx="2087562" cy="3455988"/>
            <a:chOff x="4377" y="1435"/>
            <a:chExt cx="1315" cy="2177"/>
          </a:xfrm>
        </p:grpSpPr>
        <p:grpSp>
          <p:nvGrpSpPr>
            <p:cNvPr id="23584" name="Group 12"/>
            <p:cNvGrpSpPr>
              <a:grpSpLocks/>
            </p:cNvGrpSpPr>
            <p:nvPr/>
          </p:nvGrpSpPr>
          <p:grpSpPr bwMode="auto">
            <a:xfrm>
              <a:off x="5012" y="1435"/>
              <a:ext cx="680" cy="2177"/>
              <a:chOff x="4785" y="845"/>
              <a:chExt cx="771" cy="2404"/>
            </a:xfrm>
          </p:grpSpPr>
          <p:sp>
            <p:nvSpPr>
              <p:cNvPr id="23592" name="AutoShape 13"/>
              <p:cNvSpPr>
                <a:spLocks noChangeArrowheads="1"/>
              </p:cNvSpPr>
              <p:nvPr/>
            </p:nvSpPr>
            <p:spPr bwMode="auto">
              <a:xfrm>
                <a:off x="4785" y="845"/>
                <a:ext cx="771" cy="2404"/>
              </a:xfrm>
              <a:prstGeom prst="roundRect">
                <a:avLst>
                  <a:gd name="adj" fmla="val 16667"/>
                </a:avLst>
              </a:prstGeom>
              <a:solidFill>
                <a:srgbClr val="CCFFCC">
                  <a:alpha val="85097"/>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grpSp>
            <p:nvGrpSpPr>
              <p:cNvPr id="23593" name="Group 14"/>
              <p:cNvGrpSpPr>
                <a:grpSpLocks/>
              </p:cNvGrpSpPr>
              <p:nvPr/>
            </p:nvGrpSpPr>
            <p:grpSpPr bwMode="auto">
              <a:xfrm>
                <a:off x="4921" y="1797"/>
                <a:ext cx="430" cy="499"/>
                <a:chOff x="4468" y="2069"/>
                <a:chExt cx="317" cy="301"/>
              </a:xfrm>
            </p:grpSpPr>
            <p:sp>
              <p:nvSpPr>
                <p:cNvPr id="23608" name="Freeform 15"/>
                <p:cNvSpPr>
                  <a:spLocks/>
                </p:cNvSpPr>
                <p:nvPr/>
              </p:nvSpPr>
              <p:spPr bwMode="auto">
                <a:xfrm>
                  <a:off x="4468" y="2069"/>
                  <a:ext cx="317" cy="301"/>
                </a:xfrm>
                <a:custGeom>
                  <a:avLst/>
                  <a:gdLst>
                    <a:gd name="T0" fmla="*/ 77 w 322"/>
                    <a:gd name="T1" fmla="*/ 5 h 332"/>
                    <a:gd name="T2" fmla="*/ 58 w 322"/>
                    <a:gd name="T3" fmla="*/ 1 h 332"/>
                    <a:gd name="T4" fmla="*/ 32 w 322"/>
                    <a:gd name="T5" fmla="*/ 5 h 332"/>
                    <a:gd name="T6" fmla="*/ 32 w 322"/>
                    <a:gd name="T7" fmla="*/ 5 h 332"/>
                    <a:gd name="T8" fmla="*/ 18 w 322"/>
                    <a:gd name="T9" fmla="*/ 5 h 332"/>
                    <a:gd name="T10" fmla="*/ 1 w 322"/>
                    <a:gd name="T11" fmla="*/ 5 h 332"/>
                    <a:gd name="T12" fmla="*/ 7 w 322"/>
                    <a:gd name="T13" fmla="*/ 5 h 332"/>
                    <a:gd name="T14" fmla="*/ 32 w 322"/>
                    <a:gd name="T15" fmla="*/ 5 h 332"/>
                    <a:gd name="T16" fmla="*/ 32 w 322"/>
                    <a:gd name="T17" fmla="*/ 5 h 332"/>
                    <a:gd name="T18" fmla="*/ 53 w 322"/>
                    <a:gd name="T19" fmla="*/ 5 h 332"/>
                    <a:gd name="T20" fmla="*/ 48 w 322"/>
                    <a:gd name="T21" fmla="*/ 5 h 332"/>
                    <a:gd name="T22" fmla="*/ 32 w 322"/>
                    <a:gd name="T23" fmla="*/ 5 h 332"/>
                    <a:gd name="T24" fmla="*/ 32 w 322"/>
                    <a:gd name="T25" fmla="*/ 5 h 332"/>
                    <a:gd name="T26" fmla="*/ 28 w 322"/>
                    <a:gd name="T27" fmla="*/ 5 h 332"/>
                    <a:gd name="T28" fmla="*/ 28 w 322"/>
                    <a:gd name="T29" fmla="*/ 5 h 332"/>
                    <a:gd name="T30" fmla="*/ 32 w 322"/>
                    <a:gd name="T31" fmla="*/ 5 h 332"/>
                    <a:gd name="T32" fmla="*/ 32 w 322"/>
                    <a:gd name="T33" fmla="*/ 5 h 332"/>
                    <a:gd name="T34" fmla="*/ 38 w 322"/>
                    <a:gd name="T35" fmla="*/ 5 h 332"/>
                    <a:gd name="T36" fmla="*/ 62 w 322"/>
                    <a:gd name="T37" fmla="*/ 5 h 332"/>
                    <a:gd name="T38" fmla="*/ 77 w 322"/>
                    <a:gd name="T39" fmla="*/ 5 h 332"/>
                    <a:gd name="T40" fmla="*/ 86 w 322"/>
                    <a:gd name="T41" fmla="*/ 5 h 332"/>
                    <a:gd name="T42" fmla="*/ 90 w 322"/>
                    <a:gd name="T43" fmla="*/ 5 h 332"/>
                    <a:gd name="T44" fmla="*/ 90 w 322"/>
                    <a:gd name="T45" fmla="*/ 5 h 332"/>
                    <a:gd name="T46" fmla="*/ 84 w 322"/>
                    <a:gd name="T47" fmla="*/ 5 h 332"/>
                    <a:gd name="T48" fmla="*/ 78 w 322"/>
                    <a:gd name="T49" fmla="*/ 5 h 332"/>
                    <a:gd name="T50" fmla="*/ 75 w 322"/>
                    <a:gd name="T51" fmla="*/ 5 h 332"/>
                    <a:gd name="T52" fmla="*/ 75 w 322"/>
                    <a:gd name="T53" fmla="*/ 5 h 332"/>
                    <a:gd name="T54" fmla="*/ 72 w 322"/>
                    <a:gd name="T55" fmla="*/ 5 h 332"/>
                    <a:gd name="T56" fmla="*/ 65 w 322"/>
                    <a:gd name="T57" fmla="*/ 5 h 332"/>
                    <a:gd name="T58" fmla="*/ 57 w 322"/>
                    <a:gd name="T59" fmla="*/ 5 h 332"/>
                    <a:gd name="T60" fmla="*/ 52 w 322"/>
                    <a:gd name="T61" fmla="*/ 5 h 332"/>
                    <a:gd name="T62" fmla="*/ 36 w 322"/>
                    <a:gd name="T63" fmla="*/ 5 h 332"/>
                    <a:gd name="T64" fmla="*/ 33 w 322"/>
                    <a:gd name="T65" fmla="*/ 5 h 332"/>
                    <a:gd name="T66" fmla="*/ 46 w 322"/>
                    <a:gd name="T67" fmla="*/ 5 h 332"/>
                    <a:gd name="T68" fmla="*/ 55 w 322"/>
                    <a:gd name="T69" fmla="*/ 5 h 332"/>
                    <a:gd name="T70" fmla="*/ 62 w 322"/>
                    <a:gd name="T71" fmla="*/ 5 h 332"/>
                    <a:gd name="T72" fmla="*/ 65 w 322"/>
                    <a:gd name="T73" fmla="*/ 5 h 332"/>
                    <a:gd name="T74" fmla="*/ 59 w 322"/>
                    <a:gd name="T75" fmla="*/ 5 h 332"/>
                    <a:gd name="T76" fmla="*/ 51 w 322"/>
                    <a:gd name="T77" fmla="*/ 5 h 332"/>
                    <a:gd name="T78" fmla="*/ 33 w 322"/>
                    <a:gd name="T79" fmla="*/ 5 h 332"/>
                    <a:gd name="T80" fmla="*/ 32 w 322"/>
                    <a:gd name="T81" fmla="*/ 5 h 332"/>
                    <a:gd name="T82" fmla="*/ 32 w 322"/>
                    <a:gd name="T83" fmla="*/ 5 h 332"/>
                    <a:gd name="T84" fmla="*/ 32 w 322"/>
                    <a:gd name="T85" fmla="*/ 5 h 332"/>
                    <a:gd name="T86" fmla="*/ 37 w 322"/>
                    <a:gd name="T87" fmla="*/ 5 h 332"/>
                    <a:gd name="T88" fmla="*/ 52 w 322"/>
                    <a:gd name="T89" fmla="*/ 5 h 332"/>
                    <a:gd name="T90" fmla="*/ 59 w 322"/>
                    <a:gd name="T91" fmla="*/ 5 h 332"/>
                    <a:gd name="T92" fmla="*/ 68 w 322"/>
                    <a:gd name="T93" fmla="*/ 5 h 332"/>
                    <a:gd name="T94" fmla="*/ 82 w 322"/>
                    <a:gd name="T95" fmla="*/ 5 h 332"/>
                    <a:gd name="T96" fmla="*/ 90 w 322"/>
                    <a:gd name="T97" fmla="*/ 5 h 332"/>
                    <a:gd name="T98" fmla="*/ 95 w 322"/>
                    <a:gd name="T99" fmla="*/ 5 h 332"/>
                    <a:gd name="T100" fmla="*/ 95 w 322"/>
                    <a:gd name="T101" fmla="*/ 5 h 332"/>
                    <a:gd name="T102" fmla="*/ 92 w 322"/>
                    <a:gd name="T103" fmla="*/ 5 h 33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22"/>
                    <a:gd name="T157" fmla="*/ 0 h 332"/>
                    <a:gd name="T158" fmla="*/ 322 w 322"/>
                    <a:gd name="T159" fmla="*/ 332 h 33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22" h="332">
                      <a:moveTo>
                        <a:pt x="277" y="38"/>
                      </a:moveTo>
                      <a:lnTo>
                        <a:pt x="266" y="29"/>
                      </a:lnTo>
                      <a:lnTo>
                        <a:pt x="253" y="22"/>
                      </a:lnTo>
                      <a:lnTo>
                        <a:pt x="240" y="15"/>
                      </a:lnTo>
                      <a:lnTo>
                        <a:pt x="227" y="9"/>
                      </a:lnTo>
                      <a:lnTo>
                        <a:pt x="212" y="6"/>
                      </a:lnTo>
                      <a:lnTo>
                        <a:pt x="196" y="2"/>
                      </a:lnTo>
                      <a:lnTo>
                        <a:pt x="179" y="1"/>
                      </a:lnTo>
                      <a:lnTo>
                        <a:pt x="162" y="0"/>
                      </a:lnTo>
                      <a:lnTo>
                        <a:pt x="145" y="1"/>
                      </a:lnTo>
                      <a:lnTo>
                        <a:pt x="129" y="2"/>
                      </a:lnTo>
                      <a:lnTo>
                        <a:pt x="114" y="6"/>
                      </a:lnTo>
                      <a:lnTo>
                        <a:pt x="99" y="12"/>
                      </a:lnTo>
                      <a:lnTo>
                        <a:pt x="85" y="17"/>
                      </a:lnTo>
                      <a:lnTo>
                        <a:pt x="71" y="25"/>
                      </a:lnTo>
                      <a:lnTo>
                        <a:pt x="58" y="35"/>
                      </a:lnTo>
                      <a:lnTo>
                        <a:pt x="47" y="45"/>
                      </a:lnTo>
                      <a:lnTo>
                        <a:pt x="35" y="56"/>
                      </a:lnTo>
                      <a:lnTo>
                        <a:pt x="26" y="68"/>
                      </a:lnTo>
                      <a:lnTo>
                        <a:pt x="18" y="81"/>
                      </a:lnTo>
                      <a:lnTo>
                        <a:pt x="11" y="95"/>
                      </a:lnTo>
                      <a:lnTo>
                        <a:pt x="7" y="110"/>
                      </a:lnTo>
                      <a:lnTo>
                        <a:pt x="2" y="124"/>
                      </a:lnTo>
                      <a:lnTo>
                        <a:pt x="1" y="141"/>
                      </a:lnTo>
                      <a:lnTo>
                        <a:pt x="0" y="157"/>
                      </a:lnTo>
                      <a:lnTo>
                        <a:pt x="1" y="174"/>
                      </a:lnTo>
                      <a:lnTo>
                        <a:pt x="3" y="191"/>
                      </a:lnTo>
                      <a:lnTo>
                        <a:pt x="7" y="207"/>
                      </a:lnTo>
                      <a:lnTo>
                        <a:pt x="12" y="224"/>
                      </a:lnTo>
                      <a:lnTo>
                        <a:pt x="19" y="239"/>
                      </a:lnTo>
                      <a:lnTo>
                        <a:pt x="27" y="252"/>
                      </a:lnTo>
                      <a:lnTo>
                        <a:pt x="38" y="265"/>
                      </a:lnTo>
                      <a:lnTo>
                        <a:pt x="50" y="278"/>
                      </a:lnTo>
                      <a:lnTo>
                        <a:pt x="63" y="289"/>
                      </a:lnTo>
                      <a:lnTo>
                        <a:pt x="78" y="298"/>
                      </a:lnTo>
                      <a:lnTo>
                        <a:pt x="93" y="308"/>
                      </a:lnTo>
                      <a:lnTo>
                        <a:pt x="109" y="315"/>
                      </a:lnTo>
                      <a:lnTo>
                        <a:pt x="126" y="320"/>
                      </a:lnTo>
                      <a:lnTo>
                        <a:pt x="145" y="326"/>
                      </a:lnTo>
                      <a:lnTo>
                        <a:pt x="163" y="330"/>
                      </a:lnTo>
                      <a:lnTo>
                        <a:pt x="184" y="332"/>
                      </a:lnTo>
                      <a:lnTo>
                        <a:pt x="186" y="308"/>
                      </a:lnTo>
                      <a:lnTo>
                        <a:pt x="169" y="305"/>
                      </a:lnTo>
                      <a:lnTo>
                        <a:pt x="153" y="303"/>
                      </a:lnTo>
                      <a:lnTo>
                        <a:pt x="137" y="298"/>
                      </a:lnTo>
                      <a:lnTo>
                        <a:pt x="122" y="294"/>
                      </a:lnTo>
                      <a:lnTo>
                        <a:pt x="108" y="287"/>
                      </a:lnTo>
                      <a:lnTo>
                        <a:pt x="95" y="280"/>
                      </a:lnTo>
                      <a:lnTo>
                        <a:pt x="83" y="271"/>
                      </a:lnTo>
                      <a:lnTo>
                        <a:pt x="71" y="262"/>
                      </a:lnTo>
                      <a:lnTo>
                        <a:pt x="61" y="251"/>
                      </a:lnTo>
                      <a:lnTo>
                        <a:pt x="51" y="240"/>
                      </a:lnTo>
                      <a:lnTo>
                        <a:pt x="43" y="228"/>
                      </a:lnTo>
                      <a:lnTo>
                        <a:pt x="38" y="216"/>
                      </a:lnTo>
                      <a:lnTo>
                        <a:pt x="32" y="202"/>
                      </a:lnTo>
                      <a:lnTo>
                        <a:pt x="28" y="188"/>
                      </a:lnTo>
                      <a:lnTo>
                        <a:pt x="27" y="173"/>
                      </a:lnTo>
                      <a:lnTo>
                        <a:pt x="26" y="158"/>
                      </a:lnTo>
                      <a:lnTo>
                        <a:pt x="27" y="144"/>
                      </a:lnTo>
                      <a:lnTo>
                        <a:pt x="28" y="131"/>
                      </a:lnTo>
                      <a:lnTo>
                        <a:pt x="32" y="119"/>
                      </a:lnTo>
                      <a:lnTo>
                        <a:pt x="35" y="107"/>
                      </a:lnTo>
                      <a:lnTo>
                        <a:pt x="41" y="96"/>
                      </a:lnTo>
                      <a:lnTo>
                        <a:pt x="48" y="84"/>
                      </a:lnTo>
                      <a:lnTo>
                        <a:pt x="55" y="74"/>
                      </a:lnTo>
                      <a:lnTo>
                        <a:pt x="64" y="63"/>
                      </a:lnTo>
                      <a:lnTo>
                        <a:pt x="73" y="54"/>
                      </a:lnTo>
                      <a:lnTo>
                        <a:pt x="84" y="47"/>
                      </a:lnTo>
                      <a:lnTo>
                        <a:pt x="95" y="40"/>
                      </a:lnTo>
                      <a:lnTo>
                        <a:pt x="107" y="35"/>
                      </a:lnTo>
                      <a:lnTo>
                        <a:pt x="119" y="31"/>
                      </a:lnTo>
                      <a:lnTo>
                        <a:pt x="133" y="28"/>
                      </a:lnTo>
                      <a:lnTo>
                        <a:pt x="147" y="27"/>
                      </a:lnTo>
                      <a:lnTo>
                        <a:pt x="162" y="25"/>
                      </a:lnTo>
                      <a:lnTo>
                        <a:pt x="177" y="25"/>
                      </a:lnTo>
                      <a:lnTo>
                        <a:pt x="191" y="28"/>
                      </a:lnTo>
                      <a:lnTo>
                        <a:pt x="204" y="30"/>
                      </a:lnTo>
                      <a:lnTo>
                        <a:pt x="216" y="33"/>
                      </a:lnTo>
                      <a:lnTo>
                        <a:pt x="229" y="38"/>
                      </a:lnTo>
                      <a:lnTo>
                        <a:pt x="239" y="44"/>
                      </a:lnTo>
                      <a:lnTo>
                        <a:pt x="250" y="50"/>
                      </a:lnTo>
                      <a:lnTo>
                        <a:pt x="260" y="58"/>
                      </a:lnTo>
                      <a:lnTo>
                        <a:pt x="268" y="66"/>
                      </a:lnTo>
                      <a:lnTo>
                        <a:pt x="276" y="75"/>
                      </a:lnTo>
                      <a:lnTo>
                        <a:pt x="282" y="84"/>
                      </a:lnTo>
                      <a:lnTo>
                        <a:pt x="288" y="95"/>
                      </a:lnTo>
                      <a:lnTo>
                        <a:pt x="291" y="105"/>
                      </a:lnTo>
                      <a:lnTo>
                        <a:pt x="295" y="116"/>
                      </a:lnTo>
                      <a:lnTo>
                        <a:pt x="296" y="129"/>
                      </a:lnTo>
                      <a:lnTo>
                        <a:pt x="297" y="142"/>
                      </a:lnTo>
                      <a:lnTo>
                        <a:pt x="296" y="158"/>
                      </a:lnTo>
                      <a:lnTo>
                        <a:pt x="292" y="174"/>
                      </a:lnTo>
                      <a:lnTo>
                        <a:pt x="287" y="188"/>
                      </a:lnTo>
                      <a:lnTo>
                        <a:pt x="279" y="201"/>
                      </a:lnTo>
                      <a:lnTo>
                        <a:pt x="274" y="206"/>
                      </a:lnTo>
                      <a:lnTo>
                        <a:pt x="268" y="212"/>
                      </a:lnTo>
                      <a:lnTo>
                        <a:pt x="264" y="217"/>
                      </a:lnTo>
                      <a:lnTo>
                        <a:pt x="258" y="221"/>
                      </a:lnTo>
                      <a:lnTo>
                        <a:pt x="252" y="225"/>
                      </a:lnTo>
                      <a:lnTo>
                        <a:pt x="245" y="227"/>
                      </a:lnTo>
                      <a:lnTo>
                        <a:pt x="239" y="229"/>
                      </a:lnTo>
                      <a:lnTo>
                        <a:pt x="232" y="231"/>
                      </a:lnTo>
                      <a:lnTo>
                        <a:pt x="232" y="214"/>
                      </a:lnTo>
                      <a:lnTo>
                        <a:pt x="232" y="195"/>
                      </a:lnTo>
                      <a:lnTo>
                        <a:pt x="232" y="174"/>
                      </a:lnTo>
                      <a:lnTo>
                        <a:pt x="232" y="153"/>
                      </a:lnTo>
                      <a:lnTo>
                        <a:pt x="232" y="143"/>
                      </a:lnTo>
                      <a:lnTo>
                        <a:pt x="231" y="133"/>
                      </a:lnTo>
                      <a:lnTo>
                        <a:pt x="230" y="124"/>
                      </a:lnTo>
                      <a:lnTo>
                        <a:pt x="228" y="116"/>
                      </a:lnTo>
                      <a:lnTo>
                        <a:pt x="224" y="110"/>
                      </a:lnTo>
                      <a:lnTo>
                        <a:pt x="221" y="103"/>
                      </a:lnTo>
                      <a:lnTo>
                        <a:pt x="216" y="97"/>
                      </a:lnTo>
                      <a:lnTo>
                        <a:pt x="212" y="91"/>
                      </a:lnTo>
                      <a:lnTo>
                        <a:pt x="206" y="86"/>
                      </a:lnTo>
                      <a:lnTo>
                        <a:pt x="200" y="83"/>
                      </a:lnTo>
                      <a:lnTo>
                        <a:pt x="193" y="80"/>
                      </a:lnTo>
                      <a:lnTo>
                        <a:pt x="185" y="77"/>
                      </a:lnTo>
                      <a:lnTo>
                        <a:pt x="182" y="76"/>
                      </a:lnTo>
                      <a:lnTo>
                        <a:pt x="177" y="76"/>
                      </a:lnTo>
                      <a:lnTo>
                        <a:pt x="173" y="75"/>
                      </a:lnTo>
                      <a:lnTo>
                        <a:pt x="169" y="75"/>
                      </a:lnTo>
                      <a:lnTo>
                        <a:pt x="164" y="74"/>
                      </a:lnTo>
                      <a:lnTo>
                        <a:pt x="160" y="74"/>
                      </a:lnTo>
                      <a:lnTo>
                        <a:pt x="154" y="74"/>
                      </a:lnTo>
                      <a:lnTo>
                        <a:pt x="149" y="74"/>
                      </a:lnTo>
                      <a:lnTo>
                        <a:pt x="137" y="74"/>
                      </a:lnTo>
                      <a:lnTo>
                        <a:pt x="128" y="74"/>
                      </a:lnTo>
                      <a:lnTo>
                        <a:pt x="121" y="75"/>
                      </a:lnTo>
                      <a:lnTo>
                        <a:pt x="116" y="75"/>
                      </a:lnTo>
                      <a:lnTo>
                        <a:pt x="114" y="100"/>
                      </a:lnTo>
                      <a:lnTo>
                        <a:pt x="122" y="99"/>
                      </a:lnTo>
                      <a:lnTo>
                        <a:pt x="129" y="99"/>
                      </a:lnTo>
                      <a:lnTo>
                        <a:pt x="136" y="99"/>
                      </a:lnTo>
                      <a:lnTo>
                        <a:pt x="143" y="99"/>
                      </a:lnTo>
                      <a:lnTo>
                        <a:pt x="148" y="99"/>
                      </a:lnTo>
                      <a:lnTo>
                        <a:pt x="154" y="99"/>
                      </a:lnTo>
                      <a:lnTo>
                        <a:pt x="160" y="100"/>
                      </a:lnTo>
                      <a:lnTo>
                        <a:pt x="164" y="100"/>
                      </a:lnTo>
                      <a:lnTo>
                        <a:pt x="169" y="101"/>
                      </a:lnTo>
                      <a:lnTo>
                        <a:pt x="174" y="103"/>
                      </a:lnTo>
                      <a:lnTo>
                        <a:pt x="177" y="104"/>
                      </a:lnTo>
                      <a:lnTo>
                        <a:pt x="181" y="105"/>
                      </a:lnTo>
                      <a:lnTo>
                        <a:pt x="190" y="111"/>
                      </a:lnTo>
                      <a:lnTo>
                        <a:pt x="198" y="118"/>
                      </a:lnTo>
                      <a:lnTo>
                        <a:pt x="201" y="127"/>
                      </a:lnTo>
                      <a:lnTo>
                        <a:pt x="204" y="138"/>
                      </a:lnTo>
                      <a:lnTo>
                        <a:pt x="200" y="138"/>
                      </a:lnTo>
                      <a:lnTo>
                        <a:pt x="196" y="138"/>
                      </a:lnTo>
                      <a:lnTo>
                        <a:pt x="191" y="138"/>
                      </a:lnTo>
                      <a:lnTo>
                        <a:pt x="187" y="139"/>
                      </a:lnTo>
                      <a:lnTo>
                        <a:pt x="183" y="139"/>
                      </a:lnTo>
                      <a:lnTo>
                        <a:pt x="178" y="141"/>
                      </a:lnTo>
                      <a:lnTo>
                        <a:pt x="173" y="141"/>
                      </a:lnTo>
                      <a:lnTo>
                        <a:pt x="168" y="142"/>
                      </a:lnTo>
                      <a:lnTo>
                        <a:pt x="158" y="144"/>
                      </a:lnTo>
                      <a:lnTo>
                        <a:pt x="148" y="146"/>
                      </a:lnTo>
                      <a:lnTo>
                        <a:pt x="139" y="149"/>
                      </a:lnTo>
                      <a:lnTo>
                        <a:pt x="131" y="152"/>
                      </a:lnTo>
                      <a:lnTo>
                        <a:pt x="123" y="156"/>
                      </a:lnTo>
                      <a:lnTo>
                        <a:pt x="116" y="160"/>
                      </a:lnTo>
                      <a:lnTo>
                        <a:pt x="110" y="165"/>
                      </a:lnTo>
                      <a:lnTo>
                        <a:pt x="105" y="169"/>
                      </a:lnTo>
                      <a:lnTo>
                        <a:pt x="99" y="175"/>
                      </a:lnTo>
                      <a:lnTo>
                        <a:pt x="95" y="182"/>
                      </a:lnTo>
                      <a:lnTo>
                        <a:pt x="94" y="190"/>
                      </a:lnTo>
                      <a:lnTo>
                        <a:pt x="93" y="199"/>
                      </a:lnTo>
                      <a:lnTo>
                        <a:pt x="94" y="207"/>
                      </a:lnTo>
                      <a:lnTo>
                        <a:pt x="95" y="214"/>
                      </a:lnTo>
                      <a:lnTo>
                        <a:pt x="99" y="221"/>
                      </a:lnTo>
                      <a:lnTo>
                        <a:pt x="102" y="227"/>
                      </a:lnTo>
                      <a:lnTo>
                        <a:pt x="108" y="232"/>
                      </a:lnTo>
                      <a:lnTo>
                        <a:pt x="113" y="237"/>
                      </a:lnTo>
                      <a:lnTo>
                        <a:pt x="118" y="241"/>
                      </a:lnTo>
                      <a:lnTo>
                        <a:pt x="125" y="244"/>
                      </a:lnTo>
                      <a:lnTo>
                        <a:pt x="131" y="247"/>
                      </a:lnTo>
                      <a:lnTo>
                        <a:pt x="139" y="249"/>
                      </a:lnTo>
                      <a:lnTo>
                        <a:pt x="147" y="251"/>
                      </a:lnTo>
                      <a:lnTo>
                        <a:pt x="158" y="252"/>
                      </a:lnTo>
                      <a:lnTo>
                        <a:pt x="162" y="254"/>
                      </a:lnTo>
                      <a:lnTo>
                        <a:pt x="168" y="254"/>
                      </a:lnTo>
                      <a:lnTo>
                        <a:pt x="173" y="255"/>
                      </a:lnTo>
                      <a:lnTo>
                        <a:pt x="177" y="255"/>
                      </a:lnTo>
                      <a:lnTo>
                        <a:pt x="182" y="255"/>
                      </a:lnTo>
                      <a:lnTo>
                        <a:pt x="186" y="255"/>
                      </a:lnTo>
                      <a:lnTo>
                        <a:pt x="191" y="255"/>
                      </a:lnTo>
                      <a:lnTo>
                        <a:pt x="196" y="255"/>
                      </a:lnTo>
                      <a:lnTo>
                        <a:pt x="209" y="255"/>
                      </a:lnTo>
                      <a:lnTo>
                        <a:pt x="223" y="252"/>
                      </a:lnTo>
                      <a:lnTo>
                        <a:pt x="236" y="250"/>
                      </a:lnTo>
                      <a:lnTo>
                        <a:pt x="247" y="247"/>
                      </a:lnTo>
                      <a:lnTo>
                        <a:pt x="259" y="242"/>
                      </a:lnTo>
                      <a:lnTo>
                        <a:pt x="269" y="236"/>
                      </a:lnTo>
                      <a:lnTo>
                        <a:pt x="279" y="231"/>
                      </a:lnTo>
                      <a:lnTo>
                        <a:pt x="288" y="222"/>
                      </a:lnTo>
                      <a:lnTo>
                        <a:pt x="296" y="214"/>
                      </a:lnTo>
                      <a:lnTo>
                        <a:pt x="303" y="205"/>
                      </a:lnTo>
                      <a:lnTo>
                        <a:pt x="308" y="196"/>
                      </a:lnTo>
                      <a:lnTo>
                        <a:pt x="314" y="186"/>
                      </a:lnTo>
                      <a:lnTo>
                        <a:pt x="318" y="175"/>
                      </a:lnTo>
                      <a:lnTo>
                        <a:pt x="320" y="165"/>
                      </a:lnTo>
                      <a:lnTo>
                        <a:pt x="322" y="153"/>
                      </a:lnTo>
                      <a:lnTo>
                        <a:pt x="322" y="142"/>
                      </a:lnTo>
                      <a:lnTo>
                        <a:pt x="321" y="126"/>
                      </a:lnTo>
                      <a:lnTo>
                        <a:pt x="320" y="112"/>
                      </a:lnTo>
                      <a:lnTo>
                        <a:pt x="317" y="97"/>
                      </a:lnTo>
                      <a:lnTo>
                        <a:pt x="311" y="84"/>
                      </a:lnTo>
                      <a:lnTo>
                        <a:pt x="305" y="71"/>
                      </a:lnTo>
                      <a:lnTo>
                        <a:pt x="297" y="60"/>
                      </a:lnTo>
                      <a:lnTo>
                        <a:pt x="288" y="48"/>
                      </a:lnTo>
                      <a:lnTo>
                        <a:pt x="277"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23609" name="Freeform 16"/>
                <p:cNvSpPr>
                  <a:spLocks/>
                </p:cNvSpPr>
                <p:nvPr/>
              </p:nvSpPr>
              <p:spPr bwMode="auto">
                <a:xfrm>
                  <a:off x="4590" y="2215"/>
                  <a:ext cx="79" cy="66"/>
                </a:xfrm>
                <a:custGeom>
                  <a:avLst/>
                  <a:gdLst>
                    <a:gd name="T0" fmla="*/ 40 w 80"/>
                    <a:gd name="T1" fmla="*/ 5 h 72"/>
                    <a:gd name="T2" fmla="*/ 40 w 80"/>
                    <a:gd name="T3" fmla="*/ 5 h 72"/>
                    <a:gd name="T4" fmla="*/ 40 w 80"/>
                    <a:gd name="T5" fmla="*/ 5 h 72"/>
                    <a:gd name="T6" fmla="*/ 40 w 80"/>
                    <a:gd name="T7" fmla="*/ 5 h 72"/>
                    <a:gd name="T8" fmla="*/ 40 w 80"/>
                    <a:gd name="T9" fmla="*/ 5 h 72"/>
                    <a:gd name="T10" fmla="*/ 40 w 80"/>
                    <a:gd name="T11" fmla="*/ 5 h 72"/>
                    <a:gd name="T12" fmla="*/ 40 w 80"/>
                    <a:gd name="T13" fmla="*/ 5 h 72"/>
                    <a:gd name="T14" fmla="*/ 40 w 80"/>
                    <a:gd name="T15" fmla="*/ 5 h 72"/>
                    <a:gd name="T16" fmla="*/ 40 w 80"/>
                    <a:gd name="T17" fmla="*/ 5 h 72"/>
                    <a:gd name="T18" fmla="*/ 37 w 80"/>
                    <a:gd name="T19" fmla="*/ 5 h 72"/>
                    <a:gd name="T20" fmla="*/ 31 w 80"/>
                    <a:gd name="T21" fmla="*/ 5 h 72"/>
                    <a:gd name="T22" fmla="*/ 27 w 80"/>
                    <a:gd name="T23" fmla="*/ 5 h 72"/>
                    <a:gd name="T24" fmla="*/ 22 w 80"/>
                    <a:gd name="T25" fmla="*/ 5 h 72"/>
                    <a:gd name="T26" fmla="*/ 13 w 80"/>
                    <a:gd name="T27" fmla="*/ 5 h 72"/>
                    <a:gd name="T28" fmla="*/ 6 w 80"/>
                    <a:gd name="T29" fmla="*/ 5 h 72"/>
                    <a:gd name="T30" fmla="*/ 1 w 80"/>
                    <a:gd name="T31" fmla="*/ 5 h 72"/>
                    <a:gd name="T32" fmla="*/ 0 w 80"/>
                    <a:gd name="T33" fmla="*/ 5 h 72"/>
                    <a:gd name="T34" fmla="*/ 0 w 80"/>
                    <a:gd name="T35" fmla="*/ 5 h 72"/>
                    <a:gd name="T36" fmla="*/ 2 w 80"/>
                    <a:gd name="T37" fmla="*/ 5 h 72"/>
                    <a:gd name="T38" fmla="*/ 4 w 80"/>
                    <a:gd name="T39" fmla="*/ 5 h 72"/>
                    <a:gd name="T40" fmla="*/ 7 w 80"/>
                    <a:gd name="T41" fmla="*/ 5 h 72"/>
                    <a:gd name="T42" fmla="*/ 12 w 80"/>
                    <a:gd name="T43" fmla="*/ 5 h 72"/>
                    <a:gd name="T44" fmla="*/ 15 w 80"/>
                    <a:gd name="T45" fmla="*/ 5 h 72"/>
                    <a:gd name="T46" fmla="*/ 20 w 80"/>
                    <a:gd name="T47" fmla="*/ 5 h 72"/>
                    <a:gd name="T48" fmla="*/ 23 w 80"/>
                    <a:gd name="T49" fmla="*/ 5 h 72"/>
                    <a:gd name="T50" fmla="*/ 30 w 80"/>
                    <a:gd name="T51" fmla="*/ 5 h 72"/>
                    <a:gd name="T52" fmla="*/ 37 w 80"/>
                    <a:gd name="T53" fmla="*/ 5 h 72"/>
                    <a:gd name="T54" fmla="*/ 40 w 80"/>
                    <a:gd name="T55" fmla="*/ 4 h 72"/>
                    <a:gd name="T56" fmla="*/ 40 w 80"/>
                    <a:gd name="T57" fmla="*/ 3 h 72"/>
                    <a:gd name="T58" fmla="*/ 40 w 80"/>
                    <a:gd name="T59" fmla="*/ 2 h 72"/>
                    <a:gd name="T60" fmla="*/ 40 w 80"/>
                    <a:gd name="T61" fmla="*/ 2 h 72"/>
                    <a:gd name="T62" fmla="*/ 40 w 80"/>
                    <a:gd name="T63" fmla="*/ 0 h 72"/>
                    <a:gd name="T64" fmla="*/ 40 w 80"/>
                    <a:gd name="T65" fmla="*/ 0 h 72"/>
                    <a:gd name="T66" fmla="*/ 40 w 80"/>
                    <a:gd name="T67" fmla="*/ 5 h 72"/>
                    <a:gd name="T68" fmla="*/ 40 w 80"/>
                    <a:gd name="T69" fmla="*/ 5 h 72"/>
                    <a:gd name="T70" fmla="*/ 40 w 80"/>
                    <a:gd name="T71" fmla="*/ 5 h 72"/>
                    <a:gd name="T72" fmla="*/ 40 w 80"/>
                    <a:gd name="T73" fmla="*/ 5 h 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0"/>
                    <a:gd name="T112" fmla="*/ 0 h 72"/>
                    <a:gd name="T113" fmla="*/ 80 w 80"/>
                    <a:gd name="T114" fmla="*/ 72 h 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0" h="72">
                      <a:moveTo>
                        <a:pt x="80" y="72"/>
                      </a:moveTo>
                      <a:lnTo>
                        <a:pt x="76" y="72"/>
                      </a:lnTo>
                      <a:lnTo>
                        <a:pt x="72" y="72"/>
                      </a:lnTo>
                      <a:lnTo>
                        <a:pt x="67" y="72"/>
                      </a:lnTo>
                      <a:lnTo>
                        <a:pt x="62" y="72"/>
                      </a:lnTo>
                      <a:lnTo>
                        <a:pt x="58" y="72"/>
                      </a:lnTo>
                      <a:lnTo>
                        <a:pt x="52" y="72"/>
                      </a:lnTo>
                      <a:lnTo>
                        <a:pt x="47" y="71"/>
                      </a:lnTo>
                      <a:lnTo>
                        <a:pt x="42" y="71"/>
                      </a:lnTo>
                      <a:lnTo>
                        <a:pt x="37" y="70"/>
                      </a:lnTo>
                      <a:lnTo>
                        <a:pt x="31" y="68"/>
                      </a:lnTo>
                      <a:lnTo>
                        <a:pt x="27" y="67"/>
                      </a:lnTo>
                      <a:lnTo>
                        <a:pt x="22" y="66"/>
                      </a:lnTo>
                      <a:lnTo>
                        <a:pt x="13" y="61"/>
                      </a:lnTo>
                      <a:lnTo>
                        <a:pt x="6" y="56"/>
                      </a:lnTo>
                      <a:lnTo>
                        <a:pt x="1" y="48"/>
                      </a:lnTo>
                      <a:lnTo>
                        <a:pt x="0" y="37"/>
                      </a:lnTo>
                      <a:lnTo>
                        <a:pt x="0" y="33"/>
                      </a:lnTo>
                      <a:lnTo>
                        <a:pt x="2" y="28"/>
                      </a:lnTo>
                      <a:lnTo>
                        <a:pt x="4" y="23"/>
                      </a:lnTo>
                      <a:lnTo>
                        <a:pt x="7" y="19"/>
                      </a:lnTo>
                      <a:lnTo>
                        <a:pt x="12" y="15"/>
                      </a:lnTo>
                      <a:lnTo>
                        <a:pt x="15" y="13"/>
                      </a:lnTo>
                      <a:lnTo>
                        <a:pt x="20" y="12"/>
                      </a:lnTo>
                      <a:lnTo>
                        <a:pt x="23" y="10"/>
                      </a:lnTo>
                      <a:lnTo>
                        <a:pt x="30" y="7"/>
                      </a:lnTo>
                      <a:lnTo>
                        <a:pt x="37" y="6"/>
                      </a:lnTo>
                      <a:lnTo>
                        <a:pt x="45" y="4"/>
                      </a:lnTo>
                      <a:lnTo>
                        <a:pt x="53" y="3"/>
                      </a:lnTo>
                      <a:lnTo>
                        <a:pt x="61" y="2"/>
                      </a:lnTo>
                      <a:lnTo>
                        <a:pt x="68" y="2"/>
                      </a:lnTo>
                      <a:lnTo>
                        <a:pt x="74" y="0"/>
                      </a:lnTo>
                      <a:lnTo>
                        <a:pt x="80" y="0"/>
                      </a:lnTo>
                      <a:lnTo>
                        <a:pt x="80" y="28"/>
                      </a:lnTo>
                      <a:lnTo>
                        <a:pt x="80" y="50"/>
                      </a:lnTo>
                      <a:lnTo>
                        <a:pt x="80" y="64"/>
                      </a:lnTo>
                      <a:lnTo>
                        <a:pt x="80" y="72"/>
                      </a:lnTo>
                      <a:close/>
                    </a:path>
                  </a:pathLst>
                </a:cu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grpSp>
          <p:sp>
            <p:nvSpPr>
              <p:cNvPr id="23594" name="AutoShape 17"/>
              <p:cNvSpPr>
                <a:spLocks noChangeArrowheads="1"/>
              </p:cNvSpPr>
              <p:nvPr/>
            </p:nvSpPr>
            <p:spPr bwMode="auto">
              <a:xfrm>
                <a:off x="5019" y="1389"/>
                <a:ext cx="223" cy="317"/>
              </a:xfrm>
              <a:prstGeom prst="downArrow">
                <a:avLst>
                  <a:gd name="adj1" fmla="val 42583"/>
                  <a:gd name="adj2" fmla="val 59665"/>
                </a:avLst>
              </a:prstGeom>
              <a:solidFill>
                <a:schemeClr val="bg1">
                  <a:alpha val="92940"/>
                </a:scheme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595" name="AutoShape 18"/>
              <p:cNvSpPr>
                <a:spLocks noChangeArrowheads="1"/>
              </p:cNvSpPr>
              <p:nvPr/>
            </p:nvSpPr>
            <p:spPr bwMode="auto">
              <a:xfrm flipV="1">
                <a:off x="5019" y="2387"/>
                <a:ext cx="223" cy="273"/>
              </a:xfrm>
              <a:prstGeom prst="downArrow">
                <a:avLst>
                  <a:gd name="adj1" fmla="val 42583"/>
                  <a:gd name="adj2" fmla="val 51196"/>
                </a:avLst>
              </a:prstGeom>
              <a:solidFill>
                <a:schemeClr val="bg1">
                  <a:alpha val="92940"/>
                </a:scheme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rot="10800000"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grpSp>
            <p:nvGrpSpPr>
              <p:cNvPr id="23596" name="Group 19"/>
              <p:cNvGrpSpPr>
                <a:grpSpLocks/>
              </p:cNvGrpSpPr>
              <p:nvPr/>
            </p:nvGrpSpPr>
            <p:grpSpPr bwMode="auto">
              <a:xfrm>
                <a:off x="4963" y="2881"/>
                <a:ext cx="368" cy="271"/>
                <a:chOff x="2336" y="2296"/>
                <a:chExt cx="589" cy="454"/>
              </a:xfrm>
            </p:grpSpPr>
            <p:sp>
              <p:nvSpPr>
                <p:cNvPr id="23603" name="Rectangle 20"/>
                <p:cNvSpPr>
                  <a:spLocks noChangeArrowheads="1"/>
                </p:cNvSpPr>
                <p:nvPr/>
              </p:nvSpPr>
              <p:spPr bwMode="auto">
                <a:xfrm>
                  <a:off x="2336" y="2296"/>
                  <a:ext cx="455" cy="363"/>
                </a:xfrm>
                <a:prstGeom prst="rect">
                  <a:avLst/>
                </a:prstGeom>
                <a:solidFill>
                  <a:srgbClr val="EAEAEA"/>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04" name="Rectangle 21"/>
                <p:cNvSpPr>
                  <a:spLocks noChangeArrowheads="1"/>
                </p:cNvSpPr>
                <p:nvPr/>
              </p:nvSpPr>
              <p:spPr bwMode="auto">
                <a:xfrm>
                  <a:off x="2381" y="2341"/>
                  <a:ext cx="544" cy="411"/>
                </a:xfrm>
                <a:prstGeom prst="rect">
                  <a:avLst/>
                </a:prstGeom>
                <a:solidFill>
                  <a:srgbClr val="CCFFCC"/>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05" name="Rectangle 22"/>
                <p:cNvSpPr>
                  <a:spLocks noChangeArrowheads="1"/>
                </p:cNvSpPr>
                <p:nvPr/>
              </p:nvSpPr>
              <p:spPr bwMode="auto">
                <a:xfrm>
                  <a:off x="2427" y="2387"/>
                  <a:ext cx="454" cy="318"/>
                </a:xfrm>
                <a:prstGeom prst="rect">
                  <a:avLst/>
                </a:prstGeom>
                <a:solidFill>
                  <a:srgbClr val="C0C0C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06" name="Rectangle 23"/>
                <p:cNvSpPr>
                  <a:spLocks noChangeArrowheads="1"/>
                </p:cNvSpPr>
                <p:nvPr/>
              </p:nvSpPr>
              <p:spPr bwMode="auto">
                <a:xfrm>
                  <a:off x="2472" y="2433"/>
                  <a:ext cx="452" cy="318"/>
                </a:xfrm>
                <a:prstGeom prst="rect">
                  <a:avLst/>
                </a:prstGeom>
                <a:solidFill>
                  <a:srgbClr val="CCFFCC"/>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07" name="Freeform 24"/>
                <p:cNvSpPr>
                  <a:spLocks/>
                </p:cNvSpPr>
                <p:nvPr/>
              </p:nvSpPr>
              <p:spPr bwMode="auto">
                <a:xfrm>
                  <a:off x="2517" y="2480"/>
                  <a:ext cx="365" cy="252"/>
                </a:xfrm>
                <a:custGeom>
                  <a:avLst/>
                  <a:gdLst>
                    <a:gd name="T0" fmla="*/ 0 w 819"/>
                    <a:gd name="T1" fmla="*/ 1 h 470"/>
                    <a:gd name="T2" fmla="*/ 0 w 819"/>
                    <a:gd name="T3" fmla="*/ 1 h 470"/>
                    <a:gd name="T4" fmla="*/ 0 w 819"/>
                    <a:gd name="T5" fmla="*/ 1 h 470"/>
                    <a:gd name="T6" fmla="*/ 0 w 819"/>
                    <a:gd name="T7" fmla="*/ 1 h 470"/>
                    <a:gd name="T8" fmla="*/ 0 w 819"/>
                    <a:gd name="T9" fmla="*/ 1 h 470"/>
                    <a:gd name="T10" fmla="*/ 0 w 819"/>
                    <a:gd name="T11" fmla="*/ 1 h 470"/>
                    <a:gd name="T12" fmla="*/ 0 w 819"/>
                    <a:gd name="T13" fmla="*/ 1 h 470"/>
                    <a:gd name="T14" fmla="*/ 0 w 819"/>
                    <a:gd name="T15" fmla="*/ 1 h 470"/>
                    <a:gd name="T16" fmla="*/ 0 w 819"/>
                    <a:gd name="T17" fmla="*/ 1 h 470"/>
                    <a:gd name="T18" fmla="*/ 0 w 819"/>
                    <a:gd name="T19" fmla="*/ 1 h 470"/>
                    <a:gd name="T20" fmla="*/ 0 w 819"/>
                    <a:gd name="T21" fmla="*/ 1 h 470"/>
                    <a:gd name="T22" fmla="*/ 0 w 819"/>
                    <a:gd name="T23" fmla="*/ 1 h 470"/>
                    <a:gd name="T24" fmla="*/ 0 w 819"/>
                    <a:gd name="T25" fmla="*/ 1 h 470"/>
                    <a:gd name="T26" fmla="*/ 0 w 819"/>
                    <a:gd name="T27" fmla="*/ 1 h 470"/>
                    <a:gd name="T28" fmla="*/ 0 w 819"/>
                    <a:gd name="T29" fmla="*/ 1 h 470"/>
                    <a:gd name="T30" fmla="*/ 0 w 819"/>
                    <a:gd name="T31" fmla="*/ 1 h 470"/>
                    <a:gd name="T32" fmla="*/ 0 w 819"/>
                    <a:gd name="T33" fmla="*/ 1 h 470"/>
                    <a:gd name="T34" fmla="*/ 0 w 819"/>
                    <a:gd name="T35" fmla="*/ 1 h 470"/>
                    <a:gd name="T36" fmla="*/ 0 w 819"/>
                    <a:gd name="T37" fmla="*/ 1 h 470"/>
                    <a:gd name="T38" fmla="*/ 0 w 819"/>
                    <a:gd name="T39" fmla="*/ 1 h 470"/>
                    <a:gd name="T40" fmla="*/ 0 w 819"/>
                    <a:gd name="T41" fmla="*/ 1 h 470"/>
                    <a:gd name="T42" fmla="*/ 0 w 819"/>
                    <a:gd name="T43" fmla="*/ 1 h 470"/>
                    <a:gd name="T44" fmla="*/ 0 w 819"/>
                    <a:gd name="T45" fmla="*/ 1 h 470"/>
                    <a:gd name="T46" fmla="*/ 0 w 819"/>
                    <a:gd name="T47" fmla="*/ 1 h 470"/>
                    <a:gd name="T48" fmla="*/ 0 w 819"/>
                    <a:gd name="T49" fmla="*/ 1 h 470"/>
                    <a:gd name="T50" fmla="*/ 0 w 819"/>
                    <a:gd name="T51" fmla="*/ 1 h 470"/>
                    <a:gd name="T52" fmla="*/ 0 w 819"/>
                    <a:gd name="T53" fmla="*/ 1 h 470"/>
                    <a:gd name="T54" fmla="*/ 0 w 819"/>
                    <a:gd name="T55" fmla="*/ 1 h 470"/>
                    <a:gd name="T56" fmla="*/ 0 w 819"/>
                    <a:gd name="T57" fmla="*/ 1 h 470"/>
                    <a:gd name="T58" fmla="*/ 0 w 819"/>
                    <a:gd name="T59" fmla="*/ 1 h 470"/>
                    <a:gd name="T60" fmla="*/ 0 w 819"/>
                    <a:gd name="T61" fmla="*/ 1 h 470"/>
                    <a:gd name="T62" fmla="*/ 0 w 819"/>
                    <a:gd name="T63" fmla="*/ 1 h 470"/>
                    <a:gd name="T64" fmla="*/ 0 w 819"/>
                    <a:gd name="T65" fmla="*/ 1 h 470"/>
                    <a:gd name="T66" fmla="*/ 0 w 819"/>
                    <a:gd name="T67" fmla="*/ 1 h 470"/>
                    <a:gd name="T68" fmla="*/ 0 w 819"/>
                    <a:gd name="T69" fmla="*/ 1 h 470"/>
                    <a:gd name="T70" fmla="*/ 0 w 819"/>
                    <a:gd name="T71" fmla="*/ 1 h 470"/>
                    <a:gd name="T72" fmla="*/ 0 w 819"/>
                    <a:gd name="T73" fmla="*/ 0 h 470"/>
                    <a:gd name="T74" fmla="*/ 0 w 819"/>
                    <a:gd name="T75" fmla="*/ 0 h 470"/>
                    <a:gd name="T76" fmla="*/ 0 w 819"/>
                    <a:gd name="T77" fmla="*/ 1 h 470"/>
                    <a:gd name="T78" fmla="*/ 0 w 819"/>
                    <a:gd name="T79" fmla="*/ 1 h 470"/>
                    <a:gd name="T80" fmla="*/ 0 w 819"/>
                    <a:gd name="T81" fmla="*/ 1 h 470"/>
                    <a:gd name="T82" fmla="*/ 0 w 819"/>
                    <a:gd name="T83" fmla="*/ 1 h 470"/>
                    <a:gd name="T84" fmla="*/ 0 w 819"/>
                    <a:gd name="T85" fmla="*/ 1 h 470"/>
                    <a:gd name="T86" fmla="*/ 0 w 819"/>
                    <a:gd name="T87" fmla="*/ 1 h 470"/>
                    <a:gd name="T88" fmla="*/ 0 w 819"/>
                    <a:gd name="T89" fmla="*/ 1 h 470"/>
                    <a:gd name="T90" fmla="*/ 0 w 819"/>
                    <a:gd name="T91" fmla="*/ 1 h 470"/>
                    <a:gd name="T92" fmla="*/ 0 w 819"/>
                    <a:gd name="T93" fmla="*/ 0 h 470"/>
                    <a:gd name="T94" fmla="*/ 0 w 819"/>
                    <a:gd name="T95" fmla="*/ 0 h 470"/>
                    <a:gd name="T96" fmla="*/ 0 w 819"/>
                    <a:gd name="T97" fmla="*/ 1 h 470"/>
                    <a:gd name="T98" fmla="*/ 0 w 819"/>
                    <a:gd name="T99" fmla="*/ 1 h 470"/>
                    <a:gd name="T100" fmla="*/ 0 w 819"/>
                    <a:gd name="T101" fmla="*/ 1 h 470"/>
                    <a:gd name="T102" fmla="*/ 0 w 819"/>
                    <a:gd name="T103" fmla="*/ 1 h 470"/>
                    <a:gd name="T104" fmla="*/ 0 w 819"/>
                    <a:gd name="T105" fmla="*/ 1 h 470"/>
                    <a:gd name="T106" fmla="*/ 0 w 819"/>
                    <a:gd name="T107" fmla="*/ 1 h 470"/>
                    <a:gd name="T108" fmla="*/ 0 w 819"/>
                    <a:gd name="T109" fmla="*/ 1 h 470"/>
                    <a:gd name="T110" fmla="*/ 0 w 819"/>
                    <a:gd name="T111" fmla="*/ 1 h 470"/>
                    <a:gd name="T112" fmla="*/ 0 w 819"/>
                    <a:gd name="T113" fmla="*/ 1 h 470"/>
                    <a:gd name="T114" fmla="*/ 0 w 819"/>
                    <a:gd name="T115" fmla="*/ 1 h 470"/>
                    <a:gd name="T116" fmla="*/ 0 w 819"/>
                    <a:gd name="T117" fmla="*/ 1 h 470"/>
                    <a:gd name="T118" fmla="*/ 0 w 819"/>
                    <a:gd name="T119" fmla="*/ 1 h 470"/>
                    <a:gd name="T120" fmla="*/ 0 w 819"/>
                    <a:gd name="T121" fmla="*/ 1 h 47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819"/>
                    <a:gd name="T184" fmla="*/ 0 h 470"/>
                    <a:gd name="T185" fmla="*/ 819 w 819"/>
                    <a:gd name="T186" fmla="*/ 470 h 47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819" h="470">
                      <a:moveTo>
                        <a:pt x="0" y="441"/>
                      </a:moveTo>
                      <a:lnTo>
                        <a:pt x="0" y="442"/>
                      </a:lnTo>
                      <a:lnTo>
                        <a:pt x="0" y="444"/>
                      </a:lnTo>
                      <a:lnTo>
                        <a:pt x="0" y="445"/>
                      </a:lnTo>
                      <a:lnTo>
                        <a:pt x="1" y="445"/>
                      </a:lnTo>
                      <a:lnTo>
                        <a:pt x="1" y="446"/>
                      </a:lnTo>
                      <a:lnTo>
                        <a:pt x="1" y="447"/>
                      </a:lnTo>
                      <a:lnTo>
                        <a:pt x="1" y="448"/>
                      </a:lnTo>
                      <a:lnTo>
                        <a:pt x="1" y="449"/>
                      </a:lnTo>
                      <a:lnTo>
                        <a:pt x="2" y="449"/>
                      </a:lnTo>
                      <a:lnTo>
                        <a:pt x="2" y="450"/>
                      </a:lnTo>
                      <a:lnTo>
                        <a:pt x="2" y="452"/>
                      </a:lnTo>
                      <a:lnTo>
                        <a:pt x="3" y="453"/>
                      </a:lnTo>
                      <a:lnTo>
                        <a:pt x="3" y="454"/>
                      </a:lnTo>
                      <a:lnTo>
                        <a:pt x="5" y="455"/>
                      </a:lnTo>
                      <a:lnTo>
                        <a:pt x="5" y="456"/>
                      </a:lnTo>
                      <a:lnTo>
                        <a:pt x="6" y="456"/>
                      </a:lnTo>
                      <a:lnTo>
                        <a:pt x="6" y="457"/>
                      </a:lnTo>
                      <a:lnTo>
                        <a:pt x="7" y="458"/>
                      </a:lnTo>
                      <a:lnTo>
                        <a:pt x="7" y="460"/>
                      </a:lnTo>
                      <a:lnTo>
                        <a:pt x="8" y="460"/>
                      </a:lnTo>
                      <a:lnTo>
                        <a:pt x="8" y="461"/>
                      </a:lnTo>
                      <a:lnTo>
                        <a:pt x="9" y="461"/>
                      </a:lnTo>
                      <a:lnTo>
                        <a:pt x="9" y="462"/>
                      </a:lnTo>
                      <a:lnTo>
                        <a:pt x="10" y="462"/>
                      </a:lnTo>
                      <a:lnTo>
                        <a:pt x="10" y="463"/>
                      </a:lnTo>
                      <a:lnTo>
                        <a:pt x="12" y="463"/>
                      </a:lnTo>
                      <a:lnTo>
                        <a:pt x="13" y="464"/>
                      </a:lnTo>
                      <a:lnTo>
                        <a:pt x="14" y="464"/>
                      </a:lnTo>
                      <a:lnTo>
                        <a:pt x="14" y="465"/>
                      </a:lnTo>
                      <a:lnTo>
                        <a:pt x="15" y="465"/>
                      </a:lnTo>
                      <a:lnTo>
                        <a:pt x="16" y="467"/>
                      </a:lnTo>
                      <a:lnTo>
                        <a:pt x="17" y="467"/>
                      </a:lnTo>
                      <a:lnTo>
                        <a:pt x="18" y="468"/>
                      </a:lnTo>
                      <a:lnTo>
                        <a:pt x="20" y="468"/>
                      </a:lnTo>
                      <a:lnTo>
                        <a:pt x="21" y="469"/>
                      </a:lnTo>
                      <a:lnTo>
                        <a:pt x="22" y="469"/>
                      </a:lnTo>
                      <a:lnTo>
                        <a:pt x="23" y="469"/>
                      </a:lnTo>
                      <a:lnTo>
                        <a:pt x="24" y="469"/>
                      </a:lnTo>
                      <a:lnTo>
                        <a:pt x="25" y="469"/>
                      </a:lnTo>
                      <a:lnTo>
                        <a:pt x="27" y="470"/>
                      </a:lnTo>
                      <a:lnTo>
                        <a:pt x="28" y="470"/>
                      </a:lnTo>
                      <a:lnTo>
                        <a:pt x="29" y="470"/>
                      </a:lnTo>
                      <a:lnTo>
                        <a:pt x="30" y="470"/>
                      </a:lnTo>
                      <a:lnTo>
                        <a:pt x="423" y="470"/>
                      </a:lnTo>
                      <a:lnTo>
                        <a:pt x="423" y="409"/>
                      </a:lnTo>
                      <a:lnTo>
                        <a:pt x="116" y="409"/>
                      </a:lnTo>
                      <a:lnTo>
                        <a:pt x="129" y="400"/>
                      </a:lnTo>
                      <a:lnTo>
                        <a:pt x="141" y="389"/>
                      </a:lnTo>
                      <a:lnTo>
                        <a:pt x="153" y="380"/>
                      </a:lnTo>
                      <a:lnTo>
                        <a:pt x="165" y="371"/>
                      </a:lnTo>
                      <a:lnTo>
                        <a:pt x="177" y="362"/>
                      </a:lnTo>
                      <a:lnTo>
                        <a:pt x="189" y="353"/>
                      </a:lnTo>
                      <a:lnTo>
                        <a:pt x="202" y="343"/>
                      </a:lnTo>
                      <a:lnTo>
                        <a:pt x="213" y="334"/>
                      </a:lnTo>
                      <a:lnTo>
                        <a:pt x="225" y="326"/>
                      </a:lnTo>
                      <a:lnTo>
                        <a:pt x="236" y="317"/>
                      </a:lnTo>
                      <a:lnTo>
                        <a:pt x="248" y="309"/>
                      </a:lnTo>
                      <a:lnTo>
                        <a:pt x="259" y="301"/>
                      </a:lnTo>
                      <a:lnTo>
                        <a:pt x="270" y="293"/>
                      </a:lnTo>
                      <a:lnTo>
                        <a:pt x="281" y="285"/>
                      </a:lnTo>
                      <a:lnTo>
                        <a:pt x="291" y="278"/>
                      </a:lnTo>
                      <a:lnTo>
                        <a:pt x="302" y="271"/>
                      </a:lnTo>
                      <a:lnTo>
                        <a:pt x="319" y="281"/>
                      </a:lnTo>
                      <a:lnTo>
                        <a:pt x="335" y="290"/>
                      </a:lnTo>
                      <a:lnTo>
                        <a:pt x="350" y="298"/>
                      </a:lnTo>
                      <a:lnTo>
                        <a:pt x="364" y="305"/>
                      </a:lnTo>
                      <a:lnTo>
                        <a:pt x="378" y="311"/>
                      </a:lnTo>
                      <a:lnTo>
                        <a:pt x="389" y="314"/>
                      </a:lnTo>
                      <a:lnTo>
                        <a:pt x="400" y="317"/>
                      </a:lnTo>
                      <a:lnTo>
                        <a:pt x="409" y="318"/>
                      </a:lnTo>
                      <a:lnTo>
                        <a:pt x="418" y="317"/>
                      </a:lnTo>
                      <a:lnTo>
                        <a:pt x="429" y="314"/>
                      </a:lnTo>
                      <a:lnTo>
                        <a:pt x="441" y="311"/>
                      </a:lnTo>
                      <a:lnTo>
                        <a:pt x="454" y="305"/>
                      </a:lnTo>
                      <a:lnTo>
                        <a:pt x="469" y="298"/>
                      </a:lnTo>
                      <a:lnTo>
                        <a:pt x="484" y="290"/>
                      </a:lnTo>
                      <a:lnTo>
                        <a:pt x="500" y="281"/>
                      </a:lnTo>
                      <a:lnTo>
                        <a:pt x="516" y="271"/>
                      </a:lnTo>
                      <a:lnTo>
                        <a:pt x="527" y="278"/>
                      </a:lnTo>
                      <a:lnTo>
                        <a:pt x="537" y="285"/>
                      </a:lnTo>
                      <a:lnTo>
                        <a:pt x="548" y="293"/>
                      </a:lnTo>
                      <a:lnTo>
                        <a:pt x="559" y="301"/>
                      </a:lnTo>
                      <a:lnTo>
                        <a:pt x="570" y="309"/>
                      </a:lnTo>
                      <a:lnTo>
                        <a:pt x="582" y="317"/>
                      </a:lnTo>
                      <a:lnTo>
                        <a:pt x="593" y="326"/>
                      </a:lnTo>
                      <a:lnTo>
                        <a:pt x="605" y="334"/>
                      </a:lnTo>
                      <a:lnTo>
                        <a:pt x="618" y="343"/>
                      </a:lnTo>
                      <a:lnTo>
                        <a:pt x="629" y="353"/>
                      </a:lnTo>
                      <a:lnTo>
                        <a:pt x="642" y="362"/>
                      </a:lnTo>
                      <a:lnTo>
                        <a:pt x="653" y="371"/>
                      </a:lnTo>
                      <a:lnTo>
                        <a:pt x="666" y="380"/>
                      </a:lnTo>
                      <a:lnTo>
                        <a:pt x="679" y="389"/>
                      </a:lnTo>
                      <a:lnTo>
                        <a:pt x="690" y="400"/>
                      </a:lnTo>
                      <a:lnTo>
                        <a:pt x="703" y="409"/>
                      </a:lnTo>
                      <a:lnTo>
                        <a:pt x="423" y="409"/>
                      </a:lnTo>
                      <a:lnTo>
                        <a:pt x="423" y="470"/>
                      </a:lnTo>
                      <a:lnTo>
                        <a:pt x="788" y="470"/>
                      </a:lnTo>
                      <a:lnTo>
                        <a:pt x="789" y="470"/>
                      </a:lnTo>
                      <a:lnTo>
                        <a:pt x="790" y="470"/>
                      </a:lnTo>
                      <a:lnTo>
                        <a:pt x="791" y="470"/>
                      </a:lnTo>
                      <a:lnTo>
                        <a:pt x="793" y="469"/>
                      </a:lnTo>
                      <a:lnTo>
                        <a:pt x="794" y="469"/>
                      </a:lnTo>
                      <a:lnTo>
                        <a:pt x="795" y="469"/>
                      </a:lnTo>
                      <a:lnTo>
                        <a:pt x="796" y="469"/>
                      </a:lnTo>
                      <a:lnTo>
                        <a:pt x="797" y="469"/>
                      </a:lnTo>
                      <a:lnTo>
                        <a:pt x="798" y="468"/>
                      </a:lnTo>
                      <a:lnTo>
                        <a:pt x="800" y="468"/>
                      </a:lnTo>
                      <a:lnTo>
                        <a:pt x="801" y="468"/>
                      </a:lnTo>
                      <a:lnTo>
                        <a:pt x="801" y="467"/>
                      </a:lnTo>
                      <a:lnTo>
                        <a:pt x="802" y="467"/>
                      </a:lnTo>
                      <a:lnTo>
                        <a:pt x="803" y="467"/>
                      </a:lnTo>
                      <a:lnTo>
                        <a:pt x="804" y="465"/>
                      </a:lnTo>
                      <a:lnTo>
                        <a:pt x="805" y="464"/>
                      </a:lnTo>
                      <a:lnTo>
                        <a:pt x="806" y="464"/>
                      </a:lnTo>
                      <a:lnTo>
                        <a:pt x="806" y="463"/>
                      </a:lnTo>
                      <a:lnTo>
                        <a:pt x="808" y="463"/>
                      </a:lnTo>
                      <a:lnTo>
                        <a:pt x="809" y="462"/>
                      </a:lnTo>
                      <a:lnTo>
                        <a:pt x="810" y="461"/>
                      </a:lnTo>
                      <a:lnTo>
                        <a:pt x="811" y="460"/>
                      </a:lnTo>
                      <a:lnTo>
                        <a:pt x="811" y="458"/>
                      </a:lnTo>
                      <a:lnTo>
                        <a:pt x="812" y="458"/>
                      </a:lnTo>
                      <a:lnTo>
                        <a:pt x="812" y="457"/>
                      </a:lnTo>
                      <a:lnTo>
                        <a:pt x="813" y="457"/>
                      </a:lnTo>
                      <a:lnTo>
                        <a:pt x="813" y="456"/>
                      </a:lnTo>
                      <a:lnTo>
                        <a:pt x="815" y="455"/>
                      </a:lnTo>
                      <a:lnTo>
                        <a:pt x="815" y="454"/>
                      </a:lnTo>
                      <a:lnTo>
                        <a:pt x="816" y="454"/>
                      </a:lnTo>
                      <a:lnTo>
                        <a:pt x="816" y="453"/>
                      </a:lnTo>
                      <a:lnTo>
                        <a:pt x="816" y="452"/>
                      </a:lnTo>
                      <a:lnTo>
                        <a:pt x="817" y="450"/>
                      </a:lnTo>
                      <a:lnTo>
                        <a:pt x="817" y="449"/>
                      </a:lnTo>
                      <a:lnTo>
                        <a:pt x="817" y="448"/>
                      </a:lnTo>
                      <a:lnTo>
                        <a:pt x="818" y="447"/>
                      </a:lnTo>
                      <a:lnTo>
                        <a:pt x="818" y="446"/>
                      </a:lnTo>
                      <a:lnTo>
                        <a:pt x="818" y="445"/>
                      </a:lnTo>
                      <a:lnTo>
                        <a:pt x="818" y="444"/>
                      </a:lnTo>
                      <a:lnTo>
                        <a:pt x="818" y="442"/>
                      </a:lnTo>
                      <a:lnTo>
                        <a:pt x="818" y="441"/>
                      </a:lnTo>
                      <a:lnTo>
                        <a:pt x="818" y="440"/>
                      </a:lnTo>
                      <a:lnTo>
                        <a:pt x="819" y="440"/>
                      </a:lnTo>
                      <a:lnTo>
                        <a:pt x="819" y="229"/>
                      </a:lnTo>
                      <a:lnTo>
                        <a:pt x="758" y="229"/>
                      </a:lnTo>
                      <a:lnTo>
                        <a:pt x="758" y="376"/>
                      </a:lnTo>
                      <a:lnTo>
                        <a:pt x="749" y="367"/>
                      </a:lnTo>
                      <a:lnTo>
                        <a:pt x="738" y="359"/>
                      </a:lnTo>
                      <a:lnTo>
                        <a:pt x="728" y="351"/>
                      </a:lnTo>
                      <a:lnTo>
                        <a:pt x="717" y="343"/>
                      </a:lnTo>
                      <a:lnTo>
                        <a:pt x="705" y="334"/>
                      </a:lnTo>
                      <a:lnTo>
                        <a:pt x="694" y="325"/>
                      </a:lnTo>
                      <a:lnTo>
                        <a:pt x="682" y="316"/>
                      </a:lnTo>
                      <a:lnTo>
                        <a:pt x="671" y="306"/>
                      </a:lnTo>
                      <a:lnTo>
                        <a:pt x="658" y="298"/>
                      </a:lnTo>
                      <a:lnTo>
                        <a:pt x="646" y="289"/>
                      </a:lnTo>
                      <a:lnTo>
                        <a:pt x="634" y="280"/>
                      </a:lnTo>
                      <a:lnTo>
                        <a:pt x="621" y="271"/>
                      </a:lnTo>
                      <a:lnTo>
                        <a:pt x="608" y="261"/>
                      </a:lnTo>
                      <a:lnTo>
                        <a:pt x="597" y="252"/>
                      </a:lnTo>
                      <a:lnTo>
                        <a:pt x="584" y="243"/>
                      </a:lnTo>
                      <a:lnTo>
                        <a:pt x="571" y="235"/>
                      </a:lnTo>
                      <a:lnTo>
                        <a:pt x="584" y="227"/>
                      </a:lnTo>
                      <a:lnTo>
                        <a:pt x="597" y="218"/>
                      </a:lnTo>
                      <a:lnTo>
                        <a:pt x="608" y="209"/>
                      </a:lnTo>
                      <a:lnTo>
                        <a:pt x="621" y="199"/>
                      </a:lnTo>
                      <a:lnTo>
                        <a:pt x="634" y="190"/>
                      </a:lnTo>
                      <a:lnTo>
                        <a:pt x="646" y="181"/>
                      </a:lnTo>
                      <a:lnTo>
                        <a:pt x="658" y="172"/>
                      </a:lnTo>
                      <a:lnTo>
                        <a:pt x="671" y="162"/>
                      </a:lnTo>
                      <a:lnTo>
                        <a:pt x="682" y="154"/>
                      </a:lnTo>
                      <a:lnTo>
                        <a:pt x="694" y="145"/>
                      </a:lnTo>
                      <a:lnTo>
                        <a:pt x="705" y="136"/>
                      </a:lnTo>
                      <a:lnTo>
                        <a:pt x="717" y="127"/>
                      </a:lnTo>
                      <a:lnTo>
                        <a:pt x="728" y="119"/>
                      </a:lnTo>
                      <a:lnTo>
                        <a:pt x="738" y="111"/>
                      </a:lnTo>
                      <a:lnTo>
                        <a:pt x="749" y="103"/>
                      </a:lnTo>
                      <a:lnTo>
                        <a:pt x="758" y="94"/>
                      </a:lnTo>
                      <a:lnTo>
                        <a:pt x="758" y="229"/>
                      </a:lnTo>
                      <a:lnTo>
                        <a:pt x="819" y="229"/>
                      </a:lnTo>
                      <a:lnTo>
                        <a:pt x="819" y="30"/>
                      </a:lnTo>
                      <a:lnTo>
                        <a:pt x="819" y="29"/>
                      </a:lnTo>
                      <a:lnTo>
                        <a:pt x="818" y="29"/>
                      </a:lnTo>
                      <a:lnTo>
                        <a:pt x="818" y="28"/>
                      </a:lnTo>
                      <a:lnTo>
                        <a:pt x="818" y="26"/>
                      </a:lnTo>
                      <a:lnTo>
                        <a:pt x="818" y="25"/>
                      </a:lnTo>
                      <a:lnTo>
                        <a:pt x="818" y="24"/>
                      </a:lnTo>
                      <a:lnTo>
                        <a:pt x="818" y="23"/>
                      </a:lnTo>
                      <a:lnTo>
                        <a:pt x="817" y="22"/>
                      </a:lnTo>
                      <a:lnTo>
                        <a:pt x="817" y="21"/>
                      </a:lnTo>
                      <a:lnTo>
                        <a:pt x="817" y="20"/>
                      </a:lnTo>
                      <a:lnTo>
                        <a:pt x="817" y="18"/>
                      </a:lnTo>
                      <a:lnTo>
                        <a:pt x="816" y="18"/>
                      </a:lnTo>
                      <a:lnTo>
                        <a:pt x="816" y="17"/>
                      </a:lnTo>
                      <a:lnTo>
                        <a:pt x="816" y="16"/>
                      </a:lnTo>
                      <a:lnTo>
                        <a:pt x="815" y="16"/>
                      </a:lnTo>
                      <a:lnTo>
                        <a:pt x="815" y="15"/>
                      </a:lnTo>
                      <a:lnTo>
                        <a:pt x="813" y="14"/>
                      </a:lnTo>
                      <a:lnTo>
                        <a:pt x="813" y="13"/>
                      </a:lnTo>
                      <a:lnTo>
                        <a:pt x="812" y="12"/>
                      </a:lnTo>
                      <a:lnTo>
                        <a:pt x="811" y="10"/>
                      </a:lnTo>
                      <a:lnTo>
                        <a:pt x="810" y="9"/>
                      </a:lnTo>
                      <a:lnTo>
                        <a:pt x="809" y="8"/>
                      </a:lnTo>
                      <a:lnTo>
                        <a:pt x="808" y="7"/>
                      </a:lnTo>
                      <a:lnTo>
                        <a:pt x="806" y="7"/>
                      </a:lnTo>
                      <a:lnTo>
                        <a:pt x="806" y="6"/>
                      </a:lnTo>
                      <a:lnTo>
                        <a:pt x="805" y="6"/>
                      </a:lnTo>
                      <a:lnTo>
                        <a:pt x="805" y="5"/>
                      </a:lnTo>
                      <a:lnTo>
                        <a:pt x="804" y="5"/>
                      </a:lnTo>
                      <a:lnTo>
                        <a:pt x="803" y="3"/>
                      </a:lnTo>
                      <a:lnTo>
                        <a:pt x="802" y="3"/>
                      </a:lnTo>
                      <a:lnTo>
                        <a:pt x="801" y="3"/>
                      </a:lnTo>
                      <a:lnTo>
                        <a:pt x="801" y="2"/>
                      </a:lnTo>
                      <a:lnTo>
                        <a:pt x="800" y="2"/>
                      </a:lnTo>
                      <a:lnTo>
                        <a:pt x="798" y="2"/>
                      </a:lnTo>
                      <a:lnTo>
                        <a:pt x="797" y="1"/>
                      </a:lnTo>
                      <a:lnTo>
                        <a:pt x="796" y="1"/>
                      </a:lnTo>
                      <a:lnTo>
                        <a:pt x="795" y="1"/>
                      </a:lnTo>
                      <a:lnTo>
                        <a:pt x="795" y="0"/>
                      </a:lnTo>
                      <a:lnTo>
                        <a:pt x="794" y="0"/>
                      </a:lnTo>
                      <a:lnTo>
                        <a:pt x="793" y="0"/>
                      </a:lnTo>
                      <a:lnTo>
                        <a:pt x="791" y="0"/>
                      </a:lnTo>
                      <a:lnTo>
                        <a:pt x="790" y="0"/>
                      </a:lnTo>
                      <a:lnTo>
                        <a:pt x="789" y="0"/>
                      </a:lnTo>
                      <a:lnTo>
                        <a:pt x="788" y="0"/>
                      </a:lnTo>
                      <a:lnTo>
                        <a:pt x="385" y="0"/>
                      </a:lnTo>
                      <a:lnTo>
                        <a:pt x="385" y="61"/>
                      </a:lnTo>
                      <a:lnTo>
                        <a:pt x="703" y="61"/>
                      </a:lnTo>
                      <a:lnTo>
                        <a:pt x="690" y="70"/>
                      </a:lnTo>
                      <a:lnTo>
                        <a:pt x="679" y="81"/>
                      </a:lnTo>
                      <a:lnTo>
                        <a:pt x="666" y="90"/>
                      </a:lnTo>
                      <a:lnTo>
                        <a:pt x="653" y="99"/>
                      </a:lnTo>
                      <a:lnTo>
                        <a:pt x="642" y="108"/>
                      </a:lnTo>
                      <a:lnTo>
                        <a:pt x="629" y="117"/>
                      </a:lnTo>
                      <a:lnTo>
                        <a:pt x="618" y="127"/>
                      </a:lnTo>
                      <a:lnTo>
                        <a:pt x="605" y="136"/>
                      </a:lnTo>
                      <a:lnTo>
                        <a:pt x="593" y="144"/>
                      </a:lnTo>
                      <a:lnTo>
                        <a:pt x="582" y="153"/>
                      </a:lnTo>
                      <a:lnTo>
                        <a:pt x="570" y="161"/>
                      </a:lnTo>
                      <a:lnTo>
                        <a:pt x="559" y="169"/>
                      </a:lnTo>
                      <a:lnTo>
                        <a:pt x="548" y="177"/>
                      </a:lnTo>
                      <a:lnTo>
                        <a:pt x="537" y="185"/>
                      </a:lnTo>
                      <a:lnTo>
                        <a:pt x="527" y="192"/>
                      </a:lnTo>
                      <a:lnTo>
                        <a:pt x="516" y="199"/>
                      </a:lnTo>
                      <a:lnTo>
                        <a:pt x="508" y="204"/>
                      </a:lnTo>
                      <a:lnTo>
                        <a:pt x="501" y="210"/>
                      </a:lnTo>
                      <a:lnTo>
                        <a:pt x="494" y="214"/>
                      </a:lnTo>
                      <a:lnTo>
                        <a:pt x="487" y="219"/>
                      </a:lnTo>
                      <a:lnTo>
                        <a:pt x="480" y="223"/>
                      </a:lnTo>
                      <a:lnTo>
                        <a:pt x="474" y="227"/>
                      </a:lnTo>
                      <a:lnTo>
                        <a:pt x="467" y="232"/>
                      </a:lnTo>
                      <a:lnTo>
                        <a:pt x="461" y="235"/>
                      </a:lnTo>
                      <a:lnTo>
                        <a:pt x="452" y="240"/>
                      </a:lnTo>
                      <a:lnTo>
                        <a:pt x="444" y="244"/>
                      </a:lnTo>
                      <a:lnTo>
                        <a:pt x="437" y="248"/>
                      </a:lnTo>
                      <a:lnTo>
                        <a:pt x="430" y="251"/>
                      </a:lnTo>
                      <a:lnTo>
                        <a:pt x="423" y="253"/>
                      </a:lnTo>
                      <a:lnTo>
                        <a:pt x="417" y="256"/>
                      </a:lnTo>
                      <a:lnTo>
                        <a:pt x="412" y="257"/>
                      </a:lnTo>
                      <a:lnTo>
                        <a:pt x="409" y="258"/>
                      </a:lnTo>
                      <a:lnTo>
                        <a:pt x="406" y="257"/>
                      </a:lnTo>
                      <a:lnTo>
                        <a:pt x="401" y="256"/>
                      </a:lnTo>
                      <a:lnTo>
                        <a:pt x="395" y="253"/>
                      </a:lnTo>
                      <a:lnTo>
                        <a:pt x="389" y="251"/>
                      </a:lnTo>
                      <a:lnTo>
                        <a:pt x="383" y="248"/>
                      </a:lnTo>
                      <a:lnTo>
                        <a:pt x="376" y="244"/>
                      </a:lnTo>
                      <a:lnTo>
                        <a:pt x="368" y="240"/>
                      </a:lnTo>
                      <a:lnTo>
                        <a:pt x="358" y="235"/>
                      </a:lnTo>
                      <a:lnTo>
                        <a:pt x="353" y="232"/>
                      </a:lnTo>
                      <a:lnTo>
                        <a:pt x="346" y="227"/>
                      </a:lnTo>
                      <a:lnTo>
                        <a:pt x="339" y="223"/>
                      </a:lnTo>
                      <a:lnTo>
                        <a:pt x="332" y="219"/>
                      </a:lnTo>
                      <a:lnTo>
                        <a:pt x="325" y="214"/>
                      </a:lnTo>
                      <a:lnTo>
                        <a:pt x="317" y="210"/>
                      </a:lnTo>
                      <a:lnTo>
                        <a:pt x="310" y="204"/>
                      </a:lnTo>
                      <a:lnTo>
                        <a:pt x="302" y="199"/>
                      </a:lnTo>
                      <a:lnTo>
                        <a:pt x="291" y="192"/>
                      </a:lnTo>
                      <a:lnTo>
                        <a:pt x="281" y="185"/>
                      </a:lnTo>
                      <a:lnTo>
                        <a:pt x="270" y="177"/>
                      </a:lnTo>
                      <a:lnTo>
                        <a:pt x="259" y="169"/>
                      </a:lnTo>
                      <a:lnTo>
                        <a:pt x="248" y="161"/>
                      </a:lnTo>
                      <a:lnTo>
                        <a:pt x="236" y="153"/>
                      </a:lnTo>
                      <a:lnTo>
                        <a:pt x="225" y="144"/>
                      </a:lnTo>
                      <a:lnTo>
                        <a:pt x="213" y="136"/>
                      </a:lnTo>
                      <a:lnTo>
                        <a:pt x="202" y="127"/>
                      </a:lnTo>
                      <a:lnTo>
                        <a:pt x="189" y="117"/>
                      </a:lnTo>
                      <a:lnTo>
                        <a:pt x="177" y="108"/>
                      </a:lnTo>
                      <a:lnTo>
                        <a:pt x="165" y="99"/>
                      </a:lnTo>
                      <a:lnTo>
                        <a:pt x="153" y="90"/>
                      </a:lnTo>
                      <a:lnTo>
                        <a:pt x="141" y="81"/>
                      </a:lnTo>
                      <a:lnTo>
                        <a:pt x="129" y="70"/>
                      </a:lnTo>
                      <a:lnTo>
                        <a:pt x="116" y="61"/>
                      </a:lnTo>
                      <a:lnTo>
                        <a:pt x="385" y="61"/>
                      </a:lnTo>
                      <a:lnTo>
                        <a:pt x="385" y="0"/>
                      </a:lnTo>
                      <a:lnTo>
                        <a:pt x="30" y="0"/>
                      </a:lnTo>
                      <a:lnTo>
                        <a:pt x="29" y="0"/>
                      </a:lnTo>
                      <a:lnTo>
                        <a:pt x="28" y="0"/>
                      </a:lnTo>
                      <a:lnTo>
                        <a:pt x="27" y="0"/>
                      </a:lnTo>
                      <a:lnTo>
                        <a:pt x="25" y="0"/>
                      </a:lnTo>
                      <a:lnTo>
                        <a:pt x="24" y="0"/>
                      </a:lnTo>
                      <a:lnTo>
                        <a:pt x="24" y="1"/>
                      </a:lnTo>
                      <a:lnTo>
                        <a:pt x="23" y="1"/>
                      </a:lnTo>
                      <a:lnTo>
                        <a:pt x="22" y="1"/>
                      </a:lnTo>
                      <a:lnTo>
                        <a:pt x="21" y="1"/>
                      </a:lnTo>
                      <a:lnTo>
                        <a:pt x="20" y="2"/>
                      </a:lnTo>
                      <a:lnTo>
                        <a:pt x="18" y="2"/>
                      </a:lnTo>
                      <a:lnTo>
                        <a:pt x="17" y="3"/>
                      </a:lnTo>
                      <a:lnTo>
                        <a:pt x="16" y="3"/>
                      </a:lnTo>
                      <a:lnTo>
                        <a:pt x="15" y="5"/>
                      </a:lnTo>
                      <a:lnTo>
                        <a:pt x="14" y="5"/>
                      </a:lnTo>
                      <a:lnTo>
                        <a:pt x="13" y="6"/>
                      </a:lnTo>
                      <a:lnTo>
                        <a:pt x="12" y="7"/>
                      </a:lnTo>
                      <a:lnTo>
                        <a:pt x="10" y="7"/>
                      </a:lnTo>
                      <a:lnTo>
                        <a:pt x="10" y="8"/>
                      </a:lnTo>
                      <a:lnTo>
                        <a:pt x="9" y="8"/>
                      </a:lnTo>
                      <a:lnTo>
                        <a:pt x="9" y="9"/>
                      </a:lnTo>
                      <a:lnTo>
                        <a:pt x="8" y="10"/>
                      </a:lnTo>
                      <a:lnTo>
                        <a:pt x="7" y="10"/>
                      </a:lnTo>
                      <a:lnTo>
                        <a:pt x="7" y="12"/>
                      </a:lnTo>
                      <a:lnTo>
                        <a:pt x="6" y="12"/>
                      </a:lnTo>
                      <a:lnTo>
                        <a:pt x="6" y="13"/>
                      </a:lnTo>
                      <a:lnTo>
                        <a:pt x="5" y="14"/>
                      </a:lnTo>
                      <a:lnTo>
                        <a:pt x="5" y="15"/>
                      </a:lnTo>
                      <a:lnTo>
                        <a:pt x="3" y="16"/>
                      </a:lnTo>
                      <a:lnTo>
                        <a:pt x="3" y="17"/>
                      </a:lnTo>
                      <a:lnTo>
                        <a:pt x="2" y="18"/>
                      </a:lnTo>
                      <a:lnTo>
                        <a:pt x="2" y="20"/>
                      </a:lnTo>
                      <a:lnTo>
                        <a:pt x="1" y="21"/>
                      </a:lnTo>
                      <a:lnTo>
                        <a:pt x="1" y="22"/>
                      </a:lnTo>
                      <a:lnTo>
                        <a:pt x="1" y="23"/>
                      </a:lnTo>
                      <a:lnTo>
                        <a:pt x="1" y="24"/>
                      </a:lnTo>
                      <a:lnTo>
                        <a:pt x="0" y="25"/>
                      </a:lnTo>
                      <a:lnTo>
                        <a:pt x="0" y="26"/>
                      </a:lnTo>
                      <a:lnTo>
                        <a:pt x="0" y="28"/>
                      </a:lnTo>
                      <a:lnTo>
                        <a:pt x="0" y="29"/>
                      </a:lnTo>
                      <a:lnTo>
                        <a:pt x="0" y="30"/>
                      </a:lnTo>
                      <a:lnTo>
                        <a:pt x="0" y="222"/>
                      </a:lnTo>
                      <a:lnTo>
                        <a:pt x="61" y="222"/>
                      </a:lnTo>
                      <a:lnTo>
                        <a:pt x="61" y="94"/>
                      </a:lnTo>
                      <a:lnTo>
                        <a:pt x="70" y="103"/>
                      </a:lnTo>
                      <a:lnTo>
                        <a:pt x="81" y="111"/>
                      </a:lnTo>
                      <a:lnTo>
                        <a:pt x="91" y="119"/>
                      </a:lnTo>
                      <a:lnTo>
                        <a:pt x="101" y="127"/>
                      </a:lnTo>
                      <a:lnTo>
                        <a:pt x="113" y="136"/>
                      </a:lnTo>
                      <a:lnTo>
                        <a:pt x="124" y="145"/>
                      </a:lnTo>
                      <a:lnTo>
                        <a:pt x="136" y="154"/>
                      </a:lnTo>
                      <a:lnTo>
                        <a:pt x="147" y="162"/>
                      </a:lnTo>
                      <a:lnTo>
                        <a:pt x="160" y="172"/>
                      </a:lnTo>
                      <a:lnTo>
                        <a:pt x="172" y="181"/>
                      </a:lnTo>
                      <a:lnTo>
                        <a:pt x="184" y="190"/>
                      </a:lnTo>
                      <a:lnTo>
                        <a:pt x="197" y="199"/>
                      </a:lnTo>
                      <a:lnTo>
                        <a:pt x="210" y="209"/>
                      </a:lnTo>
                      <a:lnTo>
                        <a:pt x="221" y="218"/>
                      </a:lnTo>
                      <a:lnTo>
                        <a:pt x="234" y="227"/>
                      </a:lnTo>
                      <a:lnTo>
                        <a:pt x="247" y="235"/>
                      </a:lnTo>
                      <a:lnTo>
                        <a:pt x="234" y="243"/>
                      </a:lnTo>
                      <a:lnTo>
                        <a:pt x="221" y="252"/>
                      </a:lnTo>
                      <a:lnTo>
                        <a:pt x="210" y="261"/>
                      </a:lnTo>
                      <a:lnTo>
                        <a:pt x="197" y="271"/>
                      </a:lnTo>
                      <a:lnTo>
                        <a:pt x="184" y="280"/>
                      </a:lnTo>
                      <a:lnTo>
                        <a:pt x="172" y="289"/>
                      </a:lnTo>
                      <a:lnTo>
                        <a:pt x="160" y="298"/>
                      </a:lnTo>
                      <a:lnTo>
                        <a:pt x="147" y="306"/>
                      </a:lnTo>
                      <a:lnTo>
                        <a:pt x="136" y="316"/>
                      </a:lnTo>
                      <a:lnTo>
                        <a:pt x="124" y="325"/>
                      </a:lnTo>
                      <a:lnTo>
                        <a:pt x="113" y="334"/>
                      </a:lnTo>
                      <a:lnTo>
                        <a:pt x="101" y="343"/>
                      </a:lnTo>
                      <a:lnTo>
                        <a:pt x="91" y="351"/>
                      </a:lnTo>
                      <a:lnTo>
                        <a:pt x="81" y="359"/>
                      </a:lnTo>
                      <a:lnTo>
                        <a:pt x="70" y="367"/>
                      </a:lnTo>
                      <a:lnTo>
                        <a:pt x="61" y="376"/>
                      </a:lnTo>
                      <a:lnTo>
                        <a:pt x="61" y="222"/>
                      </a:lnTo>
                      <a:lnTo>
                        <a:pt x="0" y="222"/>
                      </a:lnTo>
                      <a:lnTo>
                        <a:pt x="0" y="440"/>
                      </a:lnTo>
                      <a:lnTo>
                        <a:pt x="0" y="44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grpSp>
          <p:grpSp>
            <p:nvGrpSpPr>
              <p:cNvPr id="23597" name="Group 25"/>
              <p:cNvGrpSpPr>
                <a:grpSpLocks/>
              </p:cNvGrpSpPr>
              <p:nvPr/>
            </p:nvGrpSpPr>
            <p:grpSpPr bwMode="auto">
              <a:xfrm>
                <a:off x="4967" y="976"/>
                <a:ext cx="370" cy="271"/>
                <a:chOff x="2336" y="2296"/>
                <a:chExt cx="589" cy="454"/>
              </a:xfrm>
            </p:grpSpPr>
            <p:sp>
              <p:nvSpPr>
                <p:cNvPr id="23598" name="Rectangle 26"/>
                <p:cNvSpPr>
                  <a:spLocks noChangeArrowheads="1"/>
                </p:cNvSpPr>
                <p:nvPr/>
              </p:nvSpPr>
              <p:spPr bwMode="auto">
                <a:xfrm>
                  <a:off x="2337" y="2299"/>
                  <a:ext cx="453" cy="359"/>
                </a:xfrm>
                <a:prstGeom prst="rect">
                  <a:avLst/>
                </a:prstGeom>
                <a:solidFill>
                  <a:srgbClr val="EAEAEA"/>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599" name="Rectangle 27"/>
                <p:cNvSpPr>
                  <a:spLocks noChangeArrowheads="1"/>
                </p:cNvSpPr>
                <p:nvPr/>
              </p:nvSpPr>
              <p:spPr bwMode="auto">
                <a:xfrm>
                  <a:off x="2382" y="2341"/>
                  <a:ext cx="543" cy="405"/>
                </a:xfrm>
                <a:prstGeom prst="rect">
                  <a:avLst/>
                </a:prstGeom>
                <a:solidFill>
                  <a:srgbClr val="CCFFCC"/>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00" name="Rectangle 28"/>
                <p:cNvSpPr>
                  <a:spLocks noChangeArrowheads="1"/>
                </p:cNvSpPr>
                <p:nvPr/>
              </p:nvSpPr>
              <p:spPr bwMode="auto">
                <a:xfrm>
                  <a:off x="2427" y="2387"/>
                  <a:ext cx="453" cy="316"/>
                </a:xfrm>
                <a:prstGeom prst="rect">
                  <a:avLst/>
                </a:prstGeom>
                <a:solidFill>
                  <a:srgbClr val="C0C0C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01" name="Rectangle 29"/>
                <p:cNvSpPr>
                  <a:spLocks noChangeArrowheads="1"/>
                </p:cNvSpPr>
                <p:nvPr/>
              </p:nvSpPr>
              <p:spPr bwMode="auto">
                <a:xfrm>
                  <a:off x="2474" y="2432"/>
                  <a:ext cx="453" cy="318"/>
                </a:xfrm>
                <a:prstGeom prst="rect">
                  <a:avLst/>
                </a:prstGeom>
                <a:solidFill>
                  <a:srgbClr val="CCFFCC"/>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602" name="Freeform 30"/>
                <p:cNvSpPr>
                  <a:spLocks/>
                </p:cNvSpPr>
                <p:nvPr/>
              </p:nvSpPr>
              <p:spPr bwMode="auto">
                <a:xfrm>
                  <a:off x="2517" y="2478"/>
                  <a:ext cx="363" cy="253"/>
                </a:xfrm>
                <a:custGeom>
                  <a:avLst/>
                  <a:gdLst>
                    <a:gd name="T0" fmla="*/ 0 w 819"/>
                    <a:gd name="T1" fmla="*/ 1 h 470"/>
                    <a:gd name="T2" fmla="*/ 0 w 819"/>
                    <a:gd name="T3" fmla="*/ 1 h 470"/>
                    <a:gd name="T4" fmla="*/ 0 w 819"/>
                    <a:gd name="T5" fmla="*/ 1 h 470"/>
                    <a:gd name="T6" fmla="*/ 0 w 819"/>
                    <a:gd name="T7" fmla="*/ 1 h 470"/>
                    <a:gd name="T8" fmla="*/ 0 w 819"/>
                    <a:gd name="T9" fmla="*/ 1 h 470"/>
                    <a:gd name="T10" fmla="*/ 0 w 819"/>
                    <a:gd name="T11" fmla="*/ 1 h 470"/>
                    <a:gd name="T12" fmla="*/ 0 w 819"/>
                    <a:gd name="T13" fmla="*/ 1 h 470"/>
                    <a:gd name="T14" fmla="*/ 0 w 819"/>
                    <a:gd name="T15" fmla="*/ 1 h 470"/>
                    <a:gd name="T16" fmla="*/ 0 w 819"/>
                    <a:gd name="T17" fmla="*/ 1 h 470"/>
                    <a:gd name="T18" fmla="*/ 0 w 819"/>
                    <a:gd name="T19" fmla="*/ 1 h 470"/>
                    <a:gd name="T20" fmla="*/ 0 w 819"/>
                    <a:gd name="T21" fmla="*/ 1 h 470"/>
                    <a:gd name="T22" fmla="*/ 0 w 819"/>
                    <a:gd name="T23" fmla="*/ 1 h 470"/>
                    <a:gd name="T24" fmla="*/ 0 w 819"/>
                    <a:gd name="T25" fmla="*/ 1 h 470"/>
                    <a:gd name="T26" fmla="*/ 0 w 819"/>
                    <a:gd name="T27" fmla="*/ 1 h 470"/>
                    <a:gd name="T28" fmla="*/ 0 w 819"/>
                    <a:gd name="T29" fmla="*/ 1 h 470"/>
                    <a:gd name="T30" fmla="*/ 0 w 819"/>
                    <a:gd name="T31" fmla="*/ 1 h 470"/>
                    <a:gd name="T32" fmla="*/ 0 w 819"/>
                    <a:gd name="T33" fmla="*/ 1 h 470"/>
                    <a:gd name="T34" fmla="*/ 0 w 819"/>
                    <a:gd name="T35" fmla="*/ 1 h 470"/>
                    <a:gd name="T36" fmla="*/ 0 w 819"/>
                    <a:gd name="T37" fmla="*/ 1 h 470"/>
                    <a:gd name="T38" fmla="*/ 0 w 819"/>
                    <a:gd name="T39" fmla="*/ 1 h 470"/>
                    <a:gd name="T40" fmla="*/ 0 w 819"/>
                    <a:gd name="T41" fmla="*/ 1 h 470"/>
                    <a:gd name="T42" fmla="*/ 0 w 819"/>
                    <a:gd name="T43" fmla="*/ 1 h 470"/>
                    <a:gd name="T44" fmla="*/ 0 w 819"/>
                    <a:gd name="T45" fmla="*/ 1 h 470"/>
                    <a:gd name="T46" fmla="*/ 0 w 819"/>
                    <a:gd name="T47" fmla="*/ 1 h 470"/>
                    <a:gd name="T48" fmla="*/ 0 w 819"/>
                    <a:gd name="T49" fmla="*/ 1 h 470"/>
                    <a:gd name="T50" fmla="*/ 0 w 819"/>
                    <a:gd name="T51" fmla="*/ 1 h 470"/>
                    <a:gd name="T52" fmla="*/ 0 w 819"/>
                    <a:gd name="T53" fmla="*/ 1 h 470"/>
                    <a:gd name="T54" fmla="*/ 0 w 819"/>
                    <a:gd name="T55" fmla="*/ 1 h 470"/>
                    <a:gd name="T56" fmla="*/ 0 w 819"/>
                    <a:gd name="T57" fmla="*/ 1 h 470"/>
                    <a:gd name="T58" fmla="*/ 0 w 819"/>
                    <a:gd name="T59" fmla="*/ 1 h 470"/>
                    <a:gd name="T60" fmla="*/ 0 w 819"/>
                    <a:gd name="T61" fmla="*/ 1 h 470"/>
                    <a:gd name="T62" fmla="*/ 0 w 819"/>
                    <a:gd name="T63" fmla="*/ 1 h 470"/>
                    <a:gd name="T64" fmla="*/ 0 w 819"/>
                    <a:gd name="T65" fmla="*/ 1 h 470"/>
                    <a:gd name="T66" fmla="*/ 0 w 819"/>
                    <a:gd name="T67" fmla="*/ 1 h 470"/>
                    <a:gd name="T68" fmla="*/ 0 w 819"/>
                    <a:gd name="T69" fmla="*/ 1 h 470"/>
                    <a:gd name="T70" fmla="*/ 0 w 819"/>
                    <a:gd name="T71" fmla="*/ 1 h 470"/>
                    <a:gd name="T72" fmla="*/ 0 w 819"/>
                    <a:gd name="T73" fmla="*/ 0 h 470"/>
                    <a:gd name="T74" fmla="*/ 0 w 819"/>
                    <a:gd name="T75" fmla="*/ 0 h 470"/>
                    <a:gd name="T76" fmla="*/ 0 w 819"/>
                    <a:gd name="T77" fmla="*/ 1 h 470"/>
                    <a:gd name="T78" fmla="*/ 0 w 819"/>
                    <a:gd name="T79" fmla="*/ 1 h 470"/>
                    <a:gd name="T80" fmla="*/ 0 w 819"/>
                    <a:gd name="T81" fmla="*/ 1 h 470"/>
                    <a:gd name="T82" fmla="*/ 0 w 819"/>
                    <a:gd name="T83" fmla="*/ 1 h 470"/>
                    <a:gd name="T84" fmla="*/ 0 w 819"/>
                    <a:gd name="T85" fmla="*/ 1 h 470"/>
                    <a:gd name="T86" fmla="*/ 0 w 819"/>
                    <a:gd name="T87" fmla="*/ 1 h 470"/>
                    <a:gd name="T88" fmla="*/ 0 w 819"/>
                    <a:gd name="T89" fmla="*/ 1 h 470"/>
                    <a:gd name="T90" fmla="*/ 0 w 819"/>
                    <a:gd name="T91" fmla="*/ 1 h 470"/>
                    <a:gd name="T92" fmla="*/ 0 w 819"/>
                    <a:gd name="T93" fmla="*/ 0 h 470"/>
                    <a:gd name="T94" fmla="*/ 0 w 819"/>
                    <a:gd name="T95" fmla="*/ 0 h 470"/>
                    <a:gd name="T96" fmla="*/ 0 w 819"/>
                    <a:gd name="T97" fmla="*/ 1 h 470"/>
                    <a:gd name="T98" fmla="*/ 0 w 819"/>
                    <a:gd name="T99" fmla="*/ 1 h 470"/>
                    <a:gd name="T100" fmla="*/ 0 w 819"/>
                    <a:gd name="T101" fmla="*/ 1 h 470"/>
                    <a:gd name="T102" fmla="*/ 0 w 819"/>
                    <a:gd name="T103" fmla="*/ 1 h 470"/>
                    <a:gd name="T104" fmla="*/ 0 w 819"/>
                    <a:gd name="T105" fmla="*/ 1 h 470"/>
                    <a:gd name="T106" fmla="*/ 0 w 819"/>
                    <a:gd name="T107" fmla="*/ 1 h 470"/>
                    <a:gd name="T108" fmla="*/ 0 w 819"/>
                    <a:gd name="T109" fmla="*/ 1 h 470"/>
                    <a:gd name="T110" fmla="*/ 0 w 819"/>
                    <a:gd name="T111" fmla="*/ 1 h 470"/>
                    <a:gd name="T112" fmla="*/ 0 w 819"/>
                    <a:gd name="T113" fmla="*/ 1 h 470"/>
                    <a:gd name="T114" fmla="*/ 0 w 819"/>
                    <a:gd name="T115" fmla="*/ 1 h 470"/>
                    <a:gd name="T116" fmla="*/ 0 w 819"/>
                    <a:gd name="T117" fmla="*/ 1 h 470"/>
                    <a:gd name="T118" fmla="*/ 0 w 819"/>
                    <a:gd name="T119" fmla="*/ 1 h 470"/>
                    <a:gd name="T120" fmla="*/ 0 w 819"/>
                    <a:gd name="T121" fmla="*/ 1 h 47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819"/>
                    <a:gd name="T184" fmla="*/ 0 h 470"/>
                    <a:gd name="T185" fmla="*/ 819 w 819"/>
                    <a:gd name="T186" fmla="*/ 470 h 47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819" h="470">
                      <a:moveTo>
                        <a:pt x="0" y="441"/>
                      </a:moveTo>
                      <a:lnTo>
                        <a:pt x="0" y="442"/>
                      </a:lnTo>
                      <a:lnTo>
                        <a:pt x="0" y="444"/>
                      </a:lnTo>
                      <a:lnTo>
                        <a:pt x="0" y="445"/>
                      </a:lnTo>
                      <a:lnTo>
                        <a:pt x="1" y="445"/>
                      </a:lnTo>
                      <a:lnTo>
                        <a:pt x="1" y="446"/>
                      </a:lnTo>
                      <a:lnTo>
                        <a:pt x="1" y="447"/>
                      </a:lnTo>
                      <a:lnTo>
                        <a:pt x="1" y="448"/>
                      </a:lnTo>
                      <a:lnTo>
                        <a:pt x="1" y="449"/>
                      </a:lnTo>
                      <a:lnTo>
                        <a:pt x="2" y="449"/>
                      </a:lnTo>
                      <a:lnTo>
                        <a:pt x="2" y="450"/>
                      </a:lnTo>
                      <a:lnTo>
                        <a:pt x="2" y="452"/>
                      </a:lnTo>
                      <a:lnTo>
                        <a:pt x="3" y="453"/>
                      </a:lnTo>
                      <a:lnTo>
                        <a:pt x="3" y="454"/>
                      </a:lnTo>
                      <a:lnTo>
                        <a:pt x="5" y="455"/>
                      </a:lnTo>
                      <a:lnTo>
                        <a:pt x="5" y="456"/>
                      </a:lnTo>
                      <a:lnTo>
                        <a:pt x="6" y="456"/>
                      </a:lnTo>
                      <a:lnTo>
                        <a:pt x="6" y="457"/>
                      </a:lnTo>
                      <a:lnTo>
                        <a:pt x="7" y="458"/>
                      </a:lnTo>
                      <a:lnTo>
                        <a:pt x="7" y="460"/>
                      </a:lnTo>
                      <a:lnTo>
                        <a:pt x="8" y="460"/>
                      </a:lnTo>
                      <a:lnTo>
                        <a:pt x="8" y="461"/>
                      </a:lnTo>
                      <a:lnTo>
                        <a:pt x="9" y="461"/>
                      </a:lnTo>
                      <a:lnTo>
                        <a:pt x="9" y="462"/>
                      </a:lnTo>
                      <a:lnTo>
                        <a:pt x="10" y="462"/>
                      </a:lnTo>
                      <a:lnTo>
                        <a:pt x="10" y="463"/>
                      </a:lnTo>
                      <a:lnTo>
                        <a:pt x="12" y="463"/>
                      </a:lnTo>
                      <a:lnTo>
                        <a:pt x="13" y="464"/>
                      </a:lnTo>
                      <a:lnTo>
                        <a:pt x="14" y="464"/>
                      </a:lnTo>
                      <a:lnTo>
                        <a:pt x="14" y="465"/>
                      </a:lnTo>
                      <a:lnTo>
                        <a:pt x="15" y="465"/>
                      </a:lnTo>
                      <a:lnTo>
                        <a:pt x="16" y="467"/>
                      </a:lnTo>
                      <a:lnTo>
                        <a:pt x="17" y="467"/>
                      </a:lnTo>
                      <a:lnTo>
                        <a:pt x="18" y="468"/>
                      </a:lnTo>
                      <a:lnTo>
                        <a:pt x="20" y="468"/>
                      </a:lnTo>
                      <a:lnTo>
                        <a:pt x="21" y="469"/>
                      </a:lnTo>
                      <a:lnTo>
                        <a:pt x="22" y="469"/>
                      </a:lnTo>
                      <a:lnTo>
                        <a:pt x="23" y="469"/>
                      </a:lnTo>
                      <a:lnTo>
                        <a:pt x="24" y="469"/>
                      </a:lnTo>
                      <a:lnTo>
                        <a:pt x="25" y="469"/>
                      </a:lnTo>
                      <a:lnTo>
                        <a:pt x="27" y="470"/>
                      </a:lnTo>
                      <a:lnTo>
                        <a:pt x="28" y="470"/>
                      </a:lnTo>
                      <a:lnTo>
                        <a:pt x="29" y="470"/>
                      </a:lnTo>
                      <a:lnTo>
                        <a:pt x="30" y="470"/>
                      </a:lnTo>
                      <a:lnTo>
                        <a:pt x="423" y="470"/>
                      </a:lnTo>
                      <a:lnTo>
                        <a:pt x="423" y="409"/>
                      </a:lnTo>
                      <a:lnTo>
                        <a:pt x="116" y="409"/>
                      </a:lnTo>
                      <a:lnTo>
                        <a:pt x="129" y="400"/>
                      </a:lnTo>
                      <a:lnTo>
                        <a:pt x="141" y="389"/>
                      </a:lnTo>
                      <a:lnTo>
                        <a:pt x="153" y="380"/>
                      </a:lnTo>
                      <a:lnTo>
                        <a:pt x="165" y="371"/>
                      </a:lnTo>
                      <a:lnTo>
                        <a:pt x="177" y="362"/>
                      </a:lnTo>
                      <a:lnTo>
                        <a:pt x="189" y="353"/>
                      </a:lnTo>
                      <a:lnTo>
                        <a:pt x="202" y="343"/>
                      </a:lnTo>
                      <a:lnTo>
                        <a:pt x="213" y="334"/>
                      </a:lnTo>
                      <a:lnTo>
                        <a:pt x="225" y="326"/>
                      </a:lnTo>
                      <a:lnTo>
                        <a:pt x="236" y="317"/>
                      </a:lnTo>
                      <a:lnTo>
                        <a:pt x="248" y="309"/>
                      </a:lnTo>
                      <a:lnTo>
                        <a:pt x="259" y="301"/>
                      </a:lnTo>
                      <a:lnTo>
                        <a:pt x="270" y="293"/>
                      </a:lnTo>
                      <a:lnTo>
                        <a:pt x="281" y="285"/>
                      </a:lnTo>
                      <a:lnTo>
                        <a:pt x="291" y="278"/>
                      </a:lnTo>
                      <a:lnTo>
                        <a:pt x="302" y="271"/>
                      </a:lnTo>
                      <a:lnTo>
                        <a:pt x="319" y="281"/>
                      </a:lnTo>
                      <a:lnTo>
                        <a:pt x="335" y="290"/>
                      </a:lnTo>
                      <a:lnTo>
                        <a:pt x="350" y="298"/>
                      </a:lnTo>
                      <a:lnTo>
                        <a:pt x="364" y="305"/>
                      </a:lnTo>
                      <a:lnTo>
                        <a:pt x="378" y="311"/>
                      </a:lnTo>
                      <a:lnTo>
                        <a:pt x="389" y="314"/>
                      </a:lnTo>
                      <a:lnTo>
                        <a:pt x="400" y="317"/>
                      </a:lnTo>
                      <a:lnTo>
                        <a:pt x="409" y="318"/>
                      </a:lnTo>
                      <a:lnTo>
                        <a:pt x="418" y="317"/>
                      </a:lnTo>
                      <a:lnTo>
                        <a:pt x="429" y="314"/>
                      </a:lnTo>
                      <a:lnTo>
                        <a:pt x="441" y="311"/>
                      </a:lnTo>
                      <a:lnTo>
                        <a:pt x="454" y="305"/>
                      </a:lnTo>
                      <a:lnTo>
                        <a:pt x="469" y="298"/>
                      </a:lnTo>
                      <a:lnTo>
                        <a:pt x="484" y="290"/>
                      </a:lnTo>
                      <a:lnTo>
                        <a:pt x="500" y="281"/>
                      </a:lnTo>
                      <a:lnTo>
                        <a:pt x="516" y="271"/>
                      </a:lnTo>
                      <a:lnTo>
                        <a:pt x="527" y="278"/>
                      </a:lnTo>
                      <a:lnTo>
                        <a:pt x="537" y="285"/>
                      </a:lnTo>
                      <a:lnTo>
                        <a:pt x="548" y="293"/>
                      </a:lnTo>
                      <a:lnTo>
                        <a:pt x="559" y="301"/>
                      </a:lnTo>
                      <a:lnTo>
                        <a:pt x="570" y="309"/>
                      </a:lnTo>
                      <a:lnTo>
                        <a:pt x="582" y="317"/>
                      </a:lnTo>
                      <a:lnTo>
                        <a:pt x="593" y="326"/>
                      </a:lnTo>
                      <a:lnTo>
                        <a:pt x="605" y="334"/>
                      </a:lnTo>
                      <a:lnTo>
                        <a:pt x="618" y="343"/>
                      </a:lnTo>
                      <a:lnTo>
                        <a:pt x="629" y="353"/>
                      </a:lnTo>
                      <a:lnTo>
                        <a:pt x="642" y="362"/>
                      </a:lnTo>
                      <a:lnTo>
                        <a:pt x="653" y="371"/>
                      </a:lnTo>
                      <a:lnTo>
                        <a:pt x="666" y="380"/>
                      </a:lnTo>
                      <a:lnTo>
                        <a:pt x="679" y="389"/>
                      </a:lnTo>
                      <a:lnTo>
                        <a:pt x="690" y="400"/>
                      </a:lnTo>
                      <a:lnTo>
                        <a:pt x="703" y="409"/>
                      </a:lnTo>
                      <a:lnTo>
                        <a:pt x="423" y="409"/>
                      </a:lnTo>
                      <a:lnTo>
                        <a:pt x="423" y="470"/>
                      </a:lnTo>
                      <a:lnTo>
                        <a:pt x="788" y="470"/>
                      </a:lnTo>
                      <a:lnTo>
                        <a:pt x="789" y="470"/>
                      </a:lnTo>
                      <a:lnTo>
                        <a:pt x="790" y="470"/>
                      </a:lnTo>
                      <a:lnTo>
                        <a:pt x="791" y="470"/>
                      </a:lnTo>
                      <a:lnTo>
                        <a:pt x="793" y="469"/>
                      </a:lnTo>
                      <a:lnTo>
                        <a:pt x="794" y="469"/>
                      </a:lnTo>
                      <a:lnTo>
                        <a:pt x="795" y="469"/>
                      </a:lnTo>
                      <a:lnTo>
                        <a:pt x="796" y="469"/>
                      </a:lnTo>
                      <a:lnTo>
                        <a:pt x="797" y="469"/>
                      </a:lnTo>
                      <a:lnTo>
                        <a:pt x="798" y="468"/>
                      </a:lnTo>
                      <a:lnTo>
                        <a:pt x="800" y="468"/>
                      </a:lnTo>
                      <a:lnTo>
                        <a:pt x="801" y="468"/>
                      </a:lnTo>
                      <a:lnTo>
                        <a:pt x="801" y="467"/>
                      </a:lnTo>
                      <a:lnTo>
                        <a:pt x="802" y="467"/>
                      </a:lnTo>
                      <a:lnTo>
                        <a:pt x="803" y="467"/>
                      </a:lnTo>
                      <a:lnTo>
                        <a:pt x="804" y="465"/>
                      </a:lnTo>
                      <a:lnTo>
                        <a:pt x="805" y="464"/>
                      </a:lnTo>
                      <a:lnTo>
                        <a:pt x="806" y="464"/>
                      </a:lnTo>
                      <a:lnTo>
                        <a:pt x="806" y="463"/>
                      </a:lnTo>
                      <a:lnTo>
                        <a:pt x="808" y="463"/>
                      </a:lnTo>
                      <a:lnTo>
                        <a:pt x="809" y="462"/>
                      </a:lnTo>
                      <a:lnTo>
                        <a:pt x="810" y="461"/>
                      </a:lnTo>
                      <a:lnTo>
                        <a:pt x="811" y="460"/>
                      </a:lnTo>
                      <a:lnTo>
                        <a:pt x="811" y="458"/>
                      </a:lnTo>
                      <a:lnTo>
                        <a:pt x="812" y="458"/>
                      </a:lnTo>
                      <a:lnTo>
                        <a:pt x="812" y="457"/>
                      </a:lnTo>
                      <a:lnTo>
                        <a:pt x="813" y="457"/>
                      </a:lnTo>
                      <a:lnTo>
                        <a:pt x="813" y="456"/>
                      </a:lnTo>
                      <a:lnTo>
                        <a:pt x="815" y="455"/>
                      </a:lnTo>
                      <a:lnTo>
                        <a:pt x="815" y="454"/>
                      </a:lnTo>
                      <a:lnTo>
                        <a:pt x="816" y="454"/>
                      </a:lnTo>
                      <a:lnTo>
                        <a:pt x="816" y="453"/>
                      </a:lnTo>
                      <a:lnTo>
                        <a:pt x="816" y="452"/>
                      </a:lnTo>
                      <a:lnTo>
                        <a:pt x="817" y="450"/>
                      </a:lnTo>
                      <a:lnTo>
                        <a:pt x="817" y="449"/>
                      </a:lnTo>
                      <a:lnTo>
                        <a:pt x="817" y="448"/>
                      </a:lnTo>
                      <a:lnTo>
                        <a:pt x="818" y="447"/>
                      </a:lnTo>
                      <a:lnTo>
                        <a:pt x="818" y="446"/>
                      </a:lnTo>
                      <a:lnTo>
                        <a:pt x="818" y="445"/>
                      </a:lnTo>
                      <a:lnTo>
                        <a:pt x="818" y="444"/>
                      </a:lnTo>
                      <a:lnTo>
                        <a:pt x="818" y="442"/>
                      </a:lnTo>
                      <a:lnTo>
                        <a:pt x="818" y="441"/>
                      </a:lnTo>
                      <a:lnTo>
                        <a:pt x="818" y="440"/>
                      </a:lnTo>
                      <a:lnTo>
                        <a:pt x="819" y="440"/>
                      </a:lnTo>
                      <a:lnTo>
                        <a:pt x="819" y="229"/>
                      </a:lnTo>
                      <a:lnTo>
                        <a:pt x="758" y="229"/>
                      </a:lnTo>
                      <a:lnTo>
                        <a:pt x="758" y="376"/>
                      </a:lnTo>
                      <a:lnTo>
                        <a:pt x="749" y="367"/>
                      </a:lnTo>
                      <a:lnTo>
                        <a:pt x="738" y="359"/>
                      </a:lnTo>
                      <a:lnTo>
                        <a:pt x="728" y="351"/>
                      </a:lnTo>
                      <a:lnTo>
                        <a:pt x="717" y="343"/>
                      </a:lnTo>
                      <a:lnTo>
                        <a:pt x="705" y="334"/>
                      </a:lnTo>
                      <a:lnTo>
                        <a:pt x="694" y="325"/>
                      </a:lnTo>
                      <a:lnTo>
                        <a:pt x="682" y="316"/>
                      </a:lnTo>
                      <a:lnTo>
                        <a:pt x="671" y="306"/>
                      </a:lnTo>
                      <a:lnTo>
                        <a:pt x="658" y="298"/>
                      </a:lnTo>
                      <a:lnTo>
                        <a:pt x="646" y="289"/>
                      </a:lnTo>
                      <a:lnTo>
                        <a:pt x="634" y="280"/>
                      </a:lnTo>
                      <a:lnTo>
                        <a:pt x="621" y="271"/>
                      </a:lnTo>
                      <a:lnTo>
                        <a:pt x="608" y="261"/>
                      </a:lnTo>
                      <a:lnTo>
                        <a:pt x="597" y="252"/>
                      </a:lnTo>
                      <a:lnTo>
                        <a:pt x="584" y="243"/>
                      </a:lnTo>
                      <a:lnTo>
                        <a:pt x="571" y="235"/>
                      </a:lnTo>
                      <a:lnTo>
                        <a:pt x="584" y="227"/>
                      </a:lnTo>
                      <a:lnTo>
                        <a:pt x="597" y="218"/>
                      </a:lnTo>
                      <a:lnTo>
                        <a:pt x="608" y="209"/>
                      </a:lnTo>
                      <a:lnTo>
                        <a:pt x="621" y="199"/>
                      </a:lnTo>
                      <a:lnTo>
                        <a:pt x="634" y="190"/>
                      </a:lnTo>
                      <a:lnTo>
                        <a:pt x="646" y="181"/>
                      </a:lnTo>
                      <a:lnTo>
                        <a:pt x="658" y="172"/>
                      </a:lnTo>
                      <a:lnTo>
                        <a:pt x="671" y="162"/>
                      </a:lnTo>
                      <a:lnTo>
                        <a:pt x="682" y="154"/>
                      </a:lnTo>
                      <a:lnTo>
                        <a:pt x="694" y="145"/>
                      </a:lnTo>
                      <a:lnTo>
                        <a:pt x="705" y="136"/>
                      </a:lnTo>
                      <a:lnTo>
                        <a:pt x="717" y="127"/>
                      </a:lnTo>
                      <a:lnTo>
                        <a:pt x="728" y="119"/>
                      </a:lnTo>
                      <a:lnTo>
                        <a:pt x="738" y="111"/>
                      </a:lnTo>
                      <a:lnTo>
                        <a:pt x="749" y="103"/>
                      </a:lnTo>
                      <a:lnTo>
                        <a:pt x="758" y="94"/>
                      </a:lnTo>
                      <a:lnTo>
                        <a:pt x="758" y="229"/>
                      </a:lnTo>
                      <a:lnTo>
                        <a:pt x="819" y="229"/>
                      </a:lnTo>
                      <a:lnTo>
                        <a:pt x="819" y="30"/>
                      </a:lnTo>
                      <a:lnTo>
                        <a:pt x="819" y="29"/>
                      </a:lnTo>
                      <a:lnTo>
                        <a:pt x="818" y="29"/>
                      </a:lnTo>
                      <a:lnTo>
                        <a:pt x="818" y="28"/>
                      </a:lnTo>
                      <a:lnTo>
                        <a:pt x="818" y="26"/>
                      </a:lnTo>
                      <a:lnTo>
                        <a:pt x="818" y="25"/>
                      </a:lnTo>
                      <a:lnTo>
                        <a:pt x="818" y="24"/>
                      </a:lnTo>
                      <a:lnTo>
                        <a:pt x="818" y="23"/>
                      </a:lnTo>
                      <a:lnTo>
                        <a:pt x="817" y="22"/>
                      </a:lnTo>
                      <a:lnTo>
                        <a:pt x="817" y="21"/>
                      </a:lnTo>
                      <a:lnTo>
                        <a:pt x="817" y="20"/>
                      </a:lnTo>
                      <a:lnTo>
                        <a:pt x="817" y="18"/>
                      </a:lnTo>
                      <a:lnTo>
                        <a:pt x="816" y="18"/>
                      </a:lnTo>
                      <a:lnTo>
                        <a:pt x="816" y="17"/>
                      </a:lnTo>
                      <a:lnTo>
                        <a:pt x="816" y="16"/>
                      </a:lnTo>
                      <a:lnTo>
                        <a:pt x="815" y="16"/>
                      </a:lnTo>
                      <a:lnTo>
                        <a:pt x="815" y="15"/>
                      </a:lnTo>
                      <a:lnTo>
                        <a:pt x="813" y="14"/>
                      </a:lnTo>
                      <a:lnTo>
                        <a:pt x="813" y="13"/>
                      </a:lnTo>
                      <a:lnTo>
                        <a:pt x="812" y="12"/>
                      </a:lnTo>
                      <a:lnTo>
                        <a:pt x="811" y="10"/>
                      </a:lnTo>
                      <a:lnTo>
                        <a:pt x="810" y="9"/>
                      </a:lnTo>
                      <a:lnTo>
                        <a:pt x="809" y="8"/>
                      </a:lnTo>
                      <a:lnTo>
                        <a:pt x="808" y="7"/>
                      </a:lnTo>
                      <a:lnTo>
                        <a:pt x="806" y="7"/>
                      </a:lnTo>
                      <a:lnTo>
                        <a:pt x="806" y="6"/>
                      </a:lnTo>
                      <a:lnTo>
                        <a:pt x="805" y="6"/>
                      </a:lnTo>
                      <a:lnTo>
                        <a:pt x="805" y="5"/>
                      </a:lnTo>
                      <a:lnTo>
                        <a:pt x="804" y="5"/>
                      </a:lnTo>
                      <a:lnTo>
                        <a:pt x="803" y="3"/>
                      </a:lnTo>
                      <a:lnTo>
                        <a:pt x="802" y="3"/>
                      </a:lnTo>
                      <a:lnTo>
                        <a:pt x="801" y="3"/>
                      </a:lnTo>
                      <a:lnTo>
                        <a:pt x="801" y="2"/>
                      </a:lnTo>
                      <a:lnTo>
                        <a:pt x="800" y="2"/>
                      </a:lnTo>
                      <a:lnTo>
                        <a:pt x="798" y="2"/>
                      </a:lnTo>
                      <a:lnTo>
                        <a:pt x="797" y="1"/>
                      </a:lnTo>
                      <a:lnTo>
                        <a:pt x="796" y="1"/>
                      </a:lnTo>
                      <a:lnTo>
                        <a:pt x="795" y="1"/>
                      </a:lnTo>
                      <a:lnTo>
                        <a:pt x="795" y="0"/>
                      </a:lnTo>
                      <a:lnTo>
                        <a:pt x="794" y="0"/>
                      </a:lnTo>
                      <a:lnTo>
                        <a:pt x="793" y="0"/>
                      </a:lnTo>
                      <a:lnTo>
                        <a:pt x="791" y="0"/>
                      </a:lnTo>
                      <a:lnTo>
                        <a:pt x="790" y="0"/>
                      </a:lnTo>
                      <a:lnTo>
                        <a:pt x="789" y="0"/>
                      </a:lnTo>
                      <a:lnTo>
                        <a:pt x="788" y="0"/>
                      </a:lnTo>
                      <a:lnTo>
                        <a:pt x="385" y="0"/>
                      </a:lnTo>
                      <a:lnTo>
                        <a:pt x="385" y="61"/>
                      </a:lnTo>
                      <a:lnTo>
                        <a:pt x="703" y="61"/>
                      </a:lnTo>
                      <a:lnTo>
                        <a:pt x="690" y="70"/>
                      </a:lnTo>
                      <a:lnTo>
                        <a:pt x="679" y="81"/>
                      </a:lnTo>
                      <a:lnTo>
                        <a:pt x="666" y="90"/>
                      </a:lnTo>
                      <a:lnTo>
                        <a:pt x="653" y="99"/>
                      </a:lnTo>
                      <a:lnTo>
                        <a:pt x="642" y="108"/>
                      </a:lnTo>
                      <a:lnTo>
                        <a:pt x="629" y="117"/>
                      </a:lnTo>
                      <a:lnTo>
                        <a:pt x="618" y="127"/>
                      </a:lnTo>
                      <a:lnTo>
                        <a:pt x="605" y="136"/>
                      </a:lnTo>
                      <a:lnTo>
                        <a:pt x="593" y="144"/>
                      </a:lnTo>
                      <a:lnTo>
                        <a:pt x="582" y="153"/>
                      </a:lnTo>
                      <a:lnTo>
                        <a:pt x="570" y="161"/>
                      </a:lnTo>
                      <a:lnTo>
                        <a:pt x="559" y="169"/>
                      </a:lnTo>
                      <a:lnTo>
                        <a:pt x="548" y="177"/>
                      </a:lnTo>
                      <a:lnTo>
                        <a:pt x="537" y="185"/>
                      </a:lnTo>
                      <a:lnTo>
                        <a:pt x="527" y="192"/>
                      </a:lnTo>
                      <a:lnTo>
                        <a:pt x="516" y="199"/>
                      </a:lnTo>
                      <a:lnTo>
                        <a:pt x="508" y="204"/>
                      </a:lnTo>
                      <a:lnTo>
                        <a:pt x="501" y="210"/>
                      </a:lnTo>
                      <a:lnTo>
                        <a:pt x="494" y="214"/>
                      </a:lnTo>
                      <a:lnTo>
                        <a:pt x="487" y="219"/>
                      </a:lnTo>
                      <a:lnTo>
                        <a:pt x="480" y="223"/>
                      </a:lnTo>
                      <a:lnTo>
                        <a:pt x="474" y="227"/>
                      </a:lnTo>
                      <a:lnTo>
                        <a:pt x="467" y="232"/>
                      </a:lnTo>
                      <a:lnTo>
                        <a:pt x="461" y="235"/>
                      </a:lnTo>
                      <a:lnTo>
                        <a:pt x="452" y="240"/>
                      </a:lnTo>
                      <a:lnTo>
                        <a:pt x="444" y="244"/>
                      </a:lnTo>
                      <a:lnTo>
                        <a:pt x="437" y="248"/>
                      </a:lnTo>
                      <a:lnTo>
                        <a:pt x="430" y="251"/>
                      </a:lnTo>
                      <a:lnTo>
                        <a:pt x="423" y="253"/>
                      </a:lnTo>
                      <a:lnTo>
                        <a:pt x="417" y="256"/>
                      </a:lnTo>
                      <a:lnTo>
                        <a:pt x="412" y="257"/>
                      </a:lnTo>
                      <a:lnTo>
                        <a:pt x="409" y="258"/>
                      </a:lnTo>
                      <a:lnTo>
                        <a:pt x="406" y="257"/>
                      </a:lnTo>
                      <a:lnTo>
                        <a:pt x="401" y="256"/>
                      </a:lnTo>
                      <a:lnTo>
                        <a:pt x="395" y="253"/>
                      </a:lnTo>
                      <a:lnTo>
                        <a:pt x="389" y="251"/>
                      </a:lnTo>
                      <a:lnTo>
                        <a:pt x="383" y="248"/>
                      </a:lnTo>
                      <a:lnTo>
                        <a:pt x="376" y="244"/>
                      </a:lnTo>
                      <a:lnTo>
                        <a:pt x="368" y="240"/>
                      </a:lnTo>
                      <a:lnTo>
                        <a:pt x="358" y="235"/>
                      </a:lnTo>
                      <a:lnTo>
                        <a:pt x="353" y="232"/>
                      </a:lnTo>
                      <a:lnTo>
                        <a:pt x="346" y="227"/>
                      </a:lnTo>
                      <a:lnTo>
                        <a:pt x="339" y="223"/>
                      </a:lnTo>
                      <a:lnTo>
                        <a:pt x="332" y="219"/>
                      </a:lnTo>
                      <a:lnTo>
                        <a:pt x="325" y="214"/>
                      </a:lnTo>
                      <a:lnTo>
                        <a:pt x="317" y="210"/>
                      </a:lnTo>
                      <a:lnTo>
                        <a:pt x="310" y="204"/>
                      </a:lnTo>
                      <a:lnTo>
                        <a:pt x="302" y="199"/>
                      </a:lnTo>
                      <a:lnTo>
                        <a:pt x="291" y="192"/>
                      </a:lnTo>
                      <a:lnTo>
                        <a:pt x="281" y="185"/>
                      </a:lnTo>
                      <a:lnTo>
                        <a:pt x="270" y="177"/>
                      </a:lnTo>
                      <a:lnTo>
                        <a:pt x="259" y="169"/>
                      </a:lnTo>
                      <a:lnTo>
                        <a:pt x="248" y="161"/>
                      </a:lnTo>
                      <a:lnTo>
                        <a:pt x="236" y="153"/>
                      </a:lnTo>
                      <a:lnTo>
                        <a:pt x="225" y="144"/>
                      </a:lnTo>
                      <a:lnTo>
                        <a:pt x="213" y="136"/>
                      </a:lnTo>
                      <a:lnTo>
                        <a:pt x="202" y="127"/>
                      </a:lnTo>
                      <a:lnTo>
                        <a:pt x="189" y="117"/>
                      </a:lnTo>
                      <a:lnTo>
                        <a:pt x="177" y="108"/>
                      </a:lnTo>
                      <a:lnTo>
                        <a:pt x="165" y="99"/>
                      </a:lnTo>
                      <a:lnTo>
                        <a:pt x="153" y="90"/>
                      </a:lnTo>
                      <a:lnTo>
                        <a:pt x="141" y="81"/>
                      </a:lnTo>
                      <a:lnTo>
                        <a:pt x="129" y="70"/>
                      </a:lnTo>
                      <a:lnTo>
                        <a:pt x="116" y="61"/>
                      </a:lnTo>
                      <a:lnTo>
                        <a:pt x="385" y="61"/>
                      </a:lnTo>
                      <a:lnTo>
                        <a:pt x="385" y="0"/>
                      </a:lnTo>
                      <a:lnTo>
                        <a:pt x="30" y="0"/>
                      </a:lnTo>
                      <a:lnTo>
                        <a:pt x="29" y="0"/>
                      </a:lnTo>
                      <a:lnTo>
                        <a:pt x="28" y="0"/>
                      </a:lnTo>
                      <a:lnTo>
                        <a:pt x="27" y="0"/>
                      </a:lnTo>
                      <a:lnTo>
                        <a:pt x="25" y="0"/>
                      </a:lnTo>
                      <a:lnTo>
                        <a:pt x="24" y="0"/>
                      </a:lnTo>
                      <a:lnTo>
                        <a:pt x="24" y="1"/>
                      </a:lnTo>
                      <a:lnTo>
                        <a:pt x="23" y="1"/>
                      </a:lnTo>
                      <a:lnTo>
                        <a:pt x="22" y="1"/>
                      </a:lnTo>
                      <a:lnTo>
                        <a:pt x="21" y="1"/>
                      </a:lnTo>
                      <a:lnTo>
                        <a:pt x="20" y="2"/>
                      </a:lnTo>
                      <a:lnTo>
                        <a:pt x="18" y="2"/>
                      </a:lnTo>
                      <a:lnTo>
                        <a:pt x="17" y="3"/>
                      </a:lnTo>
                      <a:lnTo>
                        <a:pt x="16" y="3"/>
                      </a:lnTo>
                      <a:lnTo>
                        <a:pt x="15" y="5"/>
                      </a:lnTo>
                      <a:lnTo>
                        <a:pt x="14" y="5"/>
                      </a:lnTo>
                      <a:lnTo>
                        <a:pt x="13" y="6"/>
                      </a:lnTo>
                      <a:lnTo>
                        <a:pt x="12" y="7"/>
                      </a:lnTo>
                      <a:lnTo>
                        <a:pt x="10" y="7"/>
                      </a:lnTo>
                      <a:lnTo>
                        <a:pt x="10" y="8"/>
                      </a:lnTo>
                      <a:lnTo>
                        <a:pt x="9" y="8"/>
                      </a:lnTo>
                      <a:lnTo>
                        <a:pt x="9" y="9"/>
                      </a:lnTo>
                      <a:lnTo>
                        <a:pt x="8" y="10"/>
                      </a:lnTo>
                      <a:lnTo>
                        <a:pt x="7" y="10"/>
                      </a:lnTo>
                      <a:lnTo>
                        <a:pt x="7" y="12"/>
                      </a:lnTo>
                      <a:lnTo>
                        <a:pt x="6" y="12"/>
                      </a:lnTo>
                      <a:lnTo>
                        <a:pt x="6" y="13"/>
                      </a:lnTo>
                      <a:lnTo>
                        <a:pt x="5" y="14"/>
                      </a:lnTo>
                      <a:lnTo>
                        <a:pt x="5" y="15"/>
                      </a:lnTo>
                      <a:lnTo>
                        <a:pt x="3" y="16"/>
                      </a:lnTo>
                      <a:lnTo>
                        <a:pt x="3" y="17"/>
                      </a:lnTo>
                      <a:lnTo>
                        <a:pt x="2" y="18"/>
                      </a:lnTo>
                      <a:lnTo>
                        <a:pt x="2" y="20"/>
                      </a:lnTo>
                      <a:lnTo>
                        <a:pt x="1" y="21"/>
                      </a:lnTo>
                      <a:lnTo>
                        <a:pt x="1" y="22"/>
                      </a:lnTo>
                      <a:lnTo>
                        <a:pt x="1" y="23"/>
                      </a:lnTo>
                      <a:lnTo>
                        <a:pt x="1" y="24"/>
                      </a:lnTo>
                      <a:lnTo>
                        <a:pt x="0" y="25"/>
                      </a:lnTo>
                      <a:lnTo>
                        <a:pt x="0" y="26"/>
                      </a:lnTo>
                      <a:lnTo>
                        <a:pt x="0" y="28"/>
                      </a:lnTo>
                      <a:lnTo>
                        <a:pt x="0" y="29"/>
                      </a:lnTo>
                      <a:lnTo>
                        <a:pt x="0" y="30"/>
                      </a:lnTo>
                      <a:lnTo>
                        <a:pt x="0" y="222"/>
                      </a:lnTo>
                      <a:lnTo>
                        <a:pt x="61" y="222"/>
                      </a:lnTo>
                      <a:lnTo>
                        <a:pt x="61" y="94"/>
                      </a:lnTo>
                      <a:lnTo>
                        <a:pt x="70" y="103"/>
                      </a:lnTo>
                      <a:lnTo>
                        <a:pt x="81" y="111"/>
                      </a:lnTo>
                      <a:lnTo>
                        <a:pt x="91" y="119"/>
                      </a:lnTo>
                      <a:lnTo>
                        <a:pt x="101" y="127"/>
                      </a:lnTo>
                      <a:lnTo>
                        <a:pt x="113" y="136"/>
                      </a:lnTo>
                      <a:lnTo>
                        <a:pt x="124" y="145"/>
                      </a:lnTo>
                      <a:lnTo>
                        <a:pt x="136" y="154"/>
                      </a:lnTo>
                      <a:lnTo>
                        <a:pt x="147" y="162"/>
                      </a:lnTo>
                      <a:lnTo>
                        <a:pt x="160" y="172"/>
                      </a:lnTo>
                      <a:lnTo>
                        <a:pt x="172" y="181"/>
                      </a:lnTo>
                      <a:lnTo>
                        <a:pt x="184" y="190"/>
                      </a:lnTo>
                      <a:lnTo>
                        <a:pt x="197" y="199"/>
                      </a:lnTo>
                      <a:lnTo>
                        <a:pt x="210" y="209"/>
                      </a:lnTo>
                      <a:lnTo>
                        <a:pt x="221" y="218"/>
                      </a:lnTo>
                      <a:lnTo>
                        <a:pt x="234" y="227"/>
                      </a:lnTo>
                      <a:lnTo>
                        <a:pt x="247" y="235"/>
                      </a:lnTo>
                      <a:lnTo>
                        <a:pt x="234" y="243"/>
                      </a:lnTo>
                      <a:lnTo>
                        <a:pt x="221" y="252"/>
                      </a:lnTo>
                      <a:lnTo>
                        <a:pt x="210" y="261"/>
                      </a:lnTo>
                      <a:lnTo>
                        <a:pt x="197" y="271"/>
                      </a:lnTo>
                      <a:lnTo>
                        <a:pt x="184" y="280"/>
                      </a:lnTo>
                      <a:lnTo>
                        <a:pt x="172" y="289"/>
                      </a:lnTo>
                      <a:lnTo>
                        <a:pt x="160" y="298"/>
                      </a:lnTo>
                      <a:lnTo>
                        <a:pt x="147" y="306"/>
                      </a:lnTo>
                      <a:lnTo>
                        <a:pt x="136" y="316"/>
                      </a:lnTo>
                      <a:lnTo>
                        <a:pt x="124" y="325"/>
                      </a:lnTo>
                      <a:lnTo>
                        <a:pt x="113" y="334"/>
                      </a:lnTo>
                      <a:lnTo>
                        <a:pt x="101" y="343"/>
                      </a:lnTo>
                      <a:lnTo>
                        <a:pt x="91" y="351"/>
                      </a:lnTo>
                      <a:lnTo>
                        <a:pt x="81" y="359"/>
                      </a:lnTo>
                      <a:lnTo>
                        <a:pt x="70" y="367"/>
                      </a:lnTo>
                      <a:lnTo>
                        <a:pt x="61" y="376"/>
                      </a:lnTo>
                      <a:lnTo>
                        <a:pt x="61" y="222"/>
                      </a:lnTo>
                      <a:lnTo>
                        <a:pt x="0" y="222"/>
                      </a:lnTo>
                      <a:lnTo>
                        <a:pt x="0" y="440"/>
                      </a:lnTo>
                      <a:lnTo>
                        <a:pt x="0" y="44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grpSp>
        </p:grpSp>
        <p:sp>
          <p:nvSpPr>
            <p:cNvPr id="23585" name="Rectangle 31"/>
            <p:cNvSpPr>
              <a:spLocks noChangeArrowheads="1"/>
            </p:cNvSpPr>
            <p:nvPr/>
          </p:nvSpPr>
          <p:spPr bwMode="auto">
            <a:xfrm>
              <a:off x="5021" y="2196"/>
              <a:ext cx="664"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kumimoji="0" lang="en-US" altLang="zh-TW" sz="1600" b="1">
                  <a:latin typeface="標楷體" panose="03000509000000000000" pitchFamily="65" charset="-120"/>
                  <a:ea typeface="標楷體" panose="03000509000000000000" pitchFamily="65" charset="-120"/>
                </a:rPr>
                <a:t>ASRC</a:t>
              </a:r>
              <a:endParaRPr kumimoji="0" lang="zh-TW" altLang="en-US" sz="1600">
                <a:latin typeface="標楷體" panose="03000509000000000000" pitchFamily="65" charset="-120"/>
                <a:ea typeface="標楷體" panose="03000509000000000000" pitchFamily="65" charset="-120"/>
              </a:endParaRPr>
            </a:p>
            <a:p>
              <a:pPr algn="ctr" eaLnBrk="1" hangingPunct="1"/>
              <a:r>
                <a:rPr kumimoji="0" lang="zh-TW" altLang="en-US" sz="1600">
                  <a:latin typeface="標楷體" panose="03000509000000000000" pitchFamily="65" charset="-120"/>
                  <a:ea typeface="標楷體" panose="03000509000000000000" pitchFamily="65" charset="-120"/>
                </a:rPr>
                <a:t>垃圾訊息</a:t>
              </a:r>
            </a:p>
            <a:p>
              <a:pPr algn="ctr" eaLnBrk="1" hangingPunct="1"/>
              <a:r>
                <a:rPr kumimoji="0" lang="zh-TW" altLang="en-US" sz="1600">
                  <a:latin typeface="標楷體" panose="03000509000000000000" pitchFamily="65" charset="-120"/>
                  <a:ea typeface="標楷體" panose="03000509000000000000" pitchFamily="65" charset="-120"/>
                </a:rPr>
                <a:t>研究中心</a:t>
              </a:r>
            </a:p>
          </p:txBody>
        </p:sp>
        <p:sp>
          <p:nvSpPr>
            <p:cNvPr id="23586" name="AutoShape 124"/>
            <p:cNvSpPr>
              <a:spLocks noChangeArrowheads="1"/>
            </p:cNvSpPr>
            <p:nvPr/>
          </p:nvSpPr>
          <p:spPr bwMode="auto">
            <a:xfrm rot="-514343">
              <a:off x="4406" y="2002"/>
              <a:ext cx="541" cy="29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4 w 21600"/>
                <a:gd name="T19" fmla="*/ 3107 h 21600"/>
                <a:gd name="T20" fmla="*/ 18446 w 21600"/>
                <a:gd name="T21" fmla="*/ 18493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8225" y="12943"/>
                  </a:moveTo>
                  <a:cubicBezTo>
                    <a:pt x="18426" y="12247"/>
                    <a:pt x="18529" y="11525"/>
                    <a:pt x="18529" y="10800"/>
                  </a:cubicBezTo>
                  <a:cubicBezTo>
                    <a:pt x="18529" y="6531"/>
                    <a:pt x="15068" y="3071"/>
                    <a:pt x="10800" y="3071"/>
                  </a:cubicBezTo>
                  <a:cubicBezTo>
                    <a:pt x="6531" y="3071"/>
                    <a:pt x="3071" y="6531"/>
                    <a:pt x="3071" y="10800"/>
                  </a:cubicBezTo>
                  <a:cubicBezTo>
                    <a:pt x="3070" y="10956"/>
                    <a:pt x="3075" y="11113"/>
                    <a:pt x="3085" y="11269"/>
                  </a:cubicBezTo>
                  <a:lnTo>
                    <a:pt x="19" y="11456"/>
                  </a:lnTo>
                  <a:cubicBezTo>
                    <a:pt x="6" y="11237"/>
                    <a:pt x="0" y="11018"/>
                    <a:pt x="0" y="10800"/>
                  </a:cubicBezTo>
                  <a:cubicBezTo>
                    <a:pt x="0" y="4835"/>
                    <a:pt x="4835" y="0"/>
                    <a:pt x="10800" y="0"/>
                  </a:cubicBezTo>
                  <a:cubicBezTo>
                    <a:pt x="16764" y="0"/>
                    <a:pt x="21600" y="4835"/>
                    <a:pt x="21600" y="10800"/>
                  </a:cubicBezTo>
                  <a:cubicBezTo>
                    <a:pt x="21600" y="11813"/>
                    <a:pt x="21457" y="12822"/>
                    <a:pt x="21176" y="13795"/>
                  </a:cubicBezTo>
                  <a:lnTo>
                    <a:pt x="23770" y="14544"/>
                  </a:lnTo>
                  <a:lnTo>
                    <a:pt x="18526" y="17439"/>
                  </a:lnTo>
                  <a:lnTo>
                    <a:pt x="15631" y="12194"/>
                  </a:lnTo>
                  <a:lnTo>
                    <a:pt x="18225" y="12943"/>
                  </a:lnTo>
                  <a:close/>
                </a:path>
              </a:pathLst>
            </a:custGeom>
            <a:solidFill>
              <a:srgbClr val="C0C0C0">
                <a:alpha val="74901"/>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p>
              <a:endParaRPr lang="zh-TW" altLang="en-US"/>
            </a:p>
          </p:txBody>
        </p:sp>
        <p:sp>
          <p:nvSpPr>
            <p:cNvPr id="23587" name="Rectangle 125"/>
            <p:cNvSpPr>
              <a:spLocks noChangeArrowheads="1"/>
            </p:cNvSpPr>
            <p:nvPr/>
          </p:nvSpPr>
          <p:spPr bwMode="auto">
            <a:xfrm>
              <a:off x="4422" y="1797"/>
              <a:ext cx="516"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kumimoji="0" lang="zh-TW" altLang="en-US" sz="1400">
                  <a:latin typeface="標楷體" panose="03000509000000000000" pitchFamily="65" charset="-120"/>
                  <a:ea typeface="標楷體" panose="03000509000000000000" pitchFamily="65" charset="-120"/>
                </a:rPr>
                <a:t>垃圾信</a:t>
              </a:r>
            </a:p>
            <a:p>
              <a:pPr algn="ctr" eaLnBrk="1" hangingPunct="1"/>
              <a:r>
                <a:rPr kumimoji="0" lang="zh-TW" altLang="en-US" sz="1400">
                  <a:latin typeface="標楷體" panose="03000509000000000000" pitchFamily="65" charset="-120"/>
                  <a:ea typeface="標楷體" panose="03000509000000000000" pitchFamily="65" charset="-120"/>
                </a:rPr>
                <a:t>樣本回收</a:t>
              </a:r>
            </a:p>
          </p:txBody>
        </p:sp>
        <p:sp>
          <p:nvSpPr>
            <p:cNvPr id="23588" name="AutoShape 127"/>
            <p:cNvSpPr>
              <a:spLocks noChangeArrowheads="1"/>
            </p:cNvSpPr>
            <p:nvPr/>
          </p:nvSpPr>
          <p:spPr bwMode="auto">
            <a:xfrm rot="-727430" flipH="1" flipV="1">
              <a:off x="4449" y="2660"/>
              <a:ext cx="505" cy="31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65 w 21600"/>
                <a:gd name="T19" fmla="*/ 3115 h 21600"/>
                <a:gd name="T20" fmla="*/ 18435 w 21600"/>
                <a:gd name="T21" fmla="*/ 18485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8225" y="12943"/>
                  </a:moveTo>
                  <a:cubicBezTo>
                    <a:pt x="18426" y="12247"/>
                    <a:pt x="18529" y="11525"/>
                    <a:pt x="18529" y="10800"/>
                  </a:cubicBezTo>
                  <a:cubicBezTo>
                    <a:pt x="18529" y="6531"/>
                    <a:pt x="15068" y="3071"/>
                    <a:pt x="10800" y="3071"/>
                  </a:cubicBezTo>
                  <a:cubicBezTo>
                    <a:pt x="6531" y="3071"/>
                    <a:pt x="3071" y="6531"/>
                    <a:pt x="3071" y="10800"/>
                  </a:cubicBezTo>
                  <a:lnTo>
                    <a:pt x="0" y="10800"/>
                  </a:lnTo>
                  <a:cubicBezTo>
                    <a:pt x="0" y="4835"/>
                    <a:pt x="4835" y="0"/>
                    <a:pt x="10800" y="0"/>
                  </a:cubicBezTo>
                  <a:cubicBezTo>
                    <a:pt x="16764" y="0"/>
                    <a:pt x="21600" y="4835"/>
                    <a:pt x="21600" y="10800"/>
                  </a:cubicBezTo>
                  <a:cubicBezTo>
                    <a:pt x="21600" y="11813"/>
                    <a:pt x="21457" y="12822"/>
                    <a:pt x="21176" y="13795"/>
                  </a:cubicBezTo>
                  <a:lnTo>
                    <a:pt x="23770" y="14544"/>
                  </a:lnTo>
                  <a:lnTo>
                    <a:pt x="18526" y="17439"/>
                  </a:lnTo>
                  <a:lnTo>
                    <a:pt x="15631" y="12194"/>
                  </a:lnTo>
                  <a:lnTo>
                    <a:pt x="18225" y="12943"/>
                  </a:lnTo>
                  <a:close/>
                </a:path>
              </a:pathLst>
            </a:custGeom>
            <a:solidFill>
              <a:srgbClr val="C0C0C0">
                <a:alpha val="72940"/>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rot="10800000" wrap="none" anchor="ctr"/>
            <a:lstStyle/>
            <a:p>
              <a:endParaRPr lang="zh-TW" altLang="en-US"/>
            </a:p>
          </p:txBody>
        </p:sp>
        <p:sp>
          <p:nvSpPr>
            <p:cNvPr id="23589" name="Rectangle 128"/>
            <p:cNvSpPr>
              <a:spLocks noChangeArrowheads="1"/>
            </p:cNvSpPr>
            <p:nvPr/>
          </p:nvSpPr>
          <p:spPr bwMode="auto">
            <a:xfrm>
              <a:off x="4377" y="2819"/>
              <a:ext cx="65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kumimoji="0" lang="zh-TW" altLang="en-US" sz="1400">
                  <a:latin typeface="標楷體" panose="03000509000000000000" pitchFamily="65" charset="-120"/>
                  <a:ea typeface="標楷體" panose="03000509000000000000" pitchFamily="65" charset="-120"/>
                </a:rPr>
                <a:t>自動化</a:t>
              </a:r>
            </a:p>
            <a:p>
              <a:pPr algn="ctr" eaLnBrk="1" hangingPunct="1"/>
              <a:r>
                <a:rPr kumimoji="0" lang="zh-TW" altLang="en-US" sz="1400">
                  <a:latin typeface="標楷體" panose="03000509000000000000" pitchFamily="65" charset="-120"/>
                  <a:ea typeface="標楷體" panose="03000509000000000000" pitchFamily="65" charset="-120"/>
                </a:rPr>
                <a:t>更新服務</a:t>
              </a:r>
            </a:p>
          </p:txBody>
        </p:sp>
        <p:sp>
          <p:nvSpPr>
            <p:cNvPr id="23590" name="AutoShape 129"/>
            <p:cNvSpPr>
              <a:spLocks noChangeArrowheads="1"/>
            </p:cNvSpPr>
            <p:nvPr/>
          </p:nvSpPr>
          <p:spPr bwMode="auto">
            <a:xfrm>
              <a:off x="4409" y="2324"/>
              <a:ext cx="558" cy="135"/>
            </a:xfrm>
            <a:prstGeom prst="leftRightArrow">
              <a:avLst>
                <a:gd name="adj1" fmla="val 50000"/>
                <a:gd name="adj2" fmla="val 82667"/>
              </a:avLst>
            </a:prstGeom>
            <a:solidFill>
              <a:srgbClr val="C0C0C0">
                <a:alpha val="74901"/>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1400">
                <a:latin typeface="標楷體" panose="03000509000000000000" pitchFamily="65" charset="-120"/>
                <a:ea typeface="標楷體" panose="03000509000000000000" pitchFamily="65" charset="-120"/>
              </a:endParaRPr>
            </a:p>
          </p:txBody>
        </p:sp>
        <p:sp>
          <p:nvSpPr>
            <p:cNvPr id="23591" name="Text Box 130"/>
            <p:cNvSpPr txBox="1">
              <a:spLocks noChangeArrowheads="1"/>
            </p:cNvSpPr>
            <p:nvPr/>
          </p:nvSpPr>
          <p:spPr bwMode="auto">
            <a:xfrm>
              <a:off x="4411" y="2481"/>
              <a:ext cx="60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kumimoji="0" lang="zh-TW" altLang="en-US" sz="1400">
                  <a:latin typeface="標楷體" panose="03000509000000000000" pitchFamily="65" charset="-120"/>
                  <a:ea typeface="標楷體" panose="03000509000000000000" pitchFamily="65" charset="-120"/>
                </a:rPr>
                <a:t>反釣魚郵件資料庫</a:t>
              </a:r>
            </a:p>
          </p:txBody>
        </p:sp>
      </p:grpSp>
      <p:sp>
        <p:nvSpPr>
          <p:cNvPr id="108653" name="Text Box 109"/>
          <p:cNvSpPr txBox="1">
            <a:spLocks noChangeArrowheads="1"/>
          </p:cNvSpPr>
          <p:nvPr/>
        </p:nvSpPr>
        <p:spPr bwMode="auto">
          <a:xfrm>
            <a:off x="4222750" y="3749675"/>
            <a:ext cx="1620838" cy="307975"/>
          </a:xfrm>
          <a:prstGeom prst="rect">
            <a:avLst/>
          </a:prstGeom>
          <a:noFill/>
          <a:ln w="9525">
            <a:noFill/>
            <a:miter lim="800000"/>
            <a:headEnd/>
            <a:tailEnd/>
          </a:ln>
          <a:effectLst/>
        </p:spPr>
        <p:txBody>
          <a:bodyPr wrap="none">
            <a:spAutoFit/>
          </a:bodyPr>
          <a:lstStyle/>
          <a:p>
            <a:pPr fontAlgn="auto">
              <a:spcBef>
                <a:spcPts val="0"/>
              </a:spcBef>
              <a:spcAft>
                <a:spcPts val="0"/>
              </a:spcAft>
              <a:defRPr/>
            </a:pPr>
            <a:r>
              <a:rPr kumimoji="0" lang="zh-TW" altLang="en-US" sz="1400" b="1" dirty="0">
                <a:effectLst>
                  <a:outerShdw blurRad="38100" dist="38100" dir="2700000" algn="tl">
                    <a:srgbClr val="C0C0C0"/>
                  </a:outerShdw>
                </a:effectLst>
                <a:latin typeface="標楷體" pitchFamily="65" charset="-120"/>
                <a:ea typeface="標楷體" pitchFamily="65" charset="-120"/>
              </a:rPr>
              <a:t>流量控制防禦引擎</a:t>
            </a:r>
          </a:p>
        </p:txBody>
      </p:sp>
      <p:sp>
        <p:nvSpPr>
          <p:cNvPr id="108654" name="Text Box 110"/>
          <p:cNvSpPr txBox="1">
            <a:spLocks noChangeArrowheads="1"/>
          </p:cNvSpPr>
          <p:nvPr/>
        </p:nvSpPr>
        <p:spPr bwMode="auto">
          <a:xfrm>
            <a:off x="4222750" y="4106863"/>
            <a:ext cx="1620838" cy="307975"/>
          </a:xfrm>
          <a:prstGeom prst="rect">
            <a:avLst/>
          </a:prstGeom>
          <a:noFill/>
          <a:ln w="9525">
            <a:noFill/>
            <a:miter lim="800000"/>
            <a:headEnd/>
            <a:tailEnd/>
          </a:ln>
          <a:effectLst/>
        </p:spPr>
        <p:txBody>
          <a:bodyPr wrap="none">
            <a:spAutoFit/>
          </a:bodyPr>
          <a:lstStyle/>
          <a:p>
            <a:pPr fontAlgn="auto">
              <a:spcBef>
                <a:spcPts val="0"/>
              </a:spcBef>
              <a:spcAft>
                <a:spcPts val="0"/>
              </a:spcAft>
              <a:defRPr/>
            </a:pPr>
            <a:r>
              <a:rPr kumimoji="0" lang="zh-TW" altLang="en-US" sz="1400" b="1" dirty="0">
                <a:solidFill>
                  <a:schemeClr val="accent2"/>
                </a:solidFill>
                <a:effectLst>
                  <a:outerShdw blurRad="38100" dist="38100" dir="2700000" algn="tl">
                    <a:srgbClr val="C0C0C0"/>
                  </a:outerShdw>
                </a:effectLst>
                <a:latin typeface="標楷體" pitchFamily="65" charset="-120"/>
                <a:ea typeface="標楷體" pitchFamily="65" charset="-120"/>
              </a:rPr>
              <a:t>社交工程防禦引擎</a:t>
            </a:r>
          </a:p>
        </p:txBody>
      </p:sp>
      <p:grpSp>
        <p:nvGrpSpPr>
          <p:cNvPr id="24" name="Group 111"/>
          <p:cNvGrpSpPr>
            <a:grpSpLocks/>
          </p:cNvGrpSpPr>
          <p:nvPr/>
        </p:nvGrpSpPr>
        <p:grpSpPr bwMode="auto">
          <a:xfrm>
            <a:off x="0" y="3030538"/>
            <a:ext cx="5732463" cy="647700"/>
            <a:chOff x="68" y="436"/>
            <a:chExt cx="3611" cy="408"/>
          </a:xfrm>
        </p:grpSpPr>
        <p:sp>
          <p:nvSpPr>
            <p:cNvPr id="23574" name="Rectangle 4"/>
            <p:cNvSpPr>
              <a:spLocks noChangeArrowheads="1"/>
            </p:cNvSpPr>
            <p:nvPr/>
          </p:nvSpPr>
          <p:spPr bwMode="auto">
            <a:xfrm>
              <a:off x="68" y="436"/>
              <a:ext cx="329" cy="316"/>
            </a:xfrm>
            <a:prstGeom prst="rect">
              <a:avLst/>
            </a:prstGeom>
            <a:solidFill>
              <a:srgbClr val="EAEAEA"/>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2000">
                <a:latin typeface="標楷體" panose="03000509000000000000" pitchFamily="65" charset="-120"/>
                <a:ea typeface="標楷體" panose="03000509000000000000" pitchFamily="65" charset="-120"/>
              </a:endParaRPr>
            </a:p>
          </p:txBody>
        </p:sp>
        <p:sp>
          <p:nvSpPr>
            <p:cNvPr id="23575" name="Rectangle 5"/>
            <p:cNvSpPr>
              <a:spLocks noChangeArrowheads="1"/>
            </p:cNvSpPr>
            <p:nvPr/>
          </p:nvSpPr>
          <p:spPr bwMode="auto">
            <a:xfrm>
              <a:off x="93" y="471"/>
              <a:ext cx="405" cy="352"/>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2000">
                <a:latin typeface="標楷體" panose="03000509000000000000" pitchFamily="65" charset="-120"/>
                <a:ea typeface="標楷體" panose="03000509000000000000" pitchFamily="65" charset="-120"/>
              </a:endParaRPr>
            </a:p>
          </p:txBody>
        </p:sp>
        <p:sp>
          <p:nvSpPr>
            <p:cNvPr id="23576" name="Rectangle 6"/>
            <p:cNvSpPr>
              <a:spLocks noChangeArrowheads="1"/>
            </p:cNvSpPr>
            <p:nvPr/>
          </p:nvSpPr>
          <p:spPr bwMode="auto">
            <a:xfrm>
              <a:off x="118" y="506"/>
              <a:ext cx="329" cy="281"/>
            </a:xfrm>
            <a:prstGeom prst="rect">
              <a:avLst/>
            </a:prstGeom>
            <a:solidFill>
              <a:srgbClr val="C0C0C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2000">
                <a:latin typeface="標楷體" panose="03000509000000000000" pitchFamily="65" charset="-120"/>
                <a:ea typeface="標楷體" panose="03000509000000000000" pitchFamily="65" charset="-120"/>
              </a:endParaRPr>
            </a:p>
          </p:txBody>
        </p:sp>
        <p:sp>
          <p:nvSpPr>
            <p:cNvPr id="23577" name="Rectangle 7"/>
            <p:cNvSpPr>
              <a:spLocks noChangeArrowheads="1"/>
            </p:cNvSpPr>
            <p:nvPr/>
          </p:nvSpPr>
          <p:spPr bwMode="auto">
            <a:xfrm>
              <a:off x="144" y="541"/>
              <a:ext cx="354" cy="282"/>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2000">
                <a:latin typeface="標楷體" panose="03000509000000000000" pitchFamily="65" charset="-120"/>
                <a:ea typeface="標楷體" panose="03000509000000000000" pitchFamily="65" charset="-120"/>
              </a:endParaRPr>
            </a:p>
          </p:txBody>
        </p:sp>
        <p:sp>
          <p:nvSpPr>
            <p:cNvPr id="23578" name="Freeform 10"/>
            <p:cNvSpPr>
              <a:spLocks/>
            </p:cNvSpPr>
            <p:nvPr/>
          </p:nvSpPr>
          <p:spPr bwMode="auto">
            <a:xfrm>
              <a:off x="169" y="576"/>
              <a:ext cx="329" cy="268"/>
            </a:xfrm>
            <a:custGeom>
              <a:avLst/>
              <a:gdLst>
                <a:gd name="T0" fmla="*/ 0 w 819"/>
                <a:gd name="T1" fmla="*/ 1 h 470"/>
                <a:gd name="T2" fmla="*/ 0 w 819"/>
                <a:gd name="T3" fmla="*/ 1 h 470"/>
                <a:gd name="T4" fmla="*/ 0 w 819"/>
                <a:gd name="T5" fmla="*/ 1 h 470"/>
                <a:gd name="T6" fmla="*/ 0 w 819"/>
                <a:gd name="T7" fmla="*/ 1 h 470"/>
                <a:gd name="T8" fmla="*/ 0 w 819"/>
                <a:gd name="T9" fmla="*/ 1 h 470"/>
                <a:gd name="T10" fmla="*/ 0 w 819"/>
                <a:gd name="T11" fmla="*/ 1 h 470"/>
                <a:gd name="T12" fmla="*/ 0 w 819"/>
                <a:gd name="T13" fmla="*/ 1 h 470"/>
                <a:gd name="T14" fmla="*/ 0 w 819"/>
                <a:gd name="T15" fmla="*/ 1 h 470"/>
                <a:gd name="T16" fmla="*/ 0 w 819"/>
                <a:gd name="T17" fmla="*/ 1 h 470"/>
                <a:gd name="T18" fmla="*/ 0 w 819"/>
                <a:gd name="T19" fmla="*/ 1 h 470"/>
                <a:gd name="T20" fmla="*/ 0 w 819"/>
                <a:gd name="T21" fmla="*/ 1 h 470"/>
                <a:gd name="T22" fmla="*/ 0 w 819"/>
                <a:gd name="T23" fmla="*/ 1 h 470"/>
                <a:gd name="T24" fmla="*/ 0 w 819"/>
                <a:gd name="T25" fmla="*/ 1 h 470"/>
                <a:gd name="T26" fmla="*/ 0 w 819"/>
                <a:gd name="T27" fmla="*/ 1 h 470"/>
                <a:gd name="T28" fmla="*/ 0 w 819"/>
                <a:gd name="T29" fmla="*/ 1 h 470"/>
                <a:gd name="T30" fmla="*/ 0 w 819"/>
                <a:gd name="T31" fmla="*/ 1 h 470"/>
                <a:gd name="T32" fmla="*/ 0 w 819"/>
                <a:gd name="T33" fmla="*/ 1 h 470"/>
                <a:gd name="T34" fmla="*/ 0 w 819"/>
                <a:gd name="T35" fmla="*/ 1 h 470"/>
                <a:gd name="T36" fmla="*/ 0 w 819"/>
                <a:gd name="T37" fmla="*/ 1 h 470"/>
                <a:gd name="T38" fmla="*/ 0 w 819"/>
                <a:gd name="T39" fmla="*/ 1 h 470"/>
                <a:gd name="T40" fmla="*/ 0 w 819"/>
                <a:gd name="T41" fmla="*/ 1 h 470"/>
                <a:gd name="T42" fmla="*/ 0 w 819"/>
                <a:gd name="T43" fmla="*/ 1 h 470"/>
                <a:gd name="T44" fmla="*/ 0 w 819"/>
                <a:gd name="T45" fmla="*/ 1 h 470"/>
                <a:gd name="T46" fmla="*/ 0 w 819"/>
                <a:gd name="T47" fmla="*/ 1 h 470"/>
                <a:gd name="T48" fmla="*/ 0 w 819"/>
                <a:gd name="T49" fmla="*/ 1 h 470"/>
                <a:gd name="T50" fmla="*/ 0 w 819"/>
                <a:gd name="T51" fmla="*/ 1 h 470"/>
                <a:gd name="T52" fmla="*/ 0 w 819"/>
                <a:gd name="T53" fmla="*/ 1 h 470"/>
                <a:gd name="T54" fmla="*/ 0 w 819"/>
                <a:gd name="T55" fmla="*/ 1 h 470"/>
                <a:gd name="T56" fmla="*/ 0 w 819"/>
                <a:gd name="T57" fmla="*/ 1 h 470"/>
                <a:gd name="T58" fmla="*/ 0 w 819"/>
                <a:gd name="T59" fmla="*/ 1 h 470"/>
                <a:gd name="T60" fmla="*/ 0 w 819"/>
                <a:gd name="T61" fmla="*/ 1 h 470"/>
                <a:gd name="T62" fmla="*/ 0 w 819"/>
                <a:gd name="T63" fmla="*/ 1 h 470"/>
                <a:gd name="T64" fmla="*/ 0 w 819"/>
                <a:gd name="T65" fmla="*/ 1 h 470"/>
                <a:gd name="T66" fmla="*/ 0 w 819"/>
                <a:gd name="T67" fmla="*/ 1 h 470"/>
                <a:gd name="T68" fmla="*/ 0 w 819"/>
                <a:gd name="T69" fmla="*/ 1 h 470"/>
                <a:gd name="T70" fmla="*/ 0 w 819"/>
                <a:gd name="T71" fmla="*/ 1 h 470"/>
                <a:gd name="T72" fmla="*/ 0 w 819"/>
                <a:gd name="T73" fmla="*/ 0 h 470"/>
                <a:gd name="T74" fmla="*/ 0 w 819"/>
                <a:gd name="T75" fmla="*/ 0 h 470"/>
                <a:gd name="T76" fmla="*/ 0 w 819"/>
                <a:gd name="T77" fmla="*/ 1 h 470"/>
                <a:gd name="T78" fmla="*/ 0 w 819"/>
                <a:gd name="T79" fmla="*/ 1 h 470"/>
                <a:gd name="T80" fmla="*/ 0 w 819"/>
                <a:gd name="T81" fmla="*/ 1 h 470"/>
                <a:gd name="T82" fmla="*/ 0 w 819"/>
                <a:gd name="T83" fmla="*/ 1 h 470"/>
                <a:gd name="T84" fmla="*/ 0 w 819"/>
                <a:gd name="T85" fmla="*/ 1 h 470"/>
                <a:gd name="T86" fmla="*/ 0 w 819"/>
                <a:gd name="T87" fmla="*/ 1 h 470"/>
                <a:gd name="T88" fmla="*/ 0 w 819"/>
                <a:gd name="T89" fmla="*/ 1 h 470"/>
                <a:gd name="T90" fmla="*/ 0 w 819"/>
                <a:gd name="T91" fmla="*/ 1 h 470"/>
                <a:gd name="T92" fmla="*/ 0 w 819"/>
                <a:gd name="T93" fmla="*/ 0 h 470"/>
                <a:gd name="T94" fmla="*/ 0 w 819"/>
                <a:gd name="T95" fmla="*/ 0 h 470"/>
                <a:gd name="T96" fmla="*/ 0 w 819"/>
                <a:gd name="T97" fmla="*/ 1 h 470"/>
                <a:gd name="T98" fmla="*/ 0 w 819"/>
                <a:gd name="T99" fmla="*/ 1 h 470"/>
                <a:gd name="T100" fmla="*/ 0 w 819"/>
                <a:gd name="T101" fmla="*/ 1 h 470"/>
                <a:gd name="T102" fmla="*/ 0 w 819"/>
                <a:gd name="T103" fmla="*/ 1 h 470"/>
                <a:gd name="T104" fmla="*/ 0 w 819"/>
                <a:gd name="T105" fmla="*/ 1 h 470"/>
                <a:gd name="T106" fmla="*/ 0 w 819"/>
                <a:gd name="T107" fmla="*/ 1 h 470"/>
                <a:gd name="T108" fmla="*/ 0 w 819"/>
                <a:gd name="T109" fmla="*/ 1 h 470"/>
                <a:gd name="T110" fmla="*/ 0 w 819"/>
                <a:gd name="T111" fmla="*/ 1 h 470"/>
                <a:gd name="T112" fmla="*/ 0 w 819"/>
                <a:gd name="T113" fmla="*/ 1 h 470"/>
                <a:gd name="T114" fmla="*/ 0 w 819"/>
                <a:gd name="T115" fmla="*/ 1 h 470"/>
                <a:gd name="T116" fmla="*/ 0 w 819"/>
                <a:gd name="T117" fmla="*/ 1 h 470"/>
                <a:gd name="T118" fmla="*/ 0 w 819"/>
                <a:gd name="T119" fmla="*/ 1 h 470"/>
                <a:gd name="T120" fmla="*/ 0 w 819"/>
                <a:gd name="T121" fmla="*/ 1 h 47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819"/>
                <a:gd name="T184" fmla="*/ 0 h 470"/>
                <a:gd name="T185" fmla="*/ 819 w 819"/>
                <a:gd name="T186" fmla="*/ 470 h 47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819" h="470">
                  <a:moveTo>
                    <a:pt x="0" y="441"/>
                  </a:moveTo>
                  <a:lnTo>
                    <a:pt x="0" y="442"/>
                  </a:lnTo>
                  <a:lnTo>
                    <a:pt x="0" y="444"/>
                  </a:lnTo>
                  <a:lnTo>
                    <a:pt x="0" y="445"/>
                  </a:lnTo>
                  <a:lnTo>
                    <a:pt x="1" y="445"/>
                  </a:lnTo>
                  <a:lnTo>
                    <a:pt x="1" y="446"/>
                  </a:lnTo>
                  <a:lnTo>
                    <a:pt x="1" y="447"/>
                  </a:lnTo>
                  <a:lnTo>
                    <a:pt x="1" y="448"/>
                  </a:lnTo>
                  <a:lnTo>
                    <a:pt x="1" y="449"/>
                  </a:lnTo>
                  <a:lnTo>
                    <a:pt x="2" y="449"/>
                  </a:lnTo>
                  <a:lnTo>
                    <a:pt x="2" y="450"/>
                  </a:lnTo>
                  <a:lnTo>
                    <a:pt x="2" y="452"/>
                  </a:lnTo>
                  <a:lnTo>
                    <a:pt x="3" y="453"/>
                  </a:lnTo>
                  <a:lnTo>
                    <a:pt x="3" y="454"/>
                  </a:lnTo>
                  <a:lnTo>
                    <a:pt x="5" y="455"/>
                  </a:lnTo>
                  <a:lnTo>
                    <a:pt x="5" y="456"/>
                  </a:lnTo>
                  <a:lnTo>
                    <a:pt x="6" y="456"/>
                  </a:lnTo>
                  <a:lnTo>
                    <a:pt x="6" y="457"/>
                  </a:lnTo>
                  <a:lnTo>
                    <a:pt x="7" y="458"/>
                  </a:lnTo>
                  <a:lnTo>
                    <a:pt x="7" y="460"/>
                  </a:lnTo>
                  <a:lnTo>
                    <a:pt x="8" y="460"/>
                  </a:lnTo>
                  <a:lnTo>
                    <a:pt x="8" y="461"/>
                  </a:lnTo>
                  <a:lnTo>
                    <a:pt x="9" y="461"/>
                  </a:lnTo>
                  <a:lnTo>
                    <a:pt x="9" y="462"/>
                  </a:lnTo>
                  <a:lnTo>
                    <a:pt x="10" y="462"/>
                  </a:lnTo>
                  <a:lnTo>
                    <a:pt x="10" y="463"/>
                  </a:lnTo>
                  <a:lnTo>
                    <a:pt x="12" y="463"/>
                  </a:lnTo>
                  <a:lnTo>
                    <a:pt x="13" y="464"/>
                  </a:lnTo>
                  <a:lnTo>
                    <a:pt x="14" y="464"/>
                  </a:lnTo>
                  <a:lnTo>
                    <a:pt x="14" y="465"/>
                  </a:lnTo>
                  <a:lnTo>
                    <a:pt x="15" y="465"/>
                  </a:lnTo>
                  <a:lnTo>
                    <a:pt x="16" y="467"/>
                  </a:lnTo>
                  <a:lnTo>
                    <a:pt x="17" y="467"/>
                  </a:lnTo>
                  <a:lnTo>
                    <a:pt x="18" y="468"/>
                  </a:lnTo>
                  <a:lnTo>
                    <a:pt x="20" y="468"/>
                  </a:lnTo>
                  <a:lnTo>
                    <a:pt x="21" y="469"/>
                  </a:lnTo>
                  <a:lnTo>
                    <a:pt x="22" y="469"/>
                  </a:lnTo>
                  <a:lnTo>
                    <a:pt x="23" y="469"/>
                  </a:lnTo>
                  <a:lnTo>
                    <a:pt x="24" y="469"/>
                  </a:lnTo>
                  <a:lnTo>
                    <a:pt x="25" y="469"/>
                  </a:lnTo>
                  <a:lnTo>
                    <a:pt x="27" y="470"/>
                  </a:lnTo>
                  <a:lnTo>
                    <a:pt x="28" y="470"/>
                  </a:lnTo>
                  <a:lnTo>
                    <a:pt x="29" y="470"/>
                  </a:lnTo>
                  <a:lnTo>
                    <a:pt x="30" y="470"/>
                  </a:lnTo>
                  <a:lnTo>
                    <a:pt x="423" y="470"/>
                  </a:lnTo>
                  <a:lnTo>
                    <a:pt x="423" y="409"/>
                  </a:lnTo>
                  <a:lnTo>
                    <a:pt x="116" y="409"/>
                  </a:lnTo>
                  <a:lnTo>
                    <a:pt x="129" y="400"/>
                  </a:lnTo>
                  <a:lnTo>
                    <a:pt x="141" y="389"/>
                  </a:lnTo>
                  <a:lnTo>
                    <a:pt x="153" y="380"/>
                  </a:lnTo>
                  <a:lnTo>
                    <a:pt x="165" y="371"/>
                  </a:lnTo>
                  <a:lnTo>
                    <a:pt x="177" y="362"/>
                  </a:lnTo>
                  <a:lnTo>
                    <a:pt x="189" y="353"/>
                  </a:lnTo>
                  <a:lnTo>
                    <a:pt x="202" y="343"/>
                  </a:lnTo>
                  <a:lnTo>
                    <a:pt x="213" y="334"/>
                  </a:lnTo>
                  <a:lnTo>
                    <a:pt x="225" y="326"/>
                  </a:lnTo>
                  <a:lnTo>
                    <a:pt x="236" y="317"/>
                  </a:lnTo>
                  <a:lnTo>
                    <a:pt x="248" y="309"/>
                  </a:lnTo>
                  <a:lnTo>
                    <a:pt x="259" y="301"/>
                  </a:lnTo>
                  <a:lnTo>
                    <a:pt x="270" y="293"/>
                  </a:lnTo>
                  <a:lnTo>
                    <a:pt x="281" y="285"/>
                  </a:lnTo>
                  <a:lnTo>
                    <a:pt x="291" y="278"/>
                  </a:lnTo>
                  <a:lnTo>
                    <a:pt x="302" y="271"/>
                  </a:lnTo>
                  <a:lnTo>
                    <a:pt x="319" y="281"/>
                  </a:lnTo>
                  <a:lnTo>
                    <a:pt x="335" y="290"/>
                  </a:lnTo>
                  <a:lnTo>
                    <a:pt x="350" y="298"/>
                  </a:lnTo>
                  <a:lnTo>
                    <a:pt x="364" y="305"/>
                  </a:lnTo>
                  <a:lnTo>
                    <a:pt x="378" y="311"/>
                  </a:lnTo>
                  <a:lnTo>
                    <a:pt x="389" y="314"/>
                  </a:lnTo>
                  <a:lnTo>
                    <a:pt x="400" y="317"/>
                  </a:lnTo>
                  <a:lnTo>
                    <a:pt x="409" y="318"/>
                  </a:lnTo>
                  <a:lnTo>
                    <a:pt x="418" y="317"/>
                  </a:lnTo>
                  <a:lnTo>
                    <a:pt x="429" y="314"/>
                  </a:lnTo>
                  <a:lnTo>
                    <a:pt x="441" y="311"/>
                  </a:lnTo>
                  <a:lnTo>
                    <a:pt x="454" y="305"/>
                  </a:lnTo>
                  <a:lnTo>
                    <a:pt x="469" y="298"/>
                  </a:lnTo>
                  <a:lnTo>
                    <a:pt x="484" y="290"/>
                  </a:lnTo>
                  <a:lnTo>
                    <a:pt x="500" y="281"/>
                  </a:lnTo>
                  <a:lnTo>
                    <a:pt x="516" y="271"/>
                  </a:lnTo>
                  <a:lnTo>
                    <a:pt x="527" y="278"/>
                  </a:lnTo>
                  <a:lnTo>
                    <a:pt x="537" y="285"/>
                  </a:lnTo>
                  <a:lnTo>
                    <a:pt x="548" y="293"/>
                  </a:lnTo>
                  <a:lnTo>
                    <a:pt x="559" y="301"/>
                  </a:lnTo>
                  <a:lnTo>
                    <a:pt x="570" y="309"/>
                  </a:lnTo>
                  <a:lnTo>
                    <a:pt x="582" y="317"/>
                  </a:lnTo>
                  <a:lnTo>
                    <a:pt x="593" y="326"/>
                  </a:lnTo>
                  <a:lnTo>
                    <a:pt x="605" y="334"/>
                  </a:lnTo>
                  <a:lnTo>
                    <a:pt x="618" y="343"/>
                  </a:lnTo>
                  <a:lnTo>
                    <a:pt x="629" y="353"/>
                  </a:lnTo>
                  <a:lnTo>
                    <a:pt x="642" y="362"/>
                  </a:lnTo>
                  <a:lnTo>
                    <a:pt x="653" y="371"/>
                  </a:lnTo>
                  <a:lnTo>
                    <a:pt x="666" y="380"/>
                  </a:lnTo>
                  <a:lnTo>
                    <a:pt x="679" y="389"/>
                  </a:lnTo>
                  <a:lnTo>
                    <a:pt x="690" y="400"/>
                  </a:lnTo>
                  <a:lnTo>
                    <a:pt x="703" y="409"/>
                  </a:lnTo>
                  <a:lnTo>
                    <a:pt x="423" y="409"/>
                  </a:lnTo>
                  <a:lnTo>
                    <a:pt x="423" y="470"/>
                  </a:lnTo>
                  <a:lnTo>
                    <a:pt x="788" y="470"/>
                  </a:lnTo>
                  <a:lnTo>
                    <a:pt x="789" y="470"/>
                  </a:lnTo>
                  <a:lnTo>
                    <a:pt x="790" y="470"/>
                  </a:lnTo>
                  <a:lnTo>
                    <a:pt x="791" y="470"/>
                  </a:lnTo>
                  <a:lnTo>
                    <a:pt x="793" y="469"/>
                  </a:lnTo>
                  <a:lnTo>
                    <a:pt x="794" y="469"/>
                  </a:lnTo>
                  <a:lnTo>
                    <a:pt x="795" y="469"/>
                  </a:lnTo>
                  <a:lnTo>
                    <a:pt x="796" y="469"/>
                  </a:lnTo>
                  <a:lnTo>
                    <a:pt x="797" y="469"/>
                  </a:lnTo>
                  <a:lnTo>
                    <a:pt x="798" y="468"/>
                  </a:lnTo>
                  <a:lnTo>
                    <a:pt x="800" y="468"/>
                  </a:lnTo>
                  <a:lnTo>
                    <a:pt x="801" y="468"/>
                  </a:lnTo>
                  <a:lnTo>
                    <a:pt x="801" y="467"/>
                  </a:lnTo>
                  <a:lnTo>
                    <a:pt x="802" y="467"/>
                  </a:lnTo>
                  <a:lnTo>
                    <a:pt x="803" y="467"/>
                  </a:lnTo>
                  <a:lnTo>
                    <a:pt x="804" y="465"/>
                  </a:lnTo>
                  <a:lnTo>
                    <a:pt x="805" y="464"/>
                  </a:lnTo>
                  <a:lnTo>
                    <a:pt x="806" y="464"/>
                  </a:lnTo>
                  <a:lnTo>
                    <a:pt x="806" y="463"/>
                  </a:lnTo>
                  <a:lnTo>
                    <a:pt x="808" y="463"/>
                  </a:lnTo>
                  <a:lnTo>
                    <a:pt x="809" y="462"/>
                  </a:lnTo>
                  <a:lnTo>
                    <a:pt x="810" y="461"/>
                  </a:lnTo>
                  <a:lnTo>
                    <a:pt x="811" y="460"/>
                  </a:lnTo>
                  <a:lnTo>
                    <a:pt x="811" y="458"/>
                  </a:lnTo>
                  <a:lnTo>
                    <a:pt x="812" y="458"/>
                  </a:lnTo>
                  <a:lnTo>
                    <a:pt x="812" y="457"/>
                  </a:lnTo>
                  <a:lnTo>
                    <a:pt x="813" y="457"/>
                  </a:lnTo>
                  <a:lnTo>
                    <a:pt x="813" y="456"/>
                  </a:lnTo>
                  <a:lnTo>
                    <a:pt x="815" y="455"/>
                  </a:lnTo>
                  <a:lnTo>
                    <a:pt x="815" y="454"/>
                  </a:lnTo>
                  <a:lnTo>
                    <a:pt x="816" y="454"/>
                  </a:lnTo>
                  <a:lnTo>
                    <a:pt x="816" y="453"/>
                  </a:lnTo>
                  <a:lnTo>
                    <a:pt x="816" y="452"/>
                  </a:lnTo>
                  <a:lnTo>
                    <a:pt x="817" y="450"/>
                  </a:lnTo>
                  <a:lnTo>
                    <a:pt x="817" y="449"/>
                  </a:lnTo>
                  <a:lnTo>
                    <a:pt x="817" y="448"/>
                  </a:lnTo>
                  <a:lnTo>
                    <a:pt x="818" y="447"/>
                  </a:lnTo>
                  <a:lnTo>
                    <a:pt x="818" y="446"/>
                  </a:lnTo>
                  <a:lnTo>
                    <a:pt x="818" y="445"/>
                  </a:lnTo>
                  <a:lnTo>
                    <a:pt x="818" y="444"/>
                  </a:lnTo>
                  <a:lnTo>
                    <a:pt x="818" y="442"/>
                  </a:lnTo>
                  <a:lnTo>
                    <a:pt x="818" y="441"/>
                  </a:lnTo>
                  <a:lnTo>
                    <a:pt x="818" y="440"/>
                  </a:lnTo>
                  <a:lnTo>
                    <a:pt x="819" y="440"/>
                  </a:lnTo>
                  <a:lnTo>
                    <a:pt x="819" y="229"/>
                  </a:lnTo>
                  <a:lnTo>
                    <a:pt x="758" y="229"/>
                  </a:lnTo>
                  <a:lnTo>
                    <a:pt x="758" y="376"/>
                  </a:lnTo>
                  <a:lnTo>
                    <a:pt x="749" y="367"/>
                  </a:lnTo>
                  <a:lnTo>
                    <a:pt x="738" y="359"/>
                  </a:lnTo>
                  <a:lnTo>
                    <a:pt x="728" y="351"/>
                  </a:lnTo>
                  <a:lnTo>
                    <a:pt x="717" y="343"/>
                  </a:lnTo>
                  <a:lnTo>
                    <a:pt x="705" y="334"/>
                  </a:lnTo>
                  <a:lnTo>
                    <a:pt x="694" y="325"/>
                  </a:lnTo>
                  <a:lnTo>
                    <a:pt x="682" y="316"/>
                  </a:lnTo>
                  <a:lnTo>
                    <a:pt x="671" y="306"/>
                  </a:lnTo>
                  <a:lnTo>
                    <a:pt x="658" y="298"/>
                  </a:lnTo>
                  <a:lnTo>
                    <a:pt x="646" y="289"/>
                  </a:lnTo>
                  <a:lnTo>
                    <a:pt x="634" y="280"/>
                  </a:lnTo>
                  <a:lnTo>
                    <a:pt x="621" y="271"/>
                  </a:lnTo>
                  <a:lnTo>
                    <a:pt x="608" y="261"/>
                  </a:lnTo>
                  <a:lnTo>
                    <a:pt x="597" y="252"/>
                  </a:lnTo>
                  <a:lnTo>
                    <a:pt x="584" y="243"/>
                  </a:lnTo>
                  <a:lnTo>
                    <a:pt x="571" y="235"/>
                  </a:lnTo>
                  <a:lnTo>
                    <a:pt x="584" y="227"/>
                  </a:lnTo>
                  <a:lnTo>
                    <a:pt x="597" y="218"/>
                  </a:lnTo>
                  <a:lnTo>
                    <a:pt x="608" y="209"/>
                  </a:lnTo>
                  <a:lnTo>
                    <a:pt x="621" y="199"/>
                  </a:lnTo>
                  <a:lnTo>
                    <a:pt x="634" y="190"/>
                  </a:lnTo>
                  <a:lnTo>
                    <a:pt x="646" y="181"/>
                  </a:lnTo>
                  <a:lnTo>
                    <a:pt x="658" y="172"/>
                  </a:lnTo>
                  <a:lnTo>
                    <a:pt x="671" y="162"/>
                  </a:lnTo>
                  <a:lnTo>
                    <a:pt x="682" y="154"/>
                  </a:lnTo>
                  <a:lnTo>
                    <a:pt x="694" y="145"/>
                  </a:lnTo>
                  <a:lnTo>
                    <a:pt x="705" y="136"/>
                  </a:lnTo>
                  <a:lnTo>
                    <a:pt x="717" y="127"/>
                  </a:lnTo>
                  <a:lnTo>
                    <a:pt x="728" y="119"/>
                  </a:lnTo>
                  <a:lnTo>
                    <a:pt x="738" y="111"/>
                  </a:lnTo>
                  <a:lnTo>
                    <a:pt x="749" y="103"/>
                  </a:lnTo>
                  <a:lnTo>
                    <a:pt x="758" y="94"/>
                  </a:lnTo>
                  <a:lnTo>
                    <a:pt x="758" y="229"/>
                  </a:lnTo>
                  <a:lnTo>
                    <a:pt x="819" y="229"/>
                  </a:lnTo>
                  <a:lnTo>
                    <a:pt x="819" y="30"/>
                  </a:lnTo>
                  <a:lnTo>
                    <a:pt x="819" y="29"/>
                  </a:lnTo>
                  <a:lnTo>
                    <a:pt x="818" y="29"/>
                  </a:lnTo>
                  <a:lnTo>
                    <a:pt x="818" y="28"/>
                  </a:lnTo>
                  <a:lnTo>
                    <a:pt x="818" y="26"/>
                  </a:lnTo>
                  <a:lnTo>
                    <a:pt x="818" y="25"/>
                  </a:lnTo>
                  <a:lnTo>
                    <a:pt x="818" y="24"/>
                  </a:lnTo>
                  <a:lnTo>
                    <a:pt x="818" y="23"/>
                  </a:lnTo>
                  <a:lnTo>
                    <a:pt x="817" y="22"/>
                  </a:lnTo>
                  <a:lnTo>
                    <a:pt x="817" y="21"/>
                  </a:lnTo>
                  <a:lnTo>
                    <a:pt x="817" y="20"/>
                  </a:lnTo>
                  <a:lnTo>
                    <a:pt x="817" y="18"/>
                  </a:lnTo>
                  <a:lnTo>
                    <a:pt x="816" y="18"/>
                  </a:lnTo>
                  <a:lnTo>
                    <a:pt x="816" y="17"/>
                  </a:lnTo>
                  <a:lnTo>
                    <a:pt x="816" y="16"/>
                  </a:lnTo>
                  <a:lnTo>
                    <a:pt x="815" y="16"/>
                  </a:lnTo>
                  <a:lnTo>
                    <a:pt x="815" y="15"/>
                  </a:lnTo>
                  <a:lnTo>
                    <a:pt x="813" y="14"/>
                  </a:lnTo>
                  <a:lnTo>
                    <a:pt x="813" y="13"/>
                  </a:lnTo>
                  <a:lnTo>
                    <a:pt x="812" y="12"/>
                  </a:lnTo>
                  <a:lnTo>
                    <a:pt x="811" y="10"/>
                  </a:lnTo>
                  <a:lnTo>
                    <a:pt x="810" y="9"/>
                  </a:lnTo>
                  <a:lnTo>
                    <a:pt x="809" y="8"/>
                  </a:lnTo>
                  <a:lnTo>
                    <a:pt x="808" y="7"/>
                  </a:lnTo>
                  <a:lnTo>
                    <a:pt x="806" y="7"/>
                  </a:lnTo>
                  <a:lnTo>
                    <a:pt x="806" y="6"/>
                  </a:lnTo>
                  <a:lnTo>
                    <a:pt x="805" y="6"/>
                  </a:lnTo>
                  <a:lnTo>
                    <a:pt x="805" y="5"/>
                  </a:lnTo>
                  <a:lnTo>
                    <a:pt x="804" y="5"/>
                  </a:lnTo>
                  <a:lnTo>
                    <a:pt x="803" y="3"/>
                  </a:lnTo>
                  <a:lnTo>
                    <a:pt x="802" y="3"/>
                  </a:lnTo>
                  <a:lnTo>
                    <a:pt x="801" y="3"/>
                  </a:lnTo>
                  <a:lnTo>
                    <a:pt x="801" y="2"/>
                  </a:lnTo>
                  <a:lnTo>
                    <a:pt x="800" y="2"/>
                  </a:lnTo>
                  <a:lnTo>
                    <a:pt x="798" y="2"/>
                  </a:lnTo>
                  <a:lnTo>
                    <a:pt x="797" y="1"/>
                  </a:lnTo>
                  <a:lnTo>
                    <a:pt x="796" y="1"/>
                  </a:lnTo>
                  <a:lnTo>
                    <a:pt x="795" y="1"/>
                  </a:lnTo>
                  <a:lnTo>
                    <a:pt x="795" y="0"/>
                  </a:lnTo>
                  <a:lnTo>
                    <a:pt x="794" y="0"/>
                  </a:lnTo>
                  <a:lnTo>
                    <a:pt x="793" y="0"/>
                  </a:lnTo>
                  <a:lnTo>
                    <a:pt x="791" y="0"/>
                  </a:lnTo>
                  <a:lnTo>
                    <a:pt x="790" y="0"/>
                  </a:lnTo>
                  <a:lnTo>
                    <a:pt x="789" y="0"/>
                  </a:lnTo>
                  <a:lnTo>
                    <a:pt x="788" y="0"/>
                  </a:lnTo>
                  <a:lnTo>
                    <a:pt x="385" y="0"/>
                  </a:lnTo>
                  <a:lnTo>
                    <a:pt x="385" y="61"/>
                  </a:lnTo>
                  <a:lnTo>
                    <a:pt x="703" y="61"/>
                  </a:lnTo>
                  <a:lnTo>
                    <a:pt x="690" y="70"/>
                  </a:lnTo>
                  <a:lnTo>
                    <a:pt x="679" y="81"/>
                  </a:lnTo>
                  <a:lnTo>
                    <a:pt x="666" y="90"/>
                  </a:lnTo>
                  <a:lnTo>
                    <a:pt x="653" y="99"/>
                  </a:lnTo>
                  <a:lnTo>
                    <a:pt x="642" y="108"/>
                  </a:lnTo>
                  <a:lnTo>
                    <a:pt x="629" y="117"/>
                  </a:lnTo>
                  <a:lnTo>
                    <a:pt x="618" y="127"/>
                  </a:lnTo>
                  <a:lnTo>
                    <a:pt x="605" y="136"/>
                  </a:lnTo>
                  <a:lnTo>
                    <a:pt x="593" y="144"/>
                  </a:lnTo>
                  <a:lnTo>
                    <a:pt x="582" y="153"/>
                  </a:lnTo>
                  <a:lnTo>
                    <a:pt x="570" y="161"/>
                  </a:lnTo>
                  <a:lnTo>
                    <a:pt x="559" y="169"/>
                  </a:lnTo>
                  <a:lnTo>
                    <a:pt x="548" y="177"/>
                  </a:lnTo>
                  <a:lnTo>
                    <a:pt x="537" y="185"/>
                  </a:lnTo>
                  <a:lnTo>
                    <a:pt x="527" y="192"/>
                  </a:lnTo>
                  <a:lnTo>
                    <a:pt x="516" y="199"/>
                  </a:lnTo>
                  <a:lnTo>
                    <a:pt x="508" y="204"/>
                  </a:lnTo>
                  <a:lnTo>
                    <a:pt x="501" y="210"/>
                  </a:lnTo>
                  <a:lnTo>
                    <a:pt x="494" y="214"/>
                  </a:lnTo>
                  <a:lnTo>
                    <a:pt x="487" y="219"/>
                  </a:lnTo>
                  <a:lnTo>
                    <a:pt x="480" y="223"/>
                  </a:lnTo>
                  <a:lnTo>
                    <a:pt x="474" y="227"/>
                  </a:lnTo>
                  <a:lnTo>
                    <a:pt x="467" y="232"/>
                  </a:lnTo>
                  <a:lnTo>
                    <a:pt x="461" y="235"/>
                  </a:lnTo>
                  <a:lnTo>
                    <a:pt x="452" y="240"/>
                  </a:lnTo>
                  <a:lnTo>
                    <a:pt x="444" y="244"/>
                  </a:lnTo>
                  <a:lnTo>
                    <a:pt x="437" y="248"/>
                  </a:lnTo>
                  <a:lnTo>
                    <a:pt x="430" y="251"/>
                  </a:lnTo>
                  <a:lnTo>
                    <a:pt x="423" y="253"/>
                  </a:lnTo>
                  <a:lnTo>
                    <a:pt x="417" y="256"/>
                  </a:lnTo>
                  <a:lnTo>
                    <a:pt x="412" y="257"/>
                  </a:lnTo>
                  <a:lnTo>
                    <a:pt x="409" y="258"/>
                  </a:lnTo>
                  <a:lnTo>
                    <a:pt x="406" y="257"/>
                  </a:lnTo>
                  <a:lnTo>
                    <a:pt x="401" y="256"/>
                  </a:lnTo>
                  <a:lnTo>
                    <a:pt x="395" y="253"/>
                  </a:lnTo>
                  <a:lnTo>
                    <a:pt x="389" y="251"/>
                  </a:lnTo>
                  <a:lnTo>
                    <a:pt x="383" y="248"/>
                  </a:lnTo>
                  <a:lnTo>
                    <a:pt x="376" y="244"/>
                  </a:lnTo>
                  <a:lnTo>
                    <a:pt x="368" y="240"/>
                  </a:lnTo>
                  <a:lnTo>
                    <a:pt x="358" y="235"/>
                  </a:lnTo>
                  <a:lnTo>
                    <a:pt x="353" y="232"/>
                  </a:lnTo>
                  <a:lnTo>
                    <a:pt x="346" y="227"/>
                  </a:lnTo>
                  <a:lnTo>
                    <a:pt x="339" y="223"/>
                  </a:lnTo>
                  <a:lnTo>
                    <a:pt x="332" y="219"/>
                  </a:lnTo>
                  <a:lnTo>
                    <a:pt x="325" y="214"/>
                  </a:lnTo>
                  <a:lnTo>
                    <a:pt x="317" y="210"/>
                  </a:lnTo>
                  <a:lnTo>
                    <a:pt x="310" y="204"/>
                  </a:lnTo>
                  <a:lnTo>
                    <a:pt x="302" y="199"/>
                  </a:lnTo>
                  <a:lnTo>
                    <a:pt x="291" y="192"/>
                  </a:lnTo>
                  <a:lnTo>
                    <a:pt x="281" y="185"/>
                  </a:lnTo>
                  <a:lnTo>
                    <a:pt x="270" y="177"/>
                  </a:lnTo>
                  <a:lnTo>
                    <a:pt x="259" y="169"/>
                  </a:lnTo>
                  <a:lnTo>
                    <a:pt x="248" y="161"/>
                  </a:lnTo>
                  <a:lnTo>
                    <a:pt x="236" y="153"/>
                  </a:lnTo>
                  <a:lnTo>
                    <a:pt x="225" y="144"/>
                  </a:lnTo>
                  <a:lnTo>
                    <a:pt x="213" y="136"/>
                  </a:lnTo>
                  <a:lnTo>
                    <a:pt x="202" y="127"/>
                  </a:lnTo>
                  <a:lnTo>
                    <a:pt x="189" y="117"/>
                  </a:lnTo>
                  <a:lnTo>
                    <a:pt x="177" y="108"/>
                  </a:lnTo>
                  <a:lnTo>
                    <a:pt x="165" y="99"/>
                  </a:lnTo>
                  <a:lnTo>
                    <a:pt x="153" y="90"/>
                  </a:lnTo>
                  <a:lnTo>
                    <a:pt x="141" y="81"/>
                  </a:lnTo>
                  <a:lnTo>
                    <a:pt x="129" y="70"/>
                  </a:lnTo>
                  <a:lnTo>
                    <a:pt x="116" y="61"/>
                  </a:lnTo>
                  <a:lnTo>
                    <a:pt x="385" y="61"/>
                  </a:lnTo>
                  <a:lnTo>
                    <a:pt x="385" y="0"/>
                  </a:lnTo>
                  <a:lnTo>
                    <a:pt x="30" y="0"/>
                  </a:lnTo>
                  <a:lnTo>
                    <a:pt x="29" y="0"/>
                  </a:lnTo>
                  <a:lnTo>
                    <a:pt x="28" y="0"/>
                  </a:lnTo>
                  <a:lnTo>
                    <a:pt x="27" y="0"/>
                  </a:lnTo>
                  <a:lnTo>
                    <a:pt x="25" y="0"/>
                  </a:lnTo>
                  <a:lnTo>
                    <a:pt x="24" y="0"/>
                  </a:lnTo>
                  <a:lnTo>
                    <a:pt x="24" y="1"/>
                  </a:lnTo>
                  <a:lnTo>
                    <a:pt x="23" y="1"/>
                  </a:lnTo>
                  <a:lnTo>
                    <a:pt x="22" y="1"/>
                  </a:lnTo>
                  <a:lnTo>
                    <a:pt x="21" y="1"/>
                  </a:lnTo>
                  <a:lnTo>
                    <a:pt x="20" y="2"/>
                  </a:lnTo>
                  <a:lnTo>
                    <a:pt x="18" y="2"/>
                  </a:lnTo>
                  <a:lnTo>
                    <a:pt x="17" y="3"/>
                  </a:lnTo>
                  <a:lnTo>
                    <a:pt x="16" y="3"/>
                  </a:lnTo>
                  <a:lnTo>
                    <a:pt x="15" y="5"/>
                  </a:lnTo>
                  <a:lnTo>
                    <a:pt x="14" y="5"/>
                  </a:lnTo>
                  <a:lnTo>
                    <a:pt x="13" y="6"/>
                  </a:lnTo>
                  <a:lnTo>
                    <a:pt x="12" y="7"/>
                  </a:lnTo>
                  <a:lnTo>
                    <a:pt x="10" y="7"/>
                  </a:lnTo>
                  <a:lnTo>
                    <a:pt x="10" y="8"/>
                  </a:lnTo>
                  <a:lnTo>
                    <a:pt x="9" y="8"/>
                  </a:lnTo>
                  <a:lnTo>
                    <a:pt x="9" y="9"/>
                  </a:lnTo>
                  <a:lnTo>
                    <a:pt x="8" y="10"/>
                  </a:lnTo>
                  <a:lnTo>
                    <a:pt x="7" y="10"/>
                  </a:lnTo>
                  <a:lnTo>
                    <a:pt x="7" y="12"/>
                  </a:lnTo>
                  <a:lnTo>
                    <a:pt x="6" y="12"/>
                  </a:lnTo>
                  <a:lnTo>
                    <a:pt x="6" y="13"/>
                  </a:lnTo>
                  <a:lnTo>
                    <a:pt x="5" y="14"/>
                  </a:lnTo>
                  <a:lnTo>
                    <a:pt x="5" y="15"/>
                  </a:lnTo>
                  <a:lnTo>
                    <a:pt x="3" y="16"/>
                  </a:lnTo>
                  <a:lnTo>
                    <a:pt x="3" y="17"/>
                  </a:lnTo>
                  <a:lnTo>
                    <a:pt x="2" y="18"/>
                  </a:lnTo>
                  <a:lnTo>
                    <a:pt x="2" y="20"/>
                  </a:lnTo>
                  <a:lnTo>
                    <a:pt x="1" y="21"/>
                  </a:lnTo>
                  <a:lnTo>
                    <a:pt x="1" y="22"/>
                  </a:lnTo>
                  <a:lnTo>
                    <a:pt x="1" y="23"/>
                  </a:lnTo>
                  <a:lnTo>
                    <a:pt x="1" y="24"/>
                  </a:lnTo>
                  <a:lnTo>
                    <a:pt x="0" y="25"/>
                  </a:lnTo>
                  <a:lnTo>
                    <a:pt x="0" y="26"/>
                  </a:lnTo>
                  <a:lnTo>
                    <a:pt x="0" y="28"/>
                  </a:lnTo>
                  <a:lnTo>
                    <a:pt x="0" y="29"/>
                  </a:lnTo>
                  <a:lnTo>
                    <a:pt x="0" y="30"/>
                  </a:lnTo>
                  <a:lnTo>
                    <a:pt x="0" y="222"/>
                  </a:lnTo>
                  <a:lnTo>
                    <a:pt x="61" y="222"/>
                  </a:lnTo>
                  <a:lnTo>
                    <a:pt x="61" y="94"/>
                  </a:lnTo>
                  <a:lnTo>
                    <a:pt x="70" y="103"/>
                  </a:lnTo>
                  <a:lnTo>
                    <a:pt x="81" y="111"/>
                  </a:lnTo>
                  <a:lnTo>
                    <a:pt x="91" y="119"/>
                  </a:lnTo>
                  <a:lnTo>
                    <a:pt x="101" y="127"/>
                  </a:lnTo>
                  <a:lnTo>
                    <a:pt x="113" y="136"/>
                  </a:lnTo>
                  <a:lnTo>
                    <a:pt x="124" y="145"/>
                  </a:lnTo>
                  <a:lnTo>
                    <a:pt x="136" y="154"/>
                  </a:lnTo>
                  <a:lnTo>
                    <a:pt x="147" y="162"/>
                  </a:lnTo>
                  <a:lnTo>
                    <a:pt x="160" y="172"/>
                  </a:lnTo>
                  <a:lnTo>
                    <a:pt x="172" y="181"/>
                  </a:lnTo>
                  <a:lnTo>
                    <a:pt x="184" y="190"/>
                  </a:lnTo>
                  <a:lnTo>
                    <a:pt x="197" y="199"/>
                  </a:lnTo>
                  <a:lnTo>
                    <a:pt x="210" y="209"/>
                  </a:lnTo>
                  <a:lnTo>
                    <a:pt x="221" y="218"/>
                  </a:lnTo>
                  <a:lnTo>
                    <a:pt x="234" y="227"/>
                  </a:lnTo>
                  <a:lnTo>
                    <a:pt x="247" y="235"/>
                  </a:lnTo>
                  <a:lnTo>
                    <a:pt x="234" y="243"/>
                  </a:lnTo>
                  <a:lnTo>
                    <a:pt x="221" y="252"/>
                  </a:lnTo>
                  <a:lnTo>
                    <a:pt x="210" y="261"/>
                  </a:lnTo>
                  <a:lnTo>
                    <a:pt x="197" y="271"/>
                  </a:lnTo>
                  <a:lnTo>
                    <a:pt x="184" y="280"/>
                  </a:lnTo>
                  <a:lnTo>
                    <a:pt x="172" y="289"/>
                  </a:lnTo>
                  <a:lnTo>
                    <a:pt x="160" y="298"/>
                  </a:lnTo>
                  <a:lnTo>
                    <a:pt x="147" y="306"/>
                  </a:lnTo>
                  <a:lnTo>
                    <a:pt x="136" y="316"/>
                  </a:lnTo>
                  <a:lnTo>
                    <a:pt x="124" y="325"/>
                  </a:lnTo>
                  <a:lnTo>
                    <a:pt x="113" y="334"/>
                  </a:lnTo>
                  <a:lnTo>
                    <a:pt x="101" y="343"/>
                  </a:lnTo>
                  <a:lnTo>
                    <a:pt x="91" y="351"/>
                  </a:lnTo>
                  <a:lnTo>
                    <a:pt x="81" y="359"/>
                  </a:lnTo>
                  <a:lnTo>
                    <a:pt x="70" y="367"/>
                  </a:lnTo>
                  <a:lnTo>
                    <a:pt x="61" y="376"/>
                  </a:lnTo>
                  <a:lnTo>
                    <a:pt x="61" y="222"/>
                  </a:lnTo>
                  <a:lnTo>
                    <a:pt x="0" y="222"/>
                  </a:lnTo>
                  <a:lnTo>
                    <a:pt x="0" y="440"/>
                  </a:lnTo>
                  <a:lnTo>
                    <a:pt x="0" y="44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p>
          </p:txBody>
        </p:sp>
        <p:sp>
          <p:nvSpPr>
            <p:cNvPr id="23579" name="AutoShape 85"/>
            <p:cNvSpPr>
              <a:spLocks noChangeArrowheads="1"/>
            </p:cNvSpPr>
            <p:nvPr/>
          </p:nvSpPr>
          <p:spPr bwMode="auto">
            <a:xfrm rot="5400000" flipH="1">
              <a:off x="561" y="557"/>
              <a:ext cx="130" cy="209"/>
            </a:xfrm>
            <a:prstGeom prst="upArrow">
              <a:avLst>
                <a:gd name="adj1" fmla="val 50000"/>
                <a:gd name="adj2" fmla="val 57363"/>
              </a:avLst>
            </a:prstGeom>
            <a:solidFill>
              <a:srgbClr val="3333FF"/>
            </a:solidFill>
            <a:ln w="9525" algn="ctr">
              <a:solidFill>
                <a:srgbClr val="B2B2B2"/>
              </a:solidFill>
              <a:miter lim="800000"/>
              <a:headEnd/>
              <a:tailEnd/>
            </a:ln>
          </p:spPr>
          <p:txBody>
            <a:bodyPr rot="10800000" vert="eaVert"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2000">
                <a:latin typeface="標楷體" panose="03000509000000000000" pitchFamily="65" charset="-120"/>
                <a:ea typeface="標楷體" panose="03000509000000000000" pitchFamily="65" charset="-120"/>
              </a:endParaRPr>
            </a:p>
          </p:txBody>
        </p:sp>
        <p:sp>
          <p:nvSpPr>
            <p:cNvPr id="23580" name="AutoShape 85"/>
            <p:cNvSpPr>
              <a:spLocks noChangeArrowheads="1"/>
            </p:cNvSpPr>
            <p:nvPr/>
          </p:nvSpPr>
          <p:spPr bwMode="auto">
            <a:xfrm rot="5400000" flipH="1">
              <a:off x="1287" y="551"/>
              <a:ext cx="130" cy="209"/>
            </a:xfrm>
            <a:prstGeom prst="upArrow">
              <a:avLst>
                <a:gd name="adj1" fmla="val 50000"/>
                <a:gd name="adj2" fmla="val 57363"/>
              </a:avLst>
            </a:prstGeom>
            <a:solidFill>
              <a:srgbClr val="3333FF"/>
            </a:solidFill>
            <a:ln w="9525" algn="ctr">
              <a:solidFill>
                <a:srgbClr val="B2B2B2"/>
              </a:solidFill>
              <a:miter lim="800000"/>
              <a:headEnd/>
              <a:tailEnd/>
            </a:ln>
          </p:spPr>
          <p:txBody>
            <a:bodyPr rot="10800000" vert="eaVert"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2000">
                <a:latin typeface="標楷體" panose="03000509000000000000" pitchFamily="65" charset="-120"/>
                <a:ea typeface="標楷體" panose="03000509000000000000" pitchFamily="65" charset="-120"/>
              </a:endParaRPr>
            </a:p>
          </p:txBody>
        </p:sp>
        <p:sp>
          <p:nvSpPr>
            <p:cNvPr id="23581" name="AutoShape 85"/>
            <p:cNvSpPr>
              <a:spLocks noChangeArrowheads="1"/>
            </p:cNvSpPr>
            <p:nvPr/>
          </p:nvSpPr>
          <p:spPr bwMode="auto">
            <a:xfrm rot="5400000" flipH="1">
              <a:off x="1967" y="551"/>
              <a:ext cx="130" cy="209"/>
            </a:xfrm>
            <a:prstGeom prst="upArrow">
              <a:avLst>
                <a:gd name="adj1" fmla="val 50000"/>
                <a:gd name="adj2" fmla="val 57363"/>
              </a:avLst>
            </a:prstGeom>
            <a:solidFill>
              <a:srgbClr val="3333FF"/>
            </a:solidFill>
            <a:ln w="9525" algn="ctr">
              <a:solidFill>
                <a:srgbClr val="B2B2B2"/>
              </a:solidFill>
              <a:miter lim="800000"/>
              <a:headEnd/>
              <a:tailEnd/>
            </a:ln>
          </p:spPr>
          <p:txBody>
            <a:bodyPr rot="10800000" vert="eaVert"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2000">
                <a:latin typeface="標楷體" panose="03000509000000000000" pitchFamily="65" charset="-120"/>
                <a:ea typeface="標楷體" panose="03000509000000000000" pitchFamily="65" charset="-120"/>
              </a:endParaRPr>
            </a:p>
          </p:txBody>
        </p:sp>
        <p:sp>
          <p:nvSpPr>
            <p:cNvPr id="23582" name="AutoShape 85"/>
            <p:cNvSpPr>
              <a:spLocks noChangeArrowheads="1"/>
            </p:cNvSpPr>
            <p:nvPr/>
          </p:nvSpPr>
          <p:spPr bwMode="auto">
            <a:xfrm rot="5400000" flipH="1">
              <a:off x="2739" y="551"/>
              <a:ext cx="130" cy="209"/>
            </a:xfrm>
            <a:prstGeom prst="upArrow">
              <a:avLst>
                <a:gd name="adj1" fmla="val 50000"/>
                <a:gd name="adj2" fmla="val 57363"/>
              </a:avLst>
            </a:prstGeom>
            <a:solidFill>
              <a:srgbClr val="3333FF"/>
            </a:solidFill>
            <a:ln w="9525" algn="ctr">
              <a:solidFill>
                <a:srgbClr val="B2B2B2"/>
              </a:solidFill>
              <a:miter lim="800000"/>
              <a:headEnd/>
              <a:tailEnd/>
            </a:ln>
          </p:spPr>
          <p:txBody>
            <a:bodyPr rot="10800000" vert="eaVert"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2000">
                <a:latin typeface="標楷體" panose="03000509000000000000" pitchFamily="65" charset="-120"/>
                <a:ea typeface="標楷體" panose="03000509000000000000" pitchFamily="65" charset="-120"/>
              </a:endParaRPr>
            </a:p>
          </p:txBody>
        </p:sp>
        <p:sp>
          <p:nvSpPr>
            <p:cNvPr id="23583" name="AutoShape 85"/>
            <p:cNvSpPr>
              <a:spLocks noChangeArrowheads="1"/>
            </p:cNvSpPr>
            <p:nvPr/>
          </p:nvSpPr>
          <p:spPr bwMode="auto">
            <a:xfrm rot="5400000" flipH="1">
              <a:off x="3510" y="551"/>
              <a:ext cx="130" cy="209"/>
            </a:xfrm>
            <a:prstGeom prst="upArrow">
              <a:avLst>
                <a:gd name="adj1" fmla="val 50000"/>
                <a:gd name="adj2" fmla="val 57363"/>
              </a:avLst>
            </a:prstGeom>
            <a:solidFill>
              <a:srgbClr val="3333FF"/>
            </a:solidFill>
            <a:ln w="9525" algn="ctr">
              <a:solidFill>
                <a:srgbClr val="B2B2B2"/>
              </a:solidFill>
              <a:miter lim="800000"/>
              <a:headEnd/>
              <a:tailEnd/>
            </a:ln>
          </p:spPr>
          <p:txBody>
            <a:bodyPr rot="10800000" vert="eaVert" wrap="none"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2000">
                <a:latin typeface="標楷體" panose="03000509000000000000" pitchFamily="65" charset="-120"/>
                <a:ea typeface="標楷體" panose="03000509000000000000" pitchFamily="65" charset="-120"/>
              </a:endParaRPr>
            </a:p>
          </p:txBody>
        </p:sp>
      </p:grpSp>
      <p:pic>
        <p:nvPicPr>
          <p:cNvPr id="108666" name="Picture 122" descr="j04315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5250" y="3821113"/>
            <a:ext cx="5048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668" name="Text Box 124"/>
          <p:cNvSpPr txBox="1">
            <a:spLocks noChangeArrowheads="1"/>
          </p:cNvSpPr>
          <p:nvPr/>
        </p:nvSpPr>
        <p:spPr bwMode="auto">
          <a:xfrm>
            <a:off x="2865438" y="3749675"/>
            <a:ext cx="1262062" cy="307975"/>
          </a:xfrm>
          <a:prstGeom prst="rect">
            <a:avLst/>
          </a:prstGeom>
          <a:noFill/>
          <a:ln w="9525">
            <a:noFill/>
            <a:miter lim="800000"/>
            <a:headEnd/>
            <a:tailEnd/>
          </a:ln>
          <a:effectLst/>
        </p:spPr>
        <p:txBody>
          <a:bodyPr wrap="none">
            <a:spAutoFit/>
          </a:bodyPr>
          <a:lstStyle/>
          <a:p>
            <a:pPr fontAlgn="auto">
              <a:spcBef>
                <a:spcPts val="0"/>
              </a:spcBef>
              <a:spcAft>
                <a:spcPts val="0"/>
              </a:spcAft>
              <a:defRPr/>
            </a:pPr>
            <a:r>
              <a:rPr kumimoji="0" lang="en-US" altLang="zh-TW" sz="1400" b="1" dirty="0">
                <a:effectLst>
                  <a:outerShdw blurRad="38100" dist="38100" dir="2700000" algn="tl">
                    <a:srgbClr val="C0C0C0"/>
                  </a:outerShdw>
                </a:effectLst>
                <a:latin typeface="標楷體" pitchFamily="65" charset="-120"/>
                <a:ea typeface="標楷體" pitchFamily="65" charset="-120"/>
              </a:rPr>
              <a:t>ASRC</a:t>
            </a:r>
            <a:r>
              <a:rPr kumimoji="0" lang="zh-TW" altLang="en-US" sz="1400" b="1" dirty="0">
                <a:effectLst>
                  <a:outerShdw blurRad="38100" dist="38100" dir="2700000" algn="tl">
                    <a:srgbClr val="C0C0C0"/>
                  </a:outerShdw>
                </a:effectLst>
                <a:latin typeface="標楷體" pitchFamily="65" charset="-120"/>
                <a:ea typeface="標楷體" pitchFamily="65" charset="-120"/>
              </a:rPr>
              <a:t>流量控制</a:t>
            </a:r>
          </a:p>
        </p:txBody>
      </p:sp>
      <p:sp>
        <p:nvSpPr>
          <p:cNvPr id="108669" name="Text Box 125"/>
          <p:cNvSpPr txBox="1">
            <a:spLocks noChangeArrowheads="1"/>
          </p:cNvSpPr>
          <p:nvPr/>
        </p:nvSpPr>
        <p:spPr bwMode="auto">
          <a:xfrm>
            <a:off x="2865438" y="4106863"/>
            <a:ext cx="1262062" cy="307975"/>
          </a:xfrm>
          <a:prstGeom prst="rect">
            <a:avLst/>
          </a:prstGeom>
          <a:noFill/>
          <a:ln w="9525">
            <a:noFill/>
            <a:miter lim="800000"/>
            <a:headEnd/>
            <a:tailEnd/>
          </a:ln>
          <a:effectLst/>
        </p:spPr>
        <p:txBody>
          <a:bodyPr wrap="none">
            <a:spAutoFit/>
          </a:bodyPr>
          <a:lstStyle/>
          <a:p>
            <a:pPr fontAlgn="auto">
              <a:spcBef>
                <a:spcPts val="0"/>
              </a:spcBef>
              <a:spcAft>
                <a:spcPts val="0"/>
              </a:spcAft>
              <a:defRPr/>
            </a:pPr>
            <a:r>
              <a:rPr kumimoji="0" lang="en-US" altLang="zh-TW" sz="1400" b="1" dirty="0">
                <a:effectLst>
                  <a:outerShdw blurRad="38100" dist="38100" dir="2700000" algn="tl">
                    <a:srgbClr val="C0C0C0"/>
                  </a:outerShdw>
                </a:effectLst>
                <a:latin typeface="標楷體" pitchFamily="65" charset="-120"/>
                <a:ea typeface="標楷體" pitchFamily="65" charset="-120"/>
              </a:rPr>
              <a:t>ASRC</a:t>
            </a:r>
            <a:r>
              <a:rPr kumimoji="0" lang="zh-TW" altLang="en-US" sz="1400" b="1" dirty="0">
                <a:effectLst>
                  <a:outerShdw blurRad="38100" dist="38100" dir="2700000" algn="tl">
                    <a:srgbClr val="C0C0C0"/>
                  </a:outerShdw>
                </a:effectLst>
                <a:latin typeface="標楷體" pitchFamily="65" charset="-120"/>
                <a:ea typeface="標楷體" pitchFamily="65" charset="-120"/>
              </a:rPr>
              <a:t>附件辨識</a:t>
            </a:r>
          </a:p>
        </p:txBody>
      </p:sp>
    </p:spTree>
    <p:extLst>
      <p:ext uri="{BB962C8B-B14F-4D97-AF65-F5344CB8AC3E}">
        <p14:creationId xmlns:p14="http://schemas.microsoft.com/office/powerpoint/2010/main" val="1407272575"/>
      </p:ext>
    </p:extLst>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mph" presetSubtype="0" repeatCount="indefinite" fill="hold" nodeType="withEffect">
                                  <p:stCondLst>
                                    <p:cond delay="0"/>
                                  </p:stCondLst>
                                  <p:childTnLst>
                                    <p:animRot by="21600000">
                                      <p:cBhvr>
                                        <p:cTn id="6" dur="2000" fill="hold"/>
                                        <p:tgtEl>
                                          <p:spTgt spid="108666"/>
                                        </p:tgtEl>
                                        <p:attrNameLst>
                                          <p:attrName>r</p:attrName>
                                        </p:attrNameLst>
                                      </p:cBhvr>
                                    </p:animRot>
                                  </p:childTnLst>
                                </p:cTn>
                              </p:par>
                            </p:childTnLst>
                          </p:cTn>
                        </p:par>
                        <p:par>
                          <p:cTn id="7" fill="hold" nodeType="afterGroup">
                            <p:stCondLst>
                              <p:cond delay="2000"/>
                            </p:stCondLst>
                            <p:childTnLst>
                              <p:par>
                                <p:cTn id="8" presetID="29" presetClass="entr" presetSubtype="0" fill="hold" nodeType="afterEffect">
                                  <p:stCondLst>
                                    <p:cond delay="500"/>
                                  </p:stCondLst>
                                  <p:childTnLst>
                                    <p:set>
                                      <p:cBhvr>
                                        <p:cTn id="9" dur="1" fill="hold">
                                          <p:stCondLst>
                                            <p:cond delay="0"/>
                                          </p:stCondLst>
                                        </p:cTn>
                                        <p:tgtEl>
                                          <p:spTgt spid="24"/>
                                        </p:tgtEl>
                                        <p:attrNameLst>
                                          <p:attrName>style.visibility</p:attrName>
                                        </p:attrNameLst>
                                      </p:cBhvr>
                                      <p:to>
                                        <p:strVal val="visible"/>
                                      </p:to>
                                    </p:set>
                                    <p:anim calcmode="lin" valueType="num">
                                      <p:cBhvr>
                                        <p:cTn id="10" dur="1000" fill="hold"/>
                                        <p:tgtEl>
                                          <p:spTgt spid="24"/>
                                        </p:tgtEl>
                                        <p:attrNameLst>
                                          <p:attrName>ppt_x</p:attrName>
                                        </p:attrNameLst>
                                      </p:cBhvr>
                                      <p:tavLst>
                                        <p:tav tm="0">
                                          <p:val>
                                            <p:strVal val="#ppt_x-.2"/>
                                          </p:val>
                                        </p:tav>
                                        <p:tav tm="100000">
                                          <p:val>
                                            <p:strVal val="#ppt_x"/>
                                          </p:val>
                                        </p:tav>
                                      </p:tavLst>
                                    </p:anim>
                                    <p:anim calcmode="lin" valueType="num">
                                      <p:cBhvr>
                                        <p:cTn id="11" dur="1000" fill="hold"/>
                                        <p:tgtEl>
                                          <p:spTgt spid="24"/>
                                        </p:tgtEl>
                                        <p:attrNameLst>
                                          <p:attrName>ppt_y</p:attrName>
                                        </p:attrNameLst>
                                      </p:cBhvr>
                                      <p:tavLst>
                                        <p:tav tm="0">
                                          <p:val>
                                            <p:strVal val="#ppt_y"/>
                                          </p:val>
                                        </p:tav>
                                        <p:tav tm="100000">
                                          <p:val>
                                            <p:strVal val="#ppt_y"/>
                                          </p:val>
                                        </p:tav>
                                      </p:tavLst>
                                    </p:anim>
                                    <p:animEffect transition="in" filter="wipe(right)" prLst="gradientSize: 0.1">
                                      <p:cBhvr>
                                        <p:cTn id="12" dur="1000"/>
                                        <p:tgtEl>
                                          <p:spTgt spid="24"/>
                                        </p:tgtEl>
                                      </p:cBhvr>
                                    </p:animEffect>
                                  </p:childTnLst>
                                </p:cTn>
                              </p:par>
                            </p:childTnLst>
                          </p:cTn>
                        </p:par>
                        <p:par>
                          <p:cTn id="13" fill="hold" nodeType="afterGroup">
                            <p:stCondLst>
                              <p:cond delay="3500"/>
                            </p:stCondLst>
                            <p:childTnLst>
                              <p:par>
                                <p:cTn id="14" presetID="42" presetClass="entr" presetSubtype="0" fill="hold" nodeType="afterEffect">
                                  <p:stCondLst>
                                    <p:cond delay="5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1000"/>
                                        <p:tgtEl>
                                          <p:spTgt spid="9"/>
                                        </p:tgtEl>
                                      </p:cBhvr>
                                    </p:animEffect>
                                    <p:anim calcmode="lin" valueType="num">
                                      <p:cBhvr>
                                        <p:cTn id="17" dur="1000" fill="hold"/>
                                        <p:tgtEl>
                                          <p:spTgt spid="9"/>
                                        </p:tgtEl>
                                        <p:attrNameLst>
                                          <p:attrName>ppt_x</p:attrName>
                                        </p:attrNameLst>
                                      </p:cBhvr>
                                      <p:tavLst>
                                        <p:tav tm="0">
                                          <p:val>
                                            <p:strVal val="#ppt_x"/>
                                          </p:val>
                                        </p:tav>
                                        <p:tav tm="100000">
                                          <p:val>
                                            <p:strVal val="#ppt_x"/>
                                          </p:val>
                                        </p:tav>
                                      </p:tavLst>
                                    </p:anim>
                                    <p:anim calcmode="lin" valueType="num">
                                      <p:cBhvr>
                                        <p:cTn id="18" dur="1000" fill="hold"/>
                                        <p:tgtEl>
                                          <p:spTgt spid="9"/>
                                        </p:tgtEl>
                                        <p:attrNameLst>
                                          <p:attrName>ppt_y</p:attrName>
                                        </p:attrNameLst>
                                      </p:cBhvr>
                                      <p:tavLst>
                                        <p:tav tm="0">
                                          <p:val>
                                            <p:strVal val="#ppt_y+.1"/>
                                          </p:val>
                                        </p:tav>
                                        <p:tav tm="100000">
                                          <p:val>
                                            <p:strVal val="#ppt_y"/>
                                          </p:val>
                                        </p:tav>
                                      </p:tavLst>
                                    </p:anim>
                                  </p:childTnLst>
                                </p:cTn>
                              </p:par>
                            </p:childTnLst>
                          </p:cTn>
                        </p:par>
                        <p:par>
                          <p:cTn id="19" fill="hold" nodeType="afterGroup">
                            <p:stCondLst>
                              <p:cond delay="5000"/>
                            </p:stCondLst>
                            <p:childTnLst>
                              <p:par>
                                <p:cTn id="20" presetID="42" presetClass="entr" presetSubtype="0" fill="hold" nodeType="afterEffect">
                                  <p:stCondLst>
                                    <p:cond delay="50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000"/>
                                        <p:tgtEl>
                                          <p:spTgt spid="13"/>
                                        </p:tgtEl>
                                      </p:cBhvr>
                                    </p:animEffect>
                                    <p:anim calcmode="lin" valueType="num">
                                      <p:cBhvr>
                                        <p:cTn id="23" dur="1000" fill="hold"/>
                                        <p:tgtEl>
                                          <p:spTgt spid="13"/>
                                        </p:tgtEl>
                                        <p:attrNameLst>
                                          <p:attrName>ppt_x</p:attrName>
                                        </p:attrNameLst>
                                      </p:cBhvr>
                                      <p:tavLst>
                                        <p:tav tm="0">
                                          <p:val>
                                            <p:strVal val="#ppt_x"/>
                                          </p:val>
                                        </p:tav>
                                        <p:tav tm="100000">
                                          <p:val>
                                            <p:strVal val="#ppt_x"/>
                                          </p:val>
                                        </p:tav>
                                      </p:tavLst>
                                    </p:anim>
                                    <p:anim calcmode="lin" valueType="num">
                                      <p:cBhvr>
                                        <p:cTn id="24" dur="1000" fill="hold"/>
                                        <p:tgtEl>
                                          <p:spTgt spid="13"/>
                                        </p:tgtEl>
                                        <p:attrNameLst>
                                          <p:attrName>ppt_y</p:attrName>
                                        </p:attrNameLst>
                                      </p:cBhvr>
                                      <p:tavLst>
                                        <p:tav tm="0">
                                          <p:val>
                                            <p:strVal val="#ppt_y+.1"/>
                                          </p:val>
                                        </p:tav>
                                        <p:tav tm="100000">
                                          <p:val>
                                            <p:strVal val="#ppt_y"/>
                                          </p:val>
                                        </p:tav>
                                      </p:tavLst>
                                    </p:anim>
                                  </p:childTnLst>
                                </p:cTn>
                              </p:par>
                            </p:childTnLst>
                          </p:cTn>
                        </p:par>
                        <p:par>
                          <p:cTn id="25" fill="hold" nodeType="afterGroup">
                            <p:stCondLst>
                              <p:cond delay="6500"/>
                            </p:stCondLst>
                            <p:childTnLst>
                              <p:par>
                                <p:cTn id="26" presetID="47" presetClass="entr" presetSubtype="0" fill="hold" nodeType="afterEffect">
                                  <p:stCondLst>
                                    <p:cond delay="50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1000"/>
                                        <p:tgtEl>
                                          <p:spTgt spid="18"/>
                                        </p:tgtEl>
                                      </p:cBhvr>
                                    </p:animEffect>
                                    <p:anim calcmode="lin" valueType="num">
                                      <p:cBhvr>
                                        <p:cTn id="29" dur="1000" fill="hold"/>
                                        <p:tgtEl>
                                          <p:spTgt spid="18"/>
                                        </p:tgtEl>
                                        <p:attrNameLst>
                                          <p:attrName>ppt_x</p:attrName>
                                        </p:attrNameLst>
                                      </p:cBhvr>
                                      <p:tavLst>
                                        <p:tav tm="0">
                                          <p:val>
                                            <p:strVal val="#ppt_x"/>
                                          </p:val>
                                        </p:tav>
                                        <p:tav tm="100000">
                                          <p:val>
                                            <p:strVal val="#ppt_x"/>
                                          </p:val>
                                        </p:tav>
                                      </p:tavLst>
                                    </p:anim>
                                    <p:anim calcmode="lin" valueType="num">
                                      <p:cBhvr>
                                        <p:cTn id="30" dur="1000" fill="hold"/>
                                        <p:tgtEl>
                                          <p:spTgt spid="18"/>
                                        </p:tgtEl>
                                        <p:attrNameLst>
                                          <p:attrName>ppt_y</p:attrName>
                                        </p:attrNameLst>
                                      </p:cBhvr>
                                      <p:tavLst>
                                        <p:tav tm="0">
                                          <p:val>
                                            <p:strVal val="#ppt_y-.1"/>
                                          </p:val>
                                        </p:tav>
                                        <p:tav tm="100000">
                                          <p:val>
                                            <p:strVal val="#ppt_y"/>
                                          </p:val>
                                        </p:tav>
                                      </p:tavLst>
                                    </p:anim>
                                  </p:childTnLst>
                                </p:cTn>
                              </p:par>
                            </p:childTnLst>
                          </p:cTn>
                        </p:par>
                        <p:par>
                          <p:cTn id="31" fill="hold" nodeType="afterGroup">
                            <p:stCondLst>
                              <p:cond delay="8000"/>
                            </p:stCondLst>
                            <p:childTnLst>
                              <p:par>
                                <p:cTn id="32" presetID="16" presetClass="entr" presetSubtype="21" fill="hold" nodeType="afterEffect">
                                  <p:stCondLst>
                                    <p:cond delay="500"/>
                                  </p:stCondLst>
                                  <p:childTnLst>
                                    <p:set>
                                      <p:cBhvr>
                                        <p:cTn id="33" dur="1" fill="hold">
                                          <p:stCondLst>
                                            <p:cond delay="0"/>
                                          </p:stCondLst>
                                        </p:cTn>
                                        <p:tgtEl>
                                          <p:spTgt spid="19"/>
                                        </p:tgtEl>
                                        <p:attrNameLst>
                                          <p:attrName>style.visibility</p:attrName>
                                        </p:attrNameLst>
                                      </p:cBhvr>
                                      <p:to>
                                        <p:strVal val="visible"/>
                                      </p:to>
                                    </p:set>
                                    <p:animEffect transition="in" filter="barn(inVertical)">
                                      <p:cBhvr>
                                        <p:cTn id="34" dur="1000"/>
                                        <p:tgtEl>
                                          <p:spTgt spid="19"/>
                                        </p:tgtEl>
                                      </p:cBhvr>
                                    </p:animEffect>
                                  </p:childTnLst>
                                </p:cTn>
                              </p:par>
                              <p:par>
                                <p:cTn id="35" presetID="1" presetClass="entr" presetSubtype="0" fill="hold" grpId="0" nodeType="withEffect">
                                  <p:stCondLst>
                                    <p:cond delay="500"/>
                                  </p:stCondLst>
                                  <p:childTnLst>
                                    <p:set>
                                      <p:cBhvr>
                                        <p:cTn id="36" dur="1" fill="hold">
                                          <p:stCondLst>
                                            <p:cond delay="0"/>
                                          </p:stCondLst>
                                        </p:cTn>
                                        <p:tgtEl>
                                          <p:spTgt spid="10866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866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865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86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653" grpId="0"/>
      <p:bldP spid="108654" grpId="0"/>
      <p:bldP spid="108668" grpId="0"/>
      <p:bldP spid="10866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標題 1"/>
          <p:cNvSpPr>
            <a:spLocks noGrp="1"/>
          </p:cNvSpPr>
          <p:nvPr>
            <p:ph type="title"/>
          </p:nvPr>
        </p:nvSpPr>
        <p:spPr>
          <a:xfrm>
            <a:off x="2339975" y="0"/>
            <a:ext cx="6875463" cy="908050"/>
          </a:xfrm>
        </p:spPr>
        <p:txBody>
          <a:bodyPr/>
          <a:lstStyle/>
          <a:p>
            <a:r>
              <a:rPr lang="en-US" altLang="zh-TW" smtClean="0">
                <a:solidFill>
                  <a:srgbClr val="FFC000"/>
                </a:solidFill>
                <a:ea typeface="標楷體" panose="03000509000000000000" pitchFamily="65" charset="-120"/>
              </a:rPr>
              <a:t>SPAM SQR</a:t>
            </a:r>
            <a:r>
              <a:rPr lang="zh-TW" altLang="en-US" sz="3200" smtClean="0">
                <a:solidFill>
                  <a:srgbClr val="FFC000"/>
                </a:solidFill>
              </a:rPr>
              <a:t>運作架構</a:t>
            </a:r>
            <a:r>
              <a:rPr lang="en-US" altLang="zh-TW" sz="3200" smtClean="0">
                <a:solidFill>
                  <a:srgbClr val="FFC000"/>
                </a:solidFill>
              </a:rPr>
              <a:t>(</a:t>
            </a:r>
            <a:r>
              <a:rPr lang="zh-TW" altLang="en-US" sz="3200" smtClean="0">
                <a:solidFill>
                  <a:srgbClr val="FFC000"/>
                </a:solidFill>
              </a:rPr>
              <a:t>內寄郵件</a:t>
            </a:r>
            <a:r>
              <a:rPr lang="en-US" altLang="zh-TW" sz="3200" smtClean="0">
                <a:solidFill>
                  <a:srgbClr val="FFC000"/>
                </a:solidFill>
              </a:rPr>
              <a:t>)</a:t>
            </a:r>
            <a:endParaRPr lang="zh-TW" altLang="en-US" sz="3200" smtClean="0"/>
          </a:p>
        </p:txBody>
      </p:sp>
      <p:grpSp>
        <p:nvGrpSpPr>
          <p:cNvPr id="2" name="Group 289"/>
          <p:cNvGrpSpPr>
            <a:grpSpLocks/>
          </p:cNvGrpSpPr>
          <p:nvPr/>
        </p:nvGrpSpPr>
        <p:grpSpPr bwMode="auto">
          <a:xfrm>
            <a:off x="5724127" y="1700808"/>
            <a:ext cx="720081" cy="575568"/>
            <a:chOff x="4060" y="406"/>
            <a:chExt cx="1153" cy="756"/>
          </a:xfrm>
          <a:solidFill>
            <a:srgbClr val="00B0F0"/>
          </a:solidFill>
        </p:grpSpPr>
        <p:sp>
          <p:nvSpPr>
            <p:cNvPr id="20" name="Freeform 290"/>
            <p:cNvSpPr>
              <a:spLocks/>
            </p:cNvSpPr>
            <p:nvPr/>
          </p:nvSpPr>
          <p:spPr bwMode="auto">
            <a:xfrm>
              <a:off x="4201" y="406"/>
              <a:ext cx="880" cy="539"/>
            </a:xfrm>
            <a:custGeom>
              <a:avLst/>
              <a:gdLst>
                <a:gd name="T0" fmla="*/ 1 w 1758"/>
                <a:gd name="T1" fmla="*/ 1 h 1078"/>
                <a:gd name="T2" fmla="*/ 1 w 1758"/>
                <a:gd name="T3" fmla="*/ 1 h 1078"/>
                <a:gd name="T4" fmla="*/ 1 w 1758"/>
                <a:gd name="T5" fmla="*/ 1 h 1078"/>
                <a:gd name="T6" fmla="*/ 1 w 1758"/>
                <a:gd name="T7" fmla="*/ 1 h 1078"/>
                <a:gd name="T8" fmla="*/ 1 w 1758"/>
                <a:gd name="T9" fmla="*/ 1 h 1078"/>
                <a:gd name="T10" fmla="*/ 1 w 1758"/>
                <a:gd name="T11" fmla="*/ 1 h 1078"/>
                <a:gd name="T12" fmla="*/ 1 w 1758"/>
                <a:gd name="T13" fmla="*/ 1 h 1078"/>
                <a:gd name="T14" fmla="*/ 1 w 1758"/>
                <a:gd name="T15" fmla="*/ 1 h 1078"/>
                <a:gd name="T16" fmla="*/ 1 w 1758"/>
                <a:gd name="T17" fmla="*/ 1 h 1078"/>
                <a:gd name="T18" fmla="*/ 1 w 1758"/>
                <a:gd name="T19" fmla="*/ 1 h 1078"/>
                <a:gd name="T20" fmla="*/ 1 w 1758"/>
                <a:gd name="T21" fmla="*/ 1 h 1078"/>
                <a:gd name="T22" fmla="*/ 1 w 1758"/>
                <a:gd name="T23" fmla="*/ 1 h 1078"/>
                <a:gd name="T24" fmla="*/ 1 w 1758"/>
                <a:gd name="T25" fmla="*/ 1 h 1078"/>
                <a:gd name="T26" fmla="*/ 1 w 1758"/>
                <a:gd name="T27" fmla="*/ 1 h 1078"/>
                <a:gd name="T28" fmla="*/ 1 w 1758"/>
                <a:gd name="T29" fmla="*/ 1 h 1078"/>
                <a:gd name="T30" fmla="*/ 1 w 1758"/>
                <a:gd name="T31" fmla="*/ 1 h 1078"/>
                <a:gd name="T32" fmla="*/ 1 w 1758"/>
                <a:gd name="T33" fmla="*/ 1 h 1078"/>
                <a:gd name="T34" fmla="*/ 1 w 1758"/>
                <a:gd name="T35" fmla="*/ 1 h 1078"/>
                <a:gd name="T36" fmla="*/ 1 w 1758"/>
                <a:gd name="T37" fmla="*/ 1 h 1078"/>
                <a:gd name="T38" fmla="*/ 1 w 1758"/>
                <a:gd name="T39" fmla="*/ 1 h 1078"/>
                <a:gd name="T40" fmla="*/ 1 w 1758"/>
                <a:gd name="T41" fmla="*/ 1 h 1078"/>
                <a:gd name="T42" fmla="*/ 1 w 1758"/>
                <a:gd name="T43" fmla="*/ 1 h 1078"/>
                <a:gd name="T44" fmla="*/ 1 w 1758"/>
                <a:gd name="T45" fmla="*/ 1 h 1078"/>
                <a:gd name="T46" fmla="*/ 1 w 1758"/>
                <a:gd name="T47" fmla="*/ 1 h 1078"/>
                <a:gd name="T48" fmla="*/ 1 w 1758"/>
                <a:gd name="T49" fmla="*/ 1 h 1078"/>
                <a:gd name="T50" fmla="*/ 1 w 1758"/>
                <a:gd name="T51" fmla="*/ 1 h 1078"/>
                <a:gd name="T52" fmla="*/ 1 w 1758"/>
                <a:gd name="T53" fmla="*/ 1 h 1078"/>
                <a:gd name="T54" fmla="*/ 1 w 1758"/>
                <a:gd name="T55" fmla="*/ 1 h 1078"/>
                <a:gd name="T56" fmla="*/ 1 w 1758"/>
                <a:gd name="T57" fmla="*/ 1 h 1078"/>
                <a:gd name="T58" fmla="*/ 1 w 1758"/>
                <a:gd name="T59" fmla="*/ 1 h 1078"/>
                <a:gd name="T60" fmla="*/ 1 w 1758"/>
                <a:gd name="T61" fmla="*/ 1 h 1078"/>
                <a:gd name="T62" fmla="*/ 1 w 1758"/>
                <a:gd name="T63" fmla="*/ 1 h 1078"/>
                <a:gd name="T64" fmla="*/ 1 w 1758"/>
                <a:gd name="T65" fmla="*/ 1 h 1078"/>
                <a:gd name="T66" fmla="*/ 1 w 1758"/>
                <a:gd name="T67" fmla="*/ 1 h 1078"/>
                <a:gd name="T68" fmla="*/ 1 w 1758"/>
                <a:gd name="T69" fmla="*/ 1 h 1078"/>
                <a:gd name="T70" fmla="*/ 1 w 1758"/>
                <a:gd name="T71" fmla="*/ 1 h 1078"/>
                <a:gd name="T72" fmla="*/ 1 w 1758"/>
                <a:gd name="T73" fmla="*/ 0 h 1078"/>
                <a:gd name="T74" fmla="*/ 1 w 1758"/>
                <a:gd name="T75" fmla="*/ 1 h 1078"/>
                <a:gd name="T76" fmla="*/ 1 w 1758"/>
                <a:gd name="T77" fmla="*/ 1 h 1078"/>
                <a:gd name="T78" fmla="*/ 1 w 1758"/>
                <a:gd name="T79" fmla="*/ 1 h 1078"/>
                <a:gd name="T80" fmla="*/ 1 w 1758"/>
                <a:gd name="T81" fmla="*/ 1 h 1078"/>
                <a:gd name="T82" fmla="*/ 1 w 1758"/>
                <a:gd name="T83" fmla="*/ 1 h 1078"/>
                <a:gd name="T84" fmla="*/ 1 w 1758"/>
                <a:gd name="T85" fmla="*/ 1 h 1078"/>
                <a:gd name="T86" fmla="*/ 1 w 1758"/>
                <a:gd name="T87" fmla="*/ 1 h 1078"/>
                <a:gd name="T88" fmla="*/ 1 w 1758"/>
                <a:gd name="T89" fmla="*/ 1 h 1078"/>
                <a:gd name="T90" fmla="*/ 1 w 1758"/>
                <a:gd name="T91" fmla="*/ 1 h 1078"/>
                <a:gd name="T92" fmla="*/ 1 w 1758"/>
                <a:gd name="T93" fmla="*/ 1 h 1078"/>
                <a:gd name="T94" fmla="*/ 1 w 1758"/>
                <a:gd name="T95" fmla="*/ 1 h 1078"/>
                <a:gd name="T96" fmla="*/ 1 w 1758"/>
                <a:gd name="T97" fmla="*/ 1 h 1078"/>
                <a:gd name="T98" fmla="*/ 1 w 1758"/>
                <a:gd name="T99" fmla="*/ 1 h 1078"/>
                <a:gd name="T100" fmla="*/ 1 w 1758"/>
                <a:gd name="T101" fmla="*/ 1 h 1078"/>
                <a:gd name="T102" fmla="*/ 1 w 1758"/>
                <a:gd name="T103" fmla="*/ 1 h 1078"/>
                <a:gd name="T104" fmla="*/ 1 w 1758"/>
                <a:gd name="T105" fmla="*/ 1 h 1078"/>
                <a:gd name="T106" fmla="*/ 1 w 1758"/>
                <a:gd name="T107" fmla="*/ 1 h 1078"/>
                <a:gd name="T108" fmla="*/ 1 w 1758"/>
                <a:gd name="T109" fmla="*/ 1 h 1078"/>
                <a:gd name="T110" fmla="*/ 1 w 1758"/>
                <a:gd name="T111" fmla="*/ 1 h 1078"/>
                <a:gd name="T112" fmla="*/ 1 w 1758"/>
                <a:gd name="T113" fmla="*/ 1 h 1078"/>
                <a:gd name="T114" fmla="*/ 1 w 1758"/>
                <a:gd name="T115" fmla="*/ 1 h 1078"/>
                <a:gd name="T116" fmla="*/ 1 w 1758"/>
                <a:gd name="T117" fmla="*/ 1 h 107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758"/>
                <a:gd name="T178" fmla="*/ 0 h 1078"/>
                <a:gd name="T179" fmla="*/ 1758 w 1758"/>
                <a:gd name="T180" fmla="*/ 1078 h 107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758" h="1078">
                  <a:moveTo>
                    <a:pt x="395" y="505"/>
                  </a:moveTo>
                  <a:lnTo>
                    <a:pt x="403" y="504"/>
                  </a:lnTo>
                  <a:lnTo>
                    <a:pt x="411" y="504"/>
                  </a:lnTo>
                  <a:lnTo>
                    <a:pt x="418" y="503"/>
                  </a:lnTo>
                  <a:lnTo>
                    <a:pt x="426" y="503"/>
                  </a:lnTo>
                  <a:lnTo>
                    <a:pt x="436" y="468"/>
                  </a:lnTo>
                  <a:lnTo>
                    <a:pt x="449" y="433"/>
                  </a:lnTo>
                  <a:lnTo>
                    <a:pt x="464" y="401"/>
                  </a:lnTo>
                  <a:lnTo>
                    <a:pt x="481" y="370"/>
                  </a:lnTo>
                  <a:lnTo>
                    <a:pt x="501" y="340"/>
                  </a:lnTo>
                  <a:lnTo>
                    <a:pt x="522" y="311"/>
                  </a:lnTo>
                  <a:lnTo>
                    <a:pt x="544" y="285"/>
                  </a:lnTo>
                  <a:lnTo>
                    <a:pt x="568" y="261"/>
                  </a:lnTo>
                  <a:lnTo>
                    <a:pt x="593" y="237"/>
                  </a:lnTo>
                  <a:lnTo>
                    <a:pt x="621" y="218"/>
                  </a:lnTo>
                  <a:lnTo>
                    <a:pt x="648" y="199"/>
                  </a:lnTo>
                  <a:lnTo>
                    <a:pt x="677" y="183"/>
                  </a:lnTo>
                  <a:lnTo>
                    <a:pt x="708" y="169"/>
                  </a:lnTo>
                  <a:lnTo>
                    <a:pt x="739" y="159"/>
                  </a:lnTo>
                  <a:lnTo>
                    <a:pt x="772" y="151"/>
                  </a:lnTo>
                  <a:lnTo>
                    <a:pt x="804" y="146"/>
                  </a:lnTo>
                  <a:lnTo>
                    <a:pt x="829" y="145"/>
                  </a:lnTo>
                  <a:lnTo>
                    <a:pt x="854" y="145"/>
                  </a:lnTo>
                  <a:lnTo>
                    <a:pt x="878" y="146"/>
                  </a:lnTo>
                  <a:lnTo>
                    <a:pt x="902" y="151"/>
                  </a:lnTo>
                  <a:lnTo>
                    <a:pt x="925" y="156"/>
                  </a:lnTo>
                  <a:lnTo>
                    <a:pt x="947" y="163"/>
                  </a:lnTo>
                  <a:lnTo>
                    <a:pt x="969" y="172"/>
                  </a:lnTo>
                  <a:lnTo>
                    <a:pt x="990" y="182"/>
                  </a:lnTo>
                  <a:lnTo>
                    <a:pt x="1010" y="194"/>
                  </a:lnTo>
                  <a:lnTo>
                    <a:pt x="1030" y="206"/>
                  </a:lnTo>
                  <a:lnTo>
                    <a:pt x="1048" y="220"/>
                  </a:lnTo>
                  <a:lnTo>
                    <a:pt x="1066" y="236"/>
                  </a:lnTo>
                  <a:lnTo>
                    <a:pt x="1083" y="254"/>
                  </a:lnTo>
                  <a:lnTo>
                    <a:pt x="1099" y="272"/>
                  </a:lnTo>
                  <a:lnTo>
                    <a:pt x="1113" y="290"/>
                  </a:lnTo>
                  <a:lnTo>
                    <a:pt x="1127" y="311"/>
                  </a:lnTo>
                  <a:lnTo>
                    <a:pt x="1145" y="302"/>
                  </a:lnTo>
                  <a:lnTo>
                    <a:pt x="1165" y="293"/>
                  </a:lnTo>
                  <a:lnTo>
                    <a:pt x="1184" y="286"/>
                  </a:lnTo>
                  <a:lnTo>
                    <a:pt x="1204" y="279"/>
                  </a:lnTo>
                  <a:lnTo>
                    <a:pt x="1223" y="273"/>
                  </a:lnTo>
                  <a:lnTo>
                    <a:pt x="1243" y="269"/>
                  </a:lnTo>
                  <a:lnTo>
                    <a:pt x="1264" y="264"/>
                  </a:lnTo>
                  <a:lnTo>
                    <a:pt x="1285" y="262"/>
                  </a:lnTo>
                  <a:lnTo>
                    <a:pt x="1329" y="259"/>
                  </a:lnTo>
                  <a:lnTo>
                    <a:pt x="1372" y="263"/>
                  </a:lnTo>
                  <a:lnTo>
                    <a:pt x="1414" y="271"/>
                  </a:lnTo>
                  <a:lnTo>
                    <a:pt x="1454" y="284"/>
                  </a:lnTo>
                  <a:lnTo>
                    <a:pt x="1492" y="301"/>
                  </a:lnTo>
                  <a:lnTo>
                    <a:pt x="1528" y="322"/>
                  </a:lnTo>
                  <a:lnTo>
                    <a:pt x="1561" y="347"/>
                  </a:lnTo>
                  <a:lnTo>
                    <a:pt x="1591" y="376"/>
                  </a:lnTo>
                  <a:lnTo>
                    <a:pt x="1619" y="409"/>
                  </a:lnTo>
                  <a:lnTo>
                    <a:pt x="1644" y="445"/>
                  </a:lnTo>
                  <a:lnTo>
                    <a:pt x="1665" y="483"/>
                  </a:lnTo>
                  <a:lnTo>
                    <a:pt x="1683" y="526"/>
                  </a:lnTo>
                  <a:lnTo>
                    <a:pt x="1697" y="569"/>
                  </a:lnTo>
                  <a:lnTo>
                    <a:pt x="1707" y="617"/>
                  </a:lnTo>
                  <a:lnTo>
                    <a:pt x="1713" y="665"/>
                  </a:lnTo>
                  <a:lnTo>
                    <a:pt x="1715" y="716"/>
                  </a:lnTo>
                  <a:lnTo>
                    <a:pt x="1713" y="758"/>
                  </a:lnTo>
                  <a:lnTo>
                    <a:pt x="1709" y="799"/>
                  </a:lnTo>
                  <a:lnTo>
                    <a:pt x="1701" y="840"/>
                  </a:lnTo>
                  <a:lnTo>
                    <a:pt x="1690" y="879"/>
                  </a:lnTo>
                  <a:lnTo>
                    <a:pt x="1705" y="848"/>
                  </a:lnTo>
                  <a:lnTo>
                    <a:pt x="1718" y="815"/>
                  </a:lnTo>
                  <a:lnTo>
                    <a:pt x="1729" y="781"/>
                  </a:lnTo>
                  <a:lnTo>
                    <a:pt x="1740" y="747"/>
                  </a:lnTo>
                  <a:lnTo>
                    <a:pt x="1747" y="712"/>
                  </a:lnTo>
                  <a:lnTo>
                    <a:pt x="1752" y="677"/>
                  </a:lnTo>
                  <a:lnTo>
                    <a:pt x="1757" y="640"/>
                  </a:lnTo>
                  <a:lnTo>
                    <a:pt x="1758" y="603"/>
                  </a:lnTo>
                  <a:lnTo>
                    <a:pt x="1756" y="550"/>
                  </a:lnTo>
                  <a:lnTo>
                    <a:pt x="1750" y="498"/>
                  </a:lnTo>
                  <a:lnTo>
                    <a:pt x="1739" y="448"/>
                  </a:lnTo>
                  <a:lnTo>
                    <a:pt x="1724" y="401"/>
                  </a:lnTo>
                  <a:lnTo>
                    <a:pt x="1705" y="357"/>
                  </a:lnTo>
                  <a:lnTo>
                    <a:pt x="1682" y="317"/>
                  </a:lnTo>
                  <a:lnTo>
                    <a:pt x="1656" y="279"/>
                  </a:lnTo>
                  <a:lnTo>
                    <a:pt x="1627" y="244"/>
                  </a:lnTo>
                  <a:lnTo>
                    <a:pt x="1593" y="213"/>
                  </a:lnTo>
                  <a:lnTo>
                    <a:pt x="1559" y="187"/>
                  </a:lnTo>
                  <a:lnTo>
                    <a:pt x="1521" y="165"/>
                  </a:lnTo>
                  <a:lnTo>
                    <a:pt x="1480" y="146"/>
                  </a:lnTo>
                  <a:lnTo>
                    <a:pt x="1439" y="133"/>
                  </a:lnTo>
                  <a:lnTo>
                    <a:pt x="1395" y="125"/>
                  </a:lnTo>
                  <a:lnTo>
                    <a:pt x="1349" y="121"/>
                  </a:lnTo>
                  <a:lnTo>
                    <a:pt x="1302" y="123"/>
                  </a:lnTo>
                  <a:lnTo>
                    <a:pt x="1280" y="126"/>
                  </a:lnTo>
                  <a:lnTo>
                    <a:pt x="1259" y="130"/>
                  </a:lnTo>
                  <a:lnTo>
                    <a:pt x="1237" y="135"/>
                  </a:lnTo>
                  <a:lnTo>
                    <a:pt x="1217" y="141"/>
                  </a:lnTo>
                  <a:lnTo>
                    <a:pt x="1196" y="149"/>
                  </a:lnTo>
                  <a:lnTo>
                    <a:pt x="1175" y="157"/>
                  </a:lnTo>
                  <a:lnTo>
                    <a:pt x="1155" y="165"/>
                  </a:lnTo>
                  <a:lnTo>
                    <a:pt x="1136" y="175"/>
                  </a:lnTo>
                  <a:lnTo>
                    <a:pt x="1121" y="153"/>
                  </a:lnTo>
                  <a:lnTo>
                    <a:pt x="1106" y="134"/>
                  </a:lnTo>
                  <a:lnTo>
                    <a:pt x="1090" y="114"/>
                  </a:lnTo>
                  <a:lnTo>
                    <a:pt x="1071" y="97"/>
                  </a:lnTo>
                  <a:lnTo>
                    <a:pt x="1053" y="80"/>
                  </a:lnTo>
                  <a:lnTo>
                    <a:pt x="1033" y="65"/>
                  </a:lnTo>
                  <a:lnTo>
                    <a:pt x="1013" y="51"/>
                  </a:lnTo>
                  <a:lnTo>
                    <a:pt x="992" y="39"/>
                  </a:lnTo>
                  <a:lnTo>
                    <a:pt x="969" y="28"/>
                  </a:lnTo>
                  <a:lnTo>
                    <a:pt x="946" y="20"/>
                  </a:lnTo>
                  <a:lnTo>
                    <a:pt x="923" y="12"/>
                  </a:lnTo>
                  <a:lnTo>
                    <a:pt x="898" y="6"/>
                  </a:lnTo>
                  <a:lnTo>
                    <a:pt x="873" y="2"/>
                  </a:lnTo>
                  <a:lnTo>
                    <a:pt x="848" y="0"/>
                  </a:lnTo>
                  <a:lnTo>
                    <a:pt x="821" y="0"/>
                  </a:lnTo>
                  <a:lnTo>
                    <a:pt x="795" y="1"/>
                  </a:lnTo>
                  <a:lnTo>
                    <a:pt x="760" y="7"/>
                  </a:lnTo>
                  <a:lnTo>
                    <a:pt x="726" y="15"/>
                  </a:lnTo>
                  <a:lnTo>
                    <a:pt x="693" y="27"/>
                  </a:lnTo>
                  <a:lnTo>
                    <a:pt x="661" y="40"/>
                  </a:lnTo>
                  <a:lnTo>
                    <a:pt x="630" y="58"/>
                  </a:lnTo>
                  <a:lnTo>
                    <a:pt x="600" y="76"/>
                  </a:lnTo>
                  <a:lnTo>
                    <a:pt x="571" y="98"/>
                  </a:lnTo>
                  <a:lnTo>
                    <a:pt x="545" y="122"/>
                  </a:lnTo>
                  <a:lnTo>
                    <a:pt x="519" y="149"/>
                  </a:lnTo>
                  <a:lnTo>
                    <a:pt x="495" y="176"/>
                  </a:lnTo>
                  <a:lnTo>
                    <a:pt x="473" y="206"/>
                  </a:lnTo>
                  <a:lnTo>
                    <a:pt x="454" y="237"/>
                  </a:lnTo>
                  <a:lnTo>
                    <a:pt x="435" y="271"/>
                  </a:lnTo>
                  <a:lnTo>
                    <a:pt x="419" y="305"/>
                  </a:lnTo>
                  <a:lnTo>
                    <a:pt x="406" y="341"/>
                  </a:lnTo>
                  <a:lnTo>
                    <a:pt x="395" y="378"/>
                  </a:lnTo>
                  <a:lnTo>
                    <a:pt x="387" y="378"/>
                  </a:lnTo>
                  <a:lnTo>
                    <a:pt x="379" y="379"/>
                  </a:lnTo>
                  <a:lnTo>
                    <a:pt x="370" y="379"/>
                  </a:lnTo>
                  <a:lnTo>
                    <a:pt x="361" y="380"/>
                  </a:lnTo>
                  <a:lnTo>
                    <a:pt x="325" y="386"/>
                  </a:lnTo>
                  <a:lnTo>
                    <a:pt x="289" y="395"/>
                  </a:lnTo>
                  <a:lnTo>
                    <a:pt x="254" y="409"/>
                  </a:lnTo>
                  <a:lnTo>
                    <a:pt x="222" y="426"/>
                  </a:lnTo>
                  <a:lnTo>
                    <a:pt x="190" y="447"/>
                  </a:lnTo>
                  <a:lnTo>
                    <a:pt x="161" y="470"/>
                  </a:lnTo>
                  <a:lnTo>
                    <a:pt x="133" y="497"/>
                  </a:lnTo>
                  <a:lnTo>
                    <a:pt x="107" y="526"/>
                  </a:lnTo>
                  <a:lnTo>
                    <a:pt x="84" y="557"/>
                  </a:lnTo>
                  <a:lnTo>
                    <a:pt x="63" y="590"/>
                  </a:lnTo>
                  <a:lnTo>
                    <a:pt x="45" y="626"/>
                  </a:lnTo>
                  <a:lnTo>
                    <a:pt x="30" y="663"/>
                  </a:lnTo>
                  <a:lnTo>
                    <a:pt x="17" y="702"/>
                  </a:lnTo>
                  <a:lnTo>
                    <a:pt x="8" y="742"/>
                  </a:lnTo>
                  <a:lnTo>
                    <a:pt x="2" y="784"/>
                  </a:lnTo>
                  <a:lnTo>
                    <a:pt x="0" y="825"/>
                  </a:lnTo>
                  <a:lnTo>
                    <a:pt x="1" y="862"/>
                  </a:lnTo>
                  <a:lnTo>
                    <a:pt x="4" y="897"/>
                  </a:lnTo>
                  <a:lnTo>
                    <a:pt x="11" y="931"/>
                  </a:lnTo>
                  <a:lnTo>
                    <a:pt x="20" y="964"/>
                  </a:lnTo>
                  <a:lnTo>
                    <a:pt x="32" y="995"/>
                  </a:lnTo>
                  <a:lnTo>
                    <a:pt x="46" y="1025"/>
                  </a:lnTo>
                  <a:lnTo>
                    <a:pt x="61" y="1052"/>
                  </a:lnTo>
                  <a:lnTo>
                    <a:pt x="79" y="1078"/>
                  </a:lnTo>
                  <a:lnTo>
                    <a:pt x="68" y="1043"/>
                  </a:lnTo>
                  <a:lnTo>
                    <a:pt x="60" y="1005"/>
                  </a:lnTo>
                  <a:lnTo>
                    <a:pt x="54" y="967"/>
                  </a:lnTo>
                  <a:lnTo>
                    <a:pt x="53" y="927"/>
                  </a:lnTo>
                  <a:lnTo>
                    <a:pt x="55" y="886"/>
                  </a:lnTo>
                  <a:lnTo>
                    <a:pt x="61" y="848"/>
                  </a:lnTo>
                  <a:lnTo>
                    <a:pt x="69" y="810"/>
                  </a:lnTo>
                  <a:lnTo>
                    <a:pt x="80" y="773"/>
                  </a:lnTo>
                  <a:lnTo>
                    <a:pt x="95" y="738"/>
                  </a:lnTo>
                  <a:lnTo>
                    <a:pt x="113" y="704"/>
                  </a:lnTo>
                  <a:lnTo>
                    <a:pt x="132" y="672"/>
                  </a:lnTo>
                  <a:lnTo>
                    <a:pt x="154" y="642"/>
                  </a:lnTo>
                  <a:lnTo>
                    <a:pt x="178" y="614"/>
                  </a:lnTo>
                  <a:lnTo>
                    <a:pt x="205" y="590"/>
                  </a:lnTo>
                  <a:lnTo>
                    <a:pt x="232" y="568"/>
                  </a:lnTo>
                  <a:lnTo>
                    <a:pt x="262" y="549"/>
                  </a:lnTo>
                  <a:lnTo>
                    <a:pt x="293" y="533"/>
                  </a:lnTo>
                  <a:lnTo>
                    <a:pt x="327" y="520"/>
                  </a:lnTo>
                  <a:lnTo>
                    <a:pt x="360" y="511"/>
                  </a:lnTo>
                  <a:lnTo>
                    <a:pt x="395" y="505"/>
                  </a:lnTo>
                  <a:close/>
                </a:path>
              </a:pathLst>
            </a:custGeom>
            <a:grpFill/>
            <a:ln w="3175">
              <a:solidFill>
                <a:srgbClr val="00B0F0"/>
              </a:solidFill>
              <a:headEnd/>
              <a:tailEnd/>
            </a:ln>
          </p:spPr>
          <p:style>
            <a:lnRef idx="2">
              <a:schemeClr val="accent2"/>
            </a:lnRef>
            <a:fillRef idx="1">
              <a:schemeClr val="lt1"/>
            </a:fillRef>
            <a:effectRef idx="0">
              <a:schemeClr val="accent2"/>
            </a:effectRef>
            <a:fontRef idx="minor">
              <a:schemeClr val="dk1"/>
            </a:fontRef>
          </p:style>
          <p:txBody>
            <a:bodyPr/>
            <a:lstStyle/>
            <a:p>
              <a:pPr fontAlgn="auto">
                <a:spcBef>
                  <a:spcPts val="0"/>
                </a:spcBef>
                <a:spcAft>
                  <a:spcPts val="0"/>
                </a:spcAft>
                <a:defRPr/>
              </a:pPr>
              <a:endParaRPr kumimoji="0" lang="zh-TW" altLang="en-US" sz="1400"/>
            </a:p>
          </p:txBody>
        </p:sp>
        <p:sp>
          <p:nvSpPr>
            <p:cNvPr id="21" name="Freeform 291"/>
            <p:cNvSpPr>
              <a:spLocks/>
            </p:cNvSpPr>
            <p:nvPr/>
          </p:nvSpPr>
          <p:spPr bwMode="auto">
            <a:xfrm>
              <a:off x="4347" y="998"/>
              <a:ext cx="266" cy="108"/>
            </a:xfrm>
            <a:custGeom>
              <a:avLst/>
              <a:gdLst>
                <a:gd name="T0" fmla="*/ 1 w 531"/>
                <a:gd name="T1" fmla="*/ 1 h 215"/>
                <a:gd name="T2" fmla="*/ 1 w 531"/>
                <a:gd name="T3" fmla="*/ 1 h 215"/>
                <a:gd name="T4" fmla="*/ 1 w 531"/>
                <a:gd name="T5" fmla="*/ 1 h 215"/>
                <a:gd name="T6" fmla="*/ 1 w 531"/>
                <a:gd name="T7" fmla="*/ 1 h 215"/>
                <a:gd name="T8" fmla="*/ 1 w 531"/>
                <a:gd name="T9" fmla="*/ 1 h 215"/>
                <a:gd name="T10" fmla="*/ 1 w 531"/>
                <a:gd name="T11" fmla="*/ 1 h 215"/>
                <a:gd name="T12" fmla="*/ 1 w 531"/>
                <a:gd name="T13" fmla="*/ 1 h 215"/>
                <a:gd name="T14" fmla="*/ 1 w 531"/>
                <a:gd name="T15" fmla="*/ 1 h 215"/>
                <a:gd name="T16" fmla="*/ 1 w 531"/>
                <a:gd name="T17" fmla="*/ 1 h 215"/>
                <a:gd name="T18" fmla="*/ 1 w 531"/>
                <a:gd name="T19" fmla="*/ 1 h 215"/>
                <a:gd name="T20" fmla="*/ 1 w 531"/>
                <a:gd name="T21" fmla="*/ 1 h 215"/>
                <a:gd name="T22" fmla="*/ 1 w 531"/>
                <a:gd name="T23" fmla="*/ 1 h 215"/>
                <a:gd name="T24" fmla="*/ 1 w 531"/>
                <a:gd name="T25" fmla="*/ 1 h 215"/>
                <a:gd name="T26" fmla="*/ 1 w 531"/>
                <a:gd name="T27" fmla="*/ 1 h 215"/>
                <a:gd name="T28" fmla="*/ 1 w 531"/>
                <a:gd name="T29" fmla="*/ 1 h 215"/>
                <a:gd name="T30" fmla="*/ 1 w 531"/>
                <a:gd name="T31" fmla="*/ 1 h 215"/>
                <a:gd name="T32" fmla="*/ 1 w 531"/>
                <a:gd name="T33" fmla="*/ 1 h 215"/>
                <a:gd name="T34" fmla="*/ 1 w 531"/>
                <a:gd name="T35" fmla="*/ 1 h 215"/>
                <a:gd name="T36" fmla="*/ 1 w 531"/>
                <a:gd name="T37" fmla="*/ 1 h 215"/>
                <a:gd name="T38" fmla="*/ 1 w 531"/>
                <a:gd name="T39" fmla="*/ 1 h 215"/>
                <a:gd name="T40" fmla="*/ 1 w 531"/>
                <a:gd name="T41" fmla="*/ 1 h 215"/>
                <a:gd name="T42" fmla="*/ 1 w 531"/>
                <a:gd name="T43" fmla="*/ 1 h 215"/>
                <a:gd name="T44" fmla="*/ 1 w 531"/>
                <a:gd name="T45" fmla="*/ 1 h 215"/>
                <a:gd name="T46" fmla="*/ 1 w 531"/>
                <a:gd name="T47" fmla="*/ 1 h 215"/>
                <a:gd name="T48" fmla="*/ 1 w 531"/>
                <a:gd name="T49" fmla="*/ 1 h 215"/>
                <a:gd name="T50" fmla="*/ 1 w 531"/>
                <a:gd name="T51" fmla="*/ 1 h 215"/>
                <a:gd name="T52" fmla="*/ 1 w 531"/>
                <a:gd name="T53" fmla="*/ 1 h 215"/>
                <a:gd name="T54" fmla="*/ 1 w 531"/>
                <a:gd name="T55" fmla="*/ 1 h 215"/>
                <a:gd name="T56" fmla="*/ 1 w 531"/>
                <a:gd name="T57" fmla="*/ 1 h 215"/>
                <a:gd name="T58" fmla="*/ 1 w 531"/>
                <a:gd name="T59" fmla="*/ 1 h 215"/>
                <a:gd name="T60" fmla="*/ 1 w 531"/>
                <a:gd name="T61" fmla="*/ 1 h 215"/>
                <a:gd name="T62" fmla="*/ 1 w 531"/>
                <a:gd name="T63" fmla="*/ 1 h 21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31"/>
                <a:gd name="T97" fmla="*/ 0 h 215"/>
                <a:gd name="T98" fmla="*/ 531 w 531"/>
                <a:gd name="T99" fmla="*/ 215 h 21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31" h="215">
                  <a:moveTo>
                    <a:pt x="0" y="34"/>
                  </a:moveTo>
                  <a:lnTo>
                    <a:pt x="4" y="54"/>
                  </a:lnTo>
                  <a:lnTo>
                    <a:pt x="11" y="74"/>
                  </a:lnTo>
                  <a:lnTo>
                    <a:pt x="19" y="91"/>
                  </a:lnTo>
                  <a:lnTo>
                    <a:pt x="29" y="108"/>
                  </a:lnTo>
                  <a:lnTo>
                    <a:pt x="41" y="124"/>
                  </a:lnTo>
                  <a:lnTo>
                    <a:pt x="54" y="140"/>
                  </a:lnTo>
                  <a:lnTo>
                    <a:pt x="70" y="154"/>
                  </a:lnTo>
                  <a:lnTo>
                    <a:pt x="87" y="167"/>
                  </a:lnTo>
                  <a:lnTo>
                    <a:pt x="105" y="178"/>
                  </a:lnTo>
                  <a:lnTo>
                    <a:pt x="125" y="189"/>
                  </a:lnTo>
                  <a:lnTo>
                    <a:pt x="147" y="197"/>
                  </a:lnTo>
                  <a:lnTo>
                    <a:pt x="168" y="204"/>
                  </a:lnTo>
                  <a:lnTo>
                    <a:pt x="191" y="210"/>
                  </a:lnTo>
                  <a:lnTo>
                    <a:pt x="215" y="213"/>
                  </a:lnTo>
                  <a:lnTo>
                    <a:pt x="240" y="215"/>
                  </a:lnTo>
                  <a:lnTo>
                    <a:pt x="265" y="215"/>
                  </a:lnTo>
                  <a:lnTo>
                    <a:pt x="292" y="213"/>
                  </a:lnTo>
                  <a:lnTo>
                    <a:pt x="317" y="210"/>
                  </a:lnTo>
                  <a:lnTo>
                    <a:pt x="341" y="203"/>
                  </a:lnTo>
                  <a:lnTo>
                    <a:pt x="365" y="196"/>
                  </a:lnTo>
                  <a:lnTo>
                    <a:pt x="389" y="187"/>
                  </a:lnTo>
                  <a:lnTo>
                    <a:pt x="409" y="175"/>
                  </a:lnTo>
                  <a:lnTo>
                    <a:pt x="430" y="162"/>
                  </a:lnTo>
                  <a:lnTo>
                    <a:pt x="448" y="148"/>
                  </a:lnTo>
                  <a:lnTo>
                    <a:pt x="466" y="134"/>
                  </a:lnTo>
                  <a:lnTo>
                    <a:pt x="481" y="117"/>
                  </a:lnTo>
                  <a:lnTo>
                    <a:pt x="495" y="100"/>
                  </a:lnTo>
                  <a:lnTo>
                    <a:pt x="506" y="82"/>
                  </a:lnTo>
                  <a:lnTo>
                    <a:pt x="516" y="62"/>
                  </a:lnTo>
                  <a:lnTo>
                    <a:pt x="523" y="42"/>
                  </a:lnTo>
                  <a:lnTo>
                    <a:pt x="529" y="22"/>
                  </a:lnTo>
                  <a:lnTo>
                    <a:pt x="531" y="0"/>
                  </a:lnTo>
                  <a:lnTo>
                    <a:pt x="520" y="11"/>
                  </a:lnTo>
                  <a:lnTo>
                    <a:pt x="508" y="22"/>
                  </a:lnTo>
                  <a:lnTo>
                    <a:pt x="495" y="32"/>
                  </a:lnTo>
                  <a:lnTo>
                    <a:pt x="481" y="42"/>
                  </a:lnTo>
                  <a:lnTo>
                    <a:pt x="466" y="52"/>
                  </a:lnTo>
                  <a:lnTo>
                    <a:pt x="450" y="60"/>
                  </a:lnTo>
                  <a:lnTo>
                    <a:pt x="433" y="68"/>
                  </a:lnTo>
                  <a:lnTo>
                    <a:pt x="416" y="76"/>
                  </a:lnTo>
                  <a:lnTo>
                    <a:pt x="398" y="83"/>
                  </a:lnTo>
                  <a:lnTo>
                    <a:pt x="379" y="89"/>
                  </a:lnTo>
                  <a:lnTo>
                    <a:pt x="361" y="94"/>
                  </a:lnTo>
                  <a:lnTo>
                    <a:pt x="341" y="98"/>
                  </a:lnTo>
                  <a:lnTo>
                    <a:pt x="321" y="102"/>
                  </a:lnTo>
                  <a:lnTo>
                    <a:pt x="301" y="105"/>
                  </a:lnTo>
                  <a:lnTo>
                    <a:pt x="279" y="107"/>
                  </a:lnTo>
                  <a:lnTo>
                    <a:pt x="258" y="108"/>
                  </a:lnTo>
                  <a:lnTo>
                    <a:pt x="239" y="108"/>
                  </a:lnTo>
                  <a:lnTo>
                    <a:pt x="219" y="108"/>
                  </a:lnTo>
                  <a:lnTo>
                    <a:pt x="201" y="107"/>
                  </a:lnTo>
                  <a:lnTo>
                    <a:pt x="182" y="106"/>
                  </a:lnTo>
                  <a:lnTo>
                    <a:pt x="164" y="102"/>
                  </a:lnTo>
                  <a:lnTo>
                    <a:pt x="147" y="100"/>
                  </a:lnTo>
                  <a:lnTo>
                    <a:pt x="129" y="95"/>
                  </a:lnTo>
                  <a:lnTo>
                    <a:pt x="112" y="91"/>
                  </a:lnTo>
                  <a:lnTo>
                    <a:pt x="96" y="86"/>
                  </a:lnTo>
                  <a:lnTo>
                    <a:pt x="80" y="80"/>
                  </a:lnTo>
                  <a:lnTo>
                    <a:pt x="65" y="74"/>
                  </a:lnTo>
                  <a:lnTo>
                    <a:pt x="51" y="67"/>
                  </a:lnTo>
                  <a:lnTo>
                    <a:pt x="37" y="60"/>
                  </a:lnTo>
                  <a:lnTo>
                    <a:pt x="24" y="52"/>
                  </a:lnTo>
                  <a:lnTo>
                    <a:pt x="12" y="44"/>
                  </a:lnTo>
                  <a:lnTo>
                    <a:pt x="0" y="34"/>
                  </a:lnTo>
                  <a:close/>
                </a:path>
              </a:pathLst>
            </a:custGeom>
            <a:grpFill/>
            <a:ln>
              <a:solidFill>
                <a:srgbClr val="00B0F0"/>
              </a:solidFill>
              <a:headEnd/>
              <a:tailEnd/>
            </a:ln>
          </p:spPr>
          <p:style>
            <a:lnRef idx="2">
              <a:schemeClr val="accent2"/>
            </a:lnRef>
            <a:fillRef idx="1">
              <a:schemeClr val="lt1"/>
            </a:fillRef>
            <a:effectRef idx="0">
              <a:schemeClr val="accent2"/>
            </a:effectRef>
            <a:fontRef idx="minor">
              <a:schemeClr val="dk1"/>
            </a:fontRef>
          </p:style>
          <p:txBody>
            <a:bodyPr/>
            <a:lstStyle/>
            <a:p>
              <a:pPr fontAlgn="auto">
                <a:spcBef>
                  <a:spcPts val="0"/>
                </a:spcBef>
                <a:spcAft>
                  <a:spcPts val="0"/>
                </a:spcAft>
                <a:defRPr/>
              </a:pPr>
              <a:endParaRPr kumimoji="0" lang="zh-TW" altLang="en-US" sz="1400"/>
            </a:p>
          </p:txBody>
        </p:sp>
        <p:sp>
          <p:nvSpPr>
            <p:cNvPr id="22" name="Freeform 292"/>
            <p:cNvSpPr>
              <a:spLocks/>
            </p:cNvSpPr>
            <p:nvPr/>
          </p:nvSpPr>
          <p:spPr bwMode="auto">
            <a:xfrm>
              <a:off x="4535" y="1070"/>
              <a:ext cx="176" cy="71"/>
            </a:xfrm>
            <a:custGeom>
              <a:avLst/>
              <a:gdLst>
                <a:gd name="T0" fmla="*/ 0 w 350"/>
                <a:gd name="T1" fmla="*/ 1 h 141"/>
                <a:gd name="T2" fmla="*/ 1 w 350"/>
                <a:gd name="T3" fmla="*/ 1 h 141"/>
                <a:gd name="T4" fmla="*/ 1 w 350"/>
                <a:gd name="T5" fmla="*/ 1 h 141"/>
                <a:gd name="T6" fmla="*/ 1 w 350"/>
                <a:gd name="T7" fmla="*/ 1 h 141"/>
                <a:gd name="T8" fmla="*/ 1 w 350"/>
                <a:gd name="T9" fmla="*/ 1 h 141"/>
                <a:gd name="T10" fmla="*/ 1 w 350"/>
                <a:gd name="T11" fmla="*/ 1 h 141"/>
                <a:gd name="T12" fmla="*/ 1 w 350"/>
                <a:gd name="T13" fmla="*/ 1 h 141"/>
                <a:gd name="T14" fmla="*/ 1 w 350"/>
                <a:gd name="T15" fmla="*/ 1 h 141"/>
                <a:gd name="T16" fmla="*/ 1 w 350"/>
                <a:gd name="T17" fmla="*/ 1 h 141"/>
                <a:gd name="T18" fmla="*/ 1 w 350"/>
                <a:gd name="T19" fmla="*/ 1 h 141"/>
                <a:gd name="T20" fmla="*/ 1 w 350"/>
                <a:gd name="T21" fmla="*/ 1 h 141"/>
                <a:gd name="T22" fmla="*/ 1 w 350"/>
                <a:gd name="T23" fmla="*/ 1 h 141"/>
                <a:gd name="T24" fmla="*/ 1 w 350"/>
                <a:gd name="T25" fmla="*/ 1 h 141"/>
                <a:gd name="T26" fmla="*/ 1 w 350"/>
                <a:gd name="T27" fmla="*/ 1 h 141"/>
                <a:gd name="T28" fmla="*/ 1 w 350"/>
                <a:gd name="T29" fmla="*/ 1 h 141"/>
                <a:gd name="T30" fmla="*/ 1 w 350"/>
                <a:gd name="T31" fmla="*/ 1 h 141"/>
                <a:gd name="T32" fmla="*/ 1 w 350"/>
                <a:gd name="T33" fmla="*/ 0 h 141"/>
                <a:gd name="T34" fmla="*/ 1 w 350"/>
                <a:gd name="T35" fmla="*/ 1 h 141"/>
                <a:gd name="T36" fmla="*/ 1 w 350"/>
                <a:gd name="T37" fmla="*/ 1 h 141"/>
                <a:gd name="T38" fmla="*/ 1 w 350"/>
                <a:gd name="T39" fmla="*/ 1 h 141"/>
                <a:gd name="T40" fmla="*/ 1 w 350"/>
                <a:gd name="T41" fmla="*/ 1 h 141"/>
                <a:gd name="T42" fmla="*/ 1 w 350"/>
                <a:gd name="T43" fmla="*/ 1 h 141"/>
                <a:gd name="T44" fmla="*/ 1 w 350"/>
                <a:gd name="T45" fmla="*/ 1 h 141"/>
                <a:gd name="T46" fmla="*/ 1 w 350"/>
                <a:gd name="T47" fmla="*/ 1 h 141"/>
                <a:gd name="T48" fmla="*/ 1 w 350"/>
                <a:gd name="T49" fmla="*/ 1 h 141"/>
                <a:gd name="T50" fmla="*/ 1 w 350"/>
                <a:gd name="T51" fmla="*/ 1 h 141"/>
                <a:gd name="T52" fmla="*/ 1 w 350"/>
                <a:gd name="T53" fmla="*/ 1 h 141"/>
                <a:gd name="T54" fmla="*/ 1 w 350"/>
                <a:gd name="T55" fmla="*/ 1 h 141"/>
                <a:gd name="T56" fmla="*/ 1 w 350"/>
                <a:gd name="T57" fmla="*/ 1 h 141"/>
                <a:gd name="T58" fmla="*/ 1 w 350"/>
                <a:gd name="T59" fmla="*/ 1 h 141"/>
                <a:gd name="T60" fmla="*/ 1 w 350"/>
                <a:gd name="T61" fmla="*/ 1 h 141"/>
                <a:gd name="T62" fmla="*/ 1 w 350"/>
                <a:gd name="T63" fmla="*/ 1 h 141"/>
                <a:gd name="T64" fmla="*/ 0 w 350"/>
                <a:gd name="T65" fmla="*/ 1 h 14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50"/>
                <a:gd name="T100" fmla="*/ 0 h 141"/>
                <a:gd name="T101" fmla="*/ 350 w 350"/>
                <a:gd name="T102" fmla="*/ 141 h 14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50" h="141">
                  <a:moveTo>
                    <a:pt x="0" y="23"/>
                  </a:moveTo>
                  <a:lnTo>
                    <a:pt x="7" y="48"/>
                  </a:lnTo>
                  <a:lnTo>
                    <a:pt x="18" y="71"/>
                  </a:lnTo>
                  <a:lnTo>
                    <a:pt x="36" y="92"/>
                  </a:lnTo>
                  <a:lnTo>
                    <a:pt x="58" y="109"/>
                  </a:lnTo>
                  <a:lnTo>
                    <a:pt x="82" y="124"/>
                  </a:lnTo>
                  <a:lnTo>
                    <a:pt x="111" y="135"/>
                  </a:lnTo>
                  <a:lnTo>
                    <a:pt x="141" y="140"/>
                  </a:lnTo>
                  <a:lnTo>
                    <a:pt x="174" y="141"/>
                  </a:lnTo>
                  <a:lnTo>
                    <a:pt x="209" y="138"/>
                  </a:lnTo>
                  <a:lnTo>
                    <a:pt x="241" y="129"/>
                  </a:lnTo>
                  <a:lnTo>
                    <a:pt x="270" y="115"/>
                  </a:lnTo>
                  <a:lnTo>
                    <a:pt x="295" y="98"/>
                  </a:lnTo>
                  <a:lnTo>
                    <a:pt x="317" y="77"/>
                  </a:lnTo>
                  <a:lnTo>
                    <a:pt x="334" y="54"/>
                  </a:lnTo>
                  <a:lnTo>
                    <a:pt x="345" y="27"/>
                  </a:lnTo>
                  <a:lnTo>
                    <a:pt x="350" y="0"/>
                  </a:lnTo>
                  <a:lnTo>
                    <a:pt x="334" y="15"/>
                  </a:lnTo>
                  <a:lnTo>
                    <a:pt x="316" y="27"/>
                  </a:lnTo>
                  <a:lnTo>
                    <a:pt x="296" y="39"/>
                  </a:lnTo>
                  <a:lnTo>
                    <a:pt x="274" y="49"/>
                  </a:lnTo>
                  <a:lnTo>
                    <a:pt x="250" y="59"/>
                  </a:lnTo>
                  <a:lnTo>
                    <a:pt x="225" y="64"/>
                  </a:lnTo>
                  <a:lnTo>
                    <a:pt x="198" y="69"/>
                  </a:lnTo>
                  <a:lnTo>
                    <a:pt x="171" y="71"/>
                  </a:lnTo>
                  <a:lnTo>
                    <a:pt x="145" y="71"/>
                  </a:lnTo>
                  <a:lnTo>
                    <a:pt x="120" y="69"/>
                  </a:lnTo>
                  <a:lnTo>
                    <a:pt x="97" y="65"/>
                  </a:lnTo>
                  <a:lnTo>
                    <a:pt x="74" y="60"/>
                  </a:lnTo>
                  <a:lnTo>
                    <a:pt x="53" y="53"/>
                  </a:lnTo>
                  <a:lnTo>
                    <a:pt x="33" y="45"/>
                  </a:lnTo>
                  <a:lnTo>
                    <a:pt x="16" y="34"/>
                  </a:lnTo>
                  <a:lnTo>
                    <a:pt x="0" y="23"/>
                  </a:lnTo>
                  <a:close/>
                </a:path>
              </a:pathLst>
            </a:custGeom>
            <a:grpFill/>
            <a:ln>
              <a:solidFill>
                <a:srgbClr val="00B0F0"/>
              </a:solidFill>
              <a:headEnd/>
              <a:tailEnd/>
            </a:ln>
          </p:spPr>
          <p:style>
            <a:lnRef idx="2">
              <a:schemeClr val="accent2"/>
            </a:lnRef>
            <a:fillRef idx="1">
              <a:schemeClr val="lt1"/>
            </a:fillRef>
            <a:effectRef idx="0">
              <a:schemeClr val="accent2"/>
            </a:effectRef>
            <a:fontRef idx="minor">
              <a:schemeClr val="dk1"/>
            </a:fontRef>
          </p:style>
          <p:txBody>
            <a:bodyPr/>
            <a:lstStyle/>
            <a:p>
              <a:pPr fontAlgn="auto">
                <a:spcBef>
                  <a:spcPts val="0"/>
                </a:spcBef>
                <a:spcAft>
                  <a:spcPts val="0"/>
                </a:spcAft>
                <a:defRPr/>
              </a:pPr>
              <a:endParaRPr kumimoji="0" lang="zh-TW" altLang="en-US" sz="1400"/>
            </a:p>
          </p:txBody>
        </p:sp>
        <p:sp>
          <p:nvSpPr>
            <p:cNvPr id="23" name="Freeform 293"/>
            <p:cNvSpPr>
              <a:spLocks/>
            </p:cNvSpPr>
            <p:nvPr/>
          </p:nvSpPr>
          <p:spPr bwMode="auto">
            <a:xfrm>
              <a:off x="4134" y="1054"/>
              <a:ext cx="174" cy="71"/>
            </a:xfrm>
            <a:custGeom>
              <a:avLst/>
              <a:gdLst>
                <a:gd name="T0" fmla="*/ 0 w 348"/>
                <a:gd name="T1" fmla="*/ 1 h 140"/>
                <a:gd name="T2" fmla="*/ 1 w 348"/>
                <a:gd name="T3" fmla="*/ 1 h 140"/>
                <a:gd name="T4" fmla="*/ 1 w 348"/>
                <a:gd name="T5" fmla="*/ 1 h 140"/>
                <a:gd name="T6" fmla="*/ 1 w 348"/>
                <a:gd name="T7" fmla="*/ 1 h 140"/>
                <a:gd name="T8" fmla="*/ 1 w 348"/>
                <a:gd name="T9" fmla="*/ 1 h 140"/>
                <a:gd name="T10" fmla="*/ 1 w 348"/>
                <a:gd name="T11" fmla="*/ 1 h 140"/>
                <a:gd name="T12" fmla="*/ 1 w 348"/>
                <a:gd name="T13" fmla="*/ 1 h 140"/>
                <a:gd name="T14" fmla="*/ 1 w 348"/>
                <a:gd name="T15" fmla="*/ 1 h 140"/>
                <a:gd name="T16" fmla="*/ 1 w 348"/>
                <a:gd name="T17" fmla="*/ 1 h 140"/>
                <a:gd name="T18" fmla="*/ 1 w 348"/>
                <a:gd name="T19" fmla="*/ 1 h 140"/>
                <a:gd name="T20" fmla="*/ 1 w 348"/>
                <a:gd name="T21" fmla="*/ 1 h 140"/>
                <a:gd name="T22" fmla="*/ 1 w 348"/>
                <a:gd name="T23" fmla="*/ 1 h 140"/>
                <a:gd name="T24" fmla="*/ 1 w 348"/>
                <a:gd name="T25" fmla="*/ 1 h 140"/>
                <a:gd name="T26" fmla="*/ 1 w 348"/>
                <a:gd name="T27" fmla="*/ 1 h 140"/>
                <a:gd name="T28" fmla="*/ 1 w 348"/>
                <a:gd name="T29" fmla="*/ 1 h 140"/>
                <a:gd name="T30" fmla="*/ 1 w 348"/>
                <a:gd name="T31" fmla="*/ 1 h 140"/>
                <a:gd name="T32" fmla="*/ 1 w 348"/>
                <a:gd name="T33" fmla="*/ 0 h 140"/>
                <a:gd name="T34" fmla="*/ 1 w 348"/>
                <a:gd name="T35" fmla="*/ 1 h 140"/>
                <a:gd name="T36" fmla="*/ 1 w 348"/>
                <a:gd name="T37" fmla="*/ 1 h 140"/>
                <a:gd name="T38" fmla="*/ 1 w 348"/>
                <a:gd name="T39" fmla="*/ 1 h 140"/>
                <a:gd name="T40" fmla="*/ 1 w 348"/>
                <a:gd name="T41" fmla="*/ 1 h 140"/>
                <a:gd name="T42" fmla="*/ 1 w 348"/>
                <a:gd name="T43" fmla="*/ 1 h 140"/>
                <a:gd name="T44" fmla="*/ 1 w 348"/>
                <a:gd name="T45" fmla="*/ 1 h 140"/>
                <a:gd name="T46" fmla="*/ 1 w 348"/>
                <a:gd name="T47" fmla="*/ 1 h 140"/>
                <a:gd name="T48" fmla="*/ 1 w 348"/>
                <a:gd name="T49" fmla="*/ 1 h 140"/>
                <a:gd name="T50" fmla="*/ 1 w 348"/>
                <a:gd name="T51" fmla="*/ 1 h 140"/>
                <a:gd name="T52" fmla="*/ 1 w 348"/>
                <a:gd name="T53" fmla="*/ 1 h 140"/>
                <a:gd name="T54" fmla="*/ 1 w 348"/>
                <a:gd name="T55" fmla="*/ 1 h 140"/>
                <a:gd name="T56" fmla="*/ 1 w 348"/>
                <a:gd name="T57" fmla="*/ 1 h 140"/>
                <a:gd name="T58" fmla="*/ 1 w 348"/>
                <a:gd name="T59" fmla="*/ 1 h 140"/>
                <a:gd name="T60" fmla="*/ 1 w 348"/>
                <a:gd name="T61" fmla="*/ 1 h 140"/>
                <a:gd name="T62" fmla="*/ 1 w 348"/>
                <a:gd name="T63" fmla="*/ 1 h 140"/>
                <a:gd name="T64" fmla="*/ 0 w 348"/>
                <a:gd name="T65" fmla="*/ 1 h 14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8"/>
                <a:gd name="T100" fmla="*/ 0 h 140"/>
                <a:gd name="T101" fmla="*/ 348 w 348"/>
                <a:gd name="T102" fmla="*/ 140 h 14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8" h="140">
                  <a:moveTo>
                    <a:pt x="0" y="22"/>
                  </a:moveTo>
                  <a:lnTo>
                    <a:pt x="7" y="47"/>
                  </a:lnTo>
                  <a:lnTo>
                    <a:pt x="18" y="70"/>
                  </a:lnTo>
                  <a:lnTo>
                    <a:pt x="36" y="91"/>
                  </a:lnTo>
                  <a:lnTo>
                    <a:pt x="58" y="108"/>
                  </a:lnTo>
                  <a:lnTo>
                    <a:pt x="82" y="123"/>
                  </a:lnTo>
                  <a:lnTo>
                    <a:pt x="111" y="133"/>
                  </a:lnTo>
                  <a:lnTo>
                    <a:pt x="141" y="139"/>
                  </a:lnTo>
                  <a:lnTo>
                    <a:pt x="174" y="140"/>
                  </a:lnTo>
                  <a:lnTo>
                    <a:pt x="207" y="137"/>
                  </a:lnTo>
                  <a:lnTo>
                    <a:pt x="240" y="128"/>
                  </a:lnTo>
                  <a:lnTo>
                    <a:pt x="268" y="114"/>
                  </a:lnTo>
                  <a:lnTo>
                    <a:pt x="294" y="96"/>
                  </a:lnTo>
                  <a:lnTo>
                    <a:pt x="316" y="76"/>
                  </a:lnTo>
                  <a:lnTo>
                    <a:pt x="332" y="53"/>
                  </a:lnTo>
                  <a:lnTo>
                    <a:pt x="343" y="27"/>
                  </a:lnTo>
                  <a:lnTo>
                    <a:pt x="348" y="0"/>
                  </a:lnTo>
                  <a:lnTo>
                    <a:pt x="332" y="13"/>
                  </a:lnTo>
                  <a:lnTo>
                    <a:pt x="315" y="27"/>
                  </a:lnTo>
                  <a:lnTo>
                    <a:pt x="294" y="39"/>
                  </a:lnTo>
                  <a:lnTo>
                    <a:pt x="272" y="48"/>
                  </a:lnTo>
                  <a:lnTo>
                    <a:pt x="248" y="57"/>
                  </a:lnTo>
                  <a:lnTo>
                    <a:pt x="224" y="63"/>
                  </a:lnTo>
                  <a:lnTo>
                    <a:pt x="197" y="68"/>
                  </a:lnTo>
                  <a:lnTo>
                    <a:pt x="169" y="70"/>
                  </a:lnTo>
                  <a:lnTo>
                    <a:pt x="144" y="70"/>
                  </a:lnTo>
                  <a:lnTo>
                    <a:pt x="120" y="69"/>
                  </a:lnTo>
                  <a:lnTo>
                    <a:pt x="96" y="64"/>
                  </a:lnTo>
                  <a:lnTo>
                    <a:pt x="74" y="60"/>
                  </a:lnTo>
                  <a:lnTo>
                    <a:pt x="53" y="51"/>
                  </a:lnTo>
                  <a:lnTo>
                    <a:pt x="33" y="43"/>
                  </a:lnTo>
                  <a:lnTo>
                    <a:pt x="16" y="33"/>
                  </a:lnTo>
                  <a:lnTo>
                    <a:pt x="0" y="22"/>
                  </a:lnTo>
                  <a:close/>
                </a:path>
              </a:pathLst>
            </a:custGeom>
            <a:grpFill/>
            <a:ln>
              <a:solidFill>
                <a:srgbClr val="00B0F0"/>
              </a:solidFill>
              <a:headEnd/>
              <a:tailEnd/>
            </a:ln>
          </p:spPr>
          <p:style>
            <a:lnRef idx="2">
              <a:schemeClr val="accent2"/>
            </a:lnRef>
            <a:fillRef idx="1">
              <a:schemeClr val="lt1"/>
            </a:fillRef>
            <a:effectRef idx="0">
              <a:schemeClr val="accent2"/>
            </a:effectRef>
            <a:fontRef idx="minor">
              <a:schemeClr val="dk1"/>
            </a:fontRef>
          </p:style>
          <p:txBody>
            <a:bodyPr/>
            <a:lstStyle/>
            <a:p>
              <a:pPr fontAlgn="auto">
                <a:spcBef>
                  <a:spcPts val="0"/>
                </a:spcBef>
                <a:spcAft>
                  <a:spcPts val="0"/>
                </a:spcAft>
                <a:defRPr/>
              </a:pPr>
              <a:endParaRPr kumimoji="0" lang="zh-TW" altLang="en-US" sz="1400"/>
            </a:p>
          </p:txBody>
        </p:sp>
        <p:sp>
          <p:nvSpPr>
            <p:cNvPr id="24" name="Freeform 294"/>
            <p:cNvSpPr>
              <a:spLocks/>
            </p:cNvSpPr>
            <p:nvPr/>
          </p:nvSpPr>
          <p:spPr bwMode="auto">
            <a:xfrm>
              <a:off x="4658" y="1091"/>
              <a:ext cx="175" cy="71"/>
            </a:xfrm>
            <a:custGeom>
              <a:avLst/>
              <a:gdLst>
                <a:gd name="T0" fmla="*/ 0 w 351"/>
                <a:gd name="T1" fmla="*/ 1 h 142"/>
                <a:gd name="T2" fmla="*/ 0 w 351"/>
                <a:gd name="T3" fmla="*/ 1 h 142"/>
                <a:gd name="T4" fmla="*/ 0 w 351"/>
                <a:gd name="T5" fmla="*/ 1 h 142"/>
                <a:gd name="T6" fmla="*/ 0 w 351"/>
                <a:gd name="T7" fmla="*/ 1 h 142"/>
                <a:gd name="T8" fmla="*/ 0 w 351"/>
                <a:gd name="T9" fmla="*/ 1 h 142"/>
                <a:gd name="T10" fmla="*/ 0 w 351"/>
                <a:gd name="T11" fmla="*/ 1 h 142"/>
                <a:gd name="T12" fmla="*/ 0 w 351"/>
                <a:gd name="T13" fmla="*/ 1 h 142"/>
                <a:gd name="T14" fmla="*/ 0 w 351"/>
                <a:gd name="T15" fmla="*/ 1 h 142"/>
                <a:gd name="T16" fmla="*/ 0 w 351"/>
                <a:gd name="T17" fmla="*/ 1 h 142"/>
                <a:gd name="T18" fmla="*/ 0 w 351"/>
                <a:gd name="T19" fmla="*/ 1 h 142"/>
                <a:gd name="T20" fmla="*/ 0 w 351"/>
                <a:gd name="T21" fmla="*/ 1 h 142"/>
                <a:gd name="T22" fmla="*/ 0 w 351"/>
                <a:gd name="T23" fmla="*/ 1 h 142"/>
                <a:gd name="T24" fmla="*/ 0 w 351"/>
                <a:gd name="T25" fmla="*/ 1 h 142"/>
                <a:gd name="T26" fmla="*/ 0 w 351"/>
                <a:gd name="T27" fmla="*/ 1 h 142"/>
                <a:gd name="T28" fmla="*/ 0 w 351"/>
                <a:gd name="T29" fmla="*/ 1 h 142"/>
                <a:gd name="T30" fmla="*/ 0 w 351"/>
                <a:gd name="T31" fmla="*/ 1 h 142"/>
                <a:gd name="T32" fmla="*/ 0 w 351"/>
                <a:gd name="T33" fmla="*/ 0 h 142"/>
                <a:gd name="T34" fmla="*/ 0 w 351"/>
                <a:gd name="T35" fmla="*/ 1 h 142"/>
                <a:gd name="T36" fmla="*/ 0 w 351"/>
                <a:gd name="T37" fmla="*/ 1 h 142"/>
                <a:gd name="T38" fmla="*/ 0 w 351"/>
                <a:gd name="T39" fmla="*/ 1 h 142"/>
                <a:gd name="T40" fmla="*/ 0 w 351"/>
                <a:gd name="T41" fmla="*/ 1 h 142"/>
                <a:gd name="T42" fmla="*/ 0 w 351"/>
                <a:gd name="T43" fmla="*/ 1 h 142"/>
                <a:gd name="T44" fmla="*/ 0 w 351"/>
                <a:gd name="T45" fmla="*/ 1 h 142"/>
                <a:gd name="T46" fmla="*/ 0 w 351"/>
                <a:gd name="T47" fmla="*/ 1 h 142"/>
                <a:gd name="T48" fmla="*/ 0 w 351"/>
                <a:gd name="T49" fmla="*/ 1 h 142"/>
                <a:gd name="T50" fmla="*/ 0 w 351"/>
                <a:gd name="T51" fmla="*/ 1 h 142"/>
                <a:gd name="T52" fmla="*/ 0 w 351"/>
                <a:gd name="T53" fmla="*/ 1 h 142"/>
                <a:gd name="T54" fmla="*/ 0 w 351"/>
                <a:gd name="T55" fmla="*/ 1 h 142"/>
                <a:gd name="T56" fmla="*/ 0 w 351"/>
                <a:gd name="T57" fmla="*/ 1 h 142"/>
                <a:gd name="T58" fmla="*/ 0 w 351"/>
                <a:gd name="T59" fmla="*/ 1 h 142"/>
                <a:gd name="T60" fmla="*/ 0 w 351"/>
                <a:gd name="T61" fmla="*/ 1 h 142"/>
                <a:gd name="T62" fmla="*/ 0 w 351"/>
                <a:gd name="T63" fmla="*/ 1 h 142"/>
                <a:gd name="T64" fmla="*/ 0 w 351"/>
                <a:gd name="T65" fmla="*/ 1 h 1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51"/>
                <a:gd name="T100" fmla="*/ 0 h 142"/>
                <a:gd name="T101" fmla="*/ 351 w 351"/>
                <a:gd name="T102" fmla="*/ 142 h 14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51" h="142">
                  <a:moveTo>
                    <a:pt x="0" y="23"/>
                  </a:moveTo>
                  <a:lnTo>
                    <a:pt x="7" y="49"/>
                  </a:lnTo>
                  <a:lnTo>
                    <a:pt x="20" y="72"/>
                  </a:lnTo>
                  <a:lnTo>
                    <a:pt x="36" y="93"/>
                  </a:lnTo>
                  <a:lnTo>
                    <a:pt x="58" y="110"/>
                  </a:lnTo>
                  <a:lnTo>
                    <a:pt x="83" y="125"/>
                  </a:lnTo>
                  <a:lnTo>
                    <a:pt x="112" y="135"/>
                  </a:lnTo>
                  <a:lnTo>
                    <a:pt x="142" y="141"/>
                  </a:lnTo>
                  <a:lnTo>
                    <a:pt x="176" y="142"/>
                  </a:lnTo>
                  <a:lnTo>
                    <a:pt x="210" y="139"/>
                  </a:lnTo>
                  <a:lnTo>
                    <a:pt x="241" y="129"/>
                  </a:lnTo>
                  <a:lnTo>
                    <a:pt x="270" y="116"/>
                  </a:lnTo>
                  <a:lnTo>
                    <a:pt x="297" y="98"/>
                  </a:lnTo>
                  <a:lnTo>
                    <a:pt x="317" y="78"/>
                  </a:lnTo>
                  <a:lnTo>
                    <a:pt x="335" y="55"/>
                  </a:lnTo>
                  <a:lnTo>
                    <a:pt x="345" y="28"/>
                  </a:lnTo>
                  <a:lnTo>
                    <a:pt x="351" y="0"/>
                  </a:lnTo>
                  <a:lnTo>
                    <a:pt x="335" y="15"/>
                  </a:lnTo>
                  <a:lnTo>
                    <a:pt x="317" y="28"/>
                  </a:lnTo>
                  <a:lnTo>
                    <a:pt x="297" y="40"/>
                  </a:lnTo>
                  <a:lnTo>
                    <a:pt x="275" y="50"/>
                  </a:lnTo>
                  <a:lnTo>
                    <a:pt x="251" y="59"/>
                  </a:lnTo>
                  <a:lnTo>
                    <a:pt x="225" y="65"/>
                  </a:lnTo>
                  <a:lnTo>
                    <a:pt x="199" y="70"/>
                  </a:lnTo>
                  <a:lnTo>
                    <a:pt x="171" y="72"/>
                  </a:lnTo>
                  <a:lnTo>
                    <a:pt x="146" y="72"/>
                  </a:lnTo>
                  <a:lnTo>
                    <a:pt x="120" y="71"/>
                  </a:lnTo>
                  <a:lnTo>
                    <a:pt x="97" y="66"/>
                  </a:lnTo>
                  <a:lnTo>
                    <a:pt x="74" y="61"/>
                  </a:lnTo>
                  <a:lnTo>
                    <a:pt x="53" y="53"/>
                  </a:lnTo>
                  <a:lnTo>
                    <a:pt x="34" y="45"/>
                  </a:lnTo>
                  <a:lnTo>
                    <a:pt x="17" y="35"/>
                  </a:lnTo>
                  <a:lnTo>
                    <a:pt x="0" y="23"/>
                  </a:lnTo>
                  <a:close/>
                </a:path>
              </a:pathLst>
            </a:custGeom>
            <a:grpFill/>
            <a:ln>
              <a:solidFill>
                <a:srgbClr val="00B0F0"/>
              </a:solidFill>
              <a:headEnd/>
              <a:tailEnd/>
            </a:ln>
          </p:spPr>
          <p:style>
            <a:lnRef idx="2">
              <a:schemeClr val="accent2"/>
            </a:lnRef>
            <a:fillRef idx="1">
              <a:schemeClr val="lt1"/>
            </a:fillRef>
            <a:effectRef idx="0">
              <a:schemeClr val="accent2"/>
            </a:effectRef>
            <a:fontRef idx="minor">
              <a:schemeClr val="dk1"/>
            </a:fontRef>
          </p:style>
          <p:txBody>
            <a:bodyPr/>
            <a:lstStyle/>
            <a:p>
              <a:pPr fontAlgn="auto">
                <a:spcBef>
                  <a:spcPts val="0"/>
                </a:spcBef>
                <a:spcAft>
                  <a:spcPts val="0"/>
                </a:spcAft>
                <a:defRPr/>
              </a:pPr>
              <a:endParaRPr kumimoji="0" lang="zh-TW" altLang="en-US" sz="1400"/>
            </a:p>
          </p:txBody>
        </p:sp>
        <p:sp>
          <p:nvSpPr>
            <p:cNvPr id="25" name="Freeform 295"/>
            <p:cNvSpPr>
              <a:spLocks/>
            </p:cNvSpPr>
            <p:nvPr/>
          </p:nvSpPr>
          <p:spPr bwMode="auto">
            <a:xfrm>
              <a:off x="4270" y="1070"/>
              <a:ext cx="175" cy="71"/>
            </a:xfrm>
            <a:custGeom>
              <a:avLst/>
              <a:gdLst>
                <a:gd name="T0" fmla="*/ 0 w 349"/>
                <a:gd name="T1" fmla="*/ 1 h 141"/>
                <a:gd name="T2" fmla="*/ 1 w 349"/>
                <a:gd name="T3" fmla="*/ 1 h 141"/>
                <a:gd name="T4" fmla="*/ 1 w 349"/>
                <a:gd name="T5" fmla="*/ 1 h 141"/>
                <a:gd name="T6" fmla="*/ 1 w 349"/>
                <a:gd name="T7" fmla="*/ 1 h 141"/>
                <a:gd name="T8" fmla="*/ 1 w 349"/>
                <a:gd name="T9" fmla="*/ 1 h 141"/>
                <a:gd name="T10" fmla="*/ 1 w 349"/>
                <a:gd name="T11" fmla="*/ 1 h 141"/>
                <a:gd name="T12" fmla="*/ 1 w 349"/>
                <a:gd name="T13" fmla="*/ 1 h 141"/>
                <a:gd name="T14" fmla="*/ 1 w 349"/>
                <a:gd name="T15" fmla="*/ 1 h 141"/>
                <a:gd name="T16" fmla="*/ 1 w 349"/>
                <a:gd name="T17" fmla="*/ 1 h 141"/>
                <a:gd name="T18" fmla="*/ 1 w 349"/>
                <a:gd name="T19" fmla="*/ 1 h 141"/>
                <a:gd name="T20" fmla="*/ 1 w 349"/>
                <a:gd name="T21" fmla="*/ 1 h 141"/>
                <a:gd name="T22" fmla="*/ 1 w 349"/>
                <a:gd name="T23" fmla="*/ 1 h 141"/>
                <a:gd name="T24" fmla="*/ 1 w 349"/>
                <a:gd name="T25" fmla="*/ 1 h 141"/>
                <a:gd name="T26" fmla="*/ 1 w 349"/>
                <a:gd name="T27" fmla="*/ 1 h 141"/>
                <a:gd name="T28" fmla="*/ 1 w 349"/>
                <a:gd name="T29" fmla="*/ 1 h 141"/>
                <a:gd name="T30" fmla="*/ 1 w 349"/>
                <a:gd name="T31" fmla="*/ 1 h 141"/>
                <a:gd name="T32" fmla="*/ 1 w 349"/>
                <a:gd name="T33" fmla="*/ 0 h 141"/>
                <a:gd name="T34" fmla="*/ 1 w 349"/>
                <a:gd name="T35" fmla="*/ 1 h 141"/>
                <a:gd name="T36" fmla="*/ 1 w 349"/>
                <a:gd name="T37" fmla="*/ 1 h 141"/>
                <a:gd name="T38" fmla="*/ 1 w 349"/>
                <a:gd name="T39" fmla="*/ 1 h 141"/>
                <a:gd name="T40" fmla="*/ 1 w 349"/>
                <a:gd name="T41" fmla="*/ 1 h 141"/>
                <a:gd name="T42" fmla="*/ 1 w 349"/>
                <a:gd name="T43" fmla="*/ 1 h 141"/>
                <a:gd name="T44" fmla="*/ 1 w 349"/>
                <a:gd name="T45" fmla="*/ 1 h 141"/>
                <a:gd name="T46" fmla="*/ 1 w 349"/>
                <a:gd name="T47" fmla="*/ 1 h 141"/>
                <a:gd name="T48" fmla="*/ 1 w 349"/>
                <a:gd name="T49" fmla="*/ 1 h 141"/>
                <a:gd name="T50" fmla="*/ 1 w 349"/>
                <a:gd name="T51" fmla="*/ 1 h 141"/>
                <a:gd name="T52" fmla="*/ 1 w 349"/>
                <a:gd name="T53" fmla="*/ 1 h 141"/>
                <a:gd name="T54" fmla="*/ 1 w 349"/>
                <a:gd name="T55" fmla="*/ 1 h 141"/>
                <a:gd name="T56" fmla="*/ 1 w 349"/>
                <a:gd name="T57" fmla="*/ 1 h 141"/>
                <a:gd name="T58" fmla="*/ 1 w 349"/>
                <a:gd name="T59" fmla="*/ 1 h 141"/>
                <a:gd name="T60" fmla="*/ 1 w 349"/>
                <a:gd name="T61" fmla="*/ 1 h 141"/>
                <a:gd name="T62" fmla="*/ 1 w 349"/>
                <a:gd name="T63" fmla="*/ 1 h 141"/>
                <a:gd name="T64" fmla="*/ 0 w 349"/>
                <a:gd name="T65" fmla="*/ 1 h 14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9"/>
                <a:gd name="T100" fmla="*/ 0 h 141"/>
                <a:gd name="T101" fmla="*/ 349 w 349"/>
                <a:gd name="T102" fmla="*/ 141 h 14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9" h="141">
                  <a:moveTo>
                    <a:pt x="0" y="23"/>
                  </a:moveTo>
                  <a:lnTo>
                    <a:pt x="7" y="48"/>
                  </a:lnTo>
                  <a:lnTo>
                    <a:pt x="18" y="71"/>
                  </a:lnTo>
                  <a:lnTo>
                    <a:pt x="36" y="92"/>
                  </a:lnTo>
                  <a:lnTo>
                    <a:pt x="58" y="109"/>
                  </a:lnTo>
                  <a:lnTo>
                    <a:pt x="82" y="124"/>
                  </a:lnTo>
                  <a:lnTo>
                    <a:pt x="111" y="135"/>
                  </a:lnTo>
                  <a:lnTo>
                    <a:pt x="141" y="140"/>
                  </a:lnTo>
                  <a:lnTo>
                    <a:pt x="174" y="141"/>
                  </a:lnTo>
                  <a:lnTo>
                    <a:pt x="208" y="138"/>
                  </a:lnTo>
                  <a:lnTo>
                    <a:pt x="240" y="129"/>
                  </a:lnTo>
                  <a:lnTo>
                    <a:pt x="270" y="115"/>
                  </a:lnTo>
                  <a:lnTo>
                    <a:pt x="295" y="98"/>
                  </a:lnTo>
                  <a:lnTo>
                    <a:pt x="317" y="77"/>
                  </a:lnTo>
                  <a:lnTo>
                    <a:pt x="333" y="54"/>
                  </a:lnTo>
                  <a:lnTo>
                    <a:pt x="344" y="27"/>
                  </a:lnTo>
                  <a:lnTo>
                    <a:pt x="349" y="0"/>
                  </a:lnTo>
                  <a:lnTo>
                    <a:pt x="334" y="15"/>
                  </a:lnTo>
                  <a:lnTo>
                    <a:pt x="316" y="27"/>
                  </a:lnTo>
                  <a:lnTo>
                    <a:pt x="296" y="39"/>
                  </a:lnTo>
                  <a:lnTo>
                    <a:pt x="273" y="49"/>
                  </a:lnTo>
                  <a:lnTo>
                    <a:pt x="250" y="59"/>
                  </a:lnTo>
                  <a:lnTo>
                    <a:pt x="225" y="64"/>
                  </a:lnTo>
                  <a:lnTo>
                    <a:pt x="197" y="69"/>
                  </a:lnTo>
                  <a:lnTo>
                    <a:pt x="169" y="71"/>
                  </a:lnTo>
                  <a:lnTo>
                    <a:pt x="144" y="71"/>
                  </a:lnTo>
                  <a:lnTo>
                    <a:pt x="120" y="69"/>
                  </a:lnTo>
                  <a:lnTo>
                    <a:pt x="96" y="65"/>
                  </a:lnTo>
                  <a:lnTo>
                    <a:pt x="74" y="60"/>
                  </a:lnTo>
                  <a:lnTo>
                    <a:pt x="53" y="53"/>
                  </a:lnTo>
                  <a:lnTo>
                    <a:pt x="33" y="45"/>
                  </a:lnTo>
                  <a:lnTo>
                    <a:pt x="16" y="34"/>
                  </a:lnTo>
                  <a:lnTo>
                    <a:pt x="0" y="23"/>
                  </a:lnTo>
                  <a:close/>
                </a:path>
              </a:pathLst>
            </a:custGeom>
            <a:grpFill/>
            <a:ln>
              <a:solidFill>
                <a:srgbClr val="00B0F0"/>
              </a:solidFill>
              <a:headEnd/>
              <a:tailEnd/>
            </a:ln>
          </p:spPr>
          <p:style>
            <a:lnRef idx="2">
              <a:schemeClr val="accent2"/>
            </a:lnRef>
            <a:fillRef idx="1">
              <a:schemeClr val="lt1"/>
            </a:fillRef>
            <a:effectRef idx="0">
              <a:schemeClr val="accent2"/>
            </a:effectRef>
            <a:fontRef idx="minor">
              <a:schemeClr val="dk1"/>
            </a:fontRef>
          </p:style>
          <p:txBody>
            <a:bodyPr/>
            <a:lstStyle/>
            <a:p>
              <a:pPr fontAlgn="auto">
                <a:spcBef>
                  <a:spcPts val="0"/>
                </a:spcBef>
                <a:spcAft>
                  <a:spcPts val="0"/>
                </a:spcAft>
                <a:defRPr/>
              </a:pPr>
              <a:endParaRPr kumimoji="0" lang="zh-TW" altLang="en-US" sz="1400"/>
            </a:p>
          </p:txBody>
        </p:sp>
        <p:sp>
          <p:nvSpPr>
            <p:cNvPr id="26" name="Freeform 296"/>
            <p:cNvSpPr>
              <a:spLocks/>
            </p:cNvSpPr>
            <p:nvPr/>
          </p:nvSpPr>
          <p:spPr bwMode="auto">
            <a:xfrm>
              <a:off x="4696" y="1031"/>
              <a:ext cx="266" cy="103"/>
            </a:xfrm>
            <a:custGeom>
              <a:avLst/>
              <a:gdLst>
                <a:gd name="T0" fmla="*/ 0 w 533"/>
                <a:gd name="T1" fmla="*/ 0 h 208"/>
                <a:gd name="T2" fmla="*/ 0 w 533"/>
                <a:gd name="T3" fmla="*/ 0 h 208"/>
                <a:gd name="T4" fmla="*/ 0 w 533"/>
                <a:gd name="T5" fmla="*/ 0 h 208"/>
                <a:gd name="T6" fmla="*/ 0 w 533"/>
                <a:gd name="T7" fmla="*/ 0 h 208"/>
                <a:gd name="T8" fmla="*/ 0 w 533"/>
                <a:gd name="T9" fmla="*/ 0 h 208"/>
                <a:gd name="T10" fmla="*/ 0 w 533"/>
                <a:gd name="T11" fmla="*/ 0 h 208"/>
                <a:gd name="T12" fmla="*/ 0 w 533"/>
                <a:gd name="T13" fmla="*/ 0 h 208"/>
                <a:gd name="T14" fmla="*/ 0 w 533"/>
                <a:gd name="T15" fmla="*/ 0 h 208"/>
                <a:gd name="T16" fmla="*/ 0 w 533"/>
                <a:gd name="T17" fmla="*/ 0 h 208"/>
                <a:gd name="T18" fmla="*/ 0 w 533"/>
                <a:gd name="T19" fmla="*/ 0 h 208"/>
                <a:gd name="T20" fmla="*/ 0 w 533"/>
                <a:gd name="T21" fmla="*/ 0 h 208"/>
                <a:gd name="T22" fmla="*/ 0 w 533"/>
                <a:gd name="T23" fmla="*/ 0 h 208"/>
                <a:gd name="T24" fmla="*/ 0 w 533"/>
                <a:gd name="T25" fmla="*/ 0 h 208"/>
                <a:gd name="T26" fmla="*/ 0 w 533"/>
                <a:gd name="T27" fmla="*/ 0 h 208"/>
                <a:gd name="T28" fmla="*/ 0 w 533"/>
                <a:gd name="T29" fmla="*/ 0 h 208"/>
                <a:gd name="T30" fmla="*/ 0 w 533"/>
                <a:gd name="T31" fmla="*/ 0 h 208"/>
                <a:gd name="T32" fmla="*/ 0 w 533"/>
                <a:gd name="T33" fmla="*/ 0 h 208"/>
                <a:gd name="T34" fmla="*/ 0 w 533"/>
                <a:gd name="T35" fmla="*/ 0 h 208"/>
                <a:gd name="T36" fmla="*/ 0 w 533"/>
                <a:gd name="T37" fmla="*/ 0 h 208"/>
                <a:gd name="T38" fmla="*/ 0 w 533"/>
                <a:gd name="T39" fmla="*/ 0 h 208"/>
                <a:gd name="T40" fmla="*/ 0 w 533"/>
                <a:gd name="T41" fmla="*/ 0 h 208"/>
                <a:gd name="T42" fmla="*/ 0 w 533"/>
                <a:gd name="T43" fmla="*/ 0 h 208"/>
                <a:gd name="T44" fmla="*/ 0 w 533"/>
                <a:gd name="T45" fmla="*/ 0 h 208"/>
                <a:gd name="T46" fmla="*/ 0 w 533"/>
                <a:gd name="T47" fmla="*/ 0 h 208"/>
                <a:gd name="T48" fmla="*/ 0 w 533"/>
                <a:gd name="T49" fmla="*/ 0 h 208"/>
                <a:gd name="T50" fmla="*/ 0 w 533"/>
                <a:gd name="T51" fmla="*/ 0 h 208"/>
                <a:gd name="T52" fmla="*/ 0 w 533"/>
                <a:gd name="T53" fmla="*/ 0 h 208"/>
                <a:gd name="T54" fmla="*/ 0 w 533"/>
                <a:gd name="T55" fmla="*/ 0 h 208"/>
                <a:gd name="T56" fmla="*/ 0 w 533"/>
                <a:gd name="T57" fmla="*/ 0 h 208"/>
                <a:gd name="T58" fmla="*/ 0 w 533"/>
                <a:gd name="T59" fmla="*/ 0 h 208"/>
                <a:gd name="T60" fmla="*/ 0 w 533"/>
                <a:gd name="T61" fmla="*/ 0 h 208"/>
                <a:gd name="T62" fmla="*/ 0 w 533"/>
                <a:gd name="T63" fmla="*/ 0 h 20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33"/>
                <a:gd name="T97" fmla="*/ 0 h 208"/>
                <a:gd name="T98" fmla="*/ 533 w 533"/>
                <a:gd name="T99" fmla="*/ 208 h 20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33" h="208">
                  <a:moveTo>
                    <a:pt x="0" y="21"/>
                  </a:moveTo>
                  <a:lnTo>
                    <a:pt x="4" y="41"/>
                  </a:lnTo>
                  <a:lnTo>
                    <a:pt x="10" y="60"/>
                  </a:lnTo>
                  <a:lnTo>
                    <a:pt x="18" y="79"/>
                  </a:lnTo>
                  <a:lnTo>
                    <a:pt x="28" y="96"/>
                  </a:lnTo>
                  <a:lnTo>
                    <a:pt x="40" y="112"/>
                  </a:lnTo>
                  <a:lnTo>
                    <a:pt x="53" y="128"/>
                  </a:lnTo>
                  <a:lnTo>
                    <a:pt x="68" y="142"/>
                  </a:lnTo>
                  <a:lnTo>
                    <a:pt x="84" y="156"/>
                  </a:lnTo>
                  <a:lnTo>
                    <a:pt x="103" y="167"/>
                  </a:lnTo>
                  <a:lnTo>
                    <a:pt x="123" y="178"/>
                  </a:lnTo>
                  <a:lnTo>
                    <a:pt x="143" y="187"/>
                  </a:lnTo>
                  <a:lnTo>
                    <a:pt x="165" y="195"/>
                  </a:lnTo>
                  <a:lnTo>
                    <a:pt x="188" y="201"/>
                  </a:lnTo>
                  <a:lnTo>
                    <a:pt x="212" y="204"/>
                  </a:lnTo>
                  <a:lnTo>
                    <a:pt x="237" y="208"/>
                  </a:lnTo>
                  <a:lnTo>
                    <a:pt x="262" y="208"/>
                  </a:lnTo>
                  <a:lnTo>
                    <a:pt x="288" y="207"/>
                  </a:lnTo>
                  <a:lnTo>
                    <a:pt x="314" y="203"/>
                  </a:lnTo>
                  <a:lnTo>
                    <a:pt x="339" y="199"/>
                  </a:lnTo>
                  <a:lnTo>
                    <a:pt x="363" y="191"/>
                  </a:lnTo>
                  <a:lnTo>
                    <a:pt x="386" y="182"/>
                  </a:lnTo>
                  <a:lnTo>
                    <a:pt x="407" y="172"/>
                  </a:lnTo>
                  <a:lnTo>
                    <a:pt x="428" y="159"/>
                  </a:lnTo>
                  <a:lnTo>
                    <a:pt x="447" y="147"/>
                  </a:lnTo>
                  <a:lnTo>
                    <a:pt x="465" y="132"/>
                  </a:lnTo>
                  <a:lnTo>
                    <a:pt x="480" y="116"/>
                  </a:lnTo>
                  <a:lnTo>
                    <a:pt x="494" y="98"/>
                  </a:lnTo>
                  <a:lnTo>
                    <a:pt x="506" y="81"/>
                  </a:lnTo>
                  <a:lnTo>
                    <a:pt x="517" y="61"/>
                  </a:lnTo>
                  <a:lnTo>
                    <a:pt x="524" y="42"/>
                  </a:lnTo>
                  <a:lnTo>
                    <a:pt x="529" y="21"/>
                  </a:lnTo>
                  <a:lnTo>
                    <a:pt x="533" y="0"/>
                  </a:lnTo>
                  <a:lnTo>
                    <a:pt x="521" y="12"/>
                  </a:lnTo>
                  <a:lnTo>
                    <a:pt x="509" y="22"/>
                  </a:lnTo>
                  <a:lnTo>
                    <a:pt x="495" y="31"/>
                  </a:lnTo>
                  <a:lnTo>
                    <a:pt x="481" y="42"/>
                  </a:lnTo>
                  <a:lnTo>
                    <a:pt x="465" y="50"/>
                  </a:lnTo>
                  <a:lnTo>
                    <a:pt x="450" y="58"/>
                  </a:lnTo>
                  <a:lnTo>
                    <a:pt x="432" y="66"/>
                  </a:lnTo>
                  <a:lnTo>
                    <a:pt x="415" y="73"/>
                  </a:lnTo>
                  <a:lnTo>
                    <a:pt x="398" y="80"/>
                  </a:lnTo>
                  <a:lnTo>
                    <a:pt x="378" y="84"/>
                  </a:lnTo>
                  <a:lnTo>
                    <a:pt x="360" y="90"/>
                  </a:lnTo>
                  <a:lnTo>
                    <a:pt x="340" y="94"/>
                  </a:lnTo>
                  <a:lnTo>
                    <a:pt x="320" y="97"/>
                  </a:lnTo>
                  <a:lnTo>
                    <a:pt x="300" y="99"/>
                  </a:lnTo>
                  <a:lnTo>
                    <a:pt x="278" y="101"/>
                  </a:lnTo>
                  <a:lnTo>
                    <a:pt x="257" y="102"/>
                  </a:lnTo>
                  <a:lnTo>
                    <a:pt x="238" y="102"/>
                  </a:lnTo>
                  <a:lnTo>
                    <a:pt x="218" y="101"/>
                  </a:lnTo>
                  <a:lnTo>
                    <a:pt x="200" y="99"/>
                  </a:lnTo>
                  <a:lnTo>
                    <a:pt x="181" y="97"/>
                  </a:lnTo>
                  <a:lnTo>
                    <a:pt x="163" y="94"/>
                  </a:lnTo>
                  <a:lnTo>
                    <a:pt x="146" y="90"/>
                  </a:lnTo>
                  <a:lnTo>
                    <a:pt x="128" y="86"/>
                  </a:lnTo>
                  <a:lnTo>
                    <a:pt x="112" y="80"/>
                  </a:lnTo>
                  <a:lnTo>
                    <a:pt x="95" y="75"/>
                  </a:lnTo>
                  <a:lnTo>
                    <a:pt x="80" y="68"/>
                  </a:lnTo>
                  <a:lnTo>
                    <a:pt x="65" y="61"/>
                  </a:lnTo>
                  <a:lnTo>
                    <a:pt x="51" y="55"/>
                  </a:lnTo>
                  <a:lnTo>
                    <a:pt x="37" y="48"/>
                  </a:lnTo>
                  <a:lnTo>
                    <a:pt x="23" y="38"/>
                  </a:lnTo>
                  <a:lnTo>
                    <a:pt x="12" y="30"/>
                  </a:lnTo>
                  <a:lnTo>
                    <a:pt x="0" y="21"/>
                  </a:lnTo>
                  <a:close/>
                </a:path>
              </a:pathLst>
            </a:custGeom>
            <a:grpFill/>
            <a:ln>
              <a:solidFill>
                <a:srgbClr val="00B0F0"/>
              </a:solidFill>
              <a:headEnd/>
              <a:tailEnd/>
            </a:ln>
          </p:spPr>
          <p:style>
            <a:lnRef idx="2">
              <a:schemeClr val="accent2"/>
            </a:lnRef>
            <a:fillRef idx="1">
              <a:schemeClr val="lt1"/>
            </a:fillRef>
            <a:effectRef idx="0">
              <a:schemeClr val="accent2"/>
            </a:effectRef>
            <a:fontRef idx="minor">
              <a:schemeClr val="dk1"/>
            </a:fontRef>
          </p:style>
          <p:txBody>
            <a:bodyPr/>
            <a:lstStyle/>
            <a:p>
              <a:pPr fontAlgn="auto">
                <a:spcBef>
                  <a:spcPts val="0"/>
                </a:spcBef>
                <a:spcAft>
                  <a:spcPts val="0"/>
                </a:spcAft>
                <a:defRPr/>
              </a:pPr>
              <a:endParaRPr kumimoji="0" lang="zh-TW" altLang="en-US" sz="1400"/>
            </a:p>
          </p:txBody>
        </p:sp>
        <p:sp>
          <p:nvSpPr>
            <p:cNvPr id="27" name="Freeform 297"/>
            <p:cNvSpPr>
              <a:spLocks/>
            </p:cNvSpPr>
            <p:nvPr/>
          </p:nvSpPr>
          <p:spPr bwMode="auto">
            <a:xfrm>
              <a:off x="4919" y="1023"/>
              <a:ext cx="277" cy="121"/>
            </a:xfrm>
            <a:custGeom>
              <a:avLst/>
              <a:gdLst>
                <a:gd name="T0" fmla="*/ 0 w 556"/>
                <a:gd name="T1" fmla="*/ 1 h 242"/>
                <a:gd name="T2" fmla="*/ 0 w 556"/>
                <a:gd name="T3" fmla="*/ 1 h 242"/>
                <a:gd name="T4" fmla="*/ 0 w 556"/>
                <a:gd name="T5" fmla="*/ 1 h 242"/>
                <a:gd name="T6" fmla="*/ 0 w 556"/>
                <a:gd name="T7" fmla="*/ 1 h 242"/>
                <a:gd name="T8" fmla="*/ 0 w 556"/>
                <a:gd name="T9" fmla="*/ 1 h 242"/>
                <a:gd name="T10" fmla="*/ 0 w 556"/>
                <a:gd name="T11" fmla="*/ 1 h 242"/>
                <a:gd name="T12" fmla="*/ 0 w 556"/>
                <a:gd name="T13" fmla="*/ 1 h 242"/>
                <a:gd name="T14" fmla="*/ 0 w 556"/>
                <a:gd name="T15" fmla="*/ 1 h 242"/>
                <a:gd name="T16" fmla="*/ 0 w 556"/>
                <a:gd name="T17" fmla="*/ 1 h 242"/>
                <a:gd name="T18" fmla="*/ 0 w 556"/>
                <a:gd name="T19" fmla="*/ 1 h 242"/>
                <a:gd name="T20" fmla="*/ 0 w 556"/>
                <a:gd name="T21" fmla="*/ 1 h 242"/>
                <a:gd name="T22" fmla="*/ 0 w 556"/>
                <a:gd name="T23" fmla="*/ 1 h 242"/>
                <a:gd name="T24" fmla="*/ 0 w 556"/>
                <a:gd name="T25" fmla="*/ 1 h 242"/>
                <a:gd name="T26" fmla="*/ 0 w 556"/>
                <a:gd name="T27" fmla="*/ 1 h 242"/>
                <a:gd name="T28" fmla="*/ 0 w 556"/>
                <a:gd name="T29" fmla="*/ 1 h 242"/>
                <a:gd name="T30" fmla="*/ 0 w 556"/>
                <a:gd name="T31" fmla="*/ 1 h 242"/>
                <a:gd name="T32" fmla="*/ 0 w 556"/>
                <a:gd name="T33" fmla="*/ 1 h 242"/>
                <a:gd name="T34" fmla="*/ 0 w 556"/>
                <a:gd name="T35" fmla="*/ 1 h 242"/>
                <a:gd name="T36" fmla="*/ 0 w 556"/>
                <a:gd name="T37" fmla="*/ 1 h 242"/>
                <a:gd name="T38" fmla="*/ 0 w 556"/>
                <a:gd name="T39" fmla="*/ 1 h 242"/>
                <a:gd name="T40" fmla="*/ 0 w 556"/>
                <a:gd name="T41" fmla="*/ 1 h 242"/>
                <a:gd name="T42" fmla="*/ 0 w 556"/>
                <a:gd name="T43" fmla="*/ 1 h 242"/>
                <a:gd name="T44" fmla="*/ 0 w 556"/>
                <a:gd name="T45" fmla="*/ 1 h 242"/>
                <a:gd name="T46" fmla="*/ 0 w 556"/>
                <a:gd name="T47" fmla="*/ 1 h 242"/>
                <a:gd name="T48" fmla="*/ 0 w 556"/>
                <a:gd name="T49" fmla="*/ 0 h 242"/>
                <a:gd name="T50" fmla="*/ 0 w 556"/>
                <a:gd name="T51" fmla="*/ 1 h 242"/>
                <a:gd name="T52" fmla="*/ 0 w 556"/>
                <a:gd name="T53" fmla="*/ 1 h 242"/>
                <a:gd name="T54" fmla="*/ 0 w 556"/>
                <a:gd name="T55" fmla="*/ 1 h 242"/>
                <a:gd name="T56" fmla="*/ 0 w 556"/>
                <a:gd name="T57" fmla="*/ 1 h 242"/>
                <a:gd name="T58" fmla="*/ 0 w 556"/>
                <a:gd name="T59" fmla="*/ 1 h 242"/>
                <a:gd name="T60" fmla="*/ 0 w 556"/>
                <a:gd name="T61" fmla="*/ 1 h 242"/>
                <a:gd name="T62" fmla="*/ 0 w 556"/>
                <a:gd name="T63" fmla="*/ 1 h 242"/>
                <a:gd name="T64" fmla="*/ 0 w 556"/>
                <a:gd name="T65" fmla="*/ 1 h 242"/>
                <a:gd name="T66" fmla="*/ 0 w 556"/>
                <a:gd name="T67" fmla="*/ 1 h 242"/>
                <a:gd name="T68" fmla="*/ 0 w 556"/>
                <a:gd name="T69" fmla="*/ 1 h 242"/>
                <a:gd name="T70" fmla="*/ 0 w 556"/>
                <a:gd name="T71" fmla="*/ 1 h 242"/>
                <a:gd name="T72" fmla="*/ 0 w 556"/>
                <a:gd name="T73" fmla="*/ 1 h 242"/>
                <a:gd name="T74" fmla="*/ 0 w 556"/>
                <a:gd name="T75" fmla="*/ 1 h 242"/>
                <a:gd name="T76" fmla="*/ 0 w 556"/>
                <a:gd name="T77" fmla="*/ 1 h 242"/>
                <a:gd name="T78" fmla="*/ 0 w 556"/>
                <a:gd name="T79" fmla="*/ 1 h 242"/>
                <a:gd name="T80" fmla="*/ 0 w 556"/>
                <a:gd name="T81" fmla="*/ 1 h 242"/>
                <a:gd name="T82" fmla="*/ 0 w 556"/>
                <a:gd name="T83" fmla="*/ 1 h 242"/>
                <a:gd name="T84" fmla="*/ 0 w 556"/>
                <a:gd name="T85" fmla="*/ 1 h 242"/>
                <a:gd name="T86" fmla="*/ 0 w 556"/>
                <a:gd name="T87" fmla="*/ 1 h 242"/>
                <a:gd name="T88" fmla="*/ 0 w 556"/>
                <a:gd name="T89" fmla="*/ 1 h 242"/>
                <a:gd name="T90" fmla="*/ 0 w 556"/>
                <a:gd name="T91" fmla="*/ 1 h 242"/>
                <a:gd name="T92" fmla="*/ 0 w 556"/>
                <a:gd name="T93" fmla="*/ 1 h 242"/>
                <a:gd name="T94" fmla="*/ 0 w 556"/>
                <a:gd name="T95" fmla="*/ 1 h 242"/>
                <a:gd name="T96" fmla="*/ 0 w 556"/>
                <a:gd name="T97" fmla="*/ 1 h 242"/>
                <a:gd name="T98" fmla="*/ 0 w 556"/>
                <a:gd name="T99" fmla="*/ 1 h 242"/>
                <a:gd name="T100" fmla="*/ 0 w 556"/>
                <a:gd name="T101" fmla="*/ 1 h 242"/>
                <a:gd name="T102" fmla="*/ 0 w 556"/>
                <a:gd name="T103" fmla="*/ 1 h 242"/>
                <a:gd name="T104" fmla="*/ 0 w 556"/>
                <a:gd name="T105" fmla="*/ 1 h 242"/>
                <a:gd name="T106" fmla="*/ 0 w 556"/>
                <a:gd name="T107" fmla="*/ 1 h 242"/>
                <a:gd name="T108" fmla="*/ 0 w 556"/>
                <a:gd name="T109" fmla="*/ 1 h 242"/>
                <a:gd name="T110" fmla="*/ 0 w 556"/>
                <a:gd name="T111" fmla="*/ 1 h 242"/>
                <a:gd name="T112" fmla="*/ 0 w 556"/>
                <a:gd name="T113" fmla="*/ 1 h 242"/>
                <a:gd name="T114" fmla="*/ 0 w 556"/>
                <a:gd name="T115" fmla="*/ 1 h 24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56"/>
                <a:gd name="T175" fmla="*/ 0 h 242"/>
                <a:gd name="T176" fmla="*/ 556 w 556"/>
                <a:gd name="T177" fmla="*/ 242 h 24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56" h="242">
                  <a:moveTo>
                    <a:pt x="65" y="94"/>
                  </a:moveTo>
                  <a:lnTo>
                    <a:pt x="84" y="99"/>
                  </a:lnTo>
                  <a:lnTo>
                    <a:pt x="105" y="104"/>
                  </a:lnTo>
                  <a:lnTo>
                    <a:pt x="126" y="109"/>
                  </a:lnTo>
                  <a:lnTo>
                    <a:pt x="147" y="112"/>
                  </a:lnTo>
                  <a:lnTo>
                    <a:pt x="169" y="114"/>
                  </a:lnTo>
                  <a:lnTo>
                    <a:pt x="190" y="117"/>
                  </a:lnTo>
                  <a:lnTo>
                    <a:pt x="212" y="118"/>
                  </a:lnTo>
                  <a:lnTo>
                    <a:pt x="235" y="118"/>
                  </a:lnTo>
                  <a:lnTo>
                    <a:pt x="260" y="117"/>
                  </a:lnTo>
                  <a:lnTo>
                    <a:pt x="285" y="115"/>
                  </a:lnTo>
                  <a:lnTo>
                    <a:pt x="308" y="112"/>
                  </a:lnTo>
                  <a:lnTo>
                    <a:pt x="332" y="109"/>
                  </a:lnTo>
                  <a:lnTo>
                    <a:pt x="354" y="104"/>
                  </a:lnTo>
                  <a:lnTo>
                    <a:pt x="377" y="98"/>
                  </a:lnTo>
                  <a:lnTo>
                    <a:pt x="398" y="91"/>
                  </a:lnTo>
                  <a:lnTo>
                    <a:pt x="420" y="84"/>
                  </a:lnTo>
                  <a:lnTo>
                    <a:pt x="439" y="76"/>
                  </a:lnTo>
                  <a:lnTo>
                    <a:pt x="459" y="67"/>
                  </a:lnTo>
                  <a:lnTo>
                    <a:pt x="477" y="58"/>
                  </a:lnTo>
                  <a:lnTo>
                    <a:pt x="495" y="47"/>
                  </a:lnTo>
                  <a:lnTo>
                    <a:pt x="512" y="37"/>
                  </a:lnTo>
                  <a:lnTo>
                    <a:pt x="528" y="26"/>
                  </a:lnTo>
                  <a:lnTo>
                    <a:pt x="542" y="13"/>
                  </a:lnTo>
                  <a:lnTo>
                    <a:pt x="556" y="0"/>
                  </a:lnTo>
                  <a:lnTo>
                    <a:pt x="552" y="24"/>
                  </a:lnTo>
                  <a:lnTo>
                    <a:pt x="545" y="49"/>
                  </a:lnTo>
                  <a:lnTo>
                    <a:pt x="536" y="72"/>
                  </a:lnTo>
                  <a:lnTo>
                    <a:pt x="525" y="94"/>
                  </a:lnTo>
                  <a:lnTo>
                    <a:pt x="511" y="114"/>
                  </a:lnTo>
                  <a:lnTo>
                    <a:pt x="495" y="134"/>
                  </a:lnTo>
                  <a:lnTo>
                    <a:pt x="476" y="154"/>
                  </a:lnTo>
                  <a:lnTo>
                    <a:pt x="455" y="170"/>
                  </a:lnTo>
                  <a:lnTo>
                    <a:pt x="434" y="186"/>
                  </a:lnTo>
                  <a:lnTo>
                    <a:pt x="409" y="200"/>
                  </a:lnTo>
                  <a:lnTo>
                    <a:pt x="384" y="212"/>
                  </a:lnTo>
                  <a:lnTo>
                    <a:pt x="358" y="223"/>
                  </a:lnTo>
                  <a:lnTo>
                    <a:pt x="330" y="231"/>
                  </a:lnTo>
                  <a:lnTo>
                    <a:pt x="301" y="236"/>
                  </a:lnTo>
                  <a:lnTo>
                    <a:pt x="271" y="241"/>
                  </a:lnTo>
                  <a:lnTo>
                    <a:pt x="240" y="242"/>
                  </a:lnTo>
                  <a:lnTo>
                    <a:pt x="222" y="242"/>
                  </a:lnTo>
                  <a:lnTo>
                    <a:pt x="204" y="241"/>
                  </a:lnTo>
                  <a:lnTo>
                    <a:pt x="186" y="239"/>
                  </a:lnTo>
                  <a:lnTo>
                    <a:pt x="169" y="236"/>
                  </a:lnTo>
                  <a:lnTo>
                    <a:pt x="152" y="233"/>
                  </a:lnTo>
                  <a:lnTo>
                    <a:pt x="135" y="228"/>
                  </a:lnTo>
                  <a:lnTo>
                    <a:pt x="120" y="224"/>
                  </a:lnTo>
                  <a:lnTo>
                    <a:pt x="104" y="218"/>
                  </a:lnTo>
                  <a:lnTo>
                    <a:pt x="89" y="212"/>
                  </a:lnTo>
                  <a:lnTo>
                    <a:pt x="74" y="205"/>
                  </a:lnTo>
                  <a:lnTo>
                    <a:pt x="60" y="197"/>
                  </a:lnTo>
                  <a:lnTo>
                    <a:pt x="48" y="189"/>
                  </a:lnTo>
                  <a:lnTo>
                    <a:pt x="35" y="181"/>
                  </a:lnTo>
                  <a:lnTo>
                    <a:pt x="22" y="172"/>
                  </a:lnTo>
                  <a:lnTo>
                    <a:pt x="11" y="162"/>
                  </a:lnTo>
                  <a:lnTo>
                    <a:pt x="0" y="151"/>
                  </a:lnTo>
                  <a:lnTo>
                    <a:pt x="65" y="94"/>
                  </a:lnTo>
                  <a:close/>
                </a:path>
              </a:pathLst>
            </a:custGeom>
            <a:grpFill/>
            <a:ln>
              <a:solidFill>
                <a:srgbClr val="00B0F0"/>
              </a:solidFill>
              <a:headEnd/>
              <a:tailEnd/>
            </a:ln>
          </p:spPr>
          <p:style>
            <a:lnRef idx="2">
              <a:schemeClr val="accent2"/>
            </a:lnRef>
            <a:fillRef idx="1">
              <a:schemeClr val="lt1"/>
            </a:fillRef>
            <a:effectRef idx="0">
              <a:schemeClr val="accent2"/>
            </a:effectRef>
            <a:fontRef idx="minor">
              <a:schemeClr val="dk1"/>
            </a:fontRef>
          </p:style>
          <p:txBody>
            <a:bodyPr/>
            <a:lstStyle/>
            <a:p>
              <a:pPr fontAlgn="auto">
                <a:spcBef>
                  <a:spcPts val="0"/>
                </a:spcBef>
                <a:spcAft>
                  <a:spcPts val="0"/>
                </a:spcAft>
                <a:defRPr/>
              </a:pPr>
              <a:endParaRPr kumimoji="0" lang="zh-TW" altLang="en-US" sz="1400"/>
            </a:p>
          </p:txBody>
        </p:sp>
        <p:sp>
          <p:nvSpPr>
            <p:cNvPr id="28" name="Freeform 298"/>
            <p:cNvSpPr>
              <a:spLocks/>
            </p:cNvSpPr>
            <p:nvPr/>
          </p:nvSpPr>
          <p:spPr bwMode="auto">
            <a:xfrm>
              <a:off x="4750" y="681"/>
              <a:ext cx="463" cy="327"/>
            </a:xfrm>
            <a:custGeom>
              <a:avLst/>
              <a:gdLst>
                <a:gd name="T0" fmla="*/ 1 w 925"/>
                <a:gd name="T1" fmla="*/ 1 h 652"/>
                <a:gd name="T2" fmla="*/ 1 w 925"/>
                <a:gd name="T3" fmla="*/ 1 h 652"/>
                <a:gd name="T4" fmla="*/ 1 w 925"/>
                <a:gd name="T5" fmla="*/ 1 h 652"/>
                <a:gd name="T6" fmla="*/ 1 w 925"/>
                <a:gd name="T7" fmla="*/ 1 h 652"/>
                <a:gd name="T8" fmla="*/ 1 w 925"/>
                <a:gd name="T9" fmla="*/ 1 h 652"/>
                <a:gd name="T10" fmla="*/ 1 w 925"/>
                <a:gd name="T11" fmla="*/ 1 h 652"/>
                <a:gd name="T12" fmla="*/ 1 w 925"/>
                <a:gd name="T13" fmla="*/ 1 h 652"/>
                <a:gd name="T14" fmla="*/ 1 w 925"/>
                <a:gd name="T15" fmla="*/ 1 h 652"/>
                <a:gd name="T16" fmla="*/ 1 w 925"/>
                <a:gd name="T17" fmla="*/ 1 h 652"/>
                <a:gd name="T18" fmla="*/ 1 w 925"/>
                <a:gd name="T19" fmla="*/ 1 h 652"/>
                <a:gd name="T20" fmla="*/ 1 w 925"/>
                <a:gd name="T21" fmla="*/ 1 h 652"/>
                <a:gd name="T22" fmla="*/ 1 w 925"/>
                <a:gd name="T23" fmla="*/ 1 h 652"/>
                <a:gd name="T24" fmla="*/ 1 w 925"/>
                <a:gd name="T25" fmla="*/ 1 h 652"/>
                <a:gd name="T26" fmla="*/ 1 w 925"/>
                <a:gd name="T27" fmla="*/ 1 h 652"/>
                <a:gd name="T28" fmla="*/ 1 w 925"/>
                <a:gd name="T29" fmla="*/ 1 h 652"/>
                <a:gd name="T30" fmla="*/ 1 w 925"/>
                <a:gd name="T31" fmla="*/ 1 h 652"/>
                <a:gd name="T32" fmla="*/ 1 w 925"/>
                <a:gd name="T33" fmla="*/ 1 h 652"/>
                <a:gd name="T34" fmla="*/ 1 w 925"/>
                <a:gd name="T35" fmla="*/ 1 h 652"/>
                <a:gd name="T36" fmla="*/ 1 w 925"/>
                <a:gd name="T37" fmla="*/ 1 h 652"/>
                <a:gd name="T38" fmla="*/ 1 w 925"/>
                <a:gd name="T39" fmla="*/ 1 h 652"/>
                <a:gd name="T40" fmla="*/ 1 w 925"/>
                <a:gd name="T41" fmla="*/ 1 h 652"/>
                <a:gd name="T42" fmla="*/ 1 w 925"/>
                <a:gd name="T43" fmla="*/ 1 h 652"/>
                <a:gd name="T44" fmla="*/ 1 w 925"/>
                <a:gd name="T45" fmla="*/ 1 h 652"/>
                <a:gd name="T46" fmla="*/ 1 w 925"/>
                <a:gd name="T47" fmla="*/ 1 h 652"/>
                <a:gd name="T48" fmla="*/ 1 w 925"/>
                <a:gd name="T49" fmla="*/ 1 h 652"/>
                <a:gd name="T50" fmla="*/ 1 w 925"/>
                <a:gd name="T51" fmla="*/ 1 h 652"/>
                <a:gd name="T52" fmla="*/ 1 w 925"/>
                <a:gd name="T53" fmla="*/ 1 h 652"/>
                <a:gd name="T54" fmla="*/ 1 w 925"/>
                <a:gd name="T55" fmla="*/ 1 h 652"/>
                <a:gd name="T56" fmla="*/ 1 w 925"/>
                <a:gd name="T57" fmla="*/ 1 h 652"/>
                <a:gd name="T58" fmla="*/ 1 w 925"/>
                <a:gd name="T59" fmla="*/ 1 h 652"/>
                <a:gd name="T60" fmla="*/ 1 w 925"/>
                <a:gd name="T61" fmla="*/ 1 h 652"/>
                <a:gd name="T62" fmla="*/ 1 w 925"/>
                <a:gd name="T63" fmla="*/ 1 h 652"/>
                <a:gd name="T64" fmla="*/ 1 w 925"/>
                <a:gd name="T65" fmla="*/ 1 h 652"/>
                <a:gd name="T66" fmla="*/ 1 w 925"/>
                <a:gd name="T67" fmla="*/ 1 h 652"/>
                <a:gd name="T68" fmla="*/ 1 w 925"/>
                <a:gd name="T69" fmla="*/ 0 h 652"/>
                <a:gd name="T70" fmla="*/ 1 w 925"/>
                <a:gd name="T71" fmla="*/ 1 h 652"/>
                <a:gd name="T72" fmla="*/ 1 w 925"/>
                <a:gd name="T73" fmla="*/ 1 h 652"/>
                <a:gd name="T74" fmla="*/ 1 w 925"/>
                <a:gd name="T75" fmla="*/ 1 h 652"/>
                <a:gd name="T76" fmla="*/ 1 w 925"/>
                <a:gd name="T77" fmla="*/ 1 h 652"/>
                <a:gd name="T78" fmla="*/ 1 w 925"/>
                <a:gd name="T79" fmla="*/ 1 h 652"/>
                <a:gd name="T80" fmla="*/ 1 w 925"/>
                <a:gd name="T81" fmla="*/ 1 h 652"/>
                <a:gd name="T82" fmla="*/ 1 w 925"/>
                <a:gd name="T83" fmla="*/ 1 h 652"/>
                <a:gd name="T84" fmla="*/ 1 w 925"/>
                <a:gd name="T85" fmla="*/ 1 h 652"/>
                <a:gd name="T86" fmla="*/ 1 w 925"/>
                <a:gd name="T87" fmla="*/ 1 h 652"/>
                <a:gd name="T88" fmla="*/ 1 w 925"/>
                <a:gd name="T89" fmla="*/ 1 h 652"/>
                <a:gd name="T90" fmla="*/ 1 w 925"/>
                <a:gd name="T91" fmla="*/ 1 h 652"/>
                <a:gd name="T92" fmla="*/ 1 w 925"/>
                <a:gd name="T93" fmla="*/ 1 h 652"/>
                <a:gd name="T94" fmla="*/ 1 w 925"/>
                <a:gd name="T95" fmla="*/ 1 h 652"/>
                <a:gd name="T96" fmla="*/ 1 w 925"/>
                <a:gd name="T97" fmla="*/ 1 h 652"/>
                <a:gd name="T98" fmla="*/ 1 w 925"/>
                <a:gd name="T99" fmla="*/ 1 h 652"/>
                <a:gd name="T100" fmla="*/ 1 w 925"/>
                <a:gd name="T101" fmla="*/ 1 h 652"/>
                <a:gd name="T102" fmla="*/ 1 w 925"/>
                <a:gd name="T103" fmla="*/ 1 h 652"/>
                <a:gd name="T104" fmla="*/ 1 w 925"/>
                <a:gd name="T105" fmla="*/ 1 h 652"/>
                <a:gd name="T106" fmla="*/ 1 w 925"/>
                <a:gd name="T107" fmla="*/ 1 h 652"/>
                <a:gd name="T108" fmla="*/ 1 w 925"/>
                <a:gd name="T109" fmla="*/ 1 h 652"/>
                <a:gd name="T110" fmla="*/ 1 w 925"/>
                <a:gd name="T111" fmla="*/ 1 h 652"/>
                <a:gd name="T112" fmla="*/ 1 w 925"/>
                <a:gd name="T113" fmla="*/ 1 h 652"/>
                <a:gd name="T114" fmla="*/ 1 w 925"/>
                <a:gd name="T115" fmla="*/ 1 h 65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925"/>
                <a:gd name="T175" fmla="*/ 0 h 652"/>
                <a:gd name="T176" fmla="*/ 925 w 925"/>
                <a:gd name="T177" fmla="*/ 652 h 65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925" h="652">
                  <a:moveTo>
                    <a:pt x="487" y="361"/>
                  </a:moveTo>
                  <a:lnTo>
                    <a:pt x="503" y="354"/>
                  </a:lnTo>
                  <a:lnTo>
                    <a:pt x="521" y="347"/>
                  </a:lnTo>
                  <a:lnTo>
                    <a:pt x="539" y="342"/>
                  </a:lnTo>
                  <a:lnTo>
                    <a:pt x="556" y="338"/>
                  </a:lnTo>
                  <a:lnTo>
                    <a:pt x="575" y="334"/>
                  </a:lnTo>
                  <a:lnTo>
                    <a:pt x="593" y="333"/>
                  </a:lnTo>
                  <a:lnTo>
                    <a:pt x="613" y="332"/>
                  </a:lnTo>
                  <a:lnTo>
                    <a:pt x="631" y="332"/>
                  </a:lnTo>
                  <a:lnTo>
                    <a:pt x="661" y="335"/>
                  </a:lnTo>
                  <a:lnTo>
                    <a:pt x="691" y="342"/>
                  </a:lnTo>
                  <a:lnTo>
                    <a:pt x="719" y="350"/>
                  </a:lnTo>
                  <a:lnTo>
                    <a:pt x="745" y="363"/>
                  </a:lnTo>
                  <a:lnTo>
                    <a:pt x="771" y="377"/>
                  </a:lnTo>
                  <a:lnTo>
                    <a:pt x="794" y="393"/>
                  </a:lnTo>
                  <a:lnTo>
                    <a:pt x="814" y="413"/>
                  </a:lnTo>
                  <a:lnTo>
                    <a:pt x="834" y="433"/>
                  </a:lnTo>
                  <a:lnTo>
                    <a:pt x="852" y="455"/>
                  </a:lnTo>
                  <a:lnTo>
                    <a:pt x="867" y="479"/>
                  </a:lnTo>
                  <a:lnTo>
                    <a:pt x="880" y="506"/>
                  </a:lnTo>
                  <a:lnTo>
                    <a:pt x="890" y="532"/>
                  </a:lnTo>
                  <a:lnTo>
                    <a:pt x="899" y="561"/>
                  </a:lnTo>
                  <a:lnTo>
                    <a:pt x="904" y="591"/>
                  </a:lnTo>
                  <a:lnTo>
                    <a:pt x="907" y="621"/>
                  </a:lnTo>
                  <a:lnTo>
                    <a:pt x="905" y="652"/>
                  </a:lnTo>
                  <a:lnTo>
                    <a:pt x="912" y="632"/>
                  </a:lnTo>
                  <a:lnTo>
                    <a:pt x="917" y="611"/>
                  </a:lnTo>
                  <a:lnTo>
                    <a:pt x="922" y="589"/>
                  </a:lnTo>
                  <a:lnTo>
                    <a:pt x="924" y="567"/>
                  </a:lnTo>
                  <a:lnTo>
                    <a:pt x="925" y="536"/>
                  </a:lnTo>
                  <a:lnTo>
                    <a:pt x="924" y="505"/>
                  </a:lnTo>
                  <a:lnTo>
                    <a:pt x="919" y="475"/>
                  </a:lnTo>
                  <a:lnTo>
                    <a:pt x="912" y="446"/>
                  </a:lnTo>
                  <a:lnTo>
                    <a:pt x="903" y="418"/>
                  </a:lnTo>
                  <a:lnTo>
                    <a:pt x="892" y="392"/>
                  </a:lnTo>
                  <a:lnTo>
                    <a:pt x="877" y="366"/>
                  </a:lnTo>
                  <a:lnTo>
                    <a:pt x="860" y="343"/>
                  </a:lnTo>
                  <a:lnTo>
                    <a:pt x="842" y="323"/>
                  </a:lnTo>
                  <a:lnTo>
                    <a:pt x="821" y="304"/>
                  </a:lnTo>
                  <a:lnTo>
                    <a:pt x="799" y="287"/>
                  </a:lnTo>
                  <a:lnTo>
                    <a:pt x="776" y="273"/>
                  </a:lnTo>
                  <a:lnTo>
                    <a:pt x="751" y="260"/>
                  </a:lnTo>
                  <a:lnTo>
                    <a:pt x="723" y="251"/>
                  </a:lnTo>
                  <a:lnTo>
                    <a:pt x="696" y="245"/>
                  </a:lnTo>
                  <a:lnTo>
                    <a:pt x="667" y="242"/>
                  </a:lnTo>
                  <a:lnTo>
                    <a:pt x="648" y="242"/>
                  </a:lnTo>
                  <a:lnTo>
                    <a:pt x="631" y="243"/>
                  </a:lnTo>
                  <a:lnTo>
                    <a:pt x="614" y="244"/>
                  </a:lnTo>
                  <a:lnTo>
                    <a:pt x="597" y="248"/>
                  </a:lnTo>
                  <a:lnTo>
                    <a:pt x="579" y="252"/>
                  </a:lnTo>
                  <a:lnTo>
                    <a:pt x="562" y="257"/>
                  </a:lnTo>
                  <a:lnTo>
                    <a:pt x="546" y="264"/>
                  </a:lnTo>
                  <a:lnTo>
                    <a:pt x="530" y="271"/>
                  </a:lnTo>
                  <a:lnTo>
                    <a:pt x="526" y="244"/>
                  </a:lnTo>
                  <a:lnTo>
                    <a:pt x="522" y="218"/>
                  </a:lnTo>
                  <a:lnTo>
                    <a:pt x="515" y="192"/>
                  </a:lnTo>
                  <a:lnTo>
                    <a:pt x="506" y="168"/>
                  </a:lnTo>
                  <a:lnTo>
                    <a:pt x="494" y="145"/>
                  </a:lnTo>
                  <a:lnTo>
                    <a:pt x="481" y="123"/>
                  </a:lnTo>
                  <a:lnTo>
                    <a:pt x="466" y="103"/>
                  </a:lnTo>
                  <a:lnTo>
                    <a:pt x="450" y="83"/>
                  </a:lnTo>
                  <a:lnTo>
                    <a:pt x="432" y="66"/>
                  </a:lnTo>
                  <a:lnTo>
                    <a:pt x="413" y="51"/>
                  </a:lnTo>
                  <a:lnTo>
                    <a:pt x="393" y="37"/>
                  </a:lnTo>
                  <a:lnTo>
                    <a:pt x="371" y="25"/>
                  </a:lnTo>
                  <a:lnTo>
                    <a:pt x="348" y="15"/>
                  </a:lnTo>
                  <a:lnTo>
                    <a:pt x="323" y="8"/>
                  </a:lnTo>
                  <a:lnTo>
                    <a:pt x="299" y="2"/>
                  </a:lnTo>
                  <a:lnTo>
                    <a:pt x="273" y="0"/>
                  </a:lnTo>
                  <a:lnTo>
                    <a:pt x="252" y="0"/>
                  </a:lnTo>
                  <a:lnTo>
                    <a:pt x="230" y="1"/>
                  </a:lnTo>
                  <a:lnTo>
                    <a:pt x="209" y="3"/>
                  </a:lnTo>
                  <a:lnTo>
                    <a:pt x="190" y="8"/>
                  </a:lnTo>
                  <a:lnTo>
                    <a:pt x="170" y="14"/>
                  </a:lnTo>
                  <a:lnTo>
                    <a:pt x="151" y="21"/>
                  </a:lnTo>
                  <a:lnTo>
                    <a:pt x="132" y="30"/>
                  </a:lnTo>
                  <a:lnTo>
                    <a:pt x="114" y="40"/>
                  </a:lnTo>
                  <a:lnTo>
                    <a:pt x="96" y="52"/>
                  </a:lnTo>
                  <a:lnTo>
                    <a:pt x="80" y="63"/>
                  </a:lnTo>
                  <a:lnTo>
                    <a:pt x="64" y="77"/>
                  </a:lnTo>
                  <a:lnTo>
                    <a:pt x="49" y="92"/>
                  </a:lnTo>
                  <a:lnTo>
                    <a:pt x="35" y="108"/>
                  </a:lnTo>
                  <a:lnTo>
                    <a:pt x="23" y="124"/>
                  </a:lnTo>
                  <a:lnTo>
                    <a:pt x="10" y="143"/>
                  </a:lnTo>
                  <a:lnTo>
                    <a:pt x="0" y="161"/>
                  </a:lnTo>
                  <a:lnTo>
                    <a:pt x="11" y="152"/>
                  </a:lnTo>
                  <a:lnTo>
                    <a:pt x="23" y="144"/>
                  </a:lnTo>
                  <a:lnTo>
                    <a:pt x="34" y="136"/>
                  </a:lnTo>
                  <a:lnTo>
                    <a:pt x="47" y="128"/>
                  </a:lnTo>
                  <a:lnTo>
                    <a:pt x="60" y="122"/>
                  </a:lnTo>
                  <a:lnTo>
                    <a:pt x="72" y="115"/>
                  </a:lnTo>
                  <a:lnTo>
                    <a:pt x="85" y="109"/>
                  </a:lnTo>
                  <a:lnTo>
                    <a:pt x="99" y="105"/>
                  </a:lnTo>
                  <a:lnTo>
                    <a:pt x="113" y="100"/>
                  </a:lnTo>
                  <a:lnTo>
                    <a:pt x="126" y="97"/>
                  </a:lnTo>
                  <a:lnTo>
                    <a:pt x="140" y="93"/>
                  </a:lnTo>
                  <a:lnTo>
                    <a:pt x="155" y="91"/>
                  </a:lnTo>
                  <a:lnTo>
                    <a:pt x="169" y="90"/>
                  </a:lnTo>
                  <a:lnTo>
                    <a:pt x="184" y="89"/>
                  </a:lnTo>
                  <a:lnTo>
                    <a:pt x="199" y="89"/>
                  </a:lnTo>
                  <a:lnTo>
                    <a:pt x="214" y="89"/>
                  </a:lnTo>
                  <a:lnTo>
                    <a:pt x="242" y="91"/>
                  </a:lnTo>
                  <a:lnTo>
                    <a:pt x="268" y="97"/>
                  </a:lnTo>
                  <a:lnTo>
                    <a:pt x="294" y="104"/>
                  </a:lnTo>
                  <a:lnTo>
                    <a:pt x="318" y="114"/>
                  </a:lnTo>
                  <a:lnTo>
                    <a:pt x="341" y="126"/>
                  </a:lnTo>
                  <a:lnTo>
                    <a:pt x="363" y="139"/>
                  </a:lnTo>
                  <a:lnTo>
                    <a:pt x="382" y="156"/>
                  </a:lnTo>
                  <a:lnTo>
                    <a:pt x="402" y="173"/>
                  </a:lnTo>
                  <a:lnTo>
                    <a:pt x="419" y="192"/>
                  </a:lnTo>
                  <a:lnTo>
                    <a:pt x="434" y="212"/>
                  </a:lnTo>
                  <a:lnTo>
                    <a:pt x="448" y="234"/>
                  </a:lnTo>
                  <a:lnTo>
                    <a:pt x="461" y="258"/>
                  </a:lnTo>
                  <a:lnTo>
                    <a:pt x="470" y="282"/>
                  </a:lnTo>
                  <a:lnTo>
                    <a:pt x="478" y="308"/>
                  </a:lnTo>
                  <a:lnTo>
                    <a:pt x="484" y="333"/>
                  </a:lnTo>
                  <a:lnTo>
                    <a:pt x="487" y="361"/>
                  </a:lnTo>
                  <a:close/>
                </a:path>
              </a:pathLst>
            </a:custGeom>
            <a:grpFill/>
            <a:ln>
              <a:solidFill>
                <a:srgbClr val="00B0F0"/>
              </a:solidFill>
              <a:headEnd/>
              <a:tailEnd/>
            </a:ln>
          </p:spPr>
          <p:style>
            <a:lnRef idx="2">
              <a:schemeClr val="accent2"/>
            </a:lnRef>
            <a:fillRef idx="1">
              <a:schemeClr val="lt1"/>
            </a:fillRef>
            <a:effectRef idx="0">
              <a:schemeClr val="accent2"/>
            </a:effectRef>
            <a:fontRef idx="minor">
              <a:schemeClr val="dk1"/>
            </a:fontRef>
          </p:style>
          <p:txBody>
            <a:bodyPr/>
            <a:lstStyle/>
            <a:p>
              <a:pPr fontAlgn="auto">
                <a:spcBef>
                  <a:spcPts val="0"/>
                </a:spcBef>
                <a:spcAft>
                  <a:spcPts val="0"/>
                </a:spcAft>
                <a:defRPr/>
              </a:pPr>
              <a:endParaRPr kumimoji="0" lang="zh-TW" altLang="en-US" sz="1400"/>
            </a:p>
          </p:txBody>
        </p:sp>
        <p:sp>
          <p:nvSpPr>
            <p:cNvPr id="29" name="Freeform 299"/>
            <p:cNvSpPr>
              <a:spLocks/>
            </p:cNvSpPr>
            <p:nvPr/>
          </p:nvSpPr>
          <p:spPr bwMode="auto">
            <a:xfrm>
              <a:off x="4060" y="824"/>
              <a:ext cx="162" cy="216"/>
            </a:xfrm>
            <a:custGeom>
              <a:avLst/>
              <a:gdLst>
                <a:gd name="T0" fmla="*/ 1 w 324"/>
                <a:gd name="T1" fmla="*/ 1 h 431"/>
                <a:gd name="T2" fmla="*/ 1 w 324"/>
                <a:gd name="T3" fmla="*/ 1 h 431"/>
                <a:gd name="T4" fmla="*/ 1 w 324"/>
                <a:gd name="T5" fmla="*/ 1 h 431"/>
                <a:gd name="T6" fmla="*/ 1 w 324"/>
                <a:gd name="T7" fmla="*/ 1 h 431"/>
                <a:gd name="T8" fmla="*/ 1 w 324"/>
                <a:gd name="T9" fmla="*/ 1 h 431"/>
                <a:gd name="T10" fmla="*/ 1 w 324"/>
                <a:gd name="T11" fmla="*/ 1 h 431"/>
                <a:gd name="T12" fmla="*/ 1 w 324"/>
                <a:gd name="T13" fmla="*/ 1 h 431"/>
                <a:gd name="T14" fmla="*/ 1 w 324"/>
                <a:gd name="T15" fmla="*/ 1 h 431"/>
                <a:gd name="T16" fmla="*/ 1 w 324"/>
                <a:gd name="T17" fmla="*/ 0 h 431"/>
                <a:gd name="T18" fmla="*/ 1 w 324"/>
                <a:gd name="T19" fmla="*/ 1 h 431"/>
                <a:gd name="T20" fmla="*/ 1 w 324"/>
                <a:gd name="T21" fmla="*/ 1 h 431"/>
                <a:gd name="T22" fmla="*/ 1 w 324"/>
                <a:gd name="T23" fmla="*/ 1 h 431"/>
                <a:gd name="T24" fmla="*/ 1 w 324"/>
                <a:gd name="T25" fmla="*/ 1 h 431"/>
                <a:gd name="T26" fmla="*/ 1 w 324"/>
                <a:gd name="T27" fmla="*/ 1 h 431"/>
                <a:gd name="T28" fmla="*/ 1 w 324"/>
                <a:gd name="T29" fmla="*/ 1 h 431"/>
                <a:gd name="T30" fmla="*/ 1 w 324"/>
                <a:gd name="T31" fmla="*/ 1 h 431"/>
                <a:gd name="T32" fmla="*/ 1 w 324"/>
                <a:gd name="T33" fmla="*/ 1 h 431"/>
                <a:gd name="T34" fmla="*/ 1 w 324"/>
                <a:gd name="T35" fmla="*/ 1 h 431"/>
                <a:gd name="T36" fmla="*/ 1 w 324"/>
                <a:gd name="T37" fmla="*/ 1 h 431"/>
                <a:gd name="T38" fmla="*/ 1 w 324"/>
                <a:gd name="T39" fmla="*/ 1 h 431"/>
                <a:gd name="T40" fmla="*/ 1 w 324"/>
                <a:gd name="T41" fmla="*/ 1 h 431"/>
                <a:gd name="T42" fmla="*/ 1 w 324"/>
                <a:gd name="T43" fmla="*/ 1 h 431"/>
                <a:gd name="T44" fmla="*/ 1 w 324"/>
                <a:gd name="T45" fmla="*/ 1 h 431"/>
                <a:gd name="T46" fmla="*/ 1 w 324"/>
                <a:gd name="T47" fmla="*/ 1 h 431"/>
                <a:gd name="T48" fmla="*/ 0 w 324"/>
                <a:gd name="T49" fmla="*/ 1 h 431"/>
                <a:gd name="T50" fmla="*/ 0 w 324"/>
                <a:gd name="T51" fmla="*/ 1 h 431"/>
                <a:gd name="T52" fmla="*/ 1 w 324"/>
                <a:gd name="T53" fmla="*/ 1 h 431"/>
                <a:gd name="T54" fmla="*/ 1 w 324"/>
                <a:gd name="T55" fmla="*/ 1 h 431"/>
                <a:gd name="T56" fmla="*/ 1 w 324"/>
                <a:gd name="T57" fmla="*/ 1 h 431"/>
                <a:gd name="T58" fmla="*/ 1 w 324"/>
                <a:gd name="T59" fmla="*/ 1 h 431"/>
                <a:gd name="T60" fmla="*/ 1 w 324"/>
                <a:gd name="T61" fmla="*/ 1 h 431"/>
                <a:gd name="T62" fmla="*/ 1 w 324"/>
                <a:gd name="T63" fmla="*/ 1 h 431"/>
                <a:gd name="T64" fmla="*/ 1 w 324"/>
                <a:gd name="T65" fmla="*/ 1 h 431"/>
                <a:gd name="T66" fmla="*/ 1 w 324"/>
                <a:gd name="T67" fmla="*/ 1 h 431"/>
                <a:gd name="T68" fmla="*/ 1 w 324"/>
                <a:gd name="T69" fmla="*/ 1 h 431"/>
                <a:gd name="T70" fmla="*/ 1 w 324"/>
                <a:gd name="T71" fmla="*/ 1 h 431"/>
                <a:gd name="T72" fmla="*/ 1 w 324"/>
                <a:gd name="T73" fmla="*/ 1 h 431"/>
                <a:gd name="T74" fmla="*/ 1 w 324"/>
                <a:gd name="T75" fmla="*/ 1 h 431"/>
                <a:gd name="T76" fmla="*/ 1 w 324"/>
                <a:gd name="T77" fmla="*/ 1 h 431"/>
                <a:gd name="T78" fmla="*/ 1 w 324"/>
                <a:gd name="T79" fmla="*/ 1 h 431"/>
                <a:gd name="T80" fmla="*/ 1 w 324"/>
                <a:gd name="T81" fmla="*/ 1 h 431"/>
                <a:gd name="T82" fmla="*/ 1 w 324"/>
                <a:gd name="T83" fmla="*/ 1 h 431"/>
                <a:gd name="T84" fmla="*/ 1 w 324"/>
                <a:gd name="T85" fmla="*/ 1 h 431"/>
                <a:gd name="T86" fmla="*/ 1 w 324"/>
                <a:gd name="T87" fmla="*/ 1 h 431"/>
                <a:gd name="T88" fmla="*/ 1 w 324"/>
                <a:gd name="T89" fmla="*/ 1 h 431"/>
                <a:gd name="T90" fmla="*/ 1 w 324"/>
                <a:gd name="T91" fmla="*/ 1 h 431"/>
                <a:gd name="T92" fmla="*/ 1 w 324"/>
                <a:gd name="T93" fmla="*/ 1 h 431"/>
                <a:gd name="T94" fmla="*/ 1 w 324"/>
                <a:gd name="T95" fmla="*/ 1 h 431"/>
                <a:gd name="T96" fmla="*/ 1 w 324"/>
                <a:gd name="T97" fmla="*/ 1 h 431"/>
                <a:gd name="T98" fmla="*/ 1 w 324"/>
                <a:gd name="T99" fmla="*/ 1 h 431"/>
                <a:gd name="T100" fmla="*/ 1 w 324"/>
                <a:gd name="T101" fmla="*/ 1 h 431"/>
                <a:gd name="T102" fmla="*/ 1 w 324"/>
                <a:gd name="T103" fmla="*/ 1 h 431"/>
                <a:gd name="T104" fmla="*/ 1 w 324"/>
                <a:gd name="T105" fmla="*/ 1 h 431"/>
                <a:gd name="T106" fmla="*/ 1 w 324"/>
                <a:gd name="T107" fmla="*/ 1 h 431"/>
                <a:gd name="T108" fmla="*/ 1 w 324"/>
                <a:gd name="T109" fmla="*/ 1 h 431"/>
                <a:gd name="T110" fmla="*/ 1 w 324"/>
                <a:gd name="T111" fmla="*/ 1 h 431"/>
                <a:gd name="T112" fmla="*/ 1 w 324"/>
                <a:gd name="T113" fmla="*/ 1 h 431"/>
                <a:gd name="T114" fmla="*/ 1 w 324"/>
                <a:gd name="T115" fmla="*/ 1 h 431"/>
                <a:gd name="T116" fmla="*/ 1 w 324"/>
                <a:gd name="T117" fmla="*/ 1 h 431"/>
                <a:gd name="T118" fmla="*/ 1 w 324"/>
                <a:gd name="T119" fmla="*/ 1 h 431"/>
                <a:gd name="T120" fmla="*/ 1 w 324"/>
                <a:gd name="T121" fmla="*/ 1 h 431"/>
                <a:gd name="T122" fmla="*/ 1 w 324"/>
                <a:gd name="T123" fmla="*/ 1 h 43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24"/>
                <a:gd name="T187" fmla="*/ 0 h 431"/>
                <a:gd name="T188" fmla="*/ 324 w 324"/>
                <a:gd name="T189" fmla="*/ 431 h 43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24" h="431">
                  <a:moveTo>
                    <a:pt x="324" y="26"/>
                  </a:moveTo>
                  <a:lnTo>
                    <a:pt x="314" y="21"/>
                  </a:lnTo>
                  <a:lnTo>
                    <a:pt x="303" y="16"/>
                  </a:lnTo>
                  <a:lnTo>
                    <a:pt x="292" y="11"/>
                  </a:lnTo>
                  <a:lnTo>
                    <a:pt x="280" y="8"/>
                  </a:lnTo>
                  <a:lnTo>
                    <a:pt x="269" y="4"/>
                  </a:lnTo>
                  <a:lnTo>
                    <a:pt x="257" y="2"/>
                  </a:lnTo>
                  <a:lnTo>
                    <a:pt x="246" y="1"/>
                  </a:lnTo>
                  <a:lnTo>
                    <a:pt x="233" y="0"/>
                  </a:lnTo>
                  <a:lnTo>
                    <a:pt x="210" y="1"/>
                  </a:lnTo>
                  <a:lnTo>
                    <a:pt x="188" y="4"/>
                  </a:lnTo>
                  <a:lnTo>
                    <a:pt x="167" y="10"/>
                  </a:lnTo>
                  <a:lnTo>
                    <a:pt x="147" y="19"/>
                  </a:lnTo>
                  <a:lnTo>
                    <a:pt x="126" y="30"/>
                  </a:lnTo>
                  <a:lnTo>
                    <a:pt x="107" y="42"/>
                  </a:lnTo>
                  <a:lnTo>
                    <a:pt x="90" y="57"/>
                  </a:lnTo>
                  <a:lnTo>
                    <a:pt x="74" y="74"/>
                  </a:lnTo>
                  <a:lnTo>
                    <a:pt x="58" y="93"/>
                  </a:lnTo>
                  <a:lnTo>
                    <a:pt x="45" y="113"/>
                  </a:lnTo>
                  <a:lnTo>
                    <a:pt x="33" y="135"/>
                  </a:lnTo>
                  <a:lnTo>
                    <a:pt x="22" y="157"/>
                  </a:lnTo>
                  <a:lnTo>
                    <a:pt x="14" y="181"/>
                  </a:lnTo>
                  <a:lnTo>
                    <a:pt x="7" y="206"/>
                  </a:lnTo>
                  <a:lnTo>
                    <a:pt x="3" y="233"/>
                  </a:lnTo>
                  <a:lnTo>
                    <a:pt x="0" y="259"/>
                  </a:lnTo>
                  <a:lnTo>
                    <a:pt x="0" y="283"/>
                  </a:lnTo>
                  <a:lnTo>
                    <a:pt x="3" y="307"/>
                  </a:lnTo>
                  <a:lnTo>
                    <a:pt x="6" y="331"/>
                  </a:lnTo>
                  <a:lnTo>
                    <a:pt x="11" y="352"/>
                  </a:lnTo>
                  <a:lnTo>
                    <a:pt x="18" y="373"/>
                  </a:lnTo>
                  <a:lnTo>
                    <a:pt x="26" y="394"/>
                  </a:lnTo>
                  <a:lnTo>
                    <a:pt x="35" y="412"/>
                  </a:lnTo>
                  <a:lnTo>
                    <a:pt x="45" y="431"/>
                  </a:lnTo>
                  <a:lnTo>
                    <a:pt x="44" y="416"/>
                  </a:lnTo>
                  <a:lnTo>
                    <a:pt x="43" y="401"/>
                  </a:lnTo>
                  <a:lnTo>
                    <a:pt x="42" y="386"/>
                  </a:lnTo>
                  <a:lnTo>
                    <a:pt x="42" y="371"/>
                  </a:lnTo>
                  <a:lnTo>
                    <a:pt x="44" y="344"/>
                  </a:lnTo>
                  <a:lnTo>
                    <a:pt x="49" y="318"/>
                  </a:lnTo>
                  <a:lnTo>
                    <a:pt x="56" y="292"/>
                  </a:lnTo>
                  <a:lnTo>
                    <a:pt x="64" y="268"/>
                  </a:lnTo>
                  <a:lnTo>
                    <a:pt x="74" y="245"/>
                  </a:lnTo>
                  <a:lnTo>
                    <a:pt x="87" y="223"/>
                  </a:lnTo>
                  <a:lnTo>
                    <a:pt x="99" y="204"/>
                  </a:lnTo>
                  <a:lnTo>
                    <a:pt x="116" y="185"/>
                  </a:lnTo>
                  <a:lnTo>
                    <a:pt x="132" y="168"/>
                  </a:lnTo>
                  <a:lnTo>
                    <a:pt x="149" y="153"/>
                  </a:lnTo>
                  <a:lnTo>
                    <a:pt x="167" y="140"/>
                  </a:lnTo>
                  <a:lnTo>
                    <a:pt x="188" y="130"/>
                  </a:lnTo>
                  <a:lnTo>
                    <a:pt x="209" y="122"/>
                  </a:lnTo>
                  <a:lnTo>
                    <a:pt x="230" y="116"/>
                  </a:lnTo>
                  <a:lnTo>
                    <a:pt x="252" y="113"/>
                  </a:lnTo>
                  <a:lnTo>
                    <a:pt x="275" y="112"/>
                  </a:lnTo>
                  <a:lnTo>
                    <a:pt x="280" y="112"/>
                  </a:lnTo>
                  <a:lnTo>
                    <a:pt x="286" y="112"/>
                  </a:lnTo>
                  <a:lnTo>
                    <a:pt x="293" y="113"/>
                  </a:lnTo>
                  <a:lnTo>
                    <a:pt x="299" y="113"/>
                  </a:lnTo>
                  <a:lnTo>
                    <a:pt x="305" y="114"/>
                  </a:lnTo>
                  <a:lnTo>
                    <a:pt x="310" y="115"/>
                  </a:lnTo>
                  <a:lnTo>
                    <a:pt x="316" y="117"/>
                  </a:lnTo>
                  <a:lnTo>
                    <a:pt x="322" y="118"/>
                  </a:lnTo>
                  <a:lnTo>
                    <a:pt x="324" y="26"/>
                  </a:lnTo>
                  <a:close/>
                </a:path>
              </a:pathLst>
            </a:custGeom>
            <a:grpFill/>
            <a:ln>
              <a:solidFill>
                <a:srgbClr val="00B0F0"/>
              </a:solidFill>
              <a:headEnd/>
              <a:tailEnd/>
            </a:ln>
          </p:spPr>
          <p:style>
            <a:lnRef idx="2">
              <a:schemeClr val="accent2"/>
            </a:lnRef>
            <a:fillRef idx="1">
              <a:schemeClr val="lt1"/>
            </a:fillRef>
            <a:effectRef idx="0">
              <a:schemeClr val="accent2"/>
            </a:effectRef>
            <a:fontRef idx="minor">
              <a:schemeClr val="dk1"/>
            </a:fontRef>
          </p:style>
          <p:txBody>
            <a:bodyPr/>
            <a:lstStyle/>
            <a:p>
              <a:pPr fontAlgn="auto">
                <a:spcBef>
                  <a:spcPts val="0"/>
                </a:spcBef>
                <a:spcAft>
                  <a:spcPts val="0"/>
                </a:spcAft>
                <a:defRPr/>
              </a:pPr>
              <a:endParaRPr kumimoji="0" lang="zh-TW" altLang="en-US" sz="1400"/>
            </a:p>
          </p:txBody>
        </p:sp>
      </p:grpSp>
      <p:pic>
        <p:nvPicPr>
          <p:cNvPr id="24580" name="Picture 5" descr="C:\Users\MandyChou\AppData\Local\Microsoft\Windows\Temporary Internet Files\Content.IE5\UDDY78J8\spam_B.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644650"/>
            <a:ext cx="85725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70866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標題 1"/>
          <p:cNvSpPr>
            <a:spLocks noGrp="1"/>
          </p:cNvSpPr>
          <p:nvPr>
            <p:ph type="title"/>
          </p:nvPr>
        </p:nvSpPr>
        <p:spPr>
          <a:xfrm>
            <a:off x="2268538" y="0"/>
            <a:ext cx="6875462" cy="908050"/>
          </a:xfrm>
        </p:spPr>
        <p:txBody>
          <a:bodyPr/>
          <a:lstStyle/>
          <a:p>
            <a:r>
              <a:rPr lang="en-US" altLang="zh-TW" smtClean="0">
                <a:solidFill>
                  <a:srgbClr val="FFC000"/>
                </a:solidFill>
                <a:ea typeface="標楷體" panose="03000509000000000000" pitchFamily="65" charset="-120"/>
              </a:rPr>
              <a:t>SPAM SQR</a:t>
            </a:r>
            <a:r>
              <a:rPr lang="zh-TW" altLang="en-US" sz="3200" smtClean="0">
                <a:solidFill>
                  <a:srgbClr val="FFC000"/>
                </a:solidFill>
              </a:rPr>
              <a:t>運作架構</a:t>
            </a:r>
            <a:r>
              <a:rPr lang="en-US" altLang="zh-TW" sz="3200" smtClean="0">
                <a:solidFill>
                  <a:srgbClr val="FFC000"/>
                </a:solidFill>
              </a:rPr>
              <a:t>(</a:t>
            </a:r>
            <a:r>
              <a:rPr lang="zh-TW" altLang="en-US" sz="3200" smtClean="0">
                <a:solidFill>
                  <a:srgbClr val="FFC000"/>
                </a:solidFill>
              </a:rPr>
              <a:t>外寄郵件</a:t>
            </a:r>
            <a:r>
              <a:rPr lang="en-US" altLang="zh-TW" sz="3200" smtClean="0">
                <a:solidFill>
                  <a:srgbClr val="FFC000"/>
                </a:solidFill>
              </a:rPr>
              <a:t>)</a:t>
            </a:r>
            <a:endParaRPr lang="zh-TW" altLang="en-US" sz="3200" smtClean="0">
              <a:solidFill>
                <a:srgbClr val="FFC000"/>
              </a:solidFill>
            </a:endParaRPr>
          </a:p>
        </p:txBody>
      </p:sp>
      <p:pic>
        <p:nvPicPr>
          <p:cNvPr id="25603" name="Picture 2" descr="C:\Users\MandyChou\AppData\Local\Microsoft\Windows\Temporary Internet Files\Content.IE5\UDDY78J8\spam_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0" y="1973263"/>
            <a:ext cx="8572500"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684441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價格</a:t>
            </a:r>
            <a:endParaRPr lang="zh-TW" altLang="en-US" dirty="0"/>
          </a:p>
        </p:txBody>
      </p:sp>
      <p:sp>
        <p:nvSpPr>
          <p:cNvPr id="6" name="文字方塊 5"/>
          <p:cNvSpPr txBox="1"/>
          <p:nvPr/>
        </p:nvSpPr>
        <p:spPr>
          <a:xfrm>
            <a:off x="1259632" y="2780928"/>
            <a:ext cx="6624736" cy="2031325"/>
          </a:xfrm>
          <a:prstGeom prst="rect">
            <a:avLst/>
          </a:prstGeom>
          <a:noFill/>
        </p:spPr>
        <p:txBody>
          <a:bodyPr wrap="square" rtlCol="0">
            <a:spAutoFit/>
          </a:bodyPr>
          <a:lstStyle/>
          <a:p>
            <a:r>
              <a:rPr lang="zh-TW" altLang="en-US" dirty="0" smtClean="0"/>
              <a:t>以上價格非最終價格，台灣詢價方式</a:t>
            </a:r>
            <a:endParaRPr lang="en-US" altLang="zh-TW" dirty="0" smtClean="0"/>
          </a:p>
          <a:p>
            <a:endParaRPr lang="en-US" altLang="zh-TW" dirty="0"/>
          </a:p>
          <a:p>
            <a:r>
              <a:rPr lang="en-US" altLang="zh-TW" dirty="0" smtClean="0"/>
              <a:t>1.</a:t>
            </a:r>
            <a:r>
              <a:rPr lang="zh-TW" altLang="en-US" dirty="0" smtClean="0"/>
              <a:t>確認架構、硬體、規格後，請廠商報價</a:t>
            </a:r>
            <a:r>
              <a:rPr lang="en-US" altLang="zh-TW" dirty="0" smtClean="0"/>
              <a:t>(</a:t>
            </a:r>
            <a:r>
              <a:rPr lang="zh-TW" altLang="en-US" dirty="0" smtClean="0"/>
              <a:t>第一次通常是牌價</a:t>
            </a:r>
            <a:r>
              <a:rPr lang="en-US" altLang="zh-TW" dirty="0" smtClean="0"/>
              <a:t>)</a:t>
            </a:r>
          </a:p>
          <a:p>
            <a:r>
              <a:rPr lang="en-US" altLang="zh-TW" dirty="0" smtClean="0"/>
              <a:t>2.</a:t>
            </a:r>
            <a:r>
              <a:rPr lang="zh-TW" altLang="en-US" dirty="0" smtClean="0"/>
              <a:t>將價格發給三家廠商進行第二次報價</a:t>
            </a:r>
            <a:endParaRPr lang="en-US" altLang="zh-TW" dirty="0" smtClean="0"/>
          </a:p>
          <a:p>
            <a:r>
              <a:rPr lang="en-US" altLang="zh-TW" dirty="0" smtClean="0"/>
              <a:t>3.</a:t>
            </a:r>
            <a:r>
              <a:rPr lang="zh-TW" altLang="en-US" dirty="0" smtClean="0"/>
              <a:t>挑選價格最低、服務最好的廠商</a:t>
            </a:r>
            <a:endParaRPr lang="en-US" altLang="zh-TW" dirty="0" smtClean="0"/>
          </a:p>
          <a:p>
            <a:r>
              <a:rPr lang="en-US" altLang="zh-TW" dirty="0" smtClean="0"/>
              <a:t>4.</a:t>
            </a:r>
            <a:r>
              <a:rPr lang="zh-TW" altLang="en-US" dirty="0" smtClean="0"/>
              <a:t>進行第三次議價</a:t>
            </a:r>
            <a:endParaRPr lang="en-US" altLang="zh-TW" dirty="0" smtClean="0"/>
          </a:p>
          <a:p>
            <a:r>
              <a:rPr lang="en-US" altLang="zh-TW" dirty="0" smtClean="0"/>
              <a:t>5.</a:t>
            </a:r>
            <a:r>
              <a:rPr lang="zh-TW" altLang="en-US" dirty="0" smtClean="0"/>
              <a:t>最後成交價</a:t>
            </a:r>
            <a:endParaRPr lang="en-US" altLang="zh-TW" dirty="0" smtClean="0"/>
          </a:p>
        </p:txBody>
      </p:sp>
      <p:graphicFrame>
        <p:nvGraphicFramePr>
          <p:cNvPr id="3" name="物件 2"/>
          <p:cNvGraphicFramePr>
            <a:graphicFrameLocks noChangeAspect="1"/>
          </p:cNvGraphicFramePr>
          <p:nvPr>
            <p:extLst>
              <p:ext uri="{D42A27DB-BD31-4B8C-83A1-F6EECF244321}">
                <p14:modId xmlns:p14="http://schemas.microsoft.com/office/powerpoint/2010/main" val="1445792135"/>
              </p:ext>
            </p:extLst>
          </p:nvPr>
        </p:nvGraphicFramePr>
        <p:xfrm>
          <a:off x="345232" y="1417971"/>
          <a:ext cx="914400" cy="800100"/>
        </p:xfrm>
        <a:graphic>
          <a:graphicData uri="http://schemas.openxmlformats.org/presentationml/2006/ole">
            <mc:AlternateContent xmlns:mc="http://schemas.openxmlformats.org/markup-compatibility/2006">
              <mc:Choice xmlns:v="urn:schemas-microsoft-com:vml" Requires="v">
                <p:oleObj spid="_x0000_s8199" name="工作表" showAsIcon="1" r:id="rId4" imgW="914400" imgH="800280" progId="Excel.Sheet.8">
                  <p:embed/>
                </p:oleObj>
              </mc:Choice>
              <mc:Fallback>
                <p:oleObj name="工作表" showAsIcon="1" r:id="rId4" imgW="914400" imgH="800280" progId="Excel.Sheet.8">
                  <p:embed/>
                  <p:pic>
                    <p:nvPicPr>
                      <p:cNvPr id="0" name=""/>
                      <p:cNvPicPr/>
                      <p:nvPr/>
                    </p:nvPicPr>
                    <p:blipFill>
                      <a:blip r:embed="rId5"/>
                      <a:stretch>
                        <a:fillRect/>
                      </a:stretch>
                    </p:blipFill>
                    <p:spPr>
                      <a:xfrm>
                        <a:off x="345232" y="1417971"/>
                        <a:ext cx="914400" cy="800100"/>
                      </a:xfrm>
                      <a:prstGeom prst="rect">
                        <a:avLst/>
                      </a:prstGeom>
                    </p:spPr>
                  </p:pic>
                </p:oleObj>
              </mc:Fallback>
            </mc:AlternateContent>
          </a:graphicData>
        </a:graphic>
      </p:graphicFrame>
      <p:sp>
        <p:nvSpPr>
          <p:cNvPr id="4" name="文字方塊 3"/>
          <p:cNvSpPr txBox="1"/>
          <p:nvPr/>
        </p:nvSpPr>
        <p:spPr>
          <a:xfrm>
            <a:off x="1259632" y="5157192"/>
            <a:ext cx="6624736" cy="369332"/>
          </a:xfrm>
          <a:prstGeom prst="rect">
            <a:avLst/>
          </a:prstGeom>
          <a:noFill/>
        </p:spPr>
        <p:txBody>
          <a:bodyPr wrap="square" rtlCol="0">
            <a:spAutoFit/>
          </a:bodyPr>
          <a:lstStyle/>
          <a:p>
            <a:r>
              <a:rPr lang="zh-TW" altLang="en-US" dirty="0" smtClean="0"/>
              <a:t>此套軟體建置完成後會轉交質檢部門，對各個部門進行稽核</a:t>
            </a:r>
            <a:endParaRPr lang="zh-TW" altLang="en-US" dirty="0"/>
          </a:p>
        </p:txBody>
      </p:sp>
    </p:spTree>
    <p:extLst>
      <p:ext uri="{BB962C8B-B14F-4D97-AF65-F5344CB8AC3E}">
        <p14:creationId xmlns:p14="http://schemas.microsoft.com/office/powerpoint/2010/main" val="3603475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dirty="0" smtClean="0"/>
              <a:t>線路規劃</a:t>
            </a:r>
            <a:endParaRPr lang="zh-TW" altLang="en-US" dirty="0"/>
          </a:p>
        </p:txBody>
      </p:sp>
    </p:spTree>
    <p:extLst>
      <p:ext uri="{BB962C8B-B14F-4D97-AF65-F5344CB8AC3E}">
        <p14:creationId xmlns:p14="http://schemas.microsoft.com/office/powerpoint/2010/main" val="543349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線路架構規劃</a:t>
            </a:r>
            <a:endParaRPr lang="zh-TW" altLang="en-US" dirty="0"/>
          </a:p>
        </p:txBody>
      </p:sp>
      <p:grpSp>
        <p:nvGrpSpPr>
          <p:cNvPr id="3" name="群組 2"/>
          <p:cNvGrpSpPr/>
          <p:nvPr/>
        </p:nvGrpSpPr>
        <p:grpSpPr>
          <a:xfrm>
            <a:off x="179513" y="1196753"/>
            <a:ext cx="5256584" cy="3456384"/>
            <a:chOff x="179512" y="1196752"/>
            <a:chExt cx="7347473" cy="4528969"/>
          </a:xfrm>
        </p:grpSpPr>
        <p:pic>
          <p:nvPicPr>
            <p:cNvPr id="4" name="圖片 3" descr="C:\Users\chikaichiu\Desktop\專案規劃資料\DR建置.vsd - Windows Internet Explorer"/>
            <p:cNvPicPr>
              <a:picLocks noChangeAspect="1"/>
            </p:cNvPicPr>
            <p:nvPr/>
          </p:nvPicPr>
          <p:blipFill rotWithShape="1">
            <a:blip r:embed="rId2">
              <a:extLst>
                <a:ext uri="{28A0092B-C50C-407E-A947-70E740481C1C}">
                  <a14:useLocalDpi xmlns:a14="http://schemas.microsoft.com/office/drawing/2010/main" val="0"/>
                </a:ext>
              </a:extLst>
            </a:blip>
            <a:srcRect l="13885" t="16001" r="21656" b="17961"/>
            <a:stretch/>
          </p:blipFill>
          <p:spPr>
            <a:xfrm>
              <a:off x="179512" y="1196752"/>
              <a:ext cx="7347473" cy="4528969"/>
            </a:xfrm>
            <a:prstGeom prst="rect">
              <a:avLst/>
            </a:prstGeom>
          </p:spPr>
        </p:pic>
        <p:sp>
          <p:nvSpPr>
            <p:cNvPr id="8" name="文字方塊 7"/>
            <p:cNvSpPr txBox="1"/>
            <p:nvPr/>
          </p:nvSpPr>
          <p:spPr>
            <a:xfrm>
              <a:off x="3491880" y="5013176"/>
              <a:ext cx="936104" cy="369332"/>
            </a:xfrm>
            <a:prstGeom prst="rect">
              <a:avLst/>
            </a:prstGeom>
            <a:noFill/>
          </p:spPr>
          <p:txBody>
            <a:bodyPr wrap="square" rtlCol="0">
              <a:spAutoFit/>
            </a:bodyPr>
            <a:lstStyle/>
            <a:p>
              <a:r>
                <a:rPr lang="zh-TW" altLang="en-US" sz="1200" b="1" dirty="0" smtClean="0">
                  <a:solidFill>
                    <a:srgbClr val="FF0000"/>
                  </a:solidFill>
                </a:rPr>
                <a:t>項次</a:t>
              </a:r>
              <a:r>
                <a:rPr lang="en-US" altLang="zh-TW" sz="1200" b="1" dirty="0" smtClean="0">
                  <a:solidFill>
                    <a:srgbClr val="FF0000"/>
                  </a:solidFill>
                </a:rPr>
                <a:t>1</a:t>
              </a:r>
              <a:endParaRPr lang="zh-TW" altLang="en-US" sz="1200" b="1" dirty="0">
                <a:solidFill>
                  <a:srgbClr val="FF0000"/>
                </a:solidFill>
              </a:endParaRPr>
            </a:p>
          </p:txBody>
        </p:sp>
        <p:sp>
          <p:nvSpPr>
            <p:cNvPr id="9" name="文字方塊 8"/>
            <p:cNvSpPr txBox="1"/>
            <p:nvPr/>
          </p:nvSpPr>
          <p:spPr>
            <a:xfrm>
              <a:off x="4427984" y="4796268"/>
              <a:ext cx="936104" cy="369332"/>
            </a:xfrm>
            <a:prstGeom prst="rect">
              <a:avLst/>
            </a:prstGeom>
            <a:noFill/>
          </p:spPr>
          <p:txBody>
            <a:bodyPr wrap="square" rtlCol="0">
              <a:spAutoFit/>
            </a:bodyPr>
            <a:lstStyle/>
            <a:p>
              <a:r>
                <a:rPr lang="zh-TW" altLang="en-US" sz="1200" b="1" dirty="0" smtClean="0">
                  <a:solidFill>
                    <a:srgbClr val="FF0000"/>
                  </a:solidFill>
                </a:rPr>
                <a:t>項次</a:t>
              </a:r>
              <a:r>
                <a:rPr lang="en-US" altLang="zh-TW" sz="1200" b="1" dirty="0">
                  <a:solidFill>
                    <a:srgbClr val="FF0000"/>
                  </a:solidFill>
                </a:rPr>
                <a:t>2</a:t>
              </a:r>
              <a:endParaRPr lang="zh-TW" altLang="en-US" sz="1200" b="1" dirty="0">
                <a:solidFill>
                  <a:srgbClr val="FF0000"/>
                </a:solidFill>
              </a:endParaRPr>
            </a:p>
          </p:txBody>
        </p:sp>
        <p:sp>
          <p:nvSpPr>
            <p:cNvPr id="10" name="文字方塊 9"/>
            <p:cNvSpPr txBox="1"/>
            <p:nvPr/>
          </p:nvSpPr>
          <p:spPr>
            <a:xfrm>
              <a:off x="3491880" y="3091904"/>
              <a:ext cx="936104" cy="369332"/>
            </a:xfrm>
            <a:prstGeom prst="rect">
              <a:avLst/>
            </a:prstGeom>
            <a:noFill/>
          </p:spPr>
          <p:txBody>
            <a:bodyPr wrap="square" rtlCol="0">
              <a:spAutoFit/>
            </a:bodyPr>
            <a:lstStyle/>
            <a:p>
              <a:r>
                <a:rPr lang="zh-TW" altLang="en-US" sz="1200" b="1" dirty="0" smtClean="0">
                  <a:solidFill>
                    <a:srgbClr val="FF0000"/>
                  </a:solidFill>
                </a:rPr>
                <a:t>項次</a:t>
              </a:r>
              <a:r>
                <a:rPr lang="en-US" altLang="zh-TW" sz="1200" b="1" dirty="0" smtClean="0">
                  <a:solidFill>
                    <a:srgbClr val="FF0000"/>
                  </a:solidFill>
                </a:rPr>
                <a:t>3</a:t>
              </a:r>
              <a:endParaRPr lang="zh-TW" altLang="en-US" sz="1200" b="1" dirty="0">
                <a:solidFill>
                  <a:srgbClr val="FF0000"/>
                </a:solidFill>
              </a:endParaRPr>
            </a:p>
          </p:txBody>
        </p:sp>
        <p:sp>
          <p:nvSpPr>
            <p:cNvPr id="11" name="文字方塊 10"/>
            <p:cNvSpPr txBox="1"/>
            <p:nvPr/>
          </p:nvSpPr>
          <p:spPr>
            <a:xfrm>
              <a:off x="2545772" y="1628800"/>
              <a:ext cx="1162131" cy="369332"/>
            </a:xfrm>
            <a:prstGeom prst="rect">
              <a:avLst/>
            </a:prstGeom>
            <a:noFill/>
          </p:spPr>
          <p:txBody>
            <a:bodyPr wrap="square" rtlCol="0">
              <a:spAutoFit/>
            </a:bodyPr>
            <a:lstStyle/>
            <a:p>
              <a:r>
                <a:rPr lang="zh-TW" altLang="en-US" sz="1200" b="1" dirty="0" smtClean="0">
                  <a:solidFill>
                    <a:srgbClr val="FF0000"/>
                  </a:solidFill>
                </a:rPr>
                <a:t>項次</a:t>
              </a:r>
              <a:r>
                <a:rPr lang="en-US" altLang="zh-TW" sz="1200" b="1" dirty="0" smtClean="0">
                  <a:solidFill>
                    <a:srgbClr val="FF0000"/>
                  </a:solidFill>
                </a:rPr>
                <a:t>4</a:t>
              </a:r>
              <a:r>
                <a:rPr lang="zh-TW" altLang="en-US" sz="1200" b="1" dirty="0" smtClean="0">
                  <a:solidFill>
                    <a:srgbClr val="FF0000"/>
                  </a:solidFill>
                </a:rPr>
                <a:t>、</a:t>
              </a:r>
              <a:r>
                <a:rPr lang="en-US" altLang="zh-TW" sz="1200" b="1" dirty="0" smtClean="0">
                  <a:solidFill>
                    <a:srgbClr val="FF0000"/>
                  </a:solidFill>
                </a:rPr>
                <a:t>5</a:t>
              </a:r>
            </a:p>
          </p:txBody>
        </p:sp>
        <p:sp>
          <p:nvSpPr>
            <p:cNvPr id="12" name="文字方塊 11"/>
            <p:cNvSpPr txBox="1"/>
            <p:nvPr/>
          </p:nvSpPr>
          <p:spPr>
            <a:xfrm>
              <a:off x="5509432" y="1328735"/>
              <a:ext cx="936104" cy="369332"/>
            </a:xfrm>
            <a:prstGeom prst="rect">
              <a:avLst/>
            </a:prstGeom>
            <a:noFill/>
          </p:spPr>
          <p:txBody>
            <a:bodyPr wrap="square" rtlCol="0">
              <a:spAutoFit/>
            </a:bodyPr>
            <a:lstStyle/>
            <a:p>
              <a:r>
                <a:rPr lang="zh-TW" altLang="en-US" sz="1200" b="1" dirty="0" smtClean="0">
                  <a:solidFill>
                    <a:srgbClr val="FF0000"/>
                  </a:solidFill>
                </a:rPr>
                <a:t>項次</a:t>
              </a:r>
              <a:r>
                <a:rPr lang="en-US" altLang="zh-TW" sz="1200" b="1" dirty="0" smtClean="0">
                  <a:solidFill>
                    <a:srgbClr val="FF0000"/>
                  </a:solidFill>
                </a:rPr>
                <a:t>6</a:t>
              </a:r>
              <a:endParaRPr lang="zh-TW" altLang="en-US" sz="1200" b="1" dirty="0">
                <a:solidFill>
                  <a:srgbClr val="FF0000"/>
                </a:solidFill>
              </a:endParaRPr>
            </a:p>
          </p:txBody>
        </p:sp>
        <p:sp>
          <p:nvSpPr>
            <p:cNvPr id="13" name="文字方塊 12"/>
            <p:cNvSpPr txBox="1"/>
            <p:nvPr/>
          </p:nvSpPr>
          <p:spPr>
            <a:xfrm>
              <a:off x="4788024" y="3257245"/>
              <a:ext cx="936104" cy="369332"/>
            </a:xfrm>
            <a:prstGeom prst="rect">
              <a:avLst/>
            </a:prstGeom>
            <a:noFill/>
          </p:spPr>
          <p:txBody>
            <a:bodyPr wrap="square" rtlCol="0">
              <a:spAutoFit/>
            </a:bodyPr>
            <a:lstStyle/>
            <a:p>
              <a:r>
                <a:rPr lang="zh-TW" altLang="en-US" sz="1200" b="1" dirty="0" smtClean="0">
                  <a:solidFill>
                    <a:srgbClr val="FF0000"/>
                  </a:solidFill>
                </a:rPr>
                <a:t>項次</a:t>
              </a:r>
              <a:r>
                <a:rPr lang="en-US" altLang="zh-TW" sz="1200" b="1" dirty="0" smtClean="0">
                  <a:solidFill>
                    <a:srgbClr val="FF0000"/>
                  </a:solidFill>
                </a:rPr>
                <a:t>7</a:t>
              </a:r>
              <a:endParaRPr lang="zh-TW" altLang="en-US" sz="1200" b="1" dirty="0">
                <a:solidFill>
                  <a:srgbClr val="FF0000"/>
                </a:solidFill>
              </a:endParaRPr>
            </a:p>
          </p:txBody>
        </p:sp>
      </p:grpSp>
    </p:spTree>
    <p:extLst>
      <p:ext uri="{BB962C8B-B14F-4D97-AF65-F5344CB8AC3E}">
        <p14:creationId xmlns:p14="http://schemas.microsoft.com/office/powerpoint/2010/main" val="589862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線路價格</a:t>
            </a:r>
            <a:endParaRPr lang="zh-TW" altLang="en-US" dirty="0"/>
          </a:p>
        </p:txBody>
      </p:sp>
      <p:sp>
        <p:nvSpPr>
          <p:cNvPr id="6" name="文字方塊 5"/>
          <p:cNvSpPr txBox="1"/>
          <p:nvPr/>
        </p:nvSpPr>
        <p:spPr>
          <a:xfrm>
            <a:off x="0" y="5301208"/>
            <a:ext cx="8208912" cy="1384995"/>
          </a:xfrm>
          <a:prstGeom prst="rect">
            <a:avLst/>
          </a:prstGeom>
          <a:noFill/>
        </p:spPr>
        <p:txBody>
          <a:bodyPr wrap="square" rtlCol="0">
            <a:spAutoFit/>
          </a:bodyPr>
          <a:lstStyle/>
          <a:p>
            <a:r>
              <a:rPr lang="zh-TW" altLang="en-US" sz="1200" dirty="0" smtClean="0"/>
              <a:t>以上價格非最終價格，台灣詢價方式</a:t>
            </a:r>
            <a:endParaRPr lang="en-US" altLang="zh-TW" sz="1200" dirty="0" smtClean="0"/>
          </a:p>
          <a:p>
            <a:endParaRPr lang="en-US" altLang="zh-TW" sz="1200" dirty="0"/>
          </a:p>
          <a:p>
            <a:r>
              <a:rPr lang="en-US" altLang="zh-TW" sz="1200" dirty="0" smtClean="0"/>
              <a:t>1.</a:t>
            </a:r>
            <a:r>
              <a:rPr lang="zh-TW" altLang="en-US" sz="1200" dirty="0" smtClean="0"/>
              <a:t>確認架構、硬體、規格後，請廠商報價</a:t>
            </a:r>
            <a:r>
              <a:rPr lang="en-US" altLang="zh-TW" sz="1200" dirty="0" smtClean="0"/>
              <a:t>(</a:t>
            </a:r>
            <a:r>
              <a:rPr lang="zh-TW" altLang="en-US" sz="1200" dirty="0" smtClean="0"/>
              <a:t>第一次通常是牌價</a:t>
            </a:r>
            <a:r>
              <a:rPr lang="en-US" altLang="zh-TW" sz="1200" dirty="0" smtClean="0"/>
              <a:t>)</a:t>
            </a:r>
          </a:p>
          <a:p>
            <a:r>
              <a:rPr lang="en-US" altLang="zh-TW" sz="1200" dirty="0" smtClean="0"/>
              <a:t>2.</a:t>
            </a:r>
            <a:r>
              <a:rPr lang="zh-TW" altLang="en-US" sz="1200" dirty="0" smtClean="0"/>
              <a:t>將價格發給三家廠商進行第二次報價</a:t>
            </a:r>
            <a:endParaRPr lang="en-US" altLang="zh-TW" sz="1200" dirty="0" smtClean="0"/>
          </a:p>
          <a:p>
            <a:r>
              <a:rPr lang="en-US" altLang="zh-TW" sz="1200" dirty="0" smtClean="0"/>
              <a:t>3.</a:t>
            </a:r>
            <a:r>
              <a:rPr lang="zh-TW" altLang="en-US" sz="1200" dirty="0" smtClean="0"/>
              <a:t>挑選價格最低、服務最好的廠商</a:t>
            </a:r>
            <a:endParaRPr lang="en-US" altLang="zh-TW" sz="1200" dirty="0" smtClean="0"/>
          </a:p>
          <a:p>
            <a:r>
              <a:rPr lang="en-US" altLang="zh-TW" sz="1200" dirty="0" smtClean="0"/>
              <a:t>4.</a:t>
            </a:r>
            <a:r>
              <a:rPr lang="zh-TW" altLang="en-US" sz="1200" dirty="0" smtClean="0"/>
              <a:t>進行第三次議價</a:t>
            </a:r>
            <a:endParaRPr lang="en-US" altLang="zh-TW" sz="1200" dirty="0" smtClean="0"/>
          </a:p>
          <a:p>
            <a:r>
              <a:rPr lang="en-US" altLang="zh-TW" sz="1200" dirty="0" smtClean="0"/>
              <a:t>5.</a:t>
            </a:r>
            <a:r>
              <a:rPr lang="zh-TW" altLang="en-US" sz="1200" dirty="0" smtClean="0"/>
              <a:t>最後成交價</a:t>
            </a:r>
            <a:endParaRPr lang="en-US" altLang="zh-TW" sz="1200" dirty="0" smtClean="0"/>
          </a:p>
        </p:txBody>
      </p:sp>
      <p:pic>
        <p:nvPicPr>
          <p:cNvPr id="3" name="圖片 2"/>
          <p:cNvPicPr>
            <a:picLocks noChangeAspect="1"/>
          </p:cNvPicPr>
          <p:nvPr/>
        </p:nvPicPr>
        <p:blipFill>
          <a:blip r:embed="rId2"/>
          <a:stretch>
            <a:fillRect/>
          </a:stretch>
        </p:blipFill>
        <p:spPr>
          <a:xfrm>
            <a:off x="0" y="1196752"/>
            <a:ext cx="8179757" cy="4031161"/>
          </a:xfrm>
          <a:prstGeom prst="rect">
            <a:avLst/>
          </a:prstGeom>
        </p:spPr>
      </p:pic>
    </p:spTree>
    <p:extLst>
      <p:ext uri="{BB962C8B-B14F-4D97-AF65-F5344CB8AC3E}">
        <p14:creationId xmlns:p14="http://schemas.microsoft.com/office/powerpoint/2010/main" val="2233879319"/>
      </p:ext>
    </p:extLst>
  </p:cSld>
  <p:clrMapOvr>
    <a:masterClrMapping/>
  </p:clrMapOvr>
</p:sld>
</file>

<file path=ppt/theme/theme1.xml><?xml version="1.0" encoding="utf-8"?>
<a:theme xmlns:a="http://schemas.openxmlformats.org/drawingml/2006/main" name="自訂設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18031</TotalTime>
  <Words>2424</Words>
  <Application>Microsoft Office PowerPoint</Application>
  <PresentationFormat>如螢幕大小 (4:3)</PresentationFormat>
  <Paragraphs>580</Paragraphs>
  <Slides>23</Slides>
  <Notes>10</Notes>
  <HiddenSlides>2</HiddenSlides>
  <MMClips>0</MMClips>
  <ScaleCrop>false</ScaleCrop>
  <HeadingPairs>
    <vt:vector size="8" baseType="variant">
      <vt:variant>
        <vt:lpstr>使用字型</vt:lpstr>
      </vt:variant>
      <vt:variant>
        <vt:i4>8</vt:i4>
      </vt:variant>
      <vt:variant>
        <vt:lpstr>佈景主題</vt:lpstr>
      </vt:variant>
      <vt:variant>
        <vt:i4>1</vt:i4>
      </vt:variant>
      <vt:variant>
        <vt:lpstr>內嵌 OLE 伺服程式</vt:lpstr>
      </vt:variant>
      <vt:variant>
        <vt:i4>3</vt:i4>
      </vt:variant>
      <vt:variant>
        <vt:lpstr>投影片標題</vt:lpstr>
      </vt:variant>
      <vt:variant>
        <vt:i4>23</vt:i4>
      </vt:variant>
    </vt:vector>
  </HeadingPairs>
  <TitlesOfParts>
    <vt:vector size="35" baseType="lpstr">
      <vt:lpstr>Arial Unicode MS</vt:lpstr>
      <vt:lpstr>宋体</vt:lpstr>
      <vt:lpstr>微軟正黑體</vt:lpstr>
      <vt:lpstr>新細明體</vt:lpstr>
      <vt:lpstr>標楷體</vt:lpstr>
      <vt:lpstr>Arial</vt:lpstr>
      <vt:lpstr>Calibri</vt:lpstr>
      <vt:lpstr>Times New Roman</vt:lpstr>
      <vt:lpstr>自訂設計</vt:lpstr>
      <vt:lpstr>工作表</vt:lpstr>
      <vt:lpstr>文件</vt:lpstr>
      <vt:lpstr>Visio</vt:lpstr>
      <vt:lpstr> </vt:lpstr>
      <vt:lpstr>現況-主機清單(營運端)</vt:lpstr>
      <vt:lpstr>PowerPoint 簡報</vt:lpstr>
      <vt:lpstr>縱深防禦概念與本案關係</vt:lpstr>
      <vt:lpstr>規劃設計-Internet安全防禦配置</vt:lpstr>
      <vt:lpstr>規劃設計-防火牆Zone關係配置</vt:lpstr>
      <vt:lpstr>規劃設計-Web/AP/DB部分</vt:lpstr>
      <vt:lpstr>規劃設計-主機部分</vt:lpstr>
      <vt:lpstr>價格</vt:lpstr>
      <vt:lpstr>內容過濾</vt:lpstr>
      <vt:lpstr>辦公室規劃</vt:lpstr>
      <vt:lpstr>內容安全的方案</vt:lpstr>
      <vt:lpstr>網路內容安全 架構</vt:lpstr>
      <vt:lpstr>導入效益</vt:lpstr>
      <vt:lpstr>運作示意</vt:lpstr>
      <vt:lpstr>特色</vt:lpstr>
      <vt:lpstr>PowerPoint 簡報</vt:lpstr>
      <vt:lpstr>SPAM SQR運作架構(內寄郵件)</vt:lpstr>
      <vt:lpstr>SPAM SQR運作架構(外寄郵件)</vt:lpstr>
      <vt:lpstr>價格</vt:lpstr>
      <vt:lpstr>線路規劃</vt:lpstr>
      <vt:lpstr>線路架構規劃</vt:lpstr>
      <vt:lpstr>線路價格</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產品銷售建議案</dc:title>
  <dc:creator>Hilda Hu</dc:creator>
  <cp:lastModifiedBy>ㄚ凱</cp:lastModifiedBy>
  <cp:revision>1495</cp:revision>
  <cp:lastPrinted>2000-08-22T03:04:06Z</cp:lastPrinted>
  <dcterms:created xsi:type="dcterms:W3CDTF">1995-04-11T21:26:37Z</dcterms:created>
  <dcterms:modified xsi:type="dcterms:W3CDTF">2016-05-10T15:30:52Z</dcterms:modified>
</cp:coreProperties>
</file>