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6" r:id="rId1"/>
  </p:sldMasterIdLst>
  <p:notesMasterIdLst>
    <p:notesMasterId r:id="rId15"/>
  </p:notesMasterIdLst>
  <p:handoutMasterIdLst>
    <p:handoutMasterId r:id="rId16"/>
  </p:handoutMasterIdLst>
  <p:sldIdLst>
    <p:sldId id="304" r:id="rId2"/>
    <p:sldId id="312" r:id="rId3"/>
    <p:sldId id="373" r:id="rId4"/>
    <p:sldId id="366" r:id="rId5"/>
    <p:sldId id="367" r:id="rId6"/>
    <p:sldId id="371" r:id="rId7"/>
    <p:sldId id="364" r:id="rId8"/>
    <p:sldId id="374" r:id="rId9"/>
    <p:sldId id="372" r:id="rId10"/>
    <p:sldId id="332" r:id="rId11"/>
    <p:sldId id="368" r:id="rId12"/>
    <p:sldId id="369" r:id="rId13"/>
    <p:sldId id="370" r:id="rId14"/>
  </p:sldIdLst>
  <p:sldSz cx="9144000" cy="6858000" type="screen4x3"/>
  <p:notesSz cx="6797675" cy="99266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88">
          <p15:clr>
            <a:srgbClr val="A4A3A4"/>
          </p15:clr>
        </p15:guide>
        <p15:guide id="2" pos="29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00FFFF"/>
    <a:srgbClr val="FFCC99"/>
    <a:srgbClr val="99FF99"/>
    <a:srgbClr val="A6A6A6"/>
    <a:srgbClr val="FFFF00"/>
    <a:srgbClr val="9933FF"/>
    <a:srgbClr val="162B52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45" autoAdjust="0"/>
    <p:restoredTop sz="58528" autoAdjust="0"/>
  </p:normalViewPr>
  <p:slideViewPr>
    <p:cSldViewPr>
      <p:cViewPr varScale="1">
        <p:scale>
          <a:sx n="74" d="100"/>
          <a:sy n="74" d="100"/>
        </p:scale>
        <p:origin x="139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699"/>
    </p:cViewPr>
  </p:sorterViewPr>
  <p:notesViewPr>
    <p:cSldViewPr>
      <p:cViewPr>
        <p:scale>
          <a:sx n="89" d="100"/>
          <a:sy n="89" d="100"/>
        </p:scale>
        <p:origin x="-1133" y="-62"/>
      </p:cViewPr>
      <p:guideLst>
        <p:guide orient="horz" pos="2188"/>
        <p:guide pos="29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342258" y="164460"/>
            <a:ext cx="2111557" cy="662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16" tIns="46207" rIns="92416" bIns="46207" numCol="1" anchor="ctr" anchorCtr="0" compatLnSpc="1">
            <a:prstTxWarp prst="textNoShape">
              <a:avLst/>
            </a:prstTxWarp>
          </a:bodyPr>
          <a:lstStyle>
            <a:lvl1pPr algn="ctr" defTabSz="917695" eaLnBrk="0" hangingPunct="0">
              <a:defRPr sz="1400">
                <a:ea typeface="標楷體" pitchFamily="65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8690" y="9016523"/>
            <a:ext cx="1661369" cy="745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16" tIns="46207" rIns="92416" bIns="46207" numCol="1" anchor="ctr" anchorCtr="0" compatLnSpc="1">
            <a:prstTxWarp prst="textNoShape">
              <a:avLst/>
            </a:prstTxWarp>
          </a:bodyPr>
          <a:lstStyle>
            <a:lvl1pPr defTabSz="917695" eaLnBrk="0" hangingPunct="0">
              <a:defRPr sz="1400">
                <a:ea typeface="標楷體" pitchFamily="65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342258" y="9016523"/>
            <a:ext cx="2111557" cy="745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16" tIns="46207" rIns="92416" bIns="46207" numCol="1" anchor="ctr" anchorCtr="0" compatLnSpc="1">
            <a:prstTxWarp prst="textNoShape">
              <a:avLst/>
            </a:prstTxWarp>
          </a:bodyPr>
          <a:lstStyle>
            <a:lvl1pPr algn="ctr" defTabSz="917695" eaLnBrk="0" hangingPunct="0">
              <a:defRPr sz="1400">
                <a:ea typeface="標楷體" pitchFamily="65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606014" y="9016523"/>
            <a:ext cx="1661368" cy="745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16" tIns="46207" rIns="92416" bIns="46207" numCol="1" anchor="ctr" anchorCtr="0" compatLnSpc="1">
            <a:prstTxWarp prst="textNoShape">
              <a:avLst/>
            </a:prstTxWarp>
          </a:bodyPr>
          <a:lstStyle>
            <a:lvl1pPr algn="r" defTabSz="917695" eaLnBrk="0" hangingPunct="0">
              <a:defRPr sz="1400">
                <a:ea typeface="標楷體" pitchFamily="65" charset="-120"/>
              </a:defRPr>
            </a:lvl1pPr>
          </a:lstStyle>
          <a:p>
            <a:pPr>
              <a:defRPr/>
            </a:pPr>
            <a:fld id="{FF21356B-62FB-479B-9A47-4CF826F4E95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6761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342258" y="164460"/>
            <a:ext cx="2111557" cy="415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16" tIns="46207" rIns="92416" bIns="46207" numCol="1" anchor="ctr" anchorCtr="0" compatLnSpc="1">
            <a:prstTxWarp prst="textNoShape">
              <a:avLst/>
            </a:prstTxWarp>
          </a:bodyPr>
          <a:lstStyle>
            <a:lvl1pPr algn="ctr" defTabSz="917695" eaLnBrk="0" hangingPunct="0">
              <a:defRPr sz="1400">
                <a:ea typeface="標楷體" pitchFamily="65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8690" y="9262415"/>
            <a:ext cx="1661369" cy="499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16" tIns="46207" rIns="92416" bIns="46207" numCol="1" anchor="ctr" anchorCtr="0" compatLnSpc="1">
            <a:prstTxWarp prst="textNoShape">
              <a:avLst/>
            </a:prstTxWarp>
          </a:bodyPr>
          <a:lstStyle>
            <a:lvl1pPr defTabSz="917695" eaLnBrk="0" hangingPunct="0">
              <a:defRPr sz="1400">
                <a:ea typeface="標楷體" pitchFamily="65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342258" y="9262415"/>
            <a:ext cx="2111557" cy="499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16" tIns="46207" rIns="92416" bIns="46207" numCol="1" anchor="ctr" anchorCtr="0" compatLnSpc="1">
            <a:prstTxWarp prst="textNoShape">
              <a:avLst/>
            </a:prstTxWarp>
          </a:bodyPr>
          <a:lstStyle>
            <a:lvl1pPr algn="ctr" defTabSz="917695" eaLnBrk="0" hangingPunct="0">
              <a:defRPr sz="1400">
                <a:ea typeface="標楷體" pitchFamily="65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606014" y="9262415"/>
            <a:ext cx="1661368" cy="499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16" tIns="46207" rIns="92416" bIns="46207" numCol="1" anchor="ctr" anchorCtr="0" compatLnSpc="1">
            <a:prstTxWarp prst="textNoShape">
              <a:avLst/>
            </a:prstTxWarp>
          </a:bodyPr>
          <a:lstStyle>
            <a:lvl1pPr algn="r" defTabSz="917695" eaLnBrk="0" hangingPunct="0">
              <a:defRPr sz="1400">
                <a:ea typeface="標楷體" pitchFamily="65" charset="-120"/>
              </a:defRPr>
            </a:lvl1pPr>
          </a:lstStyle>
          <a:p>
            <a:pPr>
              <a:defRPr/>
            </a:pPr>
            <a:fld id="{F0BF87E3-74A3-4034-994F-83655DC1415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784" y="4715034"/>
            <a:ext cx="4982505" cy="4467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16" tIns="46207" rIns="92416" bIns="462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按一下以編輯母片備忘稿樣式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8199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52475"/>
            <a:ext cx="4945062" cy="3708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3567985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實際上</a:t>
            </a:r>
            <a:r>
              <a:rPr lang="en-US" altLang="zh-TW" dirty="0" smtClean="0"/>
              <a:t>IOPS</a:t>
            </a:r>
            <a:endParaRPr lang="zh-TW" altLang="en-US" dirty="0" smtClean="0"/>
          </a:p>
          <a:p>
            <a:r>
              <a:rPr lang="zh-TW" altLang="en-US" dirty="0" smtClean="0"/>
              <a:t>我們先假設每個</a:t>
            </a:r>
            <a:r>
              <a:rPr lang="en-US" altLang="zh-TW" dirty="0" smtClean="0"/>
              <a:t>I/O</a:t>
            </a:r>
            <a:r>
              <a:rPr lang="zh-TW" altLang="en-US" dirty="0" smtClean="0"/>
              <a:t>讀寫</a:t>
            </a:r>
            <a:r>
              <a:rPr lang="en-US" altLang="zh-TW" dirty="0" smtClean="0"/>
              <a:t>64KBps</a:t>
            </a:r>
          </a:p>
          <a:p>
            <a:r>
              <a:rPr lang="en-US" altLang="zh-TW" b="1" dirty="0" smtClean="0"/>
              <a:t>IOPS</a:t>
            </a:r>
            <a:r>
              <a:rPr lang="en-US" altLang="zh-TW" dirty="0" smtClean="0"/>
              <a:t> = (</a:t>
            </a:r>
            <a:r>
              <a:rPr lang="en-US" altLang="zh-TW" dirty="0" err="1" smtClean="0"/>
              <a:t>MBps</a:t>
            </a:r>
            <a:r>
              <a:rPr lang="en-US" altLang="zh-TW" dirty="0" smtClean="0"/>
              <a:t> Throughput / KB per IO) * 1024</a:t>
            </a:r>
          </a:p>
          <a:p>
            <a:r>
              <a:rPr lang="en-US" altLang="zh-TW" b="1" dirty="0" smtClean="0"/>
              <a:t>IOPS</a:t>
            </a:r>
            <a:r>
              <a:rPr lang="en-US" altLang="zh-TW" dirty="0" smtClean="0"/>
              <a:t> = (</a:t>
            </a:r>
            <a:r>
              <a:rPr lang="en-US" altLang="zh-TW" dirty="0" err="1" smtClean="0"/>
              <a:t>MBps</a:t>
            </a:r>
            <a:r>
              <a:rPr lang="en-US" altLang="zh-TW" dirty="0" smtClean="0"/>
              <a:t> Throughput /64) * 1024</a:t>
            </a:r>
          </a:p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 smtClean="0"/>
          </a:p>
          <a:p>
            <a:r>
              <a:rPr lang="zh-TW" altLang="en-US" dirty="0" smtClean="0"/>
              <a:t>故</a:t>
            </a:r>
            <a:r>
              <a:rPr lang="en-US" altLang="zh-TW" dirty="0" smtClean="0"/>
              <a:t>175000 </a:t>
            </a:r>
            <a:r>
              <a:rPr lang="en-US" altLang="zh-TW" dirty="0" err="1" smtClean="0"/>
              <a:t>KBps</a:t>
            </a:r>
            <a:r>
              <a:rPr lang="zh-TW" altLang="en-US" dirty="0" smtClean="0"/>
              <a:t>等於每秒多少個</a:t>
            </a:r>
            <a:r>
              <a:rPr lang="en-US" altLang="zh-TW" dirty="0" smtClean="0"/>
              <a:t>IOPS= </a:t>
            </a:r>
          </a:p>
          <a:p>
            <a:r>
              <a:rPr lang="en-US" altLang="zh-TW" dirty="0" smtClean="0"/>
              <a:t>175000KBps =(175000/1024/64)*1024=175000KBps</a:t>
            </a:r>
          </a:p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BF87E3-74A3-4034-994F-83655DC1415A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62702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Title Main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13729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日期版面配置區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2DE136EE-D3EA-4619-B5A6-0060910FC232}" type="datetimeFigureOut">
              <a:rPr lang="zh-TW" altLang="en-US" smtClean="0"/>
              <a:pPr/>
              <a:t>2016/5/10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A1A53B15-563B-4048-83D7-C7A468DBC05B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 userDrawn="1">
            <p:ph type="ctrTitle"/>
          </p:nvPr>
        </p:nvSpPr>
        <p:spPr>
          <a:xfrm>
            <a:off x="539552" y="3645024"/>
            <a:ext cx="8136904" cy="1656184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3419872" y="764704"/>
            <a:ext cx="5688632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 userDrawn="1">
            <p:ph type="subTitle" idx="1"/>
          </p:nvPr>
        </p:nvSpPr>
        <p:spPr>
          <a:xfrm>
            <a:off x="1371600" y="5661248"/>
            <a:ext cx="6400800" cy="6480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36EE-D3EA-4619-B5A6-0060910FC232}" type="datetimeFigureOut">
              <a:rPr lang="zh-TW" altLang="en-US" smtClean="0"/>
              <a:pPr/>
              <a:t>2016/5/10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3B15-563B-4048-83D7-C7A468DBC05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36EE-D3EA-4619-B5A6-0060910FC232}" type="datetimeFigureOut">
              <a:rPr lang="zh-TW" altLang="en-US" smtClean="0"/>
              <a:pPr/>
              <a:t>2016/5/10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3B15-563B-4048-83D7-C7A468DBC05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36EE-D3EA-4619-B5A6-0060910FC232}" type="datetimeFigureOut">
              <a:rPr lang="zh-TW" altLang="en-US" smtClean="0"/>
              <a:pPr/>
              <a:t>2016/5/10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3B15-563B-4048-83D7-C7A468DBC05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844824"/>
            <a:ext cx="4040188" cy="4281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844824"/>
            <a:ext cx="4041775" cy="4281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36EE-D3EA-4619-B5A6-0060910FC232}" type="datetimeFigureOut">
              <a:rPr lang="zh-TW" altLang="en-US" smtClean="0"/>
              <a:pPr/>
              <a:t>2016/5/10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3B15-563B-4048-83D7-C7A468DBC05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36EE-D3EA-4619-B5A6-0060910FC232}" type="datetimeFigureOut">
              <a:rPr lang="zh-TW" altLang="en-US" smtClean="0"/>
              <a:pPr/>
              <a:t>2016/5/10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3B15-563B-4048-83D7-C7A468DBC05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36EE-D3EA-4619-B5A6-0060910FC232}" type="datetimeFigureOut">
              <a:rPr lang="zh-TW" altLang="en-US" smtClean="0"/>
              <a:pPr/>
              <a:t>2016/5/10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3B15-563B-4048-83D7-C7A468DBC05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052736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1052736"/>
            <a:ext cx="5111750" cy="507342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2276872"/>
            <a:ext cx="3008313" cy="384929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36EE-D3EA-4619-B5A6-0060910FC232}" type="datetimeFigureOut">
              <a:rPr lang="zh-TW" altLang="en-US" smtClean="0"/>
              <a:pPr/>
              <a:t>2016/5/10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3B15-563B-4048-83D7-C7A468DBC05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1052735"/>
            <a:ext cx="5486400" cy="36748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36EE-D3EA-4619-B5A6-0060910FC232}" type="datetimeFigureOut">
              <a:rPr lang="zh-TW" altLang="en-US" smtClean="0"/>
              <a:pPr/>
              <a:t>2016/5/10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3B15-563B-4048-83D7-C7A468DBC05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24744"/>
            <a:ext cx="8229600" cy="5001419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36EE-D3EA-4619-B5A6-0060910FC232}" type="datetimeFigureOut">
              <a:rPr lang="zh-TW" altLang="en-US" smtClean="0"/>
              <a:pPr/>
              <a:t>2016/5/10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3B15-563B-4048-83D7-C7A468DBC05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1124744"/>
            <a:ext cx="2057400" cy="5001419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24744"/>
            <a:ext cx="6019800" cy="5001419"/>
          </a:xfrm>
        </p:spPr>
        <p:txBody>
          <a:bodyPr vert="eaVert"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36EE-D3EA-4619-B5A6-0060910FC232}" type="datetimeFigureOut">
              <a:rPr lang="zh-TW" altLang="en-US" smtClean="0"/>
              <a:pPr/>
              <a:t>2016/5/10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3B15-563B-4048-83D7-C7A468DBC05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Untitled-4 copy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691680" y="274638"/>
            <a:ext cx="7200800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136EE-D3EA-4619-B5A6-0060910FC232}" type="datetimeFigureOut">
              <a:rPr lang="zh-TW" altLang="en-US" smtClean="0"/>
              <a:pPr/>
              <a:t>2016/5/10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53B15-563B-4048-83D7-C7A468DBC05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___1.xlsx"/><Relationship Id="rId5" Type="http://schemas.openxmlformats.org/officeDocument/2006/relationships/oleObject" Target="../embeddings/oleObject1.bin"/><Relationship Id="rId10" Type="http://schemas.openxmlformats.org/officeDocument/2006/relationships/image" Target="../media/image4.wmf"/><Relationship Id="rId4" Type="http://schemas.openxmlformats.org/officeDocument/2006/relationships/image" Target="../media/image5.png"/><Relationship Id="rId9" Type="http://schemas.openxmlformats.org/officeDocument/2006/relationships/package" Target="../embeddings/Microsoft_Excel____2.xlsx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 </a:t>
            </a:r>
            <a:fld id="{33479353-7C30-4864-A67B-3D637DC3479A}" type="slidenum">
              <a:rPr lang="en-US" altLang="zh-TW" sz="1400" smtClean="0"/>
              <a:pPr>
                <a:defRPr/>
              </a:pPr>
              <a:t>1</a:t>
            </a:fld>
            <a:endParaRPr lang="en-US" altLang="zh-TW" sz="1400"/>
          </a:p>
        </p:txBody>
      </p:sp>
      <p:sp>
        <p:nvSpPr>
          <p:cNvPr id="7" name="文字方塊 6"/>
          <p:cNvSpPr txBox="1"/>
          <p:nvPr/>
        </p:nvSpPr>
        <p:spPr>
          <a:xfrm>
            <a:off x="6156176" y="3284984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sz="2800" i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軟正黑體"/>
              <a:ea typeface="微軟正黑體"/>
            </a:endParaRPr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zh-TW" altLang="en-US" dirty="0" smtClean="0"/>
              <a:t>規劃與建議</a:t>
            </a:r>
            <a:endParaRPr lang="zh-TW" alt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製作人 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CK</a:t>
            </a:r>
            <a:endParaRPr lang="zh-TW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線接點 13"/>
          <p:cNvCxnSpPr>
            <a:endCxn id="12" idx="1"/>
          </p:cNvCxnSpPr>
          <p:nvPr/>
        </p:nvCxnSpPr>
        <p:spPr bwMode="auto">
          <a:xfrm>
            <a:off x="3131840" y="2060848"/>
            <a:ext cx="909896" cy="6113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線接點 17"/>
          <p:cNvCxnSpPr>
            <a:endCxn id="12" idx="7"/>
          </p:cNvCxnSpPr>
          <p:nvPr/>
        </p:nvCxnSpPr>
        <p:spPr bwMode="auto">
          <a:xfrm flipH="1">
            <a:off x="4958248" y="1988840"/>
            <a:ext cx="1053912" cy="6833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zh-TW" altLang="en-US" dirty="0" smtClean="0"/>
              <a:t>現況</a:t>
            </a:r>
            <a:r>
              <a:rPr lang="en-US" altLang="zh-TW" dirty="0" smtClean="0"/>
              <a:t>-</a:t>
            </a:r>
            <a:r>
              <a:rPr lang="zh-TW" altLang="en-US" dirty="0" smtClean="0"/>
              <a:t>主機清單</a:t>
            </a:r>
            <a:r>
              <a:rPr lang="en-US" altLang="zh-TW" dirty="0" smtClean="0"/>
              <a:t>(</a:t>
            </a:r>
            <a:r>
              <a:rPr lang="zh-TW" altLang="en-US" dirty="0" smtClean="0"/>
              <a:t>營運端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0" y="1340768"/>
          <a:ext cx="3197920" cy="4419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61379"/>
                <a:gridCol w="2136541"/>
              </a:tblGrid>
              <a:tr h="11849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 smtClean="0">
                          <a:solidFill>
                            <a:srgbClr val="000000"/>
                          </a:solidFill>
                          <a:latin typeface="新細明體"/>
                        </a:rPr>
                        <a:t>AP</a:t>
                      </a:r>
                      <a:r>
                        <a:rPr lang="zh-TW" altLang="en-US" sz="1400" b="0" i="0" u="none" strike="noStrike" dirty="0" smtClean="0">
                          <a:solidFill>
                            <a:srgbClr val="000000"/>
                          </a:solidFill>
                          <a:latin typeface="新細明體"/>
                        </a:rPr>
                        <a:t>主機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/>
                </a:tc>
              </a:tr>
              <a:tr h="11849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u="none" strike="noStrike" dirty="0"/>
                        <a:t>服务器配置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u="none" strike="noStrike" dirty="0"/>
                        <a:t>用途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I3-2100-4G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u="none" strike="noStrike"/>
                        <a:t>网站服务器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/>
                        <a:t>VPS-1G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400" u="none" strike="noStrike" dirty="0"/>
                        <a:t>资讯平台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/>
                        <a:t>VPS-1G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VPS-1G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u="none" strike="noStrike" dirty="0"/>
                        <a:t>市场部使用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/>
                        <a:t>E3-8G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/>
                        <a:t>和记代理服务器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/>
                        <a:t>E3-8G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u="none" strike="noStrike"/>
                        <a:t>和记前台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E3-8G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u="none" strike="noStrike"/>
                        <a:t>和记网站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/>
                        <a:t>E5-16G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u="none" strike="noStrike" dirty="0"/>
                        <a:t>和记后台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/>
                        <a:t>E5620-8G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MG</a:t>
                      </a:r>
                      <a:r>
                        <a:rPr lang="zh-TW" altLang="en-US" sz="1400" u="none" strike="noStrike"/>
                        <a:t>的</a:t>
                      </a:r>
                      <a:r>
                        <a:rPr lang="en-US" sz="1400" u="none" strike="noStrike"/>
                        <a:t>API</a:t>
                      </a:r>
                      <a:r>
                        <a:rPr lang="zh-TW" altLang="en-US" sz="1400" u="none" strike="noStrike"/>
                        <a:t>服务器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E6500-4G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/>
                        <a:t>和记图片服务器</a:t>
                      </a:r>
                      <a:r>
                        <a:rPr lang="en-US" altLang="zh-CN" sz="1400" u="none" strike="noStrike"/>
                        <a:t>linux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/>
                        <a:t>E5-2640-16G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u="none" strike="noStrike"/>
                        <a:t>客户追踪系统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X3430-2G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u="none" strike="noStrike" dirty="0"/>
                        <a:t>主站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/>
                        <a:t>X3430-2G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/>
                        <a:t>DDOS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X3430-4G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400" u="none" strike="noStrike"/>
                        <a:t>和记网站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E3-1230-4G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u="none" strike="noStrike"/>
                        <a:t>和记后台（同步用）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/>
                        <a:t>E3-1230-8G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/>
                        <a:t>E6500-4G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400" u="none" strike="noStrike" dirty="0"/>
                        <a:t>图片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/>
                        <a:t>L5420-8G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652120" y="1124744"/>
          <a:ext cx="3491880" cy="1767840"/>
        </p:xfrm>
        <a:graphic>
          <a:graphicData uri="http://schemas.openxmlformats.org/drawingml/2006/table">
            <a:tbl>
              <a:tblPr/>
              <a:tblGrid>
                <a:gridCol w="1431670"/>
                <a:gridCol w="2060210"/>
              </a:tblGrid>
              <a:tr h="1905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 smtClean="0">
                          <a:solidFill>
                            <a:srgbClr val="000000"/>
                          </a:solidFill>
                          <a:latin typeface="新細明體"/>
                        </a:rPr>
                        <a:t>測試主機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服务器配置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用途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400" b="0" i="0" u="none" strike="noStrike" kern="1200" dirty="0">
                          <a:solidFill>
                            <a:srgbClr val="000000"/>
                          </a:solidFill>
                          <a:latin typeface="新細明體"/>
                          <a:ea typeface="+mn-ea"/>
                          <a:cs typeface="+mn-cs"/>
                        </a:rPr>
                        <a:t>E6500-2G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财务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VPN</a:t>
                      </a: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服务器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E6500-2G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财务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VPN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服务器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E6500-2G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财务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VPN</a:t>
                      </a: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服务器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E6550-2G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财务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VPN</a:t>
                      </a: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服务器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VPS-1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FFFFFF"/>
                          </a:solidFill>
                          <a:latin typeface="宋体"/>
                        </a:rPr>
                        <a:t>knney</a:t>
                      </a:r>
                      <a:r>
                        <a:rPr lang="zh-TW" altLang="en-US" sz="1400" b="0" i="0" u="none" strike="noStrike" dirty="0">
                          <a:solidFill>
                            <a:srgbClr val="FFFFFF"/>
                          </a:solidFill>
                          <a:latin typeface="宋体"/>
                        </a:rPr>
                        <a:t>香港</a:t>
                      </a:r>
                      <a:r>
                        <a:rPr lang="en-US" sz="1400" b="0" i="0" u="none" strike="noStrike" dirty="0" err="1">
                          <a:solidFill>
                            <a:srgbClr val="FFFFFF"/>
                          </a:solidFill>
                          <a:latin typeface="宋体"/>
                        </a:rPr>
                        <a:t>vpn</a:t>
                      </a:r>
                      <a:endParaRPr lang="en-US" sz="1400" b="0" i="0" u="none" strike="noStrike" dirty="0">
                        <a:solidFill>
                          <a:srgbClr val="FFFFFF"/>
                        </a:solidFill>
                        <a:latin typeface="宋体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E6550-2G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香港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VPN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服务器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365996" y="5013176"/>
          <a:ext cx="2142108" cy="1767840"/>
        </p:xfrm>
        <a:graphic>
          <a:graphicData uri="http://schemas.openxmlformats.org/drawingml/2006/table">
            <a:tbl>
              <a:tblPr/>
              <a:tblGrid>
                <a:gridCol w="1090767"/>
                <a:gridCol w="1051341"/>
              </a:tblGrid>
              <a:tr h="187832"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DB</a:t>
                      </a:r>
                      <a:r>
                        <a:rPr lang="zh-TW" altLang="en-US" sz="1400" dirty="0" smtClean="0"/>
                        <a:t>主機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783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服务器配置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用途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878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E5410-16G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管端数据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878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I5-750-8G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DATABAK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878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E5-2620-16G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DATABAK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878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E5-16G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 和记数据库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878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X3430-8G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数据库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878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E3-1230-4G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数据库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652121" y="3212976"/>
          <a:ext cx="3456383" cy="3307080"/>
        </p:xfrm>
        <a:graphic>
          <a:graphicData uri="http://schemas.openxmlformats.org/drawingml/2006/table">
            <a:tbl>
              <a:tblPr/>
              <a:tblGrid>
                <a:gridCol w="1249295"/>
                <a:gridCol w="1221533"/>
                <a:gridCol w="985555"/>
              </a:tblGrid>
              <a:tr h="19050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 smtClean="0">
                          <a:solidFill>
                            <a:srgbClr val="000000"/>
                          </a:solidFill>
                          <a:latin typeface="新細明體"/>
                        </a:rPr>
                        <a:t>OA</a:t>
                      </a:r>
                      <a:r>
                        <a:rPr lang="zh-TW" altLang="en-US" sz="1400" b="0" i="0" u="none" strike="noStrike" dirty="0" smtClean="0">
                          <a:solidFill>
                            <a:srgbClr val="000000"/>
                          </a:solidFill>
                          <a:latin typeface="新細明體"/>
                        </a:rPr>
                        <a:t>主機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服务器配置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用途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VPS-A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VPS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VPS-A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VPS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VPS-A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VPS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VPS-A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VPS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VPS-A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VPS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VPS-A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VPS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VPS-A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VPS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I3-8G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技术测试服务器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VPS-A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VPS(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市场部用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I3-4G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财务资金平台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400" b="0" i="0" u="none" strike="noStrike">
                        <a:solidFill>
                          <a:srgbClr val="000000"/>
                        </a:solidFill>
                        <a:latin typeface="新細明體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X3430-4G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客服系統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新細明體"/>
                        </a:rPr>
                        <a:t>只需在台灣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X3430-4G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客服系統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新細明體"/>
                        </a:rPr>
                        <a:t>只需在台灣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" name="橢圓 11"/>
          <p:cNvSpPr/>
          <p:nvPr/>
        </p:nvSpPr>
        <p:spPr bwMode="auto">
          <a:xfrm>
            <a:off x="3851920" y="2492896"/>
            <a:ext cx="1296144" cy="122413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  <p:cxnSp>
        <p:nvCxnSpPr>
          <p:cNvPr id="16" name="直線接點 15"/>
          <p:cNvCxnSpPr>
            <a:stCxn id="12" idx="4"/>
          </p:cNvCxnSpPr>
          <p:nvPr/>
        </p:nvCxnSpPr>
        <p:spPr bwMode="auto">
          <a:xfrm flipH="1">
            <a:off x="4355976" y="3717032"/>
            <a:ext cx="144016" cy="12961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線接點 19"/>
          <p:cNvCxnSpPr>
            <a:stCxn id="12" idx="5"/>
          </p:cNvCxnSpPr>
          <p:nvPr/>
        </p:nvCxnSpPr>
        <p:spPr bwMode="auto">
          <a:xfrm>
            <a:off x="4958248" y="3537762"/>
            <a:ext cx="621864" cy="97135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8" name="Picture 6" descr="firewall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2780928"/>
            <a:ext cx="864096" cy="685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文字方塊 18"/>
          <p:cNvSpPr txBox="1"/>
          <p:nvPr/>
        </p:nvSpPr>
        <p:spPr>
          <a:xfrm>
            <a:off x="6372200" y="648866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12 x 200G</a:t>
            </a:r>
            <a:endParaRPr lang="zh-TW" altLang="en-US" dirty="0"/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347085"/>
              </p:ext>
            </p:extLst>
          </p:nvPr>
        </p:nvGraphicFramePr>
        <p:xfrm>
          <a:off x="179512" y="5878087"/>
          <a:ext cx="914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工作表" showAsIcon="1" r:id="rId6" imgW="914400" imgH="800280" progId="Excel.Sheet.12">
                  <p:embed/>
                </p:oleObj>
              </mc:Choice>
              <mc:Fallback>
                <p:oleObj name="工作表" showAsIcon="1" r:id="rId6" imgW="914400" imgH="8002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9512" y="5878087"/>
                        <a:ext cx="914400" cy="8001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物件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748742"/>
              </p:ext>
            </p:extLst>
          </p:nvPr>
        </p:nvGraphicFramePr>
        <p:xfrm>
          <a:off x="1475656" y="5878087"/>
          <a:ext cx="914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工作表" showAsIcon="1" r:id="rId9" imgW="914400" imgH="800280" progId="Excel.Sheet.12">
                  <p:embed/>
                </p:oleObj>
              </mc:Choice>
              <mc:Fallback>
                <p:oleObj name="工作表" showAsIcon="1" r:id="rId9" imgW="914400" imgH="8002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5656" y="5878087"/>
                        <a:ext cx="914400" cy="80010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39552" y="3789040"/>
            <a:ext cx="8136904" cy="1656184"/>
          </a:xfrm>
        </p:spPr>
        <p:txBody>
          <a:bodyPr/>
          <a:lstStyle/>
          <a:p>
            <a:r>
              <a:rPr lang="zh-TW" altLang="en-US" dirty="0" smtClean="0"/>
              <a:t>建議分階段作業降低成本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Phase I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01727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Line 46"/>
          <p:cNvSpPr>
            <a:spLocks noChangeShapeType="1"/>
          </p:cNvSpPr>
          <p:nvPr/>
        </p:nvSpPr>
        <p:spPr bwMode="auto">
          <a:xfrm flipH="1">
            <a:off x="1846317" y="2780928"/>
            <a:ext cx="792088" cy="504056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56" name="Line 46"/>
          <p:cNvSpPr>
            <a:spLocks noChangeShapeType="1"/>
          </p:cNvSpPr>
          <p:nvPr/>
        </p:nvSpPr>
        <p:spPr bwMode="auto">
          <a:xfrm flipH="1">
            <a:off x="369645" y="2708920"/>
            <a:ext cx="1008112" cy="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70" name="Line 46"/>
          <p:cNvSpPr>
            <a:spLocks noChangeShapeType="1"/>
          </p:cNvSpPr>
          <p:nvPr/>
        </p:nvSpPr>
        <p:spPr bwMode="auto">
          <a:xfrm flipH="1" flipV="1">
            <a:off x="3646517" y="5229200"/>
            <a:ext cx="0" cy="62595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72" name="Line 46"/>
          <p:cNvSpPr>
            <a:spLocks noChangeShapeType="1"/>
          </p:cNvSpPr>
          <p:nvPr/>
        </p:nvSpPr>
        <p:spPr bwMode="auto">
          <a:xfrm flipH="1" flipV="1">
            <a:off x="3646517" y="3429000"/>
            <a:ext cx="0" cy="1654095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68" name="Line 46"/>
          <p:cNvSpPr>
            <a:spLocks noChangeShapeType="1"/>
          </p:cNvSpPr>
          <p:nvPr/>
        </p:nvSpPr>
        <p:spPr bwMode="auto">
          <a:xfrm flipH="1" flipV="1">
            <a:off x="2535570" y="3428999"/>
            <a:ext cx="20206" cy="180020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69" name="Line 46"/>
          <p:cNvSpPr>
            <a:spLocks noChangeShapeType="1"/>
          </p:cNvSpPr>
          <p:nvPr/>
        </p:nvSpPr>
        <p:spPr bwMode="auto">
          <a:xfrm flipH="1" flipV="1">
            <a:off x="2751594" y="3284984"/>
            <a:ext cx="0" cy="187220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43" name="Line 46"/>
          <p:cNvSpPr>
            <a:spLocks noChangeShapeType="1"/>
          </p:cNvSpPr>
          <p:nvPr/>
        </p:nvSpPr>
        <p:spPr bwMode="auto">
          <a:xfrm flipH="1" flipV="1">
            <a:off x="1630293" y="1196752"/>
            <a:ext cx="0" cy="396044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42" name="Line 46"/>
          <p:cNvSpPr>
            <a:spLocks noChangeShapeType="1"/>
          </p:cNvSpPr>
          <p:nvPr/>
        </p:nvSpPr>
        <p:spPr bwMode="auto">
          <a:xfrm flipH="1" flipV="1">
            <a:off x="1414269" y="1196752"/>
            <a:ext cx="0" cy="396044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2" name="群組 211"/>
          <p:cNvGrpSpPr/>
          <p:nvPr/>
        </p:nvGrpSpPr>
        <p:grpSpPr>
          <a:xfrm>
            <a:off x="3070453" y="2420888"/>
            <a:ext cx="1656184" cy="620688"/>
            <a:chOff x="395536" y="404664"/>
            <a:chExt cx="1656184" cy="620688"/>
          </a:xfrm>
        </p:grpSpPr>
        <p:pic>
          <p:nvPicPr>
            <p:cNvPr id="214" name="Picture 27" descr="ICON_Cloud_Q30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5536" y="476672"/>
              <a:ext cx="1656184" cy="54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7" name="文字方塊 216"/>
            <p:cNvSpPr txBox="1"/>
            <p:nvPr/>
          </p:nvSpPr>
          <p:spPr>
            <a:xfrm>
              <a:off x="826783" y="404664"/>
              <a:ext cx="99418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6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 3</a:t>
              </a:r>
              <a:r>
                <a:rPr lang="en-US" altLang="zh-TW" sz="1600" b="1" baseline="30000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rd</a:t>
              </a:r>
              <a:endParaRPr lang="en-US" altLang="zh-TW" sz="1600" b="1" dirty="0" smtClean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  <a:p>
              <a:pPr algn="ctr"/>
              <a:r>
                <a:rPr lang="en-US" altLang="zh-TW" sz="16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Network</a:t>
              </a:r>
              <a:endParaRPr lang="zh-TW" altLang="en-US" sz="1600" b="1" dirty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</p:grpSp>
      <p:sp>
        <p:nvSpPr>
          <p:cNvPr id="187" name="Line 46"/>
          <p:cNvSpPr>
            <a:spLocks noChangeShapeType="1"/>
          </p:cNvSpPr>
          <p:nvPr/>
        </p:nvSpPr>
        <p:spPr bwMode="auto">
          <a:xfrm flipH="1" flipV="1">
            <a:off x="3862541" y="5144988"/>
            <a:ext cx="0" cy="62595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86" name="Line 46"/>
          <p:cNvSpPr>
            <a:spLocks noChangeShapeType="1"/>
          </p:cNvSpPr>
          <p:nvPr/>
        </p:nvSpPr>
        <p:spPr bwMode="auto">
          <a:xfrm flipH="1" flipV="1">
            <a:off x="1414269" y="5204253"/>
            <a:ext cx="0" cy="62595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3" name="群組 1"/>
          <p:cNvGrpSpPr/>
          <p:nvPr/>
        </p:nvGrpSpPr>
        <p:grpSpPr>
          <a:xfrm>
            <a:off x="622181" y="116632"/>
            <a:ext cx="1656184" cy="548680"/>
            <a:chOff x="395536" y="476672"/>
            <a:chExt cx="1656184" cy="548680"/>
          </a:xfrm>
        </p:grpSpPr>
        <p:pic>
          <p:nvPicPr>
            <p:cNvPr id="24" name="Picture 27" descr="ICON_Cloud_Q30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5536" y="476672"/>
              <a:ext cx="1656184" cy="54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1" name="文字方塊 150"/>
            <p:cNvSpPr txBox="1"/>
            <p:nvPr/>
          </p:nvSpPr>
          <p:spPr>
            <a:xfrm>
              <a:off x="827584" y="548680"/>
              <a:ext cx="9380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Internet</a:t>
              </a:r>
              <a:endParaRPr lang="zh-TW" altLang="en-US" sz="1600" b="1" dirty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</p:grpSp>
      <p:grpSp>
        <p:nvGrpSpPr>
          <p:cNvPr id="4" name="群組 232"/>
          <p:cNvGrpSpPr/>
          <p:nvPr/>
        </p:nvGrpSpPr>
        <p:grpSpPr>
          <a:xfrm>
            <a:off x="1198245" y="2420888"/>
            <a:ext cx="720080" cy="648072"/>
            <a:chOff x="1763688" y="2204864"/>
            <a:chExt cx="720080" cy="648072"/>
          </a:xfrm>
        </p:grpSpPr>
        <p:sp>
          <p:nvSpPr>
            <p:cNvPr id="229" name="橢圓 228"/>
            <p:cNvSpPr/>
            <p:nvPr/>
          </p:nvSpPr>
          <p:spPr>
            <a:xfrm>
              <a:off x="1763688" y="2204864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121" name="Picture 6" descr="firewall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02227" y="2317401"/>
              <a:ext cx="455145" cy="3755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" name="群組 225"/>
          <p:cNvGrpSpPr/>
          <p:nvPr/>
        </p:nvGrpSpPr>
        <p:grpSpPr>
          <a:xfrm>
            <a:off x="1198245" y="3501008"/>
            <a:ext cx="720080" cy="648072"/>
            <a:chOff x="899592" y="4293096"/>
            <a:chExt cx="720080" cy="648072"/>
          </a:xfrm>
        </p:grpSpPr>
        <p:sp>
          <p:nvSpPr>
            <p:cNvPr id="179" name="橢圓 178"/>
            <p:cNvSpPr/>
            <p:nvPr/>
          </p:nvSpPr>
          <p:spPr>
            <a:xfrm>
              <a:off x="899592" y="4293096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181" name="Picture 23"/>
            <p:cNvPicPr>
              <a:picLocks noChangeAspect="1" noChangeArrowheads="1"/>
            </p:cNvPicPr>
            <p:nvPr/>
          </p:nvPicPr>
          <p:blipFill>
            <a:blip r:embed="rId4" cstate="print"/>
            <a:srcRect b="45558"/>
            <a:stretch>
              <a:fillRect/>
            </a:stretch>
          </p:blipFill>
          <p:spPr bwMode="auto">
            <a:xfrm>
              <a:off x="899592" y="4581118"/>
              <a:ext cx="717504" cy="153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11" name="文字方塊 210"/>
          <p:cNvSpPr txBox="1"/>
          <p:nvPr/>
        </p:nvSpPr>
        <p:spPr>
          <a:xfrm>
            <a:off x="1086046" y="3861048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GSLB/SLB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34" name="文字方塊 233"/>
          <p:cNvSpPr txBox="1"/>
          <p:nvPr/>
        </p:nvSpPr>
        <p:spPr>
          <a:xfrm>
            <a:off x="1198245" y="2852936"/>
            <a:ext cx="6591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Firewall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185" name="群組 184"/>
          <p:cNvGrpSpPr/>
          <p:nvPr/>
        </p:nvGrpSpPr>
        <p:grpSpPr>
          <a:xfrm>
            <a:off x="298653" y="2420888"/>
            <a:ext cx="827584" cy="648072"/>
            <a:chOff x="72008" y="2420888"/>
            <a:chExt cx="827584" cy="648072"/>
          </a:xfrm>
        </p:grpSpPr>
        <p:sp>
          <p:nvSpPr>
            <p:cNvPr id="310" name="橢圓 309"/>
            <p:cNvSpPr/>
            <p:nvPr/>
          </p:nvSpPr>
          <p:spPr>
            <a:xfrm>
              <a:off x="72008" y="2420888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sp>
          <p:nvSpPr>
            <p:cNvPr id="160" name="文字方塊 159"/>
            <p:cNvSpPr txBox="1"/>
            <p:nvPr/>
          </p:nvSpPr>
          <p:spPr>
            <a:xfrm>
              <a:off x="72008" y="2791961"/>
              <a:ext cx="8275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SSL VPN</a:t>
              </a:r>
              <a:endParaRPr lang="zh-TW" altLang="en-US" sz="1000" b="1" dirty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145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79512" y="2647945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群組 26"/>
          <p:cNvGrpSpPr/>
          <p:nvPr/>
        </p:nvGrpSpPr>
        <p:grpSpPr>
          <a:xfrm>
            <a:off x="3502501" y="5632110"/>
            <a:ext cx="504056" cy="450153"/>
            <a:chOff x="1331640" y="5589240"/>
            <a:chExt cx="504056" cy="450153"/>
          </a:xfrm>
        </p:grpSpPr>
        <p:pic>
          <p:nvPicPr>
            <p:cNvPr id="261" name="Picture 39" descr="Server_CPU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31640" y="5589240"/>
              <a:ext cx="260278" cy="450153"/>
            </a:xfrm>
            <a:prstGeom prst="rect">
              <a:avLst/>
            </a:prstGeom>
          </p:spPr>
        </p:pic>
        <p:pic>
          <p:nvPicPr>
            <p:cNvPr id="263" name="Picture 39" descr="Server_CPU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5418" y="5589240"/>
              <a:ext cx="260278" cy="450153"/>
            </a:xfrm>
            <a:prstGeom prst="rect">
              <a:avLst/>
            </a:prstGeom>
          </p:spPr>
        </p:pic>
      </p:grpSp>
      <p:pic>
        <p:nvPicPr>
          <p:cNvPr id="274" name="Picture 52" descr="1 Rack Multiple Units Generic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551115" y="6331631"/>
            <a:ext cx="388283" cy="396817"/>
          </a:xfrm>
          <a:prstGeom prst="rect">
            <a:avLst/>
          </a:prstGeom>
        </p:spPr>
      </p:pic>
      <p:cxnSp>
        <p:nvCxnSpPr>
          <p:cNvPr id="276" name="直線接點 275"/>
          <p:cNvCxnSpPr>
            <a:endCxn id="274" idx="0"/>
          </p:cNvCxnSpPr>
          <p:nvPr/>
        </p:nvCxnSpPr>
        <p:spPr bwMode="auto">
          <a:xfrm>
            <a:off x="2393222" y="6062038"/>
            <a:ext cx="352035" cy="256755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</p:cxnSp>
      <p:cxnSp>
        <p:nvCxnSpPr>
          <p:cNvPr id="277" name="直線接點 276"/>
          <p:cNvCxnSpPr>
            <a:endCxn id="274" idx="0"/>
          </p:cNvCxnSpPr>
          <p:nvPr/>
        </p:nvCxnSpPr>
        <p:spPr bwMode="auto">
          <a:xfrm flipH="1">
            <a:off x="2745257" y="6062038"/>
            <a:ext cx="395800" cy="256755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</p:cxnSp>
      <p:cxnSp>
        <p:nvCxnSpPr>
          <p:cNvPr id="280" name="直線接點 279"/>
          <p:cNvCxnSpPr>
            <a:endCxn id="274" idx="0"/>
          </p:cNvCxnSpPr>
          <p:nvPr/>
        </p:nvCxnSpPr>
        <p:spPr bwMode="auto">
          <a:xfrm>
            <a:off x="2637000" y="6062038"/>
            <a:ext cx="108257" cy="256755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</p:cxnSp>
      <p:cxnSp>
        <p:nvCxnSpPr>
          <p:cNvPr id="283" name="直線接點 282"/>
          <p:cNvCxnSpPr>
            <a:endCxn id="274" idx="0"/>
          </p:cNvCxnSpPr>
          <p:nvPr/>
        </p:nvCxnSpPr>
        <p:spPr bwMode="auto">
          <a:xfrm flipH="1">
            <a:off x="2745257" y="6062038"/>
            <a:ext cx="152022" cy="256755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</p:cxnSp>
      <p:sp>
        <p:nvSpPr>
          <p:cNvPr id="426" name="文字方塊 425"/>
          <p:cNvSpPr txBox="1"/>
          <p:nvPr/>
        </p:nvSpPr>
        <p:spPr>
          <a:xfrm>
            <a:off x="2319546" y="6639163"/>
            <a:ext cx="9669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SAN Storage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31" name="文字方塊 430"/>
          <p:cNvSpPr txBox="1"/>
          <p:nvPr/>
        </p:nvSpPr>
        <p:spPr>
          <a:xfrm>
            <a:off x="1054229" y="6063099"/>
            <a:ext cx="9573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Web Servers</a:t>
            </a:r>
            <a:endParaRPr lang="zh-TW" altLang="en-US" sz="1000" b="1" dirty="0" smtClean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pic>
        <p:nvPicPr>
          <p:cNvPr id="173" name="Picture 12" descr="EX3200_2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198245" y="1427462"/>
            <a:ext cx="638678" cy="12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2" name="Picture 64" descr="Virtual Firewall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70703" y="2564904"/>
            <a:ext cx="571758" cy="452286"/>
          </a:xfrm>
          <a:prstGeom prst="rect">
            <a:avLst/>
          </a:prstGeom>
        </p:spPr>
      </p:pic>
      <p:sp>
        <p:nvSpPr>
          <p:cNvPr id="244" name="Line 46"/>
          <p:cNvSpPr>
            <a:spLocks noChangeShapeType="1"/>
          </p:cNvSpPr>
          <p:nvPr/>
        </p:nvSpPr>
        <p:spPr bwMode="auto">
          <a:xfrm flipH="1" flipV="1">
            <a:off x="1846317" y="3429000"/>
            <a:ext cx="1800200" cy="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13" name="群組 291"/>
          <p:cNvGrpSpPr/>
          <p:nvPr/>
        </p:nvGrpSpPr>
        <p:grpSpPr>
          <a:xfrm>
            <a:off x="1198245" y="548680"/>
            <a:ext cx="720080" cy="648072"/>
            <a:chOff x="2987824" y="908720"/>
            <a:chExt cx="720080" cy="648072"/>
          </a:xfrm>
        </p:grpSpPr>
        <p:sp>
          <p:nvSpPr>
            <p:cNvPr id="290" name="橢圓 289"/>
            <p:cNvSpPr/>
            <p:nvPr/>
          </p:nvSpPr>
          <p:spPr>
            <a:xfrm>
              <a:off x="2987824" y="908720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158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059832" y="1196752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4" name="群組 293"/>
          <p:cNvGrpSpPr/>
          <p:nvPr/>
        </p:nvGrpSpPr>
        <p:grpSpPr>
          <a:xfrm>
            <a:off x="1198245" y="1628800"/>
            <a:ext cx="720080" cy="648072"/>
            <a:chOff x="2987824" y="908720"/>
            <a:chExt cx="720080" cy="648072"/>
          </a:xfrm>
        </p:grpSpPr>
        <p:sp>
          <p:nvSpPr>
            <p:cNvPr id="295" name="橢圓 294"/>
            <p:cNvSpPr/>
            <p:nvPr/>
          </p:nvSpPr>
          <p:spPr>
            <a:xfrm>
              <a:off x="2987824" y="908720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298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059832" y="1196752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00" name="文字方塊 299"/>
          <p:cNvSpPr txBox="1"/>
          <p:nvPr/>
        </p:nvSpPr>
        <p:spPr>
          <a:xfrm>
            <a:off x="1149481" y="1988840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DDoS</a:t>
            </a:r>
          </a:p>
          <a:p>
            <a:pPr algn="ctr"/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Mitigation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20" name="文字方塊 219"/>
          <p:cNvSpPr txBox="1"/>
          <p:nvPr/>
        </p:nvSpPr>
        <p:spPr>
          <a:xfrm>
            <a:off x="1264106" y="950531"/>
            <a:ext cx="5822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NGIPS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25" name="Line 46"/>
          <p:cNvSpPr>
            <a:spLocks noChangeShapeType="1"/>
          </p:cNvSpPr>
          <p:nvPr/>
        </p:nvSpPr>
        <p:spPr bwMode="auto">
          <a:xfrm flipH="1" flipV="1">
            <a:off x="2391554" y="5220733"/>
            <a:ext cx="0" cy="504056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 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26" name="Line 46"/>
          <p:cNvSpPr>
            <a:spLocks noChangeShapeType="1"/>
          </p:cNvSpPr>
          <p:nvPr/>
        </p:nvSpPr>
        <p:spPr bwMode="auto">
          <a:xfrm flipH="1" flipV="1">
            <a:off x="2607578" y="5220733"/>
            <a:ext cx="0" cy="504056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 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27" name="Line 46"/>
          <p:cNvSpPr>
            <a:spLocks noChangeShapeType="1"/>
          </p:cNvSpPr>
          <p:nvPr/>
        </p:nvSpPr>
        <p:spPr bwMode="auto">
          <a:xfrm flipH="1" flipV="1">
            <a:off x="2823602" y="5220733"/>
            <a:ext cx="0" cy="504056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 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28" name="Line 46"/>
          <p:cNvSpPr>
            <a:spLocks noChangeShapeType="1"/>
          </p:cNvSpPr>
          <p:nvPr/>
        </p:nvSpPr>
        <p:spPr bwMode="auto">
          <a:xfrm flipH="1" flipV="1">
            <a:off x="3039626" y="5220733"/>
            <a:ext cx="0" cy="504056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 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pic>
        <p:nvPicPr>
          <p:cNvPr id="270" name="Picture 39" descr="Server_CPU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204952" y="5611551"/>
            <a:ext cx="260278" cy="450153"/>
          </a:xfrm>
          <a:prstGeom prst="rect">
            <a:avLst/>
          </a:prstGeom>
        </p:spPr>
      </p:pic>
      <p:pic>
        <p:nvPicPr>
          <p:cNvPr id="272" name="Picture 39" descr="Server_CPU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709008" y="5611551"/>
            <a:ext cx="260278" cy="450153"/>
          </a:xfrm>
          <a:prstGeom prst="rect">
            <a:avLst/>
          </a:prstGeom>
        </p:spPr>
      </p:pic>
      <p:pic>
        <p:nvPicPr>
          <p:cNvPr id="273" name="Picture 39" descr="Server_CPU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952786" y="5611551"/>
            <a:ext cx="260278" cy="450153"/>
          </a:xfrm>
          <a:prstGeom prst="rect">
            <a:avLst/>
          </a:prstGeom>
        </p:spPr>
      </p:pic>
      <p:pic>
        <p:nvPicPr>
          <p:cNvPr id="271" name="Picture 39" descr="Server_CPU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448730" y="5611551"/>
            <a:ext cx="260278" cy="450153"/>
          </a:xfrm>
          <a:prstGeom prst="rect">
            <a:avLst/>
          </a:prstGeom>
        </p:spPr>
      </p:pic>
      <p:sp>
        <p:nvSpPr>
          <p:cNvPr id="329" name="Line 46"/>
          <p:cNvSpPr>
            <a:spLocks noChangeShapeType="1"/>
          </p:cNvSpPr>
          <p:nvPr/>
        </p:nvSpPr>
        <p:spPr bwMode="auto">
          <a:xfrm flipH="1" flipV="1">
            <a:off x="1630293" y="5301208"/>
            <a:ext cx="0" cy="62595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16" name="群組 27"/>
          <p:cNvGrpSpPr/>
          <p:nvPr/>
        </p:nvGrpSpPr>
        <p:grpSpPr>
          <a:xfrm>
            <a:off x="1270253" y="5631051"/>
            <a:ext cx="504056" cy="450153"/>
            <a:chOff x="827584" y="5589240"/>
            <a:chExt cx="504056" cy="450153"/>
          </a:xfrm>
        </p:grpSpPr>
        <p:pic>
          <p:nvPicPr>
            <p:cNvPr id="249" name="Picture 39" descr="Server_CPU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5589240"/>
              <a:ext cx="260278" cy="450153"/>
            </a:xfrm>
            <a:prstGeom prst="rect">
              <a:avLst/>
            </a:prstGeom>
          </p:spPr>
        </p:pic>
        <p:pic>
          <p:nvPicPr>
            <p:cNvPr id="252" name="Picture 39" descr="Server_CPU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1362" y="5589240"/>
              <a:ext cx="260278" cy="450153"/>
            </a:xfrm>
            <a:prstGeom prst="rect">
              <a:avLst/>
            </a:prstGeom>
          </p:spPr>
        </p:pic>
      </p:grpSp>
      <p:sp>
        <p:nvSpPr>
          <p:cNvPr id="241" name="圓角矩形 240"/>
          <p:cNvSpPr/>
          <p:nvPr/>
        </p:nvSpPr>
        <p:spPr bwMode="auto">
          <a:xfrm>
            <a:off x="1151638" y="5157192"/>
            <a:ext cx="720080" cy="360040"/>
          </a:xfrm>
          <a:prstGeom prst="roundRect">
            <a:avLst/>
          </a:prstGeom>
          <a:solidFill>
            <a:srgbClr val="FFCC99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FFC000">
                <a:alpha val="40000"/>
              </a:srgbClr>
            </a:glow>
          </a:effectLst>
        </p:spPr>
        <p:txBody>
          <a:bodyPr vert="horz" wrap="non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17" name="群組 161"/>
          <p:cNvGrpSpPr/>
          <p:nvPr/>
        </p:nvGrpSpPr>
        <p:grpSpPr>
          <a:xfrm>
            <a:off x="1198247" y="5205744"/>
            <a:ext cx="638678" cy="258660"/>
            <a:chOff x="991881" y="3212391"/>
            <a:chExt cx="638678" cy="258660"/>
          </a:xfrm>
        </p:grpSpPr>
        <p:pic>
          <p:nvPicPr>
            <p:cNvPr id="247" name="Picture 12" descr="EX3200_24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991881" y="3212391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  <p:pic>
          <p:nvPicPr>
            <p:cNvPr id="248" name="Picture 12" descr="EX3200_24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991881" y="3341721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</p:grpSp>
      <p:sp>
        <p:nvSpPr>
          <p:cNvPr id="430" name="文字方塊 429"/>
          <p:cNvSpPr txBox="1"/>
          <p:nvPr/>
        </p:nvSpPr>
        <p:spPr>
          <a:xfrm>
            <a:off x="2319546" y="6063099"/>
            <a:ext cx="857927" cy="246221"/>
          </a:xfrm>
          <a:prstGeom prst="rect">
            <a:avLst/>
          </a:prstGeom>
          <a:noFill/>
          <a:ln w="19050">
            <a:noFill/>
            <a:round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DB servers</a:t>
            </a:r>
            <a:endParaRPr lang="zh-TW" altLang="en-US" sz="1000" b="1" dirty="0" smtClean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pic>
        <p:nvPicPr>
          <p:cNvPr id="231" name="Picture 12" descr="EX3200_2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207639" y="3342306"/>
            <a:ext cx="638678" cy="12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9" name="群組 336"/>
          <p:cNvGrpSpPr/>
          <p:nvPr/>
        </p:nvGrpSpPr>
        <p:grpSpPr>
          <a:xfrm>
            <a:off x="1198245" y="4293096"/>
            <a:ext cx="720080" cy="648072"/>
            <a:chOff x="2987824" y="908720"/>
            <a:chExt cx="720080" cy="648072"/>
          </a:xfrm>
        </p:grpSpPr>
        <p:sp>
          <p:nvSpPr>
            <p:cNvPr id="338" name="橢圓 337"/>
            <p:cNvSpPr/>
            <p:nvPr/>
          </p:nvSpPr>
          <p:spPr>
            <a:xfrm>
              <a:off x="2987824" y="908720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339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059832" y="1052736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41" name="文字方塊 340"/>
          <p:cNvSpPr txBox="1"/>
          <p:nvPr/>
        </p:nvSpPr>
        <p:spPr>
          <a:xfrm>
            <a:off x="1342261" y="4694947"/>
            <a:ext cx="4780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WAF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46" name="Line 46"/>
          <p:cNvSpPr>
            <a:spLocks noChangeShapeType="1"/>
          </p:cNvSpPr>
          <p:nvPr/>
        </p:nvSpPr>
        <p:spPr bwMode="auto">
          <a:xfrm flipH="1" flipV="1">
            <a:off x="1846317" y="3284984"/>
            <a:ext cx="2016224" cy="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47" name="Line 46"/>
          <p:cNvSpPr>
            <a:spLocks noChangeShapeType="1"/>
          </p:cNvSpPr>
          <p:nvPr/>
        </p:nvSpPr>
        <p:spPr bwMode="auto">
          <a:xfrm flipH="1" flipV="1">
            <a:off x="3862541" y="3284984"/>
            <a:ext cx="0" cy="180020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49" name="文字方塊 348"/>
          <p:cNvSpPr txBox="1"/>
          <p:nvPr/>
        </p:nvSpPr>
        <p:spPr>
          <a:xfrm>
            <a:off x="3203848" y="6063099"/>
            <a:ext cx="864339" cy="246221"/>
          </a:xfrm>
          <a:prstGeom prst="rect">
            <a:avLst/>
          </a:prstGeom>
          <a:noFill/>
          <a:ln w="19050">
            <a:noFill/>
            <a:round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AP Servers</a:t>
            </a:r>
            <a:endParaRPr lang="zh-TW" altLang="en-US" sz="1000" b="1" dirty="0" smtClean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420" name="群組 347"/>
          <p:cNvGrpSpPr/>
          <p:nvPr/>
        </p:nvGrpSpPr>
        <p:grpSpPr>
          <a:xfrm>
            <a:off x="2278365" y="3501008"/>
            <a:ext cx="760271" cy="678269"/>
            <a:chOff x="4139952" y="3284984"/>
            <a:chExt cx="760271" cy="678269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grpSpPr>
        <p:grpSp>
          <p:nvGrpSpPr>
            <p:cNvPr id="427" name="群組 329"/>
            <p:cNvGrpSpPr/>
            <p:nvPr/>
          </p:nvGrpSpPr>
          <p:grpSpPr>
            <a:xfrm>
              <a:off x="4139952" y="3284984"/>
              <a:ext cx="720080" cy="648072"/>
              <a:chOff x="899592" y="4293096"/>
              <a:chExt cx="720080" cy="648072"/>
            </a:xfrm>
          </p:grpSpPr>
          <p:sp>
            <p:nvSpPr>
              <p:cNvPr id="429" name="橢圓 428"/>
              <p:cNvSpPr/>
              <p:nvPr/>
            </p:nvSpPr>
            <p:spPr>
              <a:xfrm>
                <a:off x="899592" y="4293096"/>
                <a:ext cx="720080" cy="648072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 b="1">
                  <a:latin typeface="Arial" pitchFamily="34" charset="0"/>
                  <a:ea typeface="Arial Unicode MS" pitchFamily="34" charset="-120"/>
                  <a:cs typeface="Arial" pitchFamily="34" charset="0"/>
                </a:endParaRPr>
              </a:p>
            </p:txBody>
          </p:sp>
          <p:pic>
            <p:nvPicPr>
              <p:cNvPr id="435" name="Picture 2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 b="45558"/>
              <a:stretch>
                <a:fillRect/>
              </a:stretch>
            </p:blipFill>
            <p:spPr bwMode="auto">
              <a:xfrm>
                <a:off x="899592" y="4581118"/>
                <a:ext cx="717504" cy="1531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428" name="文字方塊 427"/>
            <p:cNvSpPr txBox="1"/>
            <p:nvPr/>
          </p:nvSpPr>
          <p:spPr>
            <a:xfrm>
              <a:off x="4139952" y="3717032"/>
              <a:ext cx="7602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0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SLB</a:t>
              </a:r>
              <a:endParaRPr lang="zh-TW" altLang="en-US" sz="1000" b="1" dirty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</p:grpSp>
      <p:grpSp>
        <p:nvGrpSpPr>
          <p:cNvPr id="438" name="群組 336"/>
          <p:cNvGrpSpPr/>
          <p:nvPr/>
        </p:nvGrpSpPr>
        <p:grpSpPr>
          <a:xfrm>
            <a:off x="2278365" y="4293096"/>
            <a:ext cx="720080" cy="648072"/>
            <a:chOff x="2987824" y="908720"/>
            <a:chExt cx="720080" cy="648072"/>
          </a:xfrm>
        </p:grpSpPr>
        <p:sp>
          <p:nvSpPr>
            <p:cNvPr id="439" name="橢圓 438"/>
            <p:cNvSpPr/>
            <p:nvPr/>
          </p:nvSpPr>
          <p:spPr>
            <a:xfrm>
              <a:off x="2987824" y="908720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440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3059832" y="1052736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42" name="文字方塊 441"/>
          <p:cNvSpPr txBox="1"/>
          <p:nvPr/>
        </p:nvSpPr>
        <p:spPr>
          <a:xfrm>
            <a:off x="2422381" y="4694947"/>
            <a:ext cx="4780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DAM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596" name="群組 595"/>
          <p:cNvGrpSpPr/>
          <p:nvPr/>
        </p:nvGrpSpPr>
        <p:grpSpPr>
          <a:xfrm>
            <a:off x="3491880" y="5157192"/>
            <a:ext cx="720080" cy="360040"/>
            <a:chOff x="7930485" y="5144988"/>
            <a:chExt cx="720080" cy="360040"/>
          </a:xfrm>
        </p:grpSpPr>
        <p:sp>
          <p:nvSpPr>
            <p:cNvPr id="597" name="圓角矩形 596"/>
            <p:cNvSpPr/>
            <p:nvPr/>
          </p:nvSpPr>
          <p:spPr bwMode="auto">
            <a:xfrm>
              <a:off x="7930485" y="5144988"/>
              <a:ext cx="720080" cy="360040"/>
            </a:xfrm>
            <a:prstGeom prst="roundRect">
              <a:avLst/>
            </a:prstGeom>
            <a:solidFill>
              <a:srgbClr val="FFCC99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FFC000">
                  <a:alpha val="40000"/>
                </a:srgbClr>
              </a:glow>
            </a:effectLst>
          </p:spPr>
          <p:txBody>
            <a:bodyPr vert="horz" wrap="none" lIns="92075" tIns="46038" rIns="92075" bIns="46038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598" name="Picture 12" descr="EX3200_24"/>
            <p:cNvPicPr>
              <a:picLocks noChangeAspect="1" noChangeArrowheads="1"/>
            </p:cNvPicPr>
            <p:nvPr/>
          </p:nvPicPr>
          <p:blipFill>
            <a:blip r:embed="rId8" cstate="print">
              <a:lum bright="70000" contrast="-70000"/>
            </a:blip>
            <a:srcRect/>
            <a:stretch>
              <a:fillRect/>
            </a:stretch>
          </p:blipFill>
          <p:spPr bwMode="auto">
            <a:xfrm>
              <a:off x="7977094" y="5193540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  <p:pic>
          <p:nvPicPr>
            <p:cNvPr id="599" name="Picture 12" descr="EX3200_24"/>
            <p:cNvPicPr>
              <a:picLocks noChangeAspect="1" noChangeArrowheads="1"/>
            </p:cNvPicPr>
            <p:nvPr/>
          </p:nvPicPr>
          <p:blipFill>
            <a:blip r:embed="rId8" cstate="print">
              <a:lum bright="70000" contrast="-70000"/>
            </a:blip>
            <a:srcRect/>
            <a:stretch>
              <a:fillRect/>
            </a:stretch>
          </p:blipFill>
          <p:spPr bwMode="auto">
            <a:xfrm>
              <a:off x="7956376" y="5345940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</p:grpSp>
      <p:grpSp>
        <p:nvGrpSpPr>
          <p:cNvPr id="600" name="群組 599"/>
          <p:cNvGrpSpPr/>
          <p:nvPr/>
        </p:nvGrpSpPr>
        <p:grpSpPr>
          <a:xfrm>
            <a:off x="2339752" y="5169396"/>
            <a:ext cx="720080" cy="360040"/>
            <a:chOff x="7930485" y="5144988"/>
            <a:chExt cx="720080" cy="360040"/>
          </a:xfrm>
        </p:grpSpPr>
        <p:sp>
          <p:nvSpPr>
            <p:cNvPr id="601" name="圓角矩形 600"/>
            <p:cNvSpPr/>
            <p:nvPr/>
          </p:nvSpPr>
          <p:spPr bwMode="auto">
            <a:xfrm>
              <a:off x="7930485" y="5144988"/>
              <a:ext cx="720080" cy="360040"/>
            </a:xfrm>
            <a:prstGeom prst="roundRect">
              <a:avLst/>
            </a:prstGeom>
            <a:solidFill>
              <a:srgbClr val="FFCC99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FFC000">
                  <a:alpha val="40000"/>
                </a:srgbClr>
              </a:glow>
            </a:effectLst>
          </p:spPr>
          <p:txBody>
            <a:bodyPr vert="horz" wrap="none" lIns="92075" tIns="46038" rIns="92075" bIns="46038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602" name="Picture 12" descr="EX3200_24"/>
            <p:cNvPicPr>
              <a:picLocks noChangeAspect="1" noChangeArrowheads="1"/>
            </p:cNvPicPr>
            <p:nvPr/>
          </p:nvPicPr>
          <p:blipFill>
            <a:blip r:embed="rId8" cstate="print">
              <a:lum bright="70000" contrast="-70000"/>
            </a:blip>
            <a:srcRect/>
            <a:stretch>
              <a:fillRect/>
            </a:stretch>
          </p:blipFill>
          <p:spPr bwMode="auto">
            <a:xfrm>
              <a:off x="7977094" y="5193540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  <p:pic>
          <p:nvPicPr>
            <p:cNvPr id="603" name="Picture 12" descr="EX3200_24"/>
            <p:cNvPicPr>
              <a:picLocks noChangeAspect="1" noChangeArrowheads="1"/>
            </p:cNvPicPr>
            <p:nvPr/>
          </p:nvPicPr>
          <p:blipFill>
            <a:blip r:embed="rId8" cstate="print">
              <a:lum bright="70000" contrast="-70000"/>
            </a:blip>
            <a:srcRect/>
            <a:stretch>
              <a:fillRect/>
            </a:stretch>
          </p:blipFill>
          <p:spPr bwMode="auto">
            <a:xfrm>
              <a:off x="7956376" y="5345940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</p:grpSp>
      <p:cxnSp>
        <p:nvCxnSpPr>
          <p:cNvPr id="612" name="直線接點 611"/>
          <p:cNvCxnSpPr/>
          <p:nvPr/>
        </p:nvCxnSpPr>
        <p:spPr>
          <a:xfrm>
            <a:off x="4644008" y="188640"/>
            <a:ext cx="0" cy="6669360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" name="文字方塊 613"/>
          <p:cNvSpPr txBox="1"/>
          <p:nvPr/>
        </p:nvSpPr>
        <p:spPr>
          <a:xfrm>
            <a:off x="0" y="16195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主營運端</a:t>
            </a:r>
            <a:endParaRPr lang="zh-TW" altLang="en-US" b="1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21" name="文字方塊 220"/>
          <p:cNvSpPr txBox="1"/>
          <p:nvPr/>
        </p:nvSpPr>
        <p:spPr>
          <a:xfrm>
            <a:off x="1979712" y="2852936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Web</a:t>
            </a:r>
          </a:p>
          <a:p>
            <a:pPr algn="ctr"/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AP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23" name="文字方塊 222"/>
          <p:cNvSpPr txBox="1"/>
          <p:nvPr/>
        </p:nvSpPr>
        <p:spPr>
          <a:xfrm>
            <a:off x="3568363" y="806439"/>
            <a:ext cx="187220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入侵偵測防禦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24" name="文字方塊 223"/>
          <p:cNvSpPr txBox="1"/>
          <p:nvPr/>
        </p:nvSpPr>
        <p:spPr>
          <a:xfrm>
            <a:off x="3580783" y="1793644"/>
            <a:ext cx="1872208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 smtClean="0">
                <a:latin typeface="微軟正黑體" pitchFamily="34" charset="-120"/>
                <a:ea typeface="微軟正黑體" pitchFamily="34" charset="-120"/>
              </a:rPr>
              <a:t>DDoS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攻擊防禦抑制區域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352244" y="3625203"/>
            <a:ext cx="155901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負載平衡分配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27" name="文字方塊 226"/>
          <p:cNvSpPr txBox="1"/>
          <p:nvPr/>
        </p:nvSpPr>
        <p:spPr>
          <a:xfrm>
            <a:off x="3266954" y="4508874"/>
            <a:ext cx="234398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L7 WAF/DB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安全控管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28" name="文字方塊 227"/>
          <p:cNvSpPr txBox="1"/>
          <p:nvPr/>
        </p:nvSpPr>
        <p:spPr>
          <a:xfrm>
            <a:off x="375784" y="4256047"/>
            <a:ext cx="432048" cy="258532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安全防火牆政策管控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77252" y="292034"/>
            <a:ext cx="2736304" cy="8851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針對</a:t>
            </a:r>
            <a:r>
              <a:rPr lang="zh-TW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網路流量</a:t>
            </a:r>
            <a:r>
              <a:rPr lang="zh-TW" altLang="en-US" dirty="0"/>
              <a:t>進行分析，如果有發現有已知的</a:t>
            </a:r>
            <a:r>
              <a:rPr lang="zh-TW" altLang="en-US" b="1" dirty="0">
                <a:solidFill>
                  <a:srgbClr val="FF0000"/>
                </a:solidFill>
              </a:rPr>
              <a:t>攻擊模式及行為</a:t>
            </a:r>
            <a:r>
              <a:rPr lang="zh-TW" altLang="en-US" dirty="0"/>
              <a:t>進行阻擋</a:t>
            </a:r>
          </a:p>
        </p:txBody>
      </p:sp>
      <p:sp>
        <p:nvSpPr>
          <p:cNvPr id="103" name="矩形 102"/>
          <p:cNvSpPr/>
          <p:nvPr/>
        </p:nvSpPr>
        <p:spPr>
          <a:xfrm>
            <a:off x="5977252" y="1222214"/>
            <a:ext cx="2736304" cy="1198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對</a:t>
            </a:r>
            <a:r>
              <a:rPr lang="zh-TW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正常流量</a:t>
            </a:r>
            <a:r>
              <a:rPr lang="zh-TW" altLang="en-US" dirty="0" smtClean="0"/>
              <a:t>進行分析，如果有已知的肉雞黑名單或其他</a:t>
            </a:r>
            <a:r>
              <a:rPr lang="zh-TW" altLang="en-US" b="1" dirty="0" smtClean="0">
                <a:solidFill>
                  <a:srgbClr val="FF0000"/>
                </a:solidFill>
              </a:rPr>
              <a:t>模仿正常流量</a:t>
            </a:r>
            <a:r>
              <a:rPr lang="zh-TW" altLang="en-US" dirty="0" smtClean="0"/>
              <a:t>的攻擊行為進行阻擋</a:t>
            </a:r>
            <a:endParaRPr lang="zh-TW" altLang="en-US" dirty="0"/>
          </a:p>
        </p:txBody>
      </p:sp>
      <p:sp>
        <p:nvSpPr>
          <p:cNvPr id="104" name="矩形 103"/>
          <p:cNvSpPr/>
          <p:nvPr/>
        </p:nvSpPr>
        <p:spPr>
          <a:xfrm>
            <a:off x="5974479" y="2601334"/>
            <a:ext cx="2736304" cy="1382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對</a:t>
            </a:r>
            <a:r>
              <a:rPr lang="en-US" altLang="zh-TW" b="1" dirty="0" smtClean="0">
                <a:solidFill>
                  <a:srgbClr val="FF0000"/>
                </a:solidFill>
              </a:rPr>
              <a:t>Web</a:t>
            </a:r>
            <a:r>
              <a:rPr lang="zh-TW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zh-TW" b="1" dirty="0" smtClean="0">
                <a:solidFill>
                  <a:srgbClr val="FF0000"/>
                </a:solidFill>
              </a:rPr>
              <a:t>Server</a:t>
            </a:r>
            <a:r>
              <a:rPr lang="zh-TW" altLang="en-US" b="1" dirty="0" smtClean="0">
                <a:solidFill>
                  <a:srgbClr val="FF0000"/>
                </a:solidFill>
              </a:rPr>
              <a:t>進行隱藏</a:t>
            </a:r>
            <a:r>
              <a:rPr lang="zh-TW" altLang="en-US" dirty="0" smtClean="0"/>
              <a:t>，並且</a:t>
            </a:r>
            <a:r>
              <a:rPr lang="zh-TW" altLang="en-US" b="1" dirty="0" smtClean="0">
                <a:solidFill>
                  <a:srgbClr val="FF0000"/>
                </a:solidFill>
              </a:rPr>
              <a:t>主動針對用戶的流量進行分配至服務較好的</a:t>
            </a:r>
            <a:r>
              <a:rPr lang="en-US" altLang="zh-TW" b="1" dirty="0" smtClean="0">
                <a:solidFill>
                  <a:srgbClr val="FF0000"/>
                </a:solidFill>
              </a:rPr>
              <a:t>Web</a:t>
            </a:r>
            <a:r>
              <a:rPr lang="zh-TW" altLang="en-US" b="1" dirty="0" smtClean="0">
                <a:solidFill>
                  <a:srgbClr val="FF0000"/>
                </a:solidFill>
              </a:rPr>
              <a:t>服務器，並可分散各服務器的負載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6001391" y="4107269"/>
            <a:ext cx="2736304" cy="13200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駭客</a:t>
            </a:r>
            <a:r>
              <a:rPr lang="zh-TW" altLang="en-US" b="1" dirty="0" smtClean="0">
                <a:solidFill>
                  <a:srgbClr val="FF0000"/>
                </a:solidFill>
              </a:rPr>
              <a:t>利用正常的連線行為</a:t>
            </a:r>
            <a:r>
              <a:rPr lang="zh-TW" altLang="en-US" dirty="0" smtClean="0"/>
              <a:t>進行漏洞的尋找，此時網站應用防火牆</a:t>
            </a:r>
            <a:r>
              <a:rPr lang="en-US" altLang="zh-TW" dirty="0" smtClean="0"/>
              <a:t>(WAF)</a:t>
            </a:r>
            <a:r>
              <a:rPr lang="zh-TW" altLang="en-US" dirty="0" smtClean="0"/>
              <a:t>就是保護</a:t>
            </a:r>
            <a:r>
              <a:rPr lang="en-US" altLang="zh-TW" dirty="0" smtClean="0"/>
              <a:t>Web</a:t>
            </a:r>
            <a:r>
              <a:rPr lang="zh-TW" altLang="en-US" dirty="0" smtClean="0"/>
              <a:t>應用被入侵，</a:t>
            </a:r>
            <a:r>
              <a:rPr lang="zh-TW" altLang="en-US" b="1" dirty="0" smtClean="0">
                <a:solidFill>
                  <a:srgbClr val="FF0000"/>
                </a:solidFill>
              </a:rPr>
              <a:t>進行記錄、阻擋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6001391" y="5542780"/>
            <a:ext cx="2736304" cy="1198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駭客</a:t>
            </a:r>
            <a:r>
              <a:rPr lang="zh-TW" altLang="en-US" b="1" dirty="0" smtClean="0">
                <a:solidFill>
                  <a:srgbClr val="FF0000"/>
                </a:solidFill>
              </a:rPr>
              <a:t>利用正常的連線行為對數據庫進行漏洞的尋找</a:t>
            </a:r>
            <a:r>
              <a:rPr lang="zh-TW" altLang="en-US" dirty="0" smtClean="0"/>
              <a:t>，此時</a:t>
            </a:r>
            <a:r>
              <a:rPr lang="zh-TW" altLang="en-US" dirty="0">
                <a:solidFill>
                  <a:schemeClr val="bg1"/>
                </a:solidFill>
              </a:rPr>
              <a:t>數據庫</a:t>
            </a:r>
            <a:r>
              <a:rPr lang="zh-TW" altLang="en-US" dirty="0" smtClean="0"/>
              <a:t>稽核模組會對</a:t>
            </a:r>
            <a:r>
              <a:rPr lang="zh-TW" altLang="en-US" b="1" dirty="0" smtClean="0">
                <a:solidFill>
                  <a:srgbClr val="FF0000"/>
                </a:solidFill>
              </a:rPr>
              <a:t>所有行為進行記錄、阻擋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線接點 10"/>
          <p:cNvCxnSpPr/>
          <p:nvPr/>
        </p:nvCxnSpPr>
        <p:spPr>
          <a:xfrm flipV="1">
            <a:off x="5508104" y="872716"/>
            <a:ext cx="469148" cy="465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224" idx="3"/>
            <a:endCxn id="103" idx="1"/>
          </p:cNvCxnSpPr>
          <p:nvPr/>
        </p:nvCxnSpPr>
        <p:spPr>
          <a:xfrm flipV="1">
            <a:off x="5452991" y="1821551"/>
            <a:ext cx="524261" cy="29525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9" idx="3"/>
            <a:endCxn id="104" idx="1"/>
          </p:cNvCxnSpPr>
          <p:nvPr/>
        </p:nvCxnSpPr>
        <p:spPr>
          <a:xfrm flipV="1">
            <a:off x="4911254" y="3292746"/>
            <a:ext cx="1063225" cy="5171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4057881" y="4785392"/>
            <a:ext cx="1933204" cy="4514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endCxn id="106" idx="1"/>
          </p:cNvCxnSpPr>
          <p:nvPr/>
        </p:nvCxnSpPr>
        <p:spPr>
          <a:xfrm>
            <a:off x="4438947" y="4743561"/>
            <a:ext cx="1562444" cy="13985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1416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此作法的效益及優勢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dirty="0" smtClean="0"/>
              <a:t>1.</a:t>
            </a:r>
            <a:r>
              <a:rPr lang="zh-TW" altLang="en-US" dirty="0" smtClean="0"/>
              <a:t>從</a:t>
            </a:r>
            <a:r>
              <a:rPr lang="zh-TW" altLang="en-US" b="1" dirty="0" smtClean="0">
                <a:solidFill>
                  <a:srgbClr val="0000CC"/>
                </a:solidFill>
              </a:rPr>
              <a:t>流量</a:t>
            </a:r>
            <a:r>
              <a:rPr lang="zh-TW" altLang="en-US" dirty="0" smtClean="0"/>
              <a:t>到</a:t>
            </a:r>
            <a:r>
              <a:rPr lang="zh-TW" altLang="en-US" b="1" dirty="0" smtClean="0">
                <a:solidFill>
                  <a:srgbClr val="0000CC"/>
                </a:solidFill>
              </a:rPr>
              <a:t>個人的行為</a:t>
            </a:r>
            <a:r>
              <a:rPr lang="zh-TW" altLang="en-US" dirty="0" smtClean="0"/>
              <a:t>都可以進行調配及限制，並且所有網路行為都被</a:t>
            </a:r>
            <a:r>
              <a:rPr lang="zh-TW" altLang="en-US" b="1" dirty="0" smtClean="0">
                <a:solidFill>
                  <a:srgbClr val="FF0000"/>
                </a:solidFill>
              </a:rPr>
              <a:t>詳實記錄與稽核</a:t>
            </a:r>
            <a:r>
              <a:rPr lang="zh-TW" altLang="en-US" dirty="0" smtClean="0"/>
              <a:t>，可避免外在或內部有心人士進行滲透及破壞並且方便日後尋找問題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2.</a:t>
            </a:r>
            <a:r>
              <a:rPr lang="zh-TW" altLang="en-US" dirty="0" smtClean="0"/>
              <a:t>依此規劃雖然各個功能結點</a:t>
            </a:r>
            <a:r>
              <a:rPr lang="zh-TW" altLang="en-US" b="1" dirty="0" smtClean="0">
                <a:solidFill>
                  <a:srgbClr val="0000CC"/>
                </a:solidFill>
              </a:rPr>
              <a:t>並未有備援機制</a:t>
            </a:r>
            <a:r>
              <a:rPr lang="zh-TW" altLang="en-US" dirty="0" smtClean="0"/>
              <a:t>，但是</a:t>
            </a:r>
            <a:r>
              <a:rPr lang="zh-TW" altLang="en-US" dirty="0"/>
              <a:t>若</a:t>
            </a:r>
            <a:r>
              <a:rPr lang="zh-TW" altLang="en-US" dirty="0" smtClean="0"/>
              <a:t>發生異常時該功能暫時失去效用，在規劃內的設備有</a:t>
            </a:r>
            <a:r>
              <a:rPr lang="zh-TW" altLang="en-US" b="1" dirty="0" smtClean="0">
                <a:solidFill>
                  <a:srgbClr val="FF0000"/>
                </a:solidFill>
              </a:rPr>
              <a:t>透通</a:t>
            </a:r>
            <a:r>
              <a:rPr lang="zh-TW" altLang="en-US" dirty="0" smtClean="0"/>
              <a:t>模式，降低</a:t>
            </a:r>
            <a:r>
              <a:rPr lang="zh-TW" altLang="en-US" dirty="0"/>
              <a:t>對</a:t>
            </a:r>
            <a:r>
              <a:rPr lang="zh-TW" altLang="en-US" dirty="0" smtClean="0"/>
              <a:t>服務的影響時間及範圍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3.</a:t>
            </a:r>
            <a:r>
              <a:rPr lang="zh-TW" altLang="en-US" dirty="0" smtClean="0"/>
              <a:t>所有應用網站、後台、數據庫、第三方，都透過防火牆進行嚴密的控制與隔離，只允許正常並經過同意的需求進行連線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339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缺點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dirty="0" smtClean="0"/>
              <a:t>1.</a:t>
            </a:r>
            <a:r>
              <a:rPr lang="zh-TW" altLang="en-US" dirty="0" smtClean="0"/>
              <a:t>網路端各節點的設備無備援機制，如果發生異常將會造成對外服務短暫停滯，但由於工程人員與機房之間距離較短，預計發生狀況時能夠在</a:t>
            </a:r>
            <a:r>
              <a:rPr lang="en-US" altLang="zh-TW" dirty="0" smtClean="0"/>
              <a:t>30~60</a:t>
            </a:r>
            <a:r>
              <a:rPr lang="zh-TW" altLang="en-US" dirty="0" smtClean="0"/>
              <a:t>分鐘內恢復服務，設備送修須視損壞情況，時間無法估算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2.</a:t>
            </a:r>
            <a:r>
              <a:rPr lang="zh-TW" altLang="en-US" dirty="0" smtClean="0"/>
              <a:t>簡易架構由於沒有包含異地備援</a:t>
            </a:r>
            <a:r>
              <a:rPr lang="en-US" altLang="zh-TW" dirty="0" smtClean="0"/>
              <a:t>(</a:t>
            </a:r>
            <a:r>
              <a:rPr lang="zh-TW" altLang="en-US" dirty="0" smtClean="0"/>
              <a:t>菲律賓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，所以當台灣區海纜或是整體機房發生異常，也會導致暫時無法提供服務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3.</a:t>
            </a:r>
            <a:r>
              <a:rPr lang="zh-TW" altLang="en-US" dirty="0" smtClean="0"/>
              <a:t>建議</a:t>
            </a:r>
            <a:r>
              <a:rPr lang="en-US" altLang="zh-TW" dirty="0" smtClean="0"/>
              <a:t>Phase</a:t>
            </a:r>
            <a:r>
              <a:rPr lang="zh-TW" altLang="en-US" dirty="0" smtClean="0"/>
              <a:t> </a:t>
            </a:r>
            <a:r>
              <a:rPr lang="en-US" altLang="zh-TW" dirty="0" smtClean="0"/>
              <a:t>II</a:t>
            </a:r>
            <a:r>
              <a:rPr lang="zh-TW" altLang="en-US" dirty="0" smtClean="0"/>
              <a:t>進行補</a:t>
            </a:r>
            <a:r>
              <a:rPr lang="zh-TW" altLang="en-US" dirty="0"/>
              <a:t>強，可在日後將備援機制補齊，如果對服務要求更高，可以另外</a:t>
            </a:r>
            <a:r>
              <a:rPr lang="zh-TW" altLang="en-US" dirty="0" smtClean="0"/>
              <a:t>建立</a:t>
            </a:r>
            <a:r>
              <a:rPr lang="zh-TW" altLang="en-US" dirty="0"/>
              <a:t>異</a:t>
            </a:r>
            <a:r>
              <a:rPr lang="zh-TW" altLang="en-US" dirty="0" smtClean="0"/>
              <a:t>地備援，並且強化服務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224654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建置費用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1" y="1052736"/>
            <a:ext cx="8889317" cy="439248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7090" y="5616430"/>
            <a:ext cx="820891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b="1" dirty="0" smtClean="0">
                <a:solidFill>
                  <a:srgbClr val="FF0000"/>
                </a:solidFill>
              </a:rPr>
              <a:t>以上價格非最終價格，台灣詢價方式</a:t>
            </a:r>
            <a:endParaRPr lang="en-US" altLang="zh-TW" sz="1000" b="1" dirty="0" smtClean="0">
              <a:solidFill>
                <a:srgbClr val="FF0000"/>
              </a:solidFill>
            </a:endParaRPr>
          </a:p>
          <a:p>
            <a:endParaRPr lang="en-US" altLang="zh-TW" sz="1000" b="1" dirty="0">
              <a:solidFill>
                <a:srgbClr val="FF0000"/>
              </a:solidFill>
            </a:endParaRPr>
          </a:p>
          <a:p>
            <a:r>
              <a:rPr lang="en-US" altLang="zh-TW" sz="1000" b="1" dirty="0" smtClean="0">
                <a:solidFill>
                  <a:srgbClr val="FF0000"/>
                </a:solidFill>
              </a:rPr>
              <a:t>1.</a:t>
            </a:r>
            <a:r>
              <a:rPr lang="zh-TW" altLang="en-US" sz="1000" b="1" dirty="0" smtClean="0">
                <a:solidFill>
                  <a:srgbClr val="FF0000"/>
                </a:solidFill>
              </a:rPr>
              <a:t>確認架構、硬體、規格後，請廠商報價</a:t>
            </a:r>
            <a:r>
              <a:rPr lang="en-US" altLang="zh-TW" sz="1000" b="1" dirty="0" smtClean="0">
                <a:solidFill>
                  <a:srgbClr val="FF0000"/>
                </a:solidFill>
              </a:rPr>
              <a:t>(</a:t>
            </a:r>
            <a:r>
              <a:rPr lang="zh-TW" altLang="en-US" sz="1000" b="1" dirty="0" smtClean="0">
                <a:solidFill>
                  <a:srgbClr val="FF0000"/>
                </a:solidFill>
              </a:rPr>
              <a:t>第一次通常是牌價</a:t>
            </a:r>
            <a:r>
              <a:rPr lang="en-US" altLang="zh-TW" sz="1000" b="1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altLang="zh-TW" sz="1000" b="1" dirty="0" smtClean="0">
                <a:solidFill>
                  <a:srgbClr val="FF0000"/>
                </a:solidFill>
              </a:rPr>
              <a:t>2.</a:t>
            </a:r>
            <a:r>
              <a:rPr lang="zh-TW" altLang="en-US" sz="1000" b="1" dirty="0" smtClean="0">
                <a:solidFill>
                  <a:srgbClr val="FF0000"/>
                </a:solidFill>
              </a:rPr>
              <a:t>將價格發給三家廠商進行第二次報價</a:t>
            </a:r>
            <a:endParaRPr lang="en-US" altLang="zh-TW" sz="1000" b="1" dirty="0" smtClean="0">
              <a:solidFill>
                <a:srgbClr val="FF0000"/>
              </a:solidFill>
            </a:endParaRPr>
          </a:p>
          <a:p>
            <a:r>
              <a:rPr lang="en-US" altLang="zh-TW" sz="1000" b="1" dirty="0" smtClean="0">
                <a:solidFill>
                  <a:srgbClr val="FF0000"/>
                </a:solidFill>
              </a:rPr>
              <a:t>3.</a:t>
            </a:r>
            <a:r>
              <a:rPr lang="zh-TW" altLang="en-US" sz="1000" b="1" dirty="0" smtClean="0">
                <a:solidFill>
                  <a:srgbClr val="FF0000"/>
                </a:solidFill>
              </a:rPr>
              <a:t>挑選價格最低、服務最好的廠商</a:t>
            </a:r>
            <a:endParaRPr lang="en-US" altLang="zh-TW" sz="1000" b="1" dirty="0" smtClean="0">
              <a:solidFill>
                <a:srgbClr val="FF0000"/>
              </a:solidFill>
            </a:endParaRPr>
          </a:p>
          <a:p>
            <a:r>
              <a:rPr lang="en-US" altLang="zh-TW" sz="1000" b="1" dirty="0" smtClean="0">
                <a:solidFill>
                  <a:srgbClr val="FF0000"/>
                </a:solidFill>
              </a:rPr>
              <a:t>4.</a:t>
            </a:r>
            <a:r>
              <a:rPr lang="zh-TW" altLang="en-US" sz="1000" b="1" dirty="0" smtClean="0">
                <a:solidFill>
                  <a:srgbClr val="FF0000"/>
                </a:solidFill>
              </a:rPr>
              <a:t>進行第三次議價</a:t>
            </a:r>
            <a:endParaRPr lang="en-US" altLang="zh-TW" sz="1000" b="1" dirty="0" smtClean="0">
              <a:solidFill>
                <a:srgbClr val="FF0000"/>
              </a:solidFill>
            </a:endParaRPr>
          </a:p>
          <a:p>
            <a:r>
              <a:rPr lang="en-US" altLang="zh-TW" sz="1000" b="1" dirty="0" smtClean="0">
                <a:solidFill>
                  <a:srgbClr val="FF0000"/>
                </a:solidFill>
              </a:rPr>
              <a:t>5.</a:t>
            </a:r>
            <a:r>
              <a:rPr lang="zh-TW" altLang="en-US" sz="1000" b="1" dirty="0" smtClean="0">
                <a:solidFill>
                  <a:srgbClr val="FF0000"/>
                </a:solidFill>
              </a:rPr>
              <a:t>最後成交價</a:t>
            </a:r>
            <a:endParaRPr lang="en-US" altLang="zh-TW" sz="1000" b="1" dirty="0" smtClean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95936" y="5616430"/>
            <a:ext cx="4536504" cy="11695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如果不需要</a:t>
            </a:r>
            <a:r>
              <a:rPr lang="en-US" altLang="zh-TW" dirty="0"/>
              <a:t>DB</a:t>
            </a:r>
            <a:r>
              <a:rPr lang="zh-TW" altLang="en-US" dirty="0"/>
              <a:t>稽核的功能，可以拿掉，再減少</a:t>
            </a:r>
            <a:r>
              <a:rPr lang="en-US" altLang="zh-TW" dirty="0"/>
              <a:t>300</a:t>
            </a:r>
            <a:r>
              <a:rPr lang="zh-TW" altLang="en-US" dirty="0"/>
              <a:t>萬左右的金額</a:t>
            </a:r>
            <a:r>
              <a:rPr lang="en-US" altLang="zh-TW" dirty="0"/>
              <a:t>(DB</a:t>
            </a:r>
            <a:r>
              <a:rPr lang="zh-TW" altLang="en-US" dirty="0"/>
              <a:t>稽核，能夠記錄及偵測</a:t>
            </a:r>
            <a:r>
              <a:rPr lang="en-US" altLang="zh-TW" dirty="0"/>
              <a:t>DB</a:t>
            </a:r>
            <a:r>
              <a:rPr lang="zh-TW" altLang="en-US" dirty="0"/>
              <a:t>的所有行為並進行過濾阻擋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741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網路架構環境建置 </a:t>
            </a:r>
            <a:r>
              <a:rPr lang="en-US" altLang="zh-TW" dirty="0" smtClean="0"/>
              <a:t>Phase</a:t>
            </a:r>
            <a:r>
              <a:rPr lang="zh-TW" altLang="en-US" dirty="0" smtClean="0"/>
              <a:t> </a:t>
            </a:r>
            <a:r>
              <a:rPr lang="en-US" altLang="zh-TW" dirty="0" smtClean="0"/>
              <a:t>II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6622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Line 46"/>
          <p:cNvSpPr>
            <a:spLocks noChangeShapeType="1"/>
          </p:cNvSpPr>
          <p:nvPr/>
        </p:nvSpPr>
        <p:spPr bwMode="auto">
          <a:xfrm flipH="1" flipV="1">
            <a:off x="7020272" y="3933056"/>
            <a:ext cx="0" cy="1224136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78" name="Line 46"/>
          <p:cNvSpPr>
            <a:spLocks noChangeShapeType="1"/>
          </p:cNvSpPr>
          <p:nvPr/>
        </p:nvSpPr>
        <p:spPr bwMode="auto">
          <a:xfrm flipH="1" flipV="1">
            <a:off x="5652120" y="5301208"/>
            <a:ext cx="0" cy="1008112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77" name="Line 46"/>
          <p:cNvSpPr>
            <a:spLocks noChangeShapeType="1"/>
          </p:cNvSpPr>
          <p:nvPr/>
        </p:nvSpPr>
        <p:spPr bwMode="auto">
          <a:xfrm flipH="1" flipV="1">
            <a:off x="4139952" y="5301208"/>
            <a:ext cx="0" cy="1008112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74" name="Line 46"/>
          <p:cNvSpPr>
            <a:spLocks noChangeShapeType="1"/>
          </p:cNvSpPr>
          <p:nvPr/>
        </p:nvSpPr>
        <p:spPr bwMode="auto">
          <a:xfrm flipH="1">
            <a:off x="2843808" y="6525344"/>
            <a:ext cx="1440160" cy="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76" name="Line 46"/>
          <p:cNvSpPr>
            <a:spLocks noChangeShapeType="1"/>
          </p:cNvSpPr>
          <p:nvPr/>
        </p:nvSpPr>
        <p:spPr bwMode="auto">
          <a:xfrm flipH="1">
            <a:off x="5724128" y="6525344"/>
            <a:ext cx="1440160" cy="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63" name="Line 46"/>
          <p:cNvSpPr>
            <a:spLocks noChangeShapeType="1"/>
          </p:cNvSpPr>
          <p:nvPr/>
        </p:nvSpPr>
        <p:spPr bwMode="auto">
          <a:xfrm flipH="1" flipV="1">
            <a:off x="6022781" y="908720"/>
            <a:ext cx="0" cy="2736304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62" name="Line 46"/>
          <p:cNvSpPr>
            <a:spLocks noChangeShapeType="1"/>
          </p:cNvSpPr>
          <p:nvPr/>
        </p:nvSpPr>
        <p:spPr bwMode="auto">
          <a:xfrm flipH="1" flipV="1">
            <a:off x="5158685" y="2852936"/>
            <a:ext cx="648072" cy="43204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61" name="Line 46"/>
          <p:cNvSpPr>
            <a:spLocks noChangeShapeType="1"/>
          </p:cNvSpPr>
          <p:nvPr/>
        </p:nvSpPr>
        <p:spPr bwMode="auto">
          <a:xfrm flipH="1">
            <a:off x="1846317" y="2780928"/>
            <a:ext cx="792088" cy="504056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60" name="Line 46"/>
          <p:cNvSpPr>
            <a:spLocks noChangeShapeType="1"/>
          </p:cNvSpPr>
          <p:nvPr/>
        </p:nvSpPr>
        <p:spPr bwMode="auto">
          <a:xfrm flipH="1" flipV="1">
            <a:off x="2926437" y="2852936"/>
            <a:ext cx="2160240" cy="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56" name="Line 46"/>
          <p:cNvSpPr>
            <a:spLocks noChangeShapeType="1"/>
          </p:cNvSpPr>
          <p:nvPr/>
        </p:nvSpPr>
        <p:spPr bwMode="auto">
          <a:xfrm flipH="1">
            <a:off x="369645" y="2708920"/>
            <a:ext cx="1008112" cy="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70" name="Line 46"/>
          <p:cNvSpPr>
            <a:spLocks noChangeShapeType="1"/>
          </p:cNvSpPr>
          <p:nvPr/>
        </p:nvSpPr>
        <p:spPr bwMode="auto">
          <a:xfrm flipH="1" flipV="1">
            <a:off x="3646517" y="5229200"/>
            <a:ext cx="0" cy="62595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72" name="Line 46"/>
          <p:cNvSpPr>
            <a:spLocks noChangeShapeType="1"/>
          </p:cNvSpPr>
          <p:nvPr/>
        </p:nvSpPr>
        <p:spPr bwMode="auto">
          <a:xfrm flipH="1" flipV="1">
            <a:off x="3646517" y="3429000"/>
            <a:ext cx="0" cy="1654095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68" name="Line 46"/>
          <p:cNvSpPr>
            <a:spLocks noChangeShapeType="1"/>
          </p:cNvSpPr>
          <p:nvPr/>
        </p:nvSpPr>
        <p:spPr bwMode="auto">
          <a:xfrm flipH="1" flipV="1">
            <a:off x="2535570" y="3428999"/>
            <a:ext cx="20206" cy="180020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69" name="Line 46"/>
          <p:cNvSpPr>
            <a:spLocks noChangeShapeType="1"/>
          </p:cNvSpPr>
          <p:nvPr/>
        </p:nvSpPr>
        <p:spPr bwMode="auto">
          <a:xfrm flipH="1" flipV="1">
            <a:off x="2751594" y="3284984"/>
            <a:ext cx="0" cy="187220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43" name="Line 46"/>
          <p:cNvSpPr>
            <a:spLocks noChangeShapeType="1"/>
          </p:cNvSpPr>
          <p:nvPr/>
        </p:nvSpPr>
        <p:spPr bwMode="auto">
          <a:xfrm flipH="1" flipV="1">
            <a:off x="1630293" y="1196752"/>
            <a:ext cx="0" cy="396044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42" name="Line 46"/>
          <p:cNvSpPr>
            <a:spLocks noChangeShapeType="1"/>
          </p:cNvSpPr>
          <p:nvPr/>
        </p:nvSpPr>
        <p:spPr bwMode="auto">
          <a:xfrm flipH="1" flipV="1">
            <a:off x="1414269" y="1196752"/>
            <a:ext cx="0" cy="396044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2" name="群組 211"/>
          <p:cNvGrpSpPr/>
          <p:nvPr/>
        </p:nvGrpSpPr>
        <p:grpSpPr>
          <a:xfrm>
            <a:off x="3070453" y="2420888"/>
            <a:ext cx="1656184" cy="620688"/>
            <a:chOff x="395536" y="404664"/>
            <a:chExt cx="1656184" cy="620688"/>
          </a:xfrm>
        </p:grpSpPr>
        <p:pic>
          <p:nvPicPr>
            <p:cNvPr id="214" name="Picture 27" descr="ICON_Cloud_Q30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5536" y="476672"/>
              <a:ext cx="1656184" cy="54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7" name="文字方塊 216"/>
            <p:cNvSpPr txBox="1"/>
            <p:nvPr/>
          </p:nvSpPr>
          <p:spPr>
            <a:xfrm>
              <a:off x="826783" y="404664"/>
              <a:ext cx="99418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6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 3</a:t>
              </a:r>
              <a:r>
                <a:rPr lang="en-US" altLang="zh-TW" sz="1600" b="1" baseline="30000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rd</a:t>
              </a:r>
              <a:endParaRPr lang="en-US" altLang="zh-TW" sz="1600" b="1" dirty="0" smtClean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  <a:p>
              <a:pPr algn="ctr"/>
              <a:r>
                <a:rPr lang="en-US" altLang="zh-TW" sz="16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Network</a:t>
              </a:r>
              <a:endParaRPr lang="zh-TW" altLang="en-US" sz="1600" b="1" dirty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</p:grpSp>
      <p:sp>
        <p:nvSpPr>
          <p:cNvPr id="187" name="Line 46"/>
          <p:cNvSpPr>
            <a:spLocks noChangeShapeType="1"/>
          </p:cNvSpPr>
          <p:nvPr/>
        </p:nvSpPr>
        <p:spPr bwMode="auto">
          <a:xfrm flipH="1" flipV="1">
            <a:off x="3862541" y="5144988"/>
            <a:ext cx="0" cy="62595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86" name="Line 46"/>
          <p:cNvSpPr>
            <a:spLocks noChangeShapeType="1"/>
          </p:cNvSpPr>
          <p:nvPr/>
        </p:nvSpPr>
        <p:spPr bwMode="auto">
          <a:xfrm flipH="1" flipV="1">
            <a:off x="1414269" y="5204253"/>
            <a:ext cx="0" cy="62595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3" name="群組 1"/>
          <p:cNvGrpSpPr/>
          <p:nvPr/>
        </p:nvGrpSpPr>
        <p:grpSpPr>
          <a:xfrm>
            <a:off x="622181" y="116632"/>
            <a:ext cx="1656184" cy="548680"/>
            <a:chOff x="395536" y="476672"/>
            <a:chExt cx="1656184" cy="548680"/>
          </a:xfrm>
        </p:grpSpPr>
        <p:pic>
          <p:nvPicPr>
            <p:cNvPr id="24" name="Picture 27" descr="ICON_Cloud_Q30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5536" y="476672"/>
              <a:ext cx="1656184" cy="54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1" name="文字方塊 150"/>
            <p:cNvSpPr txBox="1"/>
            <p:nvPr/>
          </p:nvSpPr>
          <p:spPr>
            <a:xfrm>
              <a:off x="827584" y="548680"/>
              <a:ext cx="9380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Internet</a:t>
              </a:r>
              <a:endParaRPr lang="zh-TW" altLang="en-US" sz="1600" b="1" dirty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</p:grpSp>
      <p:grpSp>
        <p:nvGrpSpPr>
          <p:cNvPr id="4" name="群組 232"/>
          <p:cNvGrpSpPr/>
          <p:nvPr/>
        </p:nvGrpSpPr>
        <p:grpSpPr>
          <a:xfrm>
            <a:off x="1194645" y="2420888"/>
            <a:ext cx="723680" cy="648072"/>
            <a:chOff x="1760088" y="2204864"/>
            <a:chExt cx="723680" cy="648072"/>
          </a:xfrm>
        </p:grpSpPr>
        <p:sp>
          <p:nvSpPr>
            <p:cNvPr id="229" name="橢圓 228"/>
            <p:cNvSpPr/>
            <p:nvPr/>
          </p:nvSpPr>
          <p:spPr>
            <a:xfrm>
              <a:off x="1763688" y="2204864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grpSp>
          <p:nvGrpSpPr>
            <p:cNvPr id="5" name="群組 149"/>
            <p:cNvGrpSpPr/>
            <p:nvPr/>
          </p:nvGrpSpPr>
          <p:grpSpPr>
            <a:xfrm>
              <a:off x="1760088" y="2276872"/>
              <a:ext cx="720080" cy="447541"/>
              <a:chOff x="1835696" y="2276872"/>
              <a:chExt cx="720080" cy="447541"/>
            </a:xfrm>
          </p:grpSpPr>
          <p:pic>
            <p:nvPicPr>
              <p:cNvPr id="121" name="Picture 6" descr="firewall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100631" y="2348880"/>
                <a:ext cx="455145" cy="3755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5" name="Picture 6" descr="firewall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835696" y="2276872"/>
                <a:ext cx="455145" cy="3755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6" name="群組 225"/>
          <p:cNvGrpSpPr/>
          <p:nvPr/>
        </p:nvGrpSpPr>
        <p:grpSpPr>
          <a:xfrm>
            <a:off x="1198245" y="3501008"/>
            <a:ext cx="720080" cy="648072"/>
            <a:chOff x="899592" y="4293096"/>
            <a:chExt cx="720080" cy="648072"/>
          </a:xfrm>
        </p:grpSpPr>
        <p:sp>
          <p:nvSpPr>
            <p:cNvPr id="179" name="橢圓 178"/>
            <p:cNvSpPr/>
            <p:nvPr/>
          </p:nvSpPr>
          <p:spPr>
            <a:xfrm>
              <a:off x="899592" y="4293096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grpSp>
          <p:nvGrpSpPr>
            <p:cNvPr id="7" name="群組 150"/>
            <p:cNvGrpSpPr/>
            <p:nvPr/>
          </p:nvGrpSpPr>
          <p:grpSpPr>
            <a:xfrm>
              <a:off x="899592" y="4437117"/>
              <a:ext cx="717504" cy="297167"/>
              <a:chOff x="971600" y="3647566"/>
              <a:chExt cx="573488" cy="277953"/>
            </a:xfrm>
          </p:grpSpPr>
          <p:pic>
            <p:nvPicPr>
              <p:cNvPr id="180" name="Picture 2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 b="45558"/>
              <a:stretch>
                <a:fillRect/>
              </a:stretch>
            </p:blipFill>
            <p:spPr bwMode="auto">
              <a:xfrm>
                <a:off x="971600" y="3647566"/>
                <a:ext cx="573488" cy="1432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81" name="Picture 2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 b="45558"/>
              <a:stretch>
                <a:fillRect/>
              </a:stretch>
            </p:blipFill>
            <p:spPr bwMode="auto">
              <a:xfrm>
                <a:off x="971600" y="3782268"/>
                <a:ext cx="573488" cy="1432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211" name="文字方塊 210"/>
          <p:cNvSpPr txBox="1"/>
          <p:nvPr/>
        </p:nvSpPr>
        <p:spPr>
          <a:xfrm>
            <a:off x="1086046" y="3861048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GSLB/SLB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34" name="文字方塊 233"/>
          <p:cNvSpPr txBox="1"/>
          <p:nvPr/>
        </p:nvSpPr>
        <p:spPr>
          <a:xfrm>
            <a:off x="1198245" y="2852936"/>
            <a:ext cx="6591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Firewall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185" name="群組 184"/>
          <p:cNvGrpSpPr/>
          <p:nvPr/>
        </p:nvGrpSpPr>
        <p:grpSpPr>
          <a:xfrm>
            <a:off x="298653" y="2420888"/>
            <a:ext cx="827584" cy="648072"/>
            <a:chOff x="72008" y="2420888"/>
            <a:chExt cx="827584" cy="648072"/>
          </a:xfrm>
        </p:grpSpPr>
        <p:sp>
          <p:nvSpPr>
            <p:cNvPr id="310" name="橢圓 309"/>
            <p:cNvSpPr/>
            <p:nvPr/>
          </p:nvSpPr>
          <p:spPr>
            <a:xfrm>
              <a:off x="72008" y="2420888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sp>
          <p:nvSpPr>
            <p:cNvPr id="160" name="文字方塊 159"/>
            <p:cNvSpPr txBox="1"/>
            <p:nvPr/>
          </p:nvSpPr>
          <p:spPr>
            <a:xfrm>
              <a:off x="72008" y="2791961"/>
              <a:ext cx="8275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SSL VPN</a:t>
              </a:r>
              <a:endParaRPr lang="zh-TW" altLang="en-US" sz="1000" b="1" dirty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145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79512" y="2647945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群組 26"/>
          <p:cNvGrpSpPr/>
          <p:nvPr/>
        </p:nvGrpSpPr>
        <p:grpSpPr>
          <a:xfrm>
            <a:off x="3502501" y="5632110"/>
            <a:ext cx="504056" cy="450153"/>
            <a:chOff x="1331640" y="5589240"/>
            <a:chExt cx="504056" cy="450153"/>
          </a:xfrm>
        </p:grpSpPr>
        <p:pic>
          <p:nvPicPr>
            <p:cNvPr id="261" name="Picture 39" descr="Server_CPU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31640" y="5589240"/>
              <a:ext cx="260278" cy="450153"/>
            </a:xfrm>
            <a:prstGeom prst="rect">
              <a:avLst/>
            </a:prstGeom>
          </p:spPr>
        </p:pic>
        <p:pic>
          <p:nvPicPr>
            <p:cNvPr id="263" name="Picture 39" descr="Server_CPU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5418" y="5589240"/>
              <a:ext cx="260278" cy="450153"/>
            </a:xfrm>
            <a:prstGeom prst="rect">
              <a:avLst/>
            </a:prstGeom>
          </p:spPr>
        </p:pic>
      </p:grpSp>
      <p:pic>
        <p:nvPicPr>
          <p:cNvPr id="274" name="Picture 52" descr="1 Rack Multiple Units Generic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551115" y="6331631"/>
            <a:ext cx="388283" cy="396817"/>
          </a:xfrm>
          <a:prstGeom prst="rect">
            <a:avLst/>
          </a:prstGeom>
        </p:spPr>
      </p:pic>
      <p:cxnSp>
        <p:nvCxnSpPr>
          <p:cNvPr id="276" name="直線接點 275"/>
          <p:cNvCxnSpPr>
            <a:endCxn id="274" idx="0"/>
          </p:cNvCxnSpPr>
          <p:nvPr/>
        </p:nvCxnSpPr>
        <p:spPr bwMode="auto">
          <a:xfrm>
            <a:off x="2393222" y="6062038"/>
            <a:ext cx="352035" cy="256755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</p:cxnSp>
      <p:cxnSp>
        <p:nvCxnSpPr>
          <p:cNvPr id="277" name="直線接點 276"/>
          <p:cNvCxnSpPr>
            <a:endCxn id="274" idx="0"/>
          </p:cNvCxnSpPr>
          <p:nvPr/>
        </p:nvCxnSpPr>
        <p:spPr bwMode="auto">
          <a:xfrm flipH="1">
            <a:off x="2745257" y="6062038"/>
            <a:ext cx="395800" cy="256755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</p:cxnSp>
      <p:cxnSp>
        <p:nvCxnSpPr>
          <p:cNvPr id="280" name="直線接點 279"/>
          <p:cNvCxnSpPr>
            <a:endCxn id="274" idx="0"/>
          </p:cNvCxnSpPr>
          <p:nvPr/>
        </p:nvCxnSpPr>
        <p:spPr bwMode="auto">
          <a:xfrm>
            <a:off x="2637000" y="6062038"/>
            <a:ext cx="108257" cy="256755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</p:cxnSp>
      <p:cxnSp>
        <p:nvCxnSpPr>
          <p:cNvPr id="283" name="直線接點 282"/>
          <p:cNvCxnSpPr>
            <a:endCxn id="274" idx="0"/>
          </p:cNvCxnSpPr>
          <p:nvPr/>
        </p:nvCxnSpPr>
        <p:spPr bwMode="auto">
          <a:xfrm flipH="1">
            <a:off x="2745257" y="6062038"/>
            <a:ext cx="152022" cy="256755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</p:cxnSp>
      <p:sp>
        <p:nvSpPr>
          <p:cNvPr id="416" name="文字方塊 415"/>
          <p:cNvSpPr txBox="1"/>
          <p:nvPr/>
        </p:nvSpPr>
        <p:spPr>
          <a:xfrm>
            <a:off x="5292080" y="6611779"/>
            <a:ext cx="5982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Router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26" name="文字方塊 425"/>
          <p:cNvSpPr txBox="1"/>
          <p:nvPr/>
        </p:nvSpPr>
        <p:spPr>
          <a:xfrm>
            <a:off x="2319546" y="6639163"/>
            <a:ext cx="9669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SAN Storage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31" name="文字方塊 430"/>
          <p:cNvSpPr txBox="1"/>
          <p:nvPr/>
        </p:nvSpPr>
        <p:spPr>
          <a:xfrm>
            <a:off x="1054229" y="6063099"/>
            <a:ext cx="9573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Web Servers</a:t>
            </a:r>
            <a:endParaRPr lang="zh-TW" altLang="en-US" sz="1000" b="1" dirty="0" smtClean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12" name="群組 169"/>
          <p:cNvGrpSpPr/>
          <p:nvPr/>
        </p:nvGrpSpPr>
        <p:grpSpPr>
          <a:xfrm>
            <a:off x="1198245" y="1298132"/>
            <a:ext cx="638678" cy="258660"/>
            <a:chOff x="1820094" y="1839643"/>
            <a:chExt cx="638678" cy="258660"/>
          </a:xfrm>
        </p:grpSpPr>
        <p:pic>
          <p:nvPicPr>
            <p:cNvPr id="171" name="Picture 12" descr="EX3200_24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820094" y="1839643"/>
              <a:ext cx="638678" cy="129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3" name="Picture 12" descr="EX3200_24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820094" y="1968973"/>
              <a:ext cx="638678" cy="129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78" name="Picture 18" descr="Generic Router 1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422258" y="6251739"/>
            <a:ext cx="445886" cy="445886"/>
          </a:xfrm>
          <a:prstGeom prst="rect">
            <a:avLst/>
          </a:prstGeom>
        </p:spPr>
      </p:pic>
      <p:pic>
        <p:nvPicPr>
          <p:cNvPr id="202" name="Picture 64" descr="Virtual Firewall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570703" y="2564904"/>
            <a:ext cx="571758" cy="452286"/>
          </a:xfrm>
          <a:prstGeom prst="rect">
            <a:avLst/>
          </a:prstGeom>
        </p:spPr>
      </p:pic>
      <p:pic>
        <p:nvPicPr>
          <p:cNvPr id="207" name="Picture 64" descr="Virtual Firewall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654629" y="2564904"/>
            <a:ext cx="571758" cy="452286"/>
          </a:xfrm>
          <a:prstGeom prst="rect">
            <a:avLst/>
          </a:prstGeom>
        </p:spPr>
      </p:pic>
      <p:sp>
        <p:nvSpPr>
          <p:cNvPr id="244" name="Line 46"/>
          <p:cNvSpPr>
            <a:spLocks noChangeShapeType="1"/>
          </p:cNvSpPr>
          <p:nvPr/>
        </p:nvSpPr>
        <p:spPr bwMode="auto">
          <a:xfrm flipH="1" flipV="1">
            <a:off x="1846317" y="3429000"/>
            <a:ext cx="1800200" cy="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13" name="群組 291"/>
          <p:cNvGrpSpPr/>
          <p:nvPr/>
        </p:nvGrpSpPr>
        <p:grpSpPr>
          <a:xfrm>
            <a:off x="1198245" y="548680"/>
            <a:ext cx="720080" cy="648072"/>
            <a:chOff x="2987824" y="908720"/>
            <a:chExt cx="720080" cy="648072"/>
          </a:xfrm>
        </p:grpSpPr>
        <p:sp>
          <p:nvSpPr>
            <p:cNvPr id="290" name="橢圓 289"/>
            <p:cNvSpPr/>
            <p:nvPr/>
          </p:nvSpPr>
          <p:spPr>
            <a:xfrm>
              <a:off x="2987824" y="908720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159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059832" y="1052736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8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059832" y="1196752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4" name="群組 293"/>
          <p:cNvGrpSpPr/>
          <p:nvPr/>
        </p:nvGrpSpPr>
        <p:grpSpPr>
          <a:xfrm>
            <a:off x="1198245" y="1628800"/>
            <a:ext cx="720080" cy="648072"/>
            <a:chOff x="2987824" y="908720"/>
            <a:chExt cx="720080" cy="648072"/>
          </a:xfrm>
        </p:grpSpPr>
        <p:sp>
          <p:nvSpPr>
            <p:cNvPr id="295" name="橢圓 294"/>
            <p:cNvSpPr/>
            <p:nvPr/>
          </p:nvSpPr>
          <p:spPr>
            <a:xfrm>
              <a:off x="2987824" y="908720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296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059832" y="1052736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98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059832" y="1196752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00" name="文字方塊 299"/>
          <p:cNvSpPr txBox="1"/>
          <p:nvPr/>
        </p:nvSpPr>
        <p:spPr>
          <a:xfrm>
            <a:off x="1149481" y="1988840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DDoS</a:t>
            </a:r>
          </a:p>
          <a:p>
            <a:pPr algn="ctr"/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Mitigation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20" name="文字方塊 219"/>
          <p:cNvSpPr txBox="1"/>
          <p:nvPr/>
        </p:nvSpPr>
        <p:spPr>
          <a:xfrm>
            <a:off x="1264106" y="950531"/>
            <a:ext cx="5822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NGIPS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25" name="Line 46"/>
          <p:cNvSpPr>
            <a:spLocks noChangeShapeType="1"/>
          </p:cNvSpPr>
          <p:nvPr/>
        </p:nvSpPr>
        <p:spPr bwMode="auto">
          <a:xfrm flipH="1" flipV="1">
            <a:off x="2391554" y="5220733"/>
            <a:ext cx="0" cy="504056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 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26" name="Line 46"/>
          <p:cNvSpPr>
            <a:spLocks noChangeShapeType="1"/>
          </p:cNvSpPr>
          <p:nvPr/>
        </p:nvSpPr>
        <p:spPr bwMode="auto">
          <a:xfrm flipH="1" flipV="1">
            <a:off x="2607578" y="5220733"/>
            <a:ext cx="0" cy="504056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 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27" name="Line 46"/>
          <p:cNvSpPr>
            <a:spLocks noChangeShapeType="1"/>
          </p:cNvSpPr>
          <p:nvPr/>
        </p:nvSpPr>
        <p:spPr bwMode="auto">
          <a:xfrm flipH="1" flipV="1">
            <a:off x="2823602" y="5220733"/>
            <a:ext cx="0" cy="504056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 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28" name="Line 46"/>
          <p:cNvSpPr>
            <a:spLocks noChangeShapeType="1"/>
          </p:cNvSpPr>
          <p:nvPr/>
        </p:nvSpPr>
        <p:spPr bwMode="auto">
          <a:xfrm flipH="1" flipV="1">
            <a:off x="3039626" y="5220733"/>
            <a:ext cx="0" cy="504056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 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pic>
        <p:nvPicPr>
          <p:cNvPr id="270" name="Picture 39" descr="Server_CPU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204952" y="5611551"/>
            <a:ext cx="260278" cy="450153"/>
          </a:xfrm>
          <a:prstGeom prst="rect">
            <a:avLst/>
          </a:prstGeom>
        </p:spPr>
      </p:pic>
      <p:pic>
        <p:nvPicPr>
          <p:cNvPr id="272" name="Picture 39" descr="Server_CPU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709008" y="5611551"/>
            <a:ext cx="260278" cy="450153"/>
          </a:xfrm>
          <a:prstGeom prst="rect">
            <a:avLst/>
          </a:prstGeom>
        </p:spPr>
      </p:pic>
      <p:pic>
        <p:nvPicPr>
          <p:cNvPr id="273" name="Picture 39" descr="Server_CPU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952786" y="5611551"/>
            <a:ext cx="260278" cy="450153"/>
          </a:xfrm>
          <a:prstGeom prst="rect">
            <a:avLst/>
          </a:prstGeom>
        </p:spPr>
      </p:pic>
      <p:pic>
        <p:nvPicPr>
          <p:cNvPr id="271" name="Picture 39" descr="Server_CPU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448730" y="5611551"/>
            <a:ext cx="260278" cy="450153"/>
          </a:xfrm>
          <a:prstGeom prst="rect">
            <a:avLst/>
          </a:prstGeom>
        </p:spPr>
      </p:pic>
      <p:sp>
        <p:nvSpPr>
          <p:cNvPr id="329" name="Line 46"/>
          <p:cNvSpPr>
            <a:spLocks noChangeShapeType="1"/>
          </p:cNvSpPr>
          <p:nvPr/>
        </p:nvSpPr>
        <p:spPr bwMode="auto">
          <a:xfrm flipH="1" flipV="1">
            <a:off x="1630293" y="5301208"/>
            <a:ext cx="0" cy="62595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16" name="群組 27"/>
          <p:cNvGrpSpPr/>
          <p:nvPr/>
        </p:nvGrpSpPr>
        <p:grpSpPr>
          <a:xfrm>
            <a:off x="1270253" y="5631051"/>
            <a:ext cx="504056" cy="450153"/>
            <a:chOff x="827584" y="5589240"/>
            <a:chExt cx="504056" cy="450153"/>
          </a:xfrm>
        </p:grpSpPr>
        <p:pic>
          <p:nvPicPr>
            <p:cNvPr id="249" name="Picture 39" descr="Server_CPU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5589240"/>
              <a:ext cx="260278" cy="450153"/>
            </a:xfrm>
            <a:prstGeom prst="rect">
              <a:avLst/>
            </a:prstGeom>
          </p:spPr>
        </p:pic>
        <p:pic>
          <p:nvPicPr>
            <p:cNvPr id="252" name="Picture 39" descr="Server_CPU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1362" y="5589240"/>
              <a:ext cx="260278" cy="450153"/>
            </a:xfrm>
            <a:prstGeom prst="rect">
              <a:avLst/>
            </a:prstGeom>
          </p:spPr>
        </p:pic>
      </p:grpSp>
      <p:sp>
        <p:nvSpPr>
          <p:cNvPr id="241" name="圓角矩形 240"/>
          <p:cNvSpPr/>
          <p:nvPr/>
        </p:nvSpPr>
        <p:spPr bwMode="auto">
          <a:xfrm>
            <a:off x="1151638" y="5157192"/>
            <a:ext cx="720080" cy="360040"/>
          </a:xfrm>
          <a:prstGeom prst="roundRect">
            <a:avLst/>
          </a:prstGeom>
          <a:solidFill>
            <a:srgbClr val="FFCC99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FFC000">
                <a:alpha val="40000"/>
              </a:srgbClr>
            </a:glow>
          </a:effectLst>
        </p:spPr>
        <p:txBody>
          <a:bodyPr vert="horz" wrap="non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17" name="群組 161"/>
          <p:cNvGrpSpPr/>
          <p:nvPr/>
        </p:nvGrpSpPr>
        <p:grpSpPr>
          <a:xfrm>
            <a:off x="1198247" y="5205744"/>
            <a:ext cx="638678" cy="258660"/>
            <a:chOff x="991881" y="3212391"/>
            <a:chExt cx="638678" cy="258660"/>
          </a:xfrm>
        </p:grpSpPr>
        <p:pic>
          <p:nvPicPr>
            <p:cNvPr id="247" name="Picture 12" descr="EX3200_24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991881" y="3212391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  <p:pic>
          <p:nvPicPr>
            <p:cNvPr id="248" name="Picture 12" descr="EX3200_24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991881" y="3341721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</p:grpSp>
      <p:sp>
        <p:nvSpPr>
          <p:cNvPr id="430" name="文字方塊 429"/>
          <p:cNvSpPr txBox="1"/>
          <p:nvPr/>
        </p:nvSpPr>
        <p:spPr>
          <a:xfrm>
            <a:off x="2319546" y="6063099"/>
            <a:ext cx="857927" cy="246221"/>
          </a:xfrm>
          <a:prstGeom prst="rect">
            <a:avLst/>
          </a:prstGeom>
          <a:noFill/>
          <a:ln w="19050">
            <a:noFill/>
            <a:round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DB servers</a:t>
            </a:r>
            <a:endParaRPr lang="zh-TW" altLang="en-US" sz="1000" b="1" dirty="0" smtClean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18" name="群組 163"/>
          <p:cNvGrpSpPr/>
          <p:nvPr/>
        </p:nvGrpSpPr>
        <p:grpSpPr>
          <a:xfrm>
            <a:off x="1207639" y="3212976"/>
            <a:ext cx="638678" cy="258660"/>
            <a:chOff x="1820094" y="1839643"/>
            <a:chExt cx="638678" cy="258660"/>
          </a:xfrm>
        </p:grpSpPr>
        <p:pic>
          <p:nvPicPr>
            <p:cNvPr id="230" name="Picture 12" descr="EX3200_24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820094" y="1839643"/>
              <a:ext cx="638678" cy="129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1" name="Picture 12" descr="EX3200_24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820094" y="1968973"/>
              <a:ext cx="638678" cy="129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9" name="群組 336"/>
          <p:cNvGrpSpPr/>
          <p:nvPr/>
        </p:nvGrpSpPr>
        <p:grpSpPr>
          <a:xfrm>
            <a:off x="1198245" y="4293096"/>
            <a:ext cx="720080" cy="648072"/>
            <a:chOff x="2987824" y="908720"/>
            <a:chExt cx="720080" cy="648072"/>
          </a:xfrm>
        </p:grpSpPr>
        <p:sp>
          <p:nvSpPr>
            <p:cNvPr id="338" name="橢圓 337"/>
            <p:cNvSpPr/>
            <p:nvPr/>
          </p:nvSpPr>
          <p:spPr>
            <a:xfrm>
              <a:off x="2987824" y="908720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339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059832" y="1052736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40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059832" y="1196752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41" name="文字方塊 340"/>
          <p:cNvSpPr txBox="1"/>
          <p:nvPr/>
        </p:nvSpPr>
        <p:spPr>
          <a:xfrm>
            <a:off x="1342261" y="4694947"/>
            <a:ext cx="4780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WAF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46" name="Line 46"/>
          <p:cNvSpPr>
            <a:spLocks noChangeShapeType="1"/>
          </p:cNvSpPr>
          <p:nvPr/>
        </p:nvSpPr>
        <p:spPr bwMode="auto">
          <a:xfrm flipH="1" flipV="1">
            <a:off x="1846317" y="3284984"/>
            <a:ext cx="2016224" cy="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47" name="Line 46"/>
          <p:cNvSpPr>
            <a:spLocks noChangeShapeType="1"/>
          </p:cNvSpPr>
          <p:nvPr/>
        </p:nvSpPr>
        <p:spPr bwMode="auto">
          <a:xfrm flipH="1" flipV="1">
            <a:off x="3862541" y="3284984"/>
            <a:ext cx="0" cy="180020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20" name="群組 347"/>
          <p:cNvGrpSpPr/>
          <p:nvPr/>
        </p:nvGrpSpPr>
        <p:grpSpPr>
          <a:xfrm>
            <a:off x="3343942" y="3501008"/>
            <a:ext cx="760271" cy="678269"/>
            <a:chOff x="4139952" y="3284984"/>
            <a:chExt cx="760271" cy="678269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grpSpPr>
        <p:grpSp>
          <p:nvGrpSpPr>
            <p:cNvPr id="21" name="群組 329"/>
            <p:cNvGrpSpPr/>
            <p:nvPr/>
          </p:nvGrpSpPr>
          <p:grpSpPr>
            <a:xfrm>
              <a:off x="4139952" y="3284984"/>
              <a:ext cx="720080" cy="648072"/>
              <a:chOff x="899592" y="4293096"/>
              <a:chExt cx="720080" cy="648072"/>
            </a:xfrm>
          </p:grpSpPr>
          <p:sp>
            <p:nvSpPr>
              <p:cNvPr id="331" name="橢圓 330"/>
              <p:cNvSpPr/>
              <p:nvPr/>
            </p:nvSpPr>
            <p:spPr>
              <a:xfrm>
                <a:off x="899592" y="4293096"/>
                <a:ext cx="720080" cy="648072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 b="1">
                  <a:latin typeface="Arial" pitchFamily="34" charset="0"/>
                  <a:ea typeface="Arial Unicode MS" pitchFamily="34" charset="-120"/>
                  <a:cs typeface="Arial" pitchFamily="34" charset="0"/>
                </a:endParaRPr>
              </a:p>
            </p:txBody>
          </p:sp>
          <p:grpSp>
            <p:nvGrpSpPr>
              <p:cNvPr id="22" name="群組 150"/>
              <p:cNvGrpSpPr/>
              <p:nvPr/>
            </p:nvGrpSpPr>
            <p:grpSpPr>
              <a:xfrm>
                <a:off x="899592" y="4437117"/>
                <a:ext cx="717504" cy="297167"/>
                <a:chOff x="971600" y="3647566"/>
                <a:chExt cx="573488" cy="277953"/>
              </a:xfrm>
            </p:grpSpPr>
            <p:pic>
              <p:nvPicPr>
                <p:cNvPr id="333" name="Picture 23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rcRect b="45558"/>
                <a:stretch>
                  <a:fillRect/>
                </a:stretch>
              </p:blipFill>
              <p:spPr bwMode="auto">
                <a:xfrm>
                  <a:off x="971600" y="3647566"/>
                  <a:ext cx="573488" cy="14325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334" name="Picture 23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rcRect b="45558"/>
                <a:stretch>
                  <a:fillRect/>
                </a:stretch>
              </p:blipFill>
              <p:spPr bwMode="auto">
                <a:xfrm>
                  <a:off x="971600" y="3782268"/>
                  <a:ext cx="573488" cy="14325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  <p:sp>
          <p:nvSpPr>
            <p:cNvPr id="335" name="文字方塊 334"/>
            <p:cNvSpPr txBox="1"/>
            <p:nvPr/>
          </p:nvSpPr>
          <p:spPr>
            <a:xfrm>
              <a:off x="4139952" y="3717032"/>
              <a:ext cx="7602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0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SLB</a:t>
              </a:r>
              <a:endParaRPr lang="zh-TW" altLang="en-US" sz="1000" b="1" dirty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</p:grpSp>
      <p:sp>
        <p:nvSpPr>
          <p:cNvPr id="349" name="文字方塊 348"/>
          <p:cNvSpPr txBox="1"/>
          <p:nvPr/>
        </p:nvSpPr>
        <p:spPr>
          <a:xfrm>
            <a:off x="3203848" y="6063099"/>
            <a:ext cx="864339" cy="246221"/>
          </a:xfrm>
          <a:prstGeom prst="rect">
            <a:avLst/>
          </a:prstGeom>
          <a:noFill/>
          <a:ln w="19050">
            <a:noFill/>
            <a:round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AP Servers</a:t>
            </a:r>
            <a:endParaRPr lang="zh-TW" altLang="en-US" sz="1000" b="1" dirty="0" smtClean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420" name="群組 347"/>
          <p:cNvGrpSpPr/>
          <p:nvPr/>
        </p:nvGrpSpPr>
        <p:grpSpPr>
          <a:xfrm>
            <a:off x="2278365" y="3501008"/>
            <a:ext cx="760271" cy="678269"/>
            <a:chOff x="4139952" y="3284984"/>
            <a:chExt cx="760271" cy="678269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grpSpPr>
        <p:grpSp>
          <p:nvGrpSpPr>
            <p:cNvPr id="427" name="群組 329"/>
            <p:cNvGrpSpPr/>
            <p:nvPr/>
          </p:nvGrpSpPr>
          <p:grpSpPr>
            <a:xfrm>
              <a:off x="4139952" y="3284984"/>
              <a:ext cx="720080" cy="648072"/>
              <a:chOff x="899592" y="4293096"/>
              <a:chExt cx="720080" cy="648072"/>
            </a:xfrm>
          </p:grpSpPr>
          <p:sp>
            <p:nvSpPr>
              <p:cNvPr id="429" name="橢圓 428"/>
              <p:cNvSpPr/>
              <p:nvPr/>
            </p:nvSpPr>
            <p:spPr>
              <a:xfrm>
                <a:off x="899592" y="4293096"/>
                <a:ext cx="720080" cy="648072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 b="1">
                  <a:latin typeface="Arial" pitchFamily="34" charset="0"/>
                  <a:ea typeface="Arial Unicode MS" pitchFamily="34" charset="-120"/>
                  <a:cs typeface="Arial" pitchFamily="34" charset="0"/>
                </a:endParaRPr>
              </a:p>
            </p:txBody>
          </p:sp>
          <p:grpSp>
            <p:nvGrpSpPr>
              <p:cNvPr id="432" name="群組 150"/>
              <p:cNvGrpSpPr/>
              <p:nvPr/>
            </p:nvGrpSpPr>
            <p:grpSpPr>
              <a:xfrm>
                <a:off x="899592" y="4437117"/>
                <a:ext cx="717504" cy="297167"/>
                <a:chOff x="971600" y="3647566"/>
                <a:chExt cx="573488" cy="277953"/>
              </a:xfrm>
            </p:grpSpPr>
            <p:pic>
              <p:nvPicPr>
                <p:cNvPr id="433" name="Picture 23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 b="45558"/>
                <a:stretch>
                  <a:fillRect/>
                </a:stretch>
              </p:blipFill>
              <p:spPr bwMode="auto">
                <a:xfrm>
                  <a:off x="971600" y="3647566"/>
                  <a:ext cx="573488" cy="14325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435" name="Picture 23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 b="45558"/>
                <a:stretch>
                  <a:fillRect/>
                </a:stretch>
              </p:blipFill>
              <p:spPr bwMode="auto">
                <a:xfrm>
                  <a:off x="971600" y="3782268"/>
                  <a:ext cx="573488" cy="14325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  <p:sp>
          <p:nvSpPr>
            <p:cNvPr id="428" name="文字方塊 427"/>
            <p:cNvSpPr txBox="1"/>
            <p:nvPr/>
          </p:nvSpPr>
          <p:spPr>
            <a:xfrm>
              <a:off x="4139952" y="3717032"/>
              <a:ext cx="7602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0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SLB</a:t>
              </a:r>
              <a:endParaRPr lang="zh-TW" altLang="en-US" sz="1000" b="1" dirty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</p:grpSp>
      <p:grpSp>
        <p:nvGrpSpPr>
          <p:cNvPr id="438" name="群組 336"/>
          <p:cNvGrpSpPr/>
          <p:nvPr/>
        </p:nvGrpSpPr>
        <p:grpSpPr>
          <a:xfrm>
            <a:off x="2278365" y="4293096"/>
            <a:ext cx="720080" cy="648072"/>
            <a:chOff x="2987824" y="908720"/>
            <a:chExt cx="720080" cy="648072"/>
          </a:xfrm>
        </p:grpSpPr>
        <p:sp>
          <p:nvSpPr>
            <p:cNvPr id="439" name="橢圓 438"/>
            <p:cNvSpPr/>
            <p:nvPr/>
          </p:nvSpPr>
          <p:spPr>
            <a:xfrm>
              <a:off x="2987824" y="908720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440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3059832" y="1052736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41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3059832" y="1196752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42" name="文字方塊 441"/>
          <p:cNvSpPr txBox="1"/>
          <p:nvPr/>
        </p:nvSpPr>
        <p:spPr>
          <a:xfrm>
            <a:off x="2422381" y="4694947"/>
            <a:ext cx="4780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DAM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43" name="Line 46"/>
          <p:cNvSpPr>
            <a:spLocks noChangeShapeType="1"/>
          </p:cNvSpPr>
          <p:nvPr/>
        </p:nvSpPr>
        <p:spPr bwMode="auto">
          <a:xfrm flipH="1">
            <a:off x="6022781" y="2708920"/>
            <a:ext cx="1008112" cy="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44" name="Line 46"/>
          <p:cNvSpPr>
            <a:spLocks noChangeShapeType="1"/>
          </p:cNvSpPr>
          <p:nvPr/>
        </p:nvSpPr>
        <p:spPr bwMode="auto">
          <a:xfrm flipH="1" flipV="1">
            <a:off x="8146509" y="5229200"/>
            <a:ext cx="0" cy="62595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45" name="Line 46"/>
          <p:cNvSpPr>
            <a:spLocks noChangeShapeType="1"/>
          </p:cNvSpPr>
          <p:nvPr/>
        </p:nvSpPr>
        <p:spPr bwMode="auto">
          <a:xfrm flipH="1" flipV="1">
            <a:off x="8146509" y="3573015"/>
            <a:ext cx="0" cy="1510079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47" name="Line 46"/>
          <p:cNvSpPr>
            <a:spLocks noChangeShapeType="1"/>
          </p:cNvSpPr>
          <p:nvPr/>
        </p:nvSpPr>
        <p:spPr bwMode="auto">
          <a:xfrm flipH="1" flipV="1">
            <a:off x="7251586" y="3356992"/>
            <a:ext cx="0" cy="187220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48" name="Line 46"/>
          <p:cNvSpPr>
            <a:spLocks noChangeShapeType="1"/>
          </p:cNvSpPr>
          <p:nvPr/>
        </p:nvSpPr>
        <p:spPr bwMode="auto">
          <a:xfrm flipH="1" flipV="1">
            <a:off x="6130285" y="3573016"/>
            <a:ext cx="0" cy="1584176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49" name="Line 46"/>
          <p:cNvSpPr>
            <a:spLocks noChangeShapeType="1"/>
          </p:cNvSpPr>
          <p:nvPr/>
        </p:nvSpPr>
        <p:spPr bwMode="auto">
          <a:xfrm flipH="1" flipV="1">
            <a:off x="5914261" y="3933056"/>
            <a:ext cx="0" cy="1224136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53" name="Line 46"/>
          <p:cNvSpPr>
            <a:spLocks noChangeShapeType="1"/>
          </p:cNvSpPr>
          <p:nvPr/>
        </p:nvSpPr>
        <p:spPr bwMode="auto">
          <a:xfrm flipH="1" flipV="1">
            <a:off x="8362533" y="5144988"/>
            <a:ext cx="0" cy="62595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54" name="Line 46"/>
          <p:cNvSpPr>
            <a:spLocks noChangeShapeType="1"/>
          </p:cNvSpPr>
          <p:nvPr/>
        </p:nvSpPr>
        <p:spPr bwMode="auto">
          <a:xfrm flipH="1" flipV="1">
            <a:off x="5914261" y="5204253"/>
            <a:ext cx="0" cy="62595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455" name="群組 1"/>
          <p:cNvGrpSpPr/>
          <p:nvPr/>
        </p:nvGrpSpPr>
        <p:grpSpPr>
          <a:xfrm>
            <a:off x="5122173" y="116632"/>
            <a:ext cx="1656184" cy="548680"/>
            <a:chOff x="395536" y="476672"/>
            <a:chExt cx="1656184" cy="548680"/>
          </a:xfrm>
        </p:grpSpPr>
        <p:pic>
          <p:nvPicPr>
            <p:cNvPr id="456" name="Picture 27" descr="ICON_Cloud_Q30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5536" y="476672"/>
              <a:ext cx="1656184" cy="54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7" name="文字方塊 456"/>
            <p:cNvSpPr txBox="1"/>
            <p:nvPr/>
          </p:nvSpPr>
          <p:spPr>
            <a:xfrm>
              <a:off x="827584" y="548680"/>
              <a:ext cx="9380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Internet</a:t>
              </a:r>
              <a:endParaRPr lang="zh-TW" altLang="en-US" sz="1600" b="1" dirty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</p:grpSp>
      <p:grpSp>
        <p:nvGrpSpPr>
          <p:cNvPr id="458" name="群組 232"/>
          <p:cNvGrpSpPr/>
          <p:nvPr/>
        </p:nvGrpSpPr>
        <p:grpSpPr>
          <a:xfrm>
            <a:off x="5698237" y="2420888"/>
            <a:ext cx="720080" cy="648072"/>
            <a:chOff x="1763688" y="2204864"/>
            <a:chExt cx="720080" cy="648072"/>
          </a:xfrm>
        </p:grpSpPr>
        <p:sp>
          <p:nvSpPr>
            <p:cNvPr id="459" name="橢圓 458"/>
            <p:cNvSpPr/>
            <p:nvPr/>
          </p:nvSpPr>
          <p:spPr>
            <a:xfrm>
              <a:off x="1763688" y="2204864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461" name="Picture 6" descr="firewall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72208" y="2333387"/>
              <a:ext cx="455145" cy="3755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63" name="群組 225"/>
          <p:cNvGrpSpPr/>
          <p:nvPr/>
        </p:nvGrpSpPr>
        <p:grpSpPr>
          <a:xfrm>
            <a:off x="5698237" y="3501008"/>
            <a:ext cx="720080" cy="648072"/>
            <a:chOff x="899592" y="4293096"/>
            <a:chExt cx="720080" cy="648072"/>
          </a:xfrm>
        </p:grpSpPr>
        <p:sp>
          <p:nvSpPr>
            <p:cNvPr id="464" name="橢圓 463"/>
            <p:cNvSpPr/>
            <p:nvPr/>
          </p:nvSpPr>
          <p:spPr>
            <a:xfrm>
              <a:off x="899592" y="4293096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467" name="Picture 23"/>
            <p:cNvPicPr>
              <a:picLocks noChangeAspect="1" noChangeArrowheads="1"/>
            </p:cNvPicPr>
            <p:nvPr/>
          </p:nvPicPr>
          <p:blipFill>
            <a:blip r:embed="rId4" cstate="print"/>
            <a:srcRect b="45558"/>
            <a:stretch>
              <a:fillRect/>
            </a:stretch>
          </p:blipFill>
          <p:spPr bwMode="auto">
            <a:xfrm>
              <a:off x="899592" y="4581131"/>
              <a:ext cx="717504" cy="153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68" name="文字方塊 467"/>
          <p:cNvSpPr txBox="1"/>
          <p:nvPr/>
        </p:nvSpPr>
        <p:spPr>
          <a:xfrm>
            <a:off x="5586038" y="3861048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GSLB/SLB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70" name="文字方塊 469"/>
          <p:cNvSpPr txBox="1"/>
          <p:nvPr/>
        </p:nvSpPr>
        <p:spPr>
          <a:xfrm>
            <a:off x="5698237" y="2852936"/>
            <a:ext cx="6591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Firewall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471" name="群組 470"/>
          <p:cNvGrpSpPr/>
          <p:nvPr/>
        </p:nvGrpSpPr>
        <p:grpSpPr>
          <a:xfrm>
            <a:off x="6635357" y="2420888"/>
            <a:ext cx="827584" cy="648072"/>
            <a:chOff x="72008" y="2420888"/>
            <a:chExt cx="827584" cy="648072"/>
          </a:xfrm>
        </p:grpSpPr>
        <p:sp>
          <p:nvSpPr>
            <p:cNvPr id="472" name="橢圓 471"/>
            <p:cNvSpPr/>
            <p:nvPr/>
          </p:nvSpPr>
          <p:spPr>
            <a:xfrm>
              <a:off x="72008" y="2420888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sp>
          <p:nvSpPr>
            <p:cNvPr id="473" name="文字方塊 472"/>
            <p:cNvSpPr txBox="1"/>
            <p:nvPr/>
          </p:nvSpPr>
          <p:spPr>
            <a:xfrm>
              <a:off x="72008" y="2791961"/>
              <a:ext cx="8275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SSL VPN</a:t>
              </a:r>
              <a:endParaRPr lang="zh-TW" altLang="en-US" sz="1000" b="1" dirty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474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79512" y="2647945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75" name="群組 26"/>
          <p:cNvGrpSpPr/>
          <p:nvPr/>
        </p:nvGrpSpPr>
        <p:grpSpPr>
          <a:xfrm>
            <a:off x="8002493" y="5632110"/>
            <a:ext cx="504056" cy="450153"/>
            <a:chOff x="1331640" y="5589240"/>
            <a:chExt cx="504056" cy="450153"/>
          </a:xfrm>
        </p:grpSpPr>
        <p:pic>
          <p:nvPicPr>
            <p:cNvPr id="476" name="Picture 39" descr="Server_CPU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31640" y="5589240"/>
              <a:ext cx="260278" cy="450153"/>
            </a:xfrm>
            <a:prstGeom prst="rect">
              <a:avLst/>
            </a:prstGeom>
          </p:spPr>
        </p:pic>
        <p:pic>
          <p:nvPicPr>
            <p:cNvPr id="477" name="Picture 39" descr="Server_CPU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5418" y="5589240"/>
              <a:ext cx="260278" cy="450153"/>
            </a:xfrm>
            <a:prstGeom prst="rect">
              <a:avLst/>
            </a:prstGeom>
          </p:spPr>
        </p:pic>
      </p:grpSp>
      <p:sp>
        <p:nvSpPr>
          <p:cNvPr id="485" name="文字方塊 484"/>
          <p:cNvSpPr txBox="1"/>
          <p:nvPr/>
        </p:nvSpPr>
        <p:spPr>
          <a:xfrm>
            <a:off x="6741361" y="6639163"/>
            <a:ext cx="9669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SAN Storage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86" name="文字方塊 485"/>
          <p:cNvSpPr txBox="1"/>
          <p:nvPr/>
        </p:nvSpPr>
        <p:spPr>
          <a:xfrm>
            <a:off x="5702919" y="6063099"/>
            <a:ext cx="9573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Web Servers</a:t>
            </a:r>
            <a:endParaRPr lang="zh-TW" altLang="en-US" sz="1000" b="1" dirty="0" smtClean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pic>
        <p:nvPicPr>
          <p:cNvPr id="489" name="Picture 12" descr="EX3200_2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698237" y="1340768"/>
            <a:ext cx="638678" cy="12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95" name="群組 291"/>
          <p:cNvGrpSpPr/>
          <p:nvPr/>
        </p:nvGrpSpPr>
        <p:grpSpPr>
          <a:xfrm>
            <a:off x="5698237" y="548680"/>
            <a:ext cx="720080" cy="648072"/>
            <a:chOff x="2987824" y="908720"/>
            <a:chExt cx="720080" cy="648072"/>
          </a:xfrm>
          <a:solidFill>
            <a:srgbClr val="FFFF00"/>
          </a:solidFill>
        </p:grpSpPr>
        <p:sp>
          <p:nvSpPr>
            <p:cNvPr id="496" name="橢圓 495"/>
            <p:cNvSpPr/>
            <p:nvPr/>
          </p:nvSpPr>
          <p:spPr>
            <a:xfrm>
              <a:off x="2987824" y="908720"/>
              <a:ext cx="720080" cy="648072"/>
            </a:xfrm>
            <a:prstGeom prst="ellipse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498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059832" y="1196752"/>
              <a:ext cx="542925" cy="1651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99" name="群組 293"/>
          <p:cNvGrpSpPr/>
          <p:nvPr/>
        </p:nvGrpSpPr>
        <p:grpSpPr>
          <a:xfrm>
            <a:off x="5698237" y="1556792"/>
            <a:ext cx="720080" cy="648072"/>
            <a:chOff x="2987824" y="908720"/>
            <a:chExt cx="720080" cy="648072"/>
          </a:xfrm>
        </p:grpSpPr>
        <p:sp>
          <p:nvSpPr>
            <p:cNvPr id="500" name="橢圓 499"/>
            <p:cNvSpPr/>
            <p:nvPr/>
          </p:nvSpPr>
          <p:spPr>
            <a:xfrm>
              <a:off x="2987824" y="908720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502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059832" y="1124744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03" name="文字方塊 502"/>
          <p:cNvSpPr txBox="1"/>
          <p:nvPr/>
        </p:nvSpPr>
        <p:spPr>
          <a:xfrm>
            <a:off x="5652120" y="1916832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DDoS</a:t>
            </a:r>
          </a:p>
          <a:p>
            <a:pPr algn="ctr"/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Mitigation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04" name="文字方塊 503"/>
          <p:cNvSpPr txBox="1"/>
          <p:nvPr/>
        </p:nvSpPr>
        <p:spPr>
          <a:xfrm>
            <a:off x="5764098" y="950531"/>
            <a:ext cx="5822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NGIPS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07" name="Line 46"/>
          <p:cNvSpPr>
            <a:spLocks noChangeShapeType="1"/>
          </p:cNvSpPr>
          <p:nvPr/>
        </p:nvSpPr>
        <p:spPr bwMode="auto">
          <a:xfrm flipH="1" flipV="1">
            <a:off x="7164288" y="5220732"/>
            <a:ext cx="0" cy="1160595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 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pic>
        <p:nvPicPr>
          <p:cNvPr id="510" name="Picture 39" descr="Server_CPU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041857" y="5611551"/>
            <a:ext cx="260278" cy="450153"/>
          </a:xfrm>
          <a:prstGeom prst="rect">
            <a:avLst/>
          </a:prstGeom>
        </p:spPr>
      </p:pic>
      <p:sp>
        <p:nvSpPr>
          <p:cNvPr id="513" name="Line 46"/>
          <p:cNvSpPr>
            <a:spLocks noChangeShapeType="1"/>
          </p:cNvSpPr>
          <p:nvPr/>
        </p:nvSpPr>
        <p:spPr bwMode="auto">
          <a:xfrm flipH="1" flipV="1">
            <a:off x="6130285" y="5301208"/>
            <a:ext cx="0" cy="625958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514" name="群組 27"/>
          <p:cNvGrpSpPr/>
          <p:nvPr/>
        </p:nvGrpSpPr>
        <p:grpSpPr>
          <a:xfrm>
            <a:off x="5770245" y="5631051"/>
            <a:ext cx="504056" cy="450153"/>
            <a:chOff x="827584" y="5589240"/>
            <a:chExt cx="504056" cy="450153"/>
          </a:xfrm>
        </p:grpSpPr>
        <p:pic>
          <p:nvPicPr>
            <p:cNvPr id="515" name="Picture 39" descr="Server_CPU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5589240"/>
              <a:ext cx="260278" cy="450153"/>
            </a:xfrm>
            <a:prstGeom prst="rect">
              <a:avLst/>
            </a:prstGeom>
          </p:spPr>
        </p:pic>
        <p:pic>
          <p:nvPicPr>
            <p:cNvPr id="516" name="Picture 39" descr="Server_CPU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1362" y="5589240"/>
              <a:ext cx="260278" cy="450153"/>
            </a:xfrm>
            <a:prstGeom prst="rect">
              <a:avLst/>
            </a:prstGeom>
          </p:spPr>
        </p:pic>
      </p:grpSp>
      <p:sp>
        <p:nvSpPr>
          <p:cNvPr id="517" name="圓角矩形 516"/>
          <p:cNvSpPr/>
          <p:nvPr/>
        </p:nvSpPr>
        <p:spPr bwMode="auto">
          <a:xfrm>
            <a:off x="5580112" y="5157192"/>
            <a:ext cx="720080" cy="360040"/>
          </a:xfrm>
          <a:prstGeom prst="roundRect">
            <a:avLst/>
          </a:prstGeom>
          <a:solidFill>
            <a:srgbClr val="FFCC99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FFC000">
                <a:alpha val="40000"/>
              </a:srgbClr>
            </a:glow>
          </a:effectLst>
        </p:spPr>
        <p:txBody>
          <a:bodyPr vert="horz" wrap="non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518" name="群組 161"/>
          <p:cNvGrpSpPr/>
          <p:nvPr/>
        </p:nvGrpSpPr>
        <p:grpSpPr>
          <a:xfrm>
            <a:off x="5626721" y="5205744"/>
            <a:ext cx="638678" cy="258660"/>
            <a:chOff x="991881" y="3212391"/>
            <a:chExt cx="638678" cy="258660"/>
          </a:xfrm>
        </p:grpSpPr>
        <p:pic>
          <p:nvPicPr>
            <p:cNvPr id="519" name="Picture 12" descr="EX3200_24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991881" y="3212391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  <p:pic>
          <p:nvPicPr>
            <p:cNvPr id="520" name="Picture 12" descr="EX3200_24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991881" y="3341721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</p:grpSp>
      <p:pic>
        <p:nvPicPr>
          <p:cNvPr id="523" name="Picture 12" descr="EX3200_2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707631" y="3299670"/>
            <a:ext cx="638678" cy="12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25" name="群組 336"/>
          <p:cNvGrpSpPr/>
          <p:nvPr/>
        </p:nvGrpSpPr>
        <p:grpSpPr>
          <a:xfrm>
            <a:off x="5698237" y="4365104"/>
            <a:ext cx="720080" cy="648072"/>
            <a:chOff x="2987824" y="908720"/>
            <a:chExt cx="720080" cy="648072"/>
          </a:xfrm>
        </p:grpSpPr>
        <p:sp>
          <p:nvSpPr>
            <p:cNvPr id="526" name="橢圓 525"/>
            <p:cNvSpPr/>
            <p:nvPr/>
          </p:nvSpPr>
          <p:spPr>
            <a:xfrm>
              <a:off x="2987824" y="908720"/>
              <a:ext cx="720080" cy="64807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528" name="Picture 45" descr="media gateway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059832" y="1196752"/>
              <a:ext cx="542925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29" name="文字方塊 528"/>
          <p:cNvSpPr txBox="1"/>
          <p:nvPr/>
        </p:nvSpPr>
        <p:spPr>
          <a:xfrm>
            <a:off x="5842253" y="4766955"/>
            <a:ext cx="4780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WAF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30" name="Line 46"/>
          <p:cNvSpPr>
            <a:spLocks noChangeShapeType="1"/>
          </p:cNvSpPr>
          <p:nvPr/>
        </p:nvSpPr>
        <p:spPr bwMode="auto">
          <a:xfrm flipH="1" flipV="1">
            <a:off x="6346309" y="3356992"/>
            <a:ext cx="2016224" cy="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31" name="Line 46"/>
          <p:cNvSpPr>
            <a:spLocks noChangeShapeType="1"/>
          </p:cNvSpPr>
          <p:nvPr/>
        </p:nvSpPr>
        <p:spPr bwMode="auto">
          <a:xfrm flipH="1" flipV="1">
            <a:off x="8362533" y="3356992"/>
            <a:ext cx="0" cy="1800200"/>
          </a:xfrm>
          <a:prstGeom prst="line">
            <a:avLst/>
          </a:prstGeom>
          <a:noFill/>
          <a:ln w="19050">
            <a:solidFill>
              <a:srgbClr val="A2A4A3"/>
            </a:solidFill>
            <a:round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endParaRPr lang="zh-TW" altLang="en-US" sz="1000" b="1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532" name="群組 347"/>
          <p:cNvGrpSpPr/>
          <p:nvPr/>
        </p:nvGrpSpPr>
        <p:grpSpPr>
          <a:xfrm>
            <a:off x="7843934" y="3501008"/>
            <a:ext cx="760271" cy="678269"/>
            <a:chOff x="4139952" y="3284984"/>
            <a:chExt cx="760271" cy="678269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grpSpPr>
        <p:grpSp>
          <p:nvGrpSpPr>
            <p:cNvPr id="533" name="群組 329"/>
            <p:cNvGrpSpPr/>
            <p:nvPr/>
          </p:nvGrpSpPr>
          <p:grpSpPr>
            <a:xfrm>
              <a:off x="4139952" y="3284984"/>
              <a:ext cx="720080" cy="648072"/>
              <a:chOff x="899592" y="4293096"/>
              <a:chExt cx="720080" cy="648072"/>
            </a:xfrm>
          </p:grpSpPr>
          <p:sp>
            <p:nvSpPr>
              <p:cNvPr id="535" name="橢圓 534"/>
              <p:cNvSpPr/>
              <p:nvPr/>
            </p:nvSpPr>
            <p:spPr>
              <a:xfrm>
                <a:off x="899592" y="4293096"/>
                <a:ext cx="720080" cy="648072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 b="1">
                  <a:latin typeface="Arial" pitchFamily="34" charset="0"/>
                  <a:ea typeface="Arial Unicode MS" pitchFamily="34" charset="-120"/>
                  <a:cs typeface="Arial" pitchFamily="34" charset="0"/>
                </a:endParaRPr>
              </a:p>
            </p:txBody>
          </p:sp>
          <p:pic>
            <p:nvPicPr>
              <p:cNvPr id="538" name="Picture 23"/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 b="45558"/>
              <a:stretch>
                <a:fillRect/>
              </a:stretch>
            </p:blipFill>
            <p:spPr bwMode="auto">
              <a:xfrm>
                <a:off x="899592" y="4581131"/>
                <a:ext cx="717504" cy="1531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534" name="文字方塊 533"/>
            <p:cNvSpPr txBox="1"/>
            <p:nvPr/>
          </p:nvSpPr>
          <p:spPr>
            <a:xfrm>
              <a:off x="4139952" y="3717032"/>
              <a:ext cx="7602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0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SLB</a:t>
              </a:r>
              <a:endParaRPr lang="zh-TW" altLang="en-US" sz="1000" b="1" dirty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</p:grpSp>
      <p:sp>
        <p:nvSpPr>
          <p:cNvPr id="539" name="文字方塊 538"/>
          <p:cNvSpPr txBox="1"/>
          <p:nvPr/>
        </p:nvSpPr>
        <p:spPr>
          <a:xfrm>
            <a:off x="7812117" y="6063099"/>
            <a:ext cx="864339" cy="246221"/>
          </a:xfrm>
          <a:prstGeom prst="rect">
            <a:avLst/>
          </a:prstGeom>
          <a:noFill/>
          <a:ln w="19050">
            <a:noFill/>
            <a:round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AP Servers</a:t>
            </a:r>
            <a:endParaRPr lang="zh-TW" altLang="en-US" sz="1000" b="1" dirty="0" smtClean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grpSp>
        <p:nvGrpSpPr>
          <p:cNvPr id="548" name="群組 347"/>
          <p:cNvGrpSpPr/>
          <p:nvPr/>
        </p:nvGrpSpPr>
        <p:grpSpPr>
          <a:xfrm>
            <a:off x="6778357" y="3501008"/>
            <a:ext cx="760271" cy="678269"/>
            <a:chOff x="4139952" y="3284984"/>
            <a:chExt cx="760271" cy="678269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grpSpPr>
        <p:grpSp>
          <p:nvGrpSpPr>
            <p:cNvPr id="549" name="群組 329"/>
            <p:cNvGrpSpPr/>
            <p:nvPr/>
          </p:nvGrpSpPr>
          <p:grpSpPr>
            <a:xfrm>
              <a:off x="4139952" y="3284984"/>
              <a:ext cx="720080" cy="648072"/>
              <a:chOff x="899592" y="4293096"/>
              <a:chExt cx="720080" cy="648072"/>
            </a:xfrm>
          </p:grpSpPr>
          <p:sp>
            <p:nvSpPr>
              <p:cNvPr id="551" name="橢圓 550"/>
              <p:cNvSpPr/>
              <p:nvPr/>
            </p:nvSpPr>
            <p:spPr>
              <a:xfrm>
                <a:off x="899592" y="4293096"/>
                <a:ext cx="720080" cy="648072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 b="1">
                  <a:latin typeface="Arial" pitchFamily="34" charset="0"/>
                  <a:ea typeface="Arial Unicode MS" pitchFamily="34" charset="-120"/>
                  <a:cs typeface="Arial" pitchFamily="34" charset="0"/>
                </a:endParaRPr>
              </a:p>
            </p:txBody>
          </p:sp>
          <p:pic>
            <p:nvPicPr>
              <p:cNvPr id="554" name="Picture 2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 b="45558"/>
              <a:stretch>
                <a:fillRect/>
              </a:stretch>
            </p:blipFill>
            <p:spPr bwMode="auto">
              <a:xfrm>
                <a:off x="899592" y="4581131"/>
                <a:ext cx="717504" cy="1531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550" name="文字方塊 549"/>
            <p:cNvSpPr txBox="1"/>
            <p:nvPr/>
          </p:nvSpPr>
          <p:spPr>
            <a:xfrm>
              <a:off x="4139952" y="3717032"/>
              <a:ext cx="7602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0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SLB</a:t>
              </a:r>
              <a:endParaRPr lang="zh-TW" altLang="en-US" sz="1000" b="1" dirty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</p:grpSp>
      <p:sp>
        <p:nvSpPr>
          <p:cNvPr id="565" name="文字方塊 564"/>
          <p:cNvSpPr txBox="1"/>
          <p:nvPr/>
        </p:nvSpPr>
        <p:spPr>
          <a:xfrm>
            <a:off x="4682734" y="6467763"/>
            <a:ext cx="4138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Mgt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66" name="文字方塊 565"/>
          <p:cNvSpPr txBox="1"/>
          <p:nvPr/>
        </p:nvSpPr>
        <p:spPr>
          <a:xfrm>
            <a:off x="4572000" y="6165304"/>
            <a:ext cx="596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L3VPN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70" name="文字方塊 569"/>
          <p:cNvSpPr txBox="1"/>
          <p:nvPr/>
        </p:nvSpPr>
        <p:spPr>
          <a:xfrm>
            <a:off x="3851920" y="6611779"/>
            <a:ext cx="5982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Router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521" name="文字方塊 520"/>
          <p:cNvSpPr txBox="1"/>
          <p:nvPr/>
        </p:nvSpPr>
        <p:spPr>
          <a:xfrm>
            <a:off x="6732240" y="6063099"/>
            <a:ext cx="857927" cy="246221"/>
          </a:xfrm>
          <a:prstGeom prst="rect">
            <a:avLst/>
          </a:prstGeom>
          <a:noFill/>
          <a:ln w="19050">
            <a:noFill/>
            <a:round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DB servers</a:t>
            </a:r>
            <a:endParaRPr lang="zh-TW" altLang="en-US" sz="1000" b="1" dirty="0" smtClean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cxnSp>
        <p:nvCxnSpPr>
          <p:cNvPr id="580" name="肘形接點 579"/>
          <p:cNvCxnSpPr>
            <a:endCxn id="178" idx="1"/>
          </p:cNvCxnSpPr>
          <p:nvPr/>
        </p:nvCxnSpPr>
        <p:spPr>
          <a:xfrm>
            <a:off x="4283968" y="6381328"/>
            <a:ext cx="1138290" cy="93354"/>
          </a:xfrm>
          <a:prstGeom prst="bentConnector3">
            <a:avLst>
              <a:gd name="adj1" fmla="val 50000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8" name="Picture 52" descr="1 Rack Multiple Units Generic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72930" y="6331631"/>
            <a:ext cx="388283" cy="396817"/>
          </a:xfrm>
          <a:prstGeom prst="rect">
            <a:avLst/>
          </a:prstGeom>
        </p:spPr>
      </p:pic>
      <p:grpSp>
        <p:nvGrpSpPr>
          <p:cNvPr id="583" name="群組 582"/>
          <p:cNvGrpSpPr/>
          <p:nvPr/>
        </p:nvGrpSpPr>
        <p:grpSpPr>
          <a:xfrm>
            <a:off x="6778357" y="4365104"/>
            <a:ext cx="720080" cy="648072"/>
            <a:chOff x="6778357" y="4365104"/>
            <a:chExt cx="720080" cy="648072"/>
          </a:xfrm>
        </p:grpSpPr>
        <p:grpSp>
          <p:nvGrpSpPr>
            <p:cNvPr id="555" name="群組 336"/>
            <p:cNvGrpSpPr/>
            <p:nvPr/>
          </p:nvGrpSpPr>
          <p:grpSpPr>
            <a:xfrm>
              <a:off x="6778357" y="4365104"/>
              <a:ext cx="720080" cy="648072"/>
              <a:chOff x="2987824" y="908720"/>
              <a:chExt cx="720080" cy="648072"/>
            </a:xfrm>
          </p:grpSpPr>
          <p:sp>
            <p:nvSpPr>
              <p:cNvPr id="556" name="橢圓 555"/>
              <p:cNvSpPr/>
              <p:nvPr/>
            </p:nvSpPr>
            <p:spPr>
              <a:xfrm>
                <a:off x="2987824" y="908720"/>
                <a:ext cx="720080" cy="648072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 b="1">
                  <a:latin typeface="Arial" pitchFamily="34" charset="0"/>
                  <a:ea typeface="Arial Unicode MS" pitchFamily="34" charset="-120"/>
                  <a:cs typeface="Arial" pitchFamily="34" charset="0"/>
                </a:endParaRPr>
              </a:p>
            </p:txBody>
          </p:sp>
          <p:pic>
            <p:nvPicPr>
              <p:cNvPr id="558" name="Picture 45" descr="media gateway"/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3059832" y="1196752"/>
                <a:ext cx="542925" cy="1651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559" name="文字方塊 558"/>
            <p:cNvSpPr txBox="1"/>
            <p:nvPr/>
          </p:nvSpPr>
          <p:spPr>
            <a:xfrm>
              <a:off x="6922373" y="4766955"/>
              <a:ext cx="4780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b="1" dirty="0" smtClean="0">
                  <a:latin typeface="Arial" pitchFamily="34" charset="0"/>
                  <a:ea typeface="Arial Unicode MS" pitchFamily="34" charset="-120"/>
                  <a:cs typeface="Arial" pitchFamily="34" charset="0"/>
                </a:rPr>
                <a:t>DAM</a:t>
              </a:r>
              <a:endParaRPr lang="zh-TW" altLang="en-US" sz="1000" b="1" dirty="0"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</p:grpSp>
      <p:grpSp>
        <p:nvGrpSpPr>
          <p:cNvPr id="591" name="群組 590"/>
          <p:cNvGrpSpPr/>
          <p:nvPr/>
        </p:nvGrpSpPr>
        <p:grpSpPr>
          <a:xfrm>
            <a:off x="7930485" y="5144988"/>
            <a:ext cx="720080" cy="360040"/>
            <a:chOff x="7930485" y="5144988"/>
            <a:chExt cx="720080" cy="360040"/>
          </a:xfrm>
        </p:grpSpPr>
        <p:sp>
          <p:nvSpPr>
            <p:cNvPr id="544" name="圓角矩形 543"/>
            <p:cNvSpPr/>
            <p:nvPr/>
          </p:nvSpPr>
          <p:spPr bwMode="auto">
            <a:xfrm>
              <a:off x="7930485" y="5144988"/>
              <a:ext cx="720080" cy="360040"/>
            </a:xfrm>
            <a:prstGeom prst="roundRect">
              <a:avLst/>
            </a:prstGeom>
            <a:solidFill>
              <a:srgbClr val="FFCC99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FFC000">
                  <a:alpha val="40000"/>
                </a:srgbClr>
              </a:glow>
            </a:effectLst>
          </p:spPr>
          <p:txBody>
            <a:bodyPr vert="horz" wrap="none" lIns="92075" tIns="46038" rIns="92075" bIns="46038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546" name="Picture 12" descr="EX3200_24"/>
            <p:cNvPicPr>
              <a:picLocks noChangeAspect="1" noChangeArrowheads="1"/>
            </p:cNvPicPr>
            <p:nvPr/>
          </p:nvPicPr>
          <p:blipFill>
            <a:blip r:embed="rId8" cstate="print">
              <a:lum bright="70000" contrast="-70000"/>
            </a:blip>
            <a:srcRect/>
            <a:stretch>
              <a:fillRect/>
            </a:stretch>
          </p:blipFill>
          <p:spPr bwMode="auto">
            <a:xfrm>
              <a:off x="7977094" y="5193540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  <p:pic>
          <p:nvPicPr>
            <p:cNvPr id="588" name="Picture 12" descr="EX3200_24"/>
            <p:cNvPicPr>
              <a:picLocks noChangeAspect="1" noChangeArrowheads="1"/>
            </p:cNvPicPr>
            <p:nvPr/>
          </p:nvPicPr>
          <p:blipFill>
            <a:blip r:embed="rId8" cstate="print">
              <a:lum bright="70000" contrast="-70000"/>
            </a:blip>
            <a:srcRect/>
            <a:stretch>
              <a:fillRect/>
            </a:stretch>
          </p:blipFill>
          <p:spPr bwMode="auto">
            <a:xfrm>
              <a:off x="7956376" y="5345940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</p:grpSp>
      <p:grpSp>
        <p:nvGrpSpPr>
          <p:cNvPr id="592" name="群組 591"/>
          <p:cNvGrpSpPr/>
          <p:nvPr/>
        </p:nvGrpSpPr>
        <p:grpSpPr>
          <a:xfrm>
            <a:off x="6804248" y="5157192"/>
            <a:ext cx="720080" cy="360040"/>
            <a:chOff x="7930485" y="5144988"/>
            <a:chExt cx="720080" cy="360040"/>
          </a:xfrm>
        </p:grpSpPr>
        <p:sp>
          <p:nvSpPr>
            <p:cNvPr id="593" name="圓角矩形 592"/>
            <p:cNvSpPr/>
            <p:nvPr/>
          </p:nvSpPr>
          <p:spPr bwMode="auto">
            <a:xfrm>
              <a:off x="7930485" y="5144988"/>
              <a:ext cx="720080" cy="360040"/>
            </a:xfrm>
            <a:prstGeom prst="roundRect">
              <a:avLst/>
            </a:prstGeom>
            <a:solidFill>
              <a:srgbClr val="FFCC99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FFC000">
                  <a:alpha val="40000"/>
                </a:srgbClr>
              </a:glow>
            </a:effectLst>
          </p:spPr>
          <p:txBody>
            <a:bodyPr vert="horz" wrap="none" lIns="92075" tIns="46038" rIns="92075" bIns="46038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594" name="Picture 12" descr="EX3200_24"/>
            <p:cNvPicPr>
              <a:picLocks noChangeAspect="1" noChangeArrowheads="1"/>
            </p:cNvPicPr>
            <p:nvPr/>
          </p:nvPicPr>
          <p:blipFill>
            <a:blip r:embed="rId8" cstate="print">
              <a:lum bright="70000" contrast="-70000"/>
            </a:blip>
            <a:srcRect/>
            <a:stretch>
              <a:fillRect/>
            </a:stretch>
          </p:blipFill>
          <p:spPr bwMode="auto">
            <a:xfrm>
              <a:off x="7977094" y="5193540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  <p:pic>
          <p:nvPicPr>
            <p:cNvPr id="595" name="Picture 12" descr="EX3200_24"/>
            <p:cNvPicPr>
              <a:picLocks noChangeAspect="1" noChangeArrowheads="1"/>
            </p:cNvPicPr>
            <p:nvPr/>
          </p:nvPicPr>
          <p:blipFill>
            <a:blip r:embed="rId8" cstate="print">
              <a:lum bright="70000" contrast="-70000"/>
            </a:blip>
            <a:srcRect/>
            <a:stretch>
              <a:fillRect/>
            </a:stretch>
          </p:blipFill>
          <p:spPr bwMode="auto">
            <a:xfrm>
              <a:off x="7956376" y="5345940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</p:grpSp>
      <p:grpSp>
        <p:nvGrpSpPr>
          <p:cNvPr id="596" name="群組 595"/>
          <p:cNvGrpSpPr/>
          <p:nvPr/>
        </p:nvGrpSpPr>
        <p:grpSpPr>
          <a:xfrm>
            <a:off x="3491880" y="5157192"/>
            <a:ext cx="720080" cy="360040"/>
            <a:chOff x="7930485" y="5144988"/>
            <a:chExt cx="720080" cy="360040"/>
          </a:xfrm>
        </p:grpSpPr>
        <p:sp>
          <p:nvSpPr>
            <p:cNvPr id="597" name="圓角矩形 596"/>
            <p:cNvSpPr/>
            <p:nvPr/>
          </p:nvSpPr>
          <p:spPr bwMode="auto">
            <a:xfrm>
              <a:off x="7930485" y="5144988"/>
              <a:ext cx="720080" cy="360040"/>
            </a:xfrm>
            <a:prstGeom prst="roundRect">
              <a:avLst/>
            </a:prstGeom>
            <a:solidFill>
              <a:srgbClr val="FFCC99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FFC000">
                  <a:alpha val="40000"/>
                </a:srgbClr>
              </a:glow>
            </a:effectLst>
          </p:spPr>
          <p:txBody>
            <a:bodyPr vert="horz" wrap="none" lIns="92075" tIns="46038" rIns="92075" bIns="46038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598" name="Picture 12" descr="EX3200_24"/>
            <p:cNvPicPr>
              <a:picLocks noChangeAspect="1" noChangeArrowheads="1"/>
            </p:cNvPicPr>
            <p:nvPr/>
          </p:nvPicPr>
          <p:blipFill>
            <a:blip r:embed="rId8" cstate="print">
              <a:lum bright="70000" contrast="-70000"/>
            </a:blip>
            <a:srcRect/>
            <a:stretch>
              <a:fillRect/>
            </a:stretch>
          </p:blipFill>
          <p:spPr bwMode="auto">
            <a:xfrm>
              <a:off x="7977094" y="5193540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  <p:pic>
          <p:nvPicPr>
            <p:cNvPr id="599" name="Picture 12" descr="EX3200_24"/>
            <p:cNvPicPr>
              <a:picLocks noChangeAspect="1" noChangeArrowheads="1"/>
            </p:cNvPicPr>
            <p:nvPr/>
          </p:nvPicPr>
          <p:blipFill>
            <a:blip r:embed="rId8" cstate="print">
              <a:lum bright="70000" contrast="-70000"/>
            </a:blip>
            <a:srcRect/>
            <a:stretch>
              <a:fillRect/>
            </a:stretch>
          </p:blipFill>
          <p:spPr bwMode="auto">
            <a:xfrm>
              <a:off x="7956376" y="5345940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</p:grpSp>
      <p:grpSp>
        <p:nvGrpSpPr>
          <p:cNvPr id="600" name="群組 599"/>
          <p:cNvGrpSpPr/>
          <p:nvPr/>
        </p:nvGrpSpPr>
        <p:grpSpPr>
          <a:xfrm>
            <a:off x="2339752" y="5169396"/>
            <a:ext cx="720080" cy="360040"/>
            <a:chOff x="7930485" y="5144988"/>
            <a:chExt cx="720080" cy="360040"/>
          </a:xfrm>
        </p:grpSpPr>
        <p:sp>
          <p:nvSpPr>
            <p:cNvPr id="601" name="圓角矩形 600"/>
            <p:cNvSpPr/>
            <p:nvPr/>
          </p:nvSpPr>
          <p:spPr bwMode="auto">
            <a:xfrm>
              <a:off x="7930485" y="5144988"/>
              <a:ext cx="720080" cy="360040"/>
            </a:xfrm>
            <a:prstGeom prst="roundRect">
              <a:avLst/>
            </a:prstGeom>
            <a:solidFill>
              <a:srgbClr val="FFCC99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FFC000">
                  <a:alpha val="40000"/>
                </a:srgbClr>
              </a:glow>
            </a:effectLst>
          </p:spPr>
          <p:txBody>
            <a:bodyPr vert="horz" wrap="none" lIns="92075" tIns="46038" rIns="92075" bIns="46038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endParaRPr>
            </a:p>
          </p:txBody>
        </p:sp>
        <p:pic>
          <p:nvPicPr>
            <p:cNvPr id="602" name="Picture 12" descr="EX3200_24"/>
            <p:cNvPicPr>
              <a:picLocks noChangeAspect="1" noChangeArrowheads="1"/>
            </p:cNvPicPr>
            <p:nvPr/>
          </p:nvPicPr>
          <p:blipFill>
            <a:blip r:embed="rId8" cstate="print">
              <a:lum bright="70000" contrast="-70000"/>
            </a:blip>
            <a:srcRect/>
            <a:stretch>
              <a:fillRect/>
            </a:stretch>
          </p:blipFill>
          <p:spPr bwMode="auto">
            <a:xfrm>
              <a:off x="7977094" y="5193540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  <p:pic>
          <p:nvPicPr>
            <p:cNvPr id="603" name="Picture 12" descr="EX3200_24"/>
            <p:cNvPicPr>
              <a:picLocks noChangeAspect="1" noChangeArrowheads="1"/>
            </p:cNvPicPr>
            <p:nvPr/>
          </p:nvPicPr>
          <p:blipFill>
            <a:blip r:embed="rId8" cstate="print">
              <a:lum bright="70000" contrast="-70000"/>
            </a:blip>
            <a:srcRect/>
            <a:stretch>
              <a:fillRect/>
            </a:stretch>
          </p:blipFill>
          <p:spPr bwMode="auto">
            <a:xfrm>
              <a:off x="7956376" y="5345940"/>
              <a:ext cx="638678" cy="129330"/>
            </a:xfrm>
            <a:prstGeom prst="rect">
              <a:avLst/>
            </a:prstGeom>
            <a:noFill/>
            <a:ln w="952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</p:pic>
      </p:grpSp>
      <p:pic>
        <p:nvPicPr>
          <p:cNvPr id="177" name="Picture 18" descr="Generic Router 1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910090" y="6251739"/>
            <a:ext cx="445886" cy="445886"/>
          </a:xfrm>
          <a:prstGeom prst="rect">
            <a:avLst/>
          </a:prstGeom>
        </p:spPr>
      </p:pic>
      <p:sp>
        <p:nvSpPr>
          <p:cNvPr id="605" name="橢圓 604"/>
          <p:cNvSpPr/>
          <p:nvPr/>
        </p:nvSpPr>
        <p:spPr bwMode="auto">
          <a:xfrm>
            <a:off x="7164288" y="188640"/>
            <a:ext cx="1800200" cy="1224136"/>
          </a:xfrm>
          <a:prstGeom prst="ellipse">
            <a:avLst/>
          </a:prstGeom>
          <a:gradFill flip="none" rotWithShape="1">
            <a:gsLst>
              <a:gs pos="0">
                <a:srgbClr val="00FFFF">
                  <a:tint val="66000"/>
                  <a:satMod val="160000"/>
                </a:srgbClr>
              </a:gs>
              <a:gs pos="50000">
                <a:srgbClr val="00FFFF">
                  <a:tint val="44500"/>
                  <a:satMod val="160000"/>
                </a:srgbClr>
              </a:gs>
              <a:gs pos="100000">
                <a:srgbClr val="00FFFF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non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endParaRPr lang="zh-TW" altLang="en-US" sz="1000" b="1" smtClean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pic>
        <p:nvPicPr>
          <p:cNvPr id="606" name="Picture 39" descr="Server_CPU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714079" y="363434"/>
            <a:ext cx="260278" cy="450153"/>
          </a:xfrm>
          <a:prstGeom prst="rect">
            <a:avLst/>
          </a:prstGeom>
        </p:spPr>
      </p:pic>
      <p:pic>
        <p:nvPicPr>
          <p:cNvPr id="607" name="Picture 39" descr="Server_CPU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974357" y="363434"/>
            <a:ext cx="260278" cy="450153"/>
          </a:xfrm>
          <a:prstGeom prst="rect">
            <a:avLst/>
          </a:prstGeom>
        </p:spPr>
      </p:pic>
      <p:pic>
        <p:nvPicPr>
          <p:cNvPr id="608" name="Picture 39" descr="Server_CPU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218135" y="363434"/>
            <a:ext cx="260278" cy="450153"/>
          </a:xfrm>
          <a:prstGeom prst="rect">
            <a:avLst/>
          </a:prstGeom>
        </p:spPr>
      </p:pic>
      <p:sp>
        <p:nvSpPr>
          <p:cNvPr id="609" name="文字方塊 608"/>
          <p:cNvSpPr txBox="1"/>
          <p:nvPr/>
        </p:nvSpPr>
        <p:spPr>
          <a:xfrm>
            <a:off x="7570063" y="806515"/>
            <a:ext cx="11063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OA VM Servers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610" name="文字方塊 609"/>
          <p:cNvSpPr txBox="1"/>
          <p:nvPr/>
        </p:nvSpPr>
        <p:spPr>
          <a:xfrm>
            <a:off x="8100392" y="1052736"/>
            <a:ext cx="731290" cy="24622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SSL VPN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611" name="文字方塊 610"/>
          <p:cNvSpPr txBox="1"/>
          <p:nvPr/>
        </p:nvSpPr>
        <p:spPr>
          <a:xfrm>
            <a:off x="7452320" y="1052736"/>
            <a:ext cx="530915" cy="24622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IPSec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cxnSp>
        <p:nvCxnSpPr>
          <p:cNvPr id="612" name="直線接點 611"/>
          <p:cNvCxnSpPr/>
          <p:nvPr/>
        </p:nvCxnSpPr>
        <p:spPr>
          <a:xfrm>
            <a:off x="4644008" y="188640"/>
            <a:ext cx="0" cy="6669360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" name="文字方塊 613"/>
          <p:cNvSpPr txBox="1"/>
          <p:nvPr/>
        </p:nvSpPr>
        <p:spPr>
          <a:xfrm>
            <a:off x="0" y="16195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主營運端</a:t>
            </a:r>
            <a:endParaRPr lang="zh-TW" altLang="en-US" b="1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15" name="文字方塊 614"/>
          <p:cNvSpPr txBox="1"/>
          <p:nvPr/>
        </p:nvSpPr>
        <p:spPr>
          <a:xfrm>
            <a:off x="7884368" y="170080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異地營運端</a:t>
            </a:r>
            <a:endParaRPr lang="zh-TW" altLang="en-US" b="1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21" name="文字方塊 220"/>
          <p:cNvSpPr txBox="1"/>
          <p:nvPr/>
        </p:nvSpPr>
        <p:spPr>
          <a:xfrm>
            <a:off x="1979712" y="2852936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Web</a:t>
            </a:r>
          </a:p>
          <a:p>
            <a:pPr algn="ctr"/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AP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22" name="文字方塊 221"/>
          <p:cNvSpPr txBox="1"/>
          <p:nvPr/>
        </p:nvSpPr>
        <p:spPr>
          <a:xfrm>
            <a:off x="5292080" y="2852936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Web</a:t>
            </a:r>
          </a:p>
          <a:p>
            <a:pPr algn="ctr"/>
            <a:r>
              <a:rPr lang="en-US" altLang="zh-TW" sz="1000" b="1" dirty="0" smtClean="0">
                <a:latin typeface="Arial" pitchFamily="34" charset="0"/>
                <a:ea typeface="Arial Unicode MS" pitchFamily="34" charset="-120"/>
                <a:cs typeface="Arial" pitchFamily="34" charset="0"/>
              </a:rPr>
              <a:t>AP</a:t>
            </a:r>
            <a:endParaRPr lang="zh-TW" altLang="en-US" sz="1000" b="1" dirty="0"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23" name="文字方塊 222"/>
          <p:cNvSpPr txBox="1"/>
          <p:nvPr/>
        </p:nvSpPr>
        <p:spPr>
          <a:xfrm>
            <a:off x="3568363" y="806439"/>
            <a:ext cx="187220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入侵偵測防禦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24" name="文字方塊 223"/>
          <p:cNvSpPr txBox="1"/>
          <p:nvPr/>
        </p:nvSpPr>
        <p:spPr>
          <a:xfrm>
            <a:off x="3570250" y="1615882"/>
            <a:ext cx="1872208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 smtClean="0">
                <a:latin typeface="微軟正黑體" pitchFamily="34" charset="-120"/>
                <a:ea typeface="微軟正黑體" pitchFamily="34" charset="-120"/>
              </a:rPr>
              <a:t>DDoS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攻擊防禦抑制區域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093110" y="3656858"/>
            <a:ext cx="155901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負載平衡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分配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27" name="文字方塊 226"/>
          <p:cNvSpPr txBox="1"/>
          <p:nvPr/>
        </p:nvSpPr>
        <p:spPr>
          <a:xfrm>
            <a:off x="3266954" y="4508874"/>
            <a:ext cx="234398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L7 WAF/DB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安全控管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28" name="文字方塊 227"/>
          <p:cNvSpPr txBox="1"/>
          <p:nvPr/>
        </p:nvSpPr>
        <p:spPr>
          <a:xfrm>
            <a:off x="375784" y="4256047"/>
            <a:ext cx="432048" cy="258532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安全防火牆政策管控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25177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橢圓 87"/>
          <p:cNvSpPr/>
          <p:nvPr/>
        </p:nvSpPr>
        <p:spPr bwMode="auto">
          <a:xfrm>
            <a:off x="395536" y="2988320"/>
            <a:ext cx="3816424" cy="936104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dirty="0" smtClean="0">
                <a:solidFill>
                  <a:srgbClr val="0000CC"/>
                </a:solidFill>
              </a:rPr>
              <a:t>Web</a:t>
            </a:r>
            <a:r>
              <a:rPr lang="zh-TW" altLang="en-US" dirty="0" smtClean="0">
                <a:solidFill>
                  <a:srgbClr val="0000CC"/>
                </a:solidFill>
              </a:rPr>
              <a:t> </a:t>
            </a:r>
            <a:r>
              <a:rPr lang="en-US" altLang="zh-TW" dirty="0" smtClean="0">
                <a:solidFill>
                  <a:srgbClr val="0000CC"/>
                </a:solidFill>
              </a:rPr>
              <a:t>Zone</a:t>
            </a:r>
            <a:endParaRPr lang="zh-TW" altLang="en-US" dirty="0" smtClean="0">
              <a:solidFill>
                <a:srgbClr val="0000CC"/>
              </a:solidFill>
            </a:endParaRPr>
          </a:p>
        </p:txBody>
      </p:sp>
      <p:sp>
        <p:nvSpPr>
          <p:cNvPr id="125" name="標題 12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 smtClean="0"/>
              <a:t>縱深防禦概念與本案關係</a:t>
            </a:r>
            <a:endParaRPr lang="zh-TW" altLang="en-US" dirty="0"/>
          </a:p>
        </p:txBody>
      </p:sp>
      <p:sp>
        <p:nvSpPr>
          <p:cNvPr id="58" name="橢圓 57"/>
          <p:cNvSpPr/>
          <p:nvPr/>
        </p:nvSpPr>
        <p:spPr bwMode="auto">
          <a:xfrm>
            <a:off x="395536" y="1628800"/>
            <a:ext cx="3816424" cy="936104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dirty="0" smtClean="0">
                <a:solidFill>
                  <a:srgbClr val="0000CC"/>
                </a:solidFill>
              </a:rPr>
              <a:t>Internet Security</a:t>
            </a:r>
            <a:r>
              <a:rPr lang="zh-TW" altLang="en-US" dirty="0" smtClean="0">
                <a:solidFill>
                  <a:srgbClr val="0000CC"/>
                </a:solidFill>
              </a:rPr>
              <a:t> </a:t>
            </a:r>
            <a:r>
              <a:rPr lang="en-US" altLang="zh-TW" dirty="0" smtClean="0">
                <a:solidFill>
                  <a:srgbClr val="0000CC"/>
                </a:solidFill>
              </a:rPr>
              <a:t>Zone</a:t>
            </a:r>
            <a:endParaRPr lang="zh-TW" altLang="en-US" dirty="0" smtClean="0">
              <a:solidFill>
                <a:srgbClr val="0000CC"/>
              </a:solidFill>
            </a:endParaRPr>
          </a:p>
        </p:txBody>
      </p:sp>
      <p:grpSp>
        <p:nvGrpSpPr>
          <p:cNvPr id="3" name="群組 79"/>
          <p:cNvGrpSpPr/>
          <p:nvPr/>
        </p:nvGrpSpPr>
        <p:grpSpPr>
          <a:xfrm>
            <a:off x="1475656" y="1124744"/>
            <a:ext cx="1656184" cy="548680"/>
            <a:chOff x="395536" y="476672"/>
            <a:chExt cx="1656184" cy="548680"/>
          </a:xfrm>
        </p:grpSpPr>
        <p:pic>
          <p:nvPicPr>
            <p:cNvPr id="81" name="Picture 27" descr="ICON_Cloud_Q30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5536" y="476672"/>
              <a:ext cx="1656184" cy="54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" name="文字方塊 81"/>
            <p:cNvSpPr txBox="1"/>
            <p:nvPr/>
          </p:nvSpPr>
          <p:spPr>
            <a:xfrm>
              <a:off x="827584" y="548680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Internet</a:t>
              </a:r>
              <a:endParaRPr lang="zh-TW" altLang="en-US" dirty="0"/>
            </a:p>
          </p:txBody>
        </p:sp>
      </p:grpSp>
      <p:grpSp>
        <p:nvGrpSpPr>
          <p:cNvPr id="4" name="群組 6"/>
          <p:cNvGrpSpPr/>
          <p:nvPr/>
        </p:nvGrpSpPr>
        <p:grpSpPr>
          <a:xfrm>
            <a:off x="1941908" y="2492896"/>
            <a:ext cx="2199272" cy="648072"/>
            <a:chOff x="4210160" y="2924944"/>
            <a:chExt cx="2199272" cy="648072"/>
          </a:xfrm>
        </p:grpSpPr>
        <p:sp>
          <p:nvSpPr>
            <p:cNvPr id="27" name="圓角矩形 26"/>
            <p:cNvSpPr/>
            <p:nvPr/>
          </p:nvSpPr>
          <p:spPr bwMode="auto">
            <a:xfrm>
              <a:off x="4537224" y="2924944"/>
              <a:ext cx="1872208" cy="576064"/>
            </a:xfrm>
            <a:prstGeom prst="round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0" i="0" u="none" strike="noStrike" cap="none" normalizeH="0" baseline="0" dirty="0" smtClean="0">
                  <a:ln>
                    <a:noFill/>
                  </a:ln>
                  <a:solidFill>
                    <a:srgbClr val="0000CC"/>
                  </a:solidFill>
                  <a:effectLst/>
                  <a:latin typeface="Times New Roman" pitchFamily="18" charset="0"/>
                  <a:ea typeface="新細明體" pitchFamily="18" charset="-120"/>
                </a:rPr>
                <a:t>FW</a:t>
              </a:r>
              <a:r>
                <a:rPr lang="zh-TW" altLang="en-US" dirty="0" smtClean="0">
                  <a:solidFill>
                    <a:srgbClr val="0000CC"/>
                  </a:solidFill>
                </a:rPr>
                <a:t> </a:t>
              </a:r>
              <a:r>
                <a:rPr lang="en-US" altLang="zh-TW" dirty="0" err="1" smtClean="0">
                  <a:solidFill>
                    <a:srgbClr val="0000CC"/>
                  </a:solidFill>
                </a:rPr>
                <a:t>v</a:t>
              </a:r>
              <a:r>
                <a:rPr kumimoji="1" lang="en-US" altLang="zh-TW" sz="1800" b="0" i="0" u="none" strike="noStrike" cap="none" normalizeH="0" baseline="0" dirty="0" err="1" smtClean="0">
                  <a:ln>
                    <a:noFill/>
                  </a:ln>
                  <a:solidFill>
                    <a:srgbClr val="0000CC"/>
                  </a:solidFill>
                  <a:effectLst/>
                  <a:latin typeface="Times New Roman" pitchFamily="18" charset="0"/>
                  <a:ea typeface="新細明體" pitchFamily="18" charset="-120"/>
                </a:rPr>
                <a:t>SYS</a:t>
              </a:r>
              <a:endParaRPr kumimoji="1" lang="zh-TW" altLang="en-US" sz="1800" b="0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Times New Roman" pitchFamily="18" charset="0"/>
                <a:ea typeface="新細明體" pitchFamily="18" charset="-120"/>
              </a:endParaRPr>
            </a:p>
          </p:txBody>
        </p:sp>
        <p:grpSp>
          <p:nvGrpSpPr>
            <p:cNvPr id="5" name="群組 232"/>
            <p:cNvGrpSpPr/>
            <p:nvPr/>
          </p:nvGrpSpPr>
          <p:grpSpPr>
            <a:xfrm>
              <a:off x="4210160" y="2924944"/>
              <a:ext cx="723680" cy="648072"/>
              <a:chOff x="1760088" y="2204864"/>
              <a:chExt cx="723680" cy="648072"/>
            </a:xfrm>
          </p:grpSpPr>
          <p:sp>
            <p:nvSpPr>
              <p:cNvPr id="90" name="橢圓 89"/>
              <p:cNvSpPr/>
              <p:nvPr/>
            </p:nvSpPr>
            <p:spPr>
              <a:xfrm>
                <a:off x="1763688" y="2204864"/>
                <a:ext cx="720080" cy="648072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6" name="群組 149"/>
              <p:cNvGrpSpPr/>
              <p:nvPr/>
            </p:nvGrpSpPr>
            <p:grpSpPr>
              <a:xfrm>
                <a:off x="1760088" y="2276872"/>
                <a:ext cx="720080" cy="447541"/>
                <a:chOff x="1835696" y="2276872"/>
                <a:chExt cx="720080" cy="447541"/>
              </a:xfrm>
            </p:grpSpPr>
            <p:pic>
              <p:nvPicPr>
                <p:cNvPr id="92" name="Picture 6" descr="firewall1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2100631" y="2348880"/>
                  <a:ext cx="455145" cy="3755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93" name="Picture 6" descr="firewall1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1835696" y="2276872"/>
                  <a:ext cx="455145" cy="3755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</p:grpSp>
      <p:sp>
        <p:nvSpPr>
          <p:cNvPr id="94" name="橢圓 93"/>
          <p:cNvSpPr/>
          <p:nvPr/>
        </p:nvSpPr>
        <p:spPr bwMode="auto">
          <a:xfrm>
            <a:off x="395536" y="4365104"/>
            <a:ext cx="3816424" cy="936104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dirty="0" smtClean="0">
                <a:solidFill>
                  <a:srgbClr val="0000CC"/>
                </a:solidFill>
              </a:rPr>
              <a:t>AP</a:t>
            </a:r>
            <a:r>
              <a:rPr lang="zh-TW" altLang="en-US" dirty="0" smtClean="0">
                <a:solidFill>
                  <a:srgbClr val="0000CC"/>
                </a:solidFill>
              </a:rPr>
              <a:t> </a:t>
            </a:r>
            <a:r>
              <a:rPr lang="en-US" altLang="zh-TW" dirty="0" smtClean="0">
                <a:solidFill>
                  <a:srgbClr val="0000CC"/>
                </a:solidFill>
              </a:rPr>
              <a:t>Zone</a:t>
            </a:r>
            <a:endParaRPr lang="zh-TW" altLang="en-US" dirty="0" smtClean="0">
              <a:solidFill>
                <a:srgbClr val="0000CC"/>
              </a:solidFill>
            </a:endParaRPr>
          </a:p>
        </p:txBody>
      </p:sp>
      <p:grpSp>
        <p:nvGrpSpPr>
          <p:cNvPr id="7" name="群組 94"/>
          <p:cNvGrpSpPr/>
          <p:nvPr/>
        </p:nvGrpSpPr>
        <p:grpSpPr>
          <a:xfrm>
            <a:off x="1941908" y="3869680"/>
            <a:ext cx="2199272" cy="648072"/>
            <a:chOff x="4210160" y="2924944"/>
            <a:chExt cx="2199272" cy="648072"/>
          </a:xfrm>
        </p:grpSpPr>
        <p:sp>
          <p:nvSpPr>
            <p:cNvPr id="96" name="圓角矩形 95"/>
            <p:cNvSpPr/>
            <p:nvPr/>
          </p:nvSpPr>
          <p:spPr bwMode="auto">
            <a:xfrm>
              <a:off x="4537224" y="2924944"/>
              <a:ext cx="1872208" cy="576064"/>
            </a:xfrm>
            <a:prstGeom prst="round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0" i="0" u="none" strike="noStrike" cap="none" normalizeH="0" baseline="0" dirty="0" smtClean="0">
                  <a:ln>
                    <a:noFill/>
                  </a:ln>
                  <a:solidFill>
                    <a:srgbClr val="0000CC"/>
                  </a:solidFill>
                  <a:effectLst/>
                  <a:latin typeface="Times New Roman" pitchFamily="18" charset="0"/>
                  <a:ea typeface="新細明體" pitchFamily="18" charset="-120"/>
                </a:rPr>
                <a:t>FW</a:t>
              </a:r>
              <a:r>
                <a:rPr lang="zh-TW" altLang="en-US" dirty="0" smtClean="0">
                  <a:solidFill>
                    <a:srgbClr val="0000CC"/>
                  </a:solidFill>
                </a:rPr>
                <a:t> </a:t>
              </a:r>
              <a:r>
                <a:rPr lang="en-US" altLang="zh-TW" dirty="0" err="1" smtClean="0">
                  <a:solidFill>
                    <a:srgbClr val="0000CC"/>
                  </a:solidFill>
                </a:rPr>
                <a:t>v</a:t>
              </a:r>
              <a:r>
                <a:rPr kumimoji="1" lang="en-US" altLang="zh-TW" sz="1800" b="0" i="0" u="none" strike="noStrike" cap="none" normalizeH="0" baseline="0" dirty="0" err="1" smtClean="0">
                  <a:ln>
                    <a:noFill/>
                  </a:ln>
                  <a:solidFill>
                    <a:srgbClr val="0000CC"/>
                  </a:solidFill>
                  <a:effectLst/>
                  <a:latin typeface="Times New Roman" pitchFamily="18" charset="0"/>
                  <a:ea typeface="新細明體" pitchFamily="18" charset="-120"/>
                </a:rPr>
                <a:t>SYS</a:t>
              </a:r>
              <a:endParaRPr kumimoji="1" lang="zh-TW" altLang="en-US" sz="1800" b="0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Times New Roman" pitchFamily="18" charset="0"/>
                <a:ea typeface="新細明體" pitchFamily="18" charset="-120"/>
              </a:endParaRPr>
            </a:p>
          </p:txBody>
        </p:sp>
        <p:grpSp>
          <p:nvGrpSpPr>
            <p:cNvPr id="8" name="群組 232"/>
            <p:cNvGrpSpPr/>
            <p:nvPr/>
          </p:nvGrpSpPr>
          <p:grpSpPr>
            <a:xfrm>
              <a:off x="4210160" y="2924944"/>
              <a:ext cx="723680" cy="648072"/>
              <a:chOff x="1760088" y="2204864"/>
              <a:chExt cx="723680" cy="648072"/>
            </a:xfrm>
          </p:grpSpPr>
          <p:sp>
            <p:nvSpPr>
              <p:cNvPr id="98" name="橢圓 97"/>
              <p:cNvSpPr/>
              <p:nvPr/>
            </p:nvSpPr>
            <p:spPr>
              <a:xfrm>
                <a:off x="1763688" y="2204864"/>
                <a:ext cx="720080" cy="648072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9" name="群組 149"/>
              <p:cNvGrpSpPr/>
              <p:nvPr/>
            </p:nvGrpSpPr>
            <p:grpSpPr>
              <a:xfrm>
                <a:off x="1760088" y="2276872"/>
                <a:ext cx="720080" cy="447541"/>
                <a:chOff x="1835696" y="2276872"/>
                <a:chExt cx="720080" cy="447541"/>
              </a:xfrm>
            </p:grpSpPr>
            <p:pic>
              <p:nvPicPr>
                <p:cNvPr id="100" name="Picture 6" descr="firewall1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2100631" y="2348880"/>
                  <a:ext cx="455145" cy="3755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103" name="Picture 6" descr="firewall1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1835696" y="2276872"/>
                  <a:ext cx="455145" cy="3755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</p:grpSp>
      <p:sp>
        <p:nvSpPr>
          <p:cNvPr id="104" name="橢圓 103"/>
          <p:cNvSpPr/>
          <p:nvPr/>
        </p:nvSpPr>
        <p:spPr bwMode="auto">
          <a:xfrm>
            <a:off x="395536" y="5661248"/>
            <a:ext cx="3816424" cy="936104"/>
          </a:xfrm>
          <a:prstGeom prst="ellipse">
            <a:avLst/>
          </a:prstGeom>
          <a:solidFill>
            <a:srgbClr val="FFFFCC"/>
          </a:solidFill>
          <a:ln w="28575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dirty="0" smtClean="0">
                <a:solidFill>
                  <a:srgbClr val="0000CC"/>
                </a:solidFill>
              </a:rPr>
              <a:t>DB</a:t>
            </a:r>
            <a:r>
              <a:rPr lang="zh-TW" altLang="en-US" dirty="0" smtClean="0">
                <a:solidFill>
                  <a:srgbClr val="0000CC"/>
                </a:solidFill>
              </a:rPr>
              <a:t> </a:t>
            </a:r>
            <a:r>
              <a:rPr lang="en-US" altLang="zh-TW" dirty="0" smtClean="0">
                <a:solidFill>
                  <a:srgbClr val="0000CC"/>
                </a:solidFill>
              </a:rPr>
              <a:t>Zone</a:t>
            </a:r>
            <a:endParaRPr lang="zh-TW" altLang="en-US" dirty="0" smtClean="0">
              <a:solidFill>
                <a:srgbClr val="0000CC"/>
              </a:solidFill>
            </a:endParaRPr>
          </a:p>
        </p:txBody>
      </p:sp>
      <p:grpSp>
        <p:nvGrpSpPr>
          <p:cNvPr id="10" name="群組 104"/>
          <p:cNvGrpSpPr/>
          <p:nvPr/>
        </p:nvGrpSpPr>
        <p:grpSpPr>
          <a:xfrm>
            <a:off x="1941908" y="5165824"/>
            <a:ext cx="2199272" cy="648072"/>
            <a:chOff x="4210160" y="2924944"/>
            <a:chExt cx="2199272" cy="648072"/>
          </a:xfrm>
        </p:grpSpPr>
        <p:sp>
          <p:nvSpPr>
            <p:cNvPr id="106" name="圓角矩形 105"/>
            <p:cNvSpPr/>
            <p:nvPr/>
          </p:nvSpPr>
          <p:spPr bwMode="auto">
            <a:xfrm>
              <a:off x="4537224" y="2924944"/>
              <a:ext cx="1872208" cy="576064"/>
            </a:xfrm>
            <a:prstGeom prst="round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0" i="0" u="none" strike="noStrike" cap="none" normalizeH="0" baseline="0" dirty="0" smtClean="0">
                  <a:ln>
                    <a:noFill/>
                  </a:ln>
                  <a:solidFill>
                    <a:srgbClr val="0000CC"/>
                  </a:solidFill>
                  <a:effectLst/>
                  <a:latin typeface="Times New Roman" pitchFamily="18" charset="0"/>
                  <a:ea typeface="新細明體" pitchFamily="18" charset="-120"/>
                </a:rPr>
                <a:t>FW</a:t>
              </a:r>
              <a:r>
                <a:rPr lang="zh-TW" altLang="en-US" dirty="0" smtClean="0">
                  <a:solidFill>
                    <a:srgbClr val="0000CC"/>
                  </a:solidFill>
                </a:rPr>
                <a:t> </a:t>
              </a:r>
              <a:r>
                <a:rPr lang="en-US" altLang="zh-TW" dirty="0" err="1" smtClean="0">
                  <a:solidFill>
                    <a:srgbClr val="0000CC"/>
                  </a:solidFill>
                </a:rPr>
                <a:t>v</a:t>
              </a:r>
              <a:r>
                <a:rPr kumimoji="1" lang="en-US" altLang="zh-TW" sz="1800" b="0" i="0" u="none" strike="noStrike" cap="none" normalizeH="0" baseline="0" dirty="0" err="1" smtClean="0">
                  <a:ln>
                    <a:noFill/>
                  </a:ln>
                  <a:solidFill>
                    <a:srgbClr val="0000CC"/>
                  </a:solidFill>
                  <a:effectLst/>
                  <a:latin typeface="Times New Roman" pitchFamily="18" charset="0"/>
                  <a:ea typeface="新細明體" pitchFamily="18" charset="-120"/>
                </a:rPr>
                <a:t>SYS</a:t>
              </a:r>
              <a:endParaRPr kumimoji="1" lang="zh-TW" altLang="en-US" sz="1800" b="0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Times New Roman" pitchFamily="18" charset="0"/>
                <a:ea typeface="新細明體" pitchFamily="18" charset="-120"/>
              </a:endParaRPr>
            </a:p>
          </p:txBody>
        </p:sp>
        <p:grpSp>
          <p:nvGrpSpPr>
            <p:cNvPr id="11" name="群組 232"/>
            <p:cNvGrpSpPr/>
            <p:nvPr/>
          </p:nvGrpSpPr>
          <p:grpSpPr>
            <a:xfrm>
              <a:off x="4210160" y="2924944"/>
              <a:ext cx="723680" cy="648072"/>
              <a:chOff x="1760088" y="2204864"/>
              <a:chExt cx="723680" cy="648072"/>
            </a:xfrm>
          </p:grpSpPr>
          <p:sp>
            <p:nvSpPr>
              <p:cNvPr id="108" name="橢圓 107"/>
              <p:cNvSpPr/>
              <p:nvPr/>
            </p:nvSpPr>
            <p:spPr>
              <a:xfrm>
                <a:off x="1763688" y="2204864"/>
                <a:ext cx="720080" cy="648072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2" name="群組 149"/>
              <p:cNvGrpSpPr/>
              <p:nvPr/>
            </p:nvGrpSpPr>
            <p:grpSpPr>
              <a:xfrm>
                <a:off x="1760088" y="2276872"/>
                <a:ext cx="720080" cy="447541"/>
                <a:chOff x="1835696" y="2276872"/>
                <a:chExt cx="720080" cy="447541"/>
              </a:xfrm>
            </p:grpSpPr>
            <p:pic>
              <p:nvPicPr>
                <p:cNvPr id="111" name="Picture 6" descr="firewall1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2100631" y="2348880"/>
                  <a:ext cx="455145" cy="3755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113" name="Picture 6" descr="firewall1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1835696" y="2276872"/>
                  <a:ext cx="455145" cy="3755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</p:grpSp>
      <p:sp>
        <p:nvSpPr>
          <p:cNvPr id="32" name="文字方塊 31"/>
          <p:cNvSpPr txBox="1"/>
          <p:nvPr/>
        </p:nvSpPr>
        <p:spPr>
          <a:xfrm>
            <a:off x="4559497" y="2492896"/>
            <a:ext cx="458450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每個區域都須要經過防火牆的政策控管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4499992" y="1772816"/>
            <a:ext cx="4644008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入侵偵測防禦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Font typeface="Arial" pitchFamily="34" charset="0"/>
              <a:buChar char="•"/>
            </a:pP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DDoS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攻擊防禦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/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抑制區域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572000" y="2937718"/>
            <a:ext cx="4571999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網頁服務伺服器負載平衡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Font typeface="Arial" pitchFamily="34" charset="0"/>
              <a:buChar char="•"/>
            </a:pP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SSL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卸載、強化網頁安全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(WAF)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HTTP RAM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快取、效能優化機制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4572000" y="5805264"/>
            <a:ext cx="4572000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資料庫安全與稽核，確保關鍵資料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Font typeface="Arial" pitchFamily="34" charset="0"/>
              <a:buChar char="•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資料庫叢集架構與異地主備機制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Font typeface="Arial" pitchFamily="34" charset="0"/>
              <a:buChar char="•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資料庫網路端負載平衡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4499992" y="1052736"/>
            <a:ext cx="4644008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GSLB/SLB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+</a:t>
            </a:r>
            <a:r>
              <a:rPr lang="en-US" altLang="zh-TW" dirty="0" err="1" smtClean="0">
                <a:latin typeface="微軟正黑體" pitchFamily="34" charset="-120"/>
                <a:ea typeface="微軟正黑體" pitchFamily="34" charset="-120"/>
              </a:rPr>
              <a:t>DNSSec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強化服務高可用性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Font typeface="Arial" pitchFamily="34" charset="0"/>
              <a:buChar char="•"/>
            </a:pP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Nexus Guard DDoS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清洗服務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4572000" y="3933056"/>
            <a:ext cx="458450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每個區域都須要經過防火牆的政策控管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4572000" y="5373216"/>
            <a:ext cx="458450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每個區域都須要經過防火牆的政策控管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4572000" y="4365104"/>
            <a:ext cx="4572000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Font typeface="Arial" pitchFamily="34" charset="0"/>
              <a:buChar char="•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應用服務伺服器負載平衡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buFont typeface="Arial" pitchFamily="34" charset="0"/>
              <a:buChar char="•"/>
            </a:pP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網路線路規劃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07352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線路架構規劃</a:t>
            </a:r>
            <a:endParaRPr lang="zh-TW" alt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179513" y="1196753"/>
            <a:ext cx="5256584" cy="4104456"/>
            <a:chOff x="179512" y="1196752"/>
            <a:chExt cx="7347473" cy="4528969"/>
          </a:xfrm>
        </p:grpSpPr>
        <p:pic>
          <p:nvPicPr>
            <p:cNvPr id="4" name="圖片 3" descr="C:\Users\chikaichiu\Desktop\專案規劃資料\DR建置.vsd - Windows Internet Explorer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85" t="16001" r="21656" b="17961"/>
            <a:stretch/>
          </p:blipFill>
          <p:spPr>
            <a:xfrm>
              <a:off x="179512" y="1196752"/>
              <a:ext cx="7347473" cy="4528969"/>
            </a:xfrm>
            <a:prstGeom prst="rect">
              <a:avLst/>
            </a:prstGeom>
          </p:spPr>
        </p:pic>
        <p:sp>
          <p:nvSpPr>
            <p:cNvPr id="8" name="文字方塊 7"/>
            <p:cNvSpPr txBox="1"/>
            <p:nvPr/>
          </p:nvSpPr>
          <p:spPr>
            <a:xfrm>
              <a:off x="3491880" y="5013176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 smtClean="0">
                  <a:solidFill>
                    <a:srgbClr val="FF0000"/>
                  </a:solidFill>
                </a:rPr>
                <a:t>項次</a:t>
              </a:r>
              <a:r>
                <a:rPr lang="en-US" altLang="zh-TW" sz="1200" b="1" dirty="0" smtClean="0">
                  <a:solidFill>
                    <a:srgbClr val="FF0000"/>
                  </a:solidFill>
                </a:rPr>
                <a:t>1</a:t>
              </a:r>
              <a:endParaRPr lang="zh-TW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4427984" y="4796268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 smtClean="0">
                  <a:solidFill>
                    <a:srgbClr val="FF0000"/>
                  </a:solidFill>
                </a:rPr>
                <a:t>項次</a:t>
              </a:r>
              <a:r>
                <a:rPr lang="en-US" altLang="zh-TW" sz="1200" b="1" dirty="0">
                  <a:solidFill>
                    <a:srgbClr val="FF0000"/>
                  </a:solidFill>
                </a:rPr>
                <a:t>2</a:t>
              </a:r>
              <a:endParaRPr lang="zh-TW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3491880" y="3091904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 smtClean="0">
                  <a:solidFill>
                    <a:srgbClr val="FF0000"/>
                  </a:solidFill>
                </a:rPr>
                <a:t>項次</a:t>
              </a:r>
              <a:r>
                <a:rPr lang="en-US" altLang="zh-TW" sz="1200" b="1" dirty="0" smtClean="0">
                  <a:solidFill>
                    <a:srgbClr val="FF0000"/>
                  </a:solidFill>
                </a:rPr>
                <a:t>3</a:t>
              </a:r>
              <a:endParaRPr lang="zh-TW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2545772" y="1628800"/>
              <a:ext cx="11621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 smtClean="0">
                  <a:solidFill>
                    <a:srgbClr val="FF0000"/>
                  </a:solidFill>
                </a:rPr>
                <a:t>項次</a:t>
              </a:r>
              <a:r>
                <a:rPr lang="en-US" altLang="zh-TW" sz="1200" b="1" dirty="0" smtClean="0">
                  <a:solidFill>
                    <a:srgbClr val="FF0000"/>
                  </a:solidFill>
                </a:rPr>
                <a:t>4</a:t>
              </a:r>
              <a:r>
                <a:rPr lang="zh-TW" altLang="en-US" sz="1200" b="1" dirty="0" smtClean="0">
                  <a:solidFill>
                    <a:srgbClr val="FF0000"/>
                  </a:solidFill>
                </a:rPr>
                <a:t>、</a:t>
              </a:r>
              <a:r>
                <a:rPr lang="en-US" altLang="zh-TW" sz="1200" b="1" dirty="0" smtClean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5509432" y="1328735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 smtClean="0">
                  <a:solidFill>
                    <a:srgbClr val="FF0000"/>
                  </a:solidFill>
                </a:rPr>
                <a:t>項次</a:t>
              </a:r>
              <a:r>
                <a:rPr lang="en-US" altLang="zh-TW" sz="1200" b="1" dirty="0" smtClean="0">
                  <a:solidFill>
                    <a:srgbClr val="FF0000"/>
                  </a:solidFill>
                </a:rPr>
                <a:t>6</a:t>
              </a:r>
              <a:endParaRPr lang="zh-TW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4788024" y="3257245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 smtClean="0">
                  <a:solidFill>
                    <a:srgbClr val="FF0000"/>
                  </a:solidFill>
                </a:rPr>
                <a:t>項次</a:t>
              </a:r>
              <a:r>
                <a:rPr lang="en-US" altLang="zh-TW" sz="1200" b="1" dirty="0" smtClean="0">
                  <a:solidFill>
                    <a:srgbClr val="FF0000"/>
                  </a:solidFill>
                </a:rPr>
                <a:t>7</a:t>
              </a:r>
              <a:endParaRPr lang="zh-TW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5420120" y="1196753"/>
            <a:ext cx="3312367" cy="15246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現在公司經常遇到問題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後台開啟慢，查詢速度慢，甚至無法開啟</a:t>
            </a:r>
            <a:endParaRPr lang="en-US" altLang="zh-TW" dirty="0" smtClean="0"/>
          </a:p>
          <a:p>
            <a:r>
              <a:rPr lang="en-US" altLang="zh-TW" dirty="0" smtClean="0"/>
              <a:t>2.</a:t>
            </a:r>
            <a:r>
              <a:rPr lang="zh-TW" altLang="en-US" dirty="0" smtClean="0"/>
              <a:t>財務</a:t>
            </a:r>
            <a:r>
              <a:rPr lang="en-US" altLang="zh-TW" dirty="0" smtClean="0"/>
              <a:t>VPN</a:t>
            </a:r>
            <a:r>
              <a:rPr lang="zh-TW" altLang="en-US" dirty="0" smtClean="0"/>
              <a:t>連線慢，導致無法提供客戶最好服務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436097" y="2891276"/>
            <a:ext cx="3312367" cy="38500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此架構優勢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專線服務品質穩定，非共用網路，也方便問題釐清</a:t>
            </a:r>
            <a:endParaRPr lang="en-US" altLang="zh-TW" dirty="0" smtClean="0"/>
          </a:p>
          <a:p>
            <a:r>
              <a:rPr lang="en-US" altLang="zh-TW" dirty="0" smtClean="0"/>
              <a:t>2.</a:t>
            </a:r>
            <a:r>
              <a:rPr lang="en-US" altLang="zh-TW" dirty="0" smtClean="0">
                <a:solidFill>
                  <a:srgbClr val="FF0000"/>
                </a:solidFill>
              </a:rPr>
              <a:t>WEB</a:t>
            </a:r>
            <a:r>
              <a:rPr lang="zh-TW" altLang="en-US" b="1" dirty="0" smtClean="0">
                <a:solidFill>
                  <a:srgbClr val="FF0000"/>
                </a:solidFill>
              </a:rPr>
              <a:t>服務設定為菲律賓</a:t>
            </a:r>
            <a:r>
              <a:rPr lang="en-US" altLang="zh-TW" b="1" dirty="0" smtClean="0">
                <a:solidFill>
                  <a:srgbClr val="FF0000"/>
                </a:solidFill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</a:rPr>
              <a:t>，躲避中國公安查緝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en-US" altLang="zh-TW" dirty="0" smtClean="0"/>
              <a:t>3.</a:t>
            </a:r>
            <a:r>
              <a:rPr lang="zh-TW" altLang="en-US" dirty="0" smtClean="0"/>
              <a:t>機房建置在台灣，增加查緝困難</a:t>
            </a:r>
            <a:endParaRPr lang="en-US" altLang="zh-TW" dirty="0" smtClean="0"/>
          </a:p>
          <a:p>
            <a:r>
              <a:rPr lang="en-US" altLang="zh-TW" dirty="0" smtClean="0"/>
              <a:t>4.</a:t>
            </a:r>
            <a:r>
              <a:rPr lang="zh-TW" altLang="en-US" dirty="0" smtClean="0"/>
              <a:t>網路</a:t>
            </a:r>
            <a:r>
              <a:rPr lang="zh-TW" altLang="en-US" dirty="0"/>
              <a:t>串接起來，</a:t>
            </a:r>
            <a:r>
              <a:rPr lang="zh-TW" altLang="en-US" b="1" dirty="0">
                <a:solidFill>
                  <a:srgbClr val="FF0000"/>
                </a:solidFill>
              </a:rPr>
              <a:t>方便資訊安全管控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en-US" altLang="zh-TW" dirty="0" smtClean="0"/>
              <a:t>5</a:t>
            </a:r>
            <a:r>
              <a:rPr lang="en-US" altLang="zh-TW" dirty="0"/>
              <a:t>.</a:t>
            </a:r>
            <a:r>
              <a:rPr lang="zh-TW" altLang="en-US" dirty="0"/>
              <a:t>透過台灣業者出面租用，為安全更增加保護</a:t>
            </a:r>
            <a:endParaRPr lang="en-US" altLang="zh-TW" dirty="0" smtClean="0"/>
          </a:p>
          <a:p>
            <a:r>
              <a:rPr lang="en-US" altLang="zh-TW" dirty="0" smtClean="0"/>
              <a:t>6.</a:t>
            </a:r>
            <a:r>
              <a:rPr lang="zh-TW" altLang="en-US" b="1" dirty="0" smtClean="0">
                <a:solidFill>
                  <a:srgbClr val="FF0000"/>
                </a:solidFill>
              </a:rPr>
              <a:t>採用香港線路並且對中國路由最佳化</a:t>
            </a:r>
            <a:r>
              <a:rPr lang="zh-TW" altLang="en-US" dirty="0" smtClean="0"/>
              <a:t>，中國客戶能得到最好的服務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5375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線路價格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-20053" y="5626359"/>
            <a:ext cx="8208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 smtClean="0"/>
              <a:t>以上價格非最終價格，台灣詢價方式</a:t>
            </a:r>
            <a:endParaRPr lang="en-US" altLang="zh-TW" sz="1200" dirty="0"/>
          </a:p>
          <a:p>
            <a:r>
              <a:rPr lang="en-US" altLang="zh-TW" sz="1200" dirty="0" smtClean="0"/>
              <a:t>1.</a:t>
            </a:r>
            <a:r>
              <a:rPr lang="zh-TW" altLang="en-US" sz="1200" dirty="0" smtClean="0"/>
              <a:t>確認架構、硬體、規格後，請廠商報價</a:t>
            </a:r>
            <a:r>
              <a:rPr lang="en-US" altLang="zh-TW" sz="1200" dirty="0" smtClean="0"/>
              <a:t>(</a:t>
            </a:r>
            <a:r>
              <a:rPr lang="zh-TW" altLang="en-US" sz="1200" dirty="0" smtClean="0"/>
              <a:t>第一次通常是牌價</a:t>
            </a:r>
            <a:r>
              <a:rPr lang="en-US" altLang="zh-TW" sz="1200" dirty="0" smtClean="0"/>
              <a:t>)</a:t>
            </a:r>
          </a:p>
          <a:p>
            <a:r>
              <a:rPr lang="en-US" altLang="zh-TW" sz="1200" dirty="0" smtClean="0"/>
              <a:t>2.</a:t>
            </a:r>
            <a:r>
              <a:rPr lang="zh-TW" altLang="en-US" sz="1200" dirty="0" smtClean="0"/>
              <a:t>將價格發給三家廠商進行第二次報價</a:t>
            </a:r>
            <a:endParaRPr lang="en-US" altLang="zh-TW" sz="1200" dirty="0" smtClean="0"/>
          </a:p>
          <a:p>
            <a:r>
              <a:rPr lang="en-US" altLang="zh-TW" sz="1200" dirty="0" smtClean="0"/>
              <a:t>3.</a:t>
            </a:r>
            <a:r>
              <a:rPr lang="zh-TW" altLang="en-US" sz="1200" dirty="0" smtClean="0"/>
              <a:t>挑選價格最低、服務最好的廠商</a:t>
            </a:r>
            <a:endParaRPr lang="en-US" altLang="zh-TW" sz="1200" dirty="0" smtClean="0"/>
          </a:p>
          <a:p>
            <a:r>
              <a:rPr lang="en-US" altLang="zh-TW" sz="1200" dirty="0" smtClean="0"/>
              <a:t>4.</a:t>
            </a:r>
            <a:r>
              <a:rPr lang="zh-TW" altLang="en-US" sz="1200" dirty="0" smtClean="0"/>
              <a:t>進行第三次議價</a:t>
            </a:r>
            <a:endParaRPr lang="en-US" altLang="zh-TW" sz="1200" dirty="0" smtClean="0"/>
          </a:p>
          <a:p>
            <a:r>
              <a:rPr lang="en-US" altLang="zh-TW" sz="1200" dirty="0" smtClean="0"/>
              <a:t>5.</a:t>
            </a:r>
            <a:r>
              <a:rPr lang="zh-TW" altLang="en-US" sz="1200" dirty="0" smtClean="0"/>
              <a:t>最後成交價</a:t>
            </a:r>
            <a:endParaRPr lang="en-US" altLang="zh-TW" sz="1200" dirty="0" smtClean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7566"/>
            <a:ext cx="8368507" cy="465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032035"/>
      </p:ext>
    </p:extLst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19743</TotalTime>
  <Words>1217</Words>
  <Application>Microsoft Office PowerPoint</Application>
  <PresentationFormat>如螢幕大小 (4:3)</PresentationFormat>
  <Paragraphs>264</Paragraphs>
  <Slides>13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3" baseType="lpstr">
      <vt:lpstr>Arial Unicode MS</vt:lpstr>
      <vt:lpstr>宋体</vt:lpstr>
      <vt:lpstr>微軟正黑體</vt:lpstr>
      <vt:lpstr>新細明體</vt:lpstr>
      <vt:lpstr>標楷體</vt:lpstr>
      <vt:lpstr>Arial</vt:lpstr>
      <vt:lpstr>Calibri</vt:lpstr>
      <vt:lpstr>Times New Roman</vt:lpstr>
      <vt:lpstr>自訂設計</vt:lpstr>
      <vt:lpstr>工作表</vt:lpstr>
      <vt:lpstr>規劃與建議</vt:lpstr>
      <vt:lpstr>現況-主機清單(營運端)</vt:lpstr>
      <vt:lpstr>建議分階段作業降低成本 Phase I</vt:lpstr>
      <vt:lpstr>PowerPoint 簡報</vt:lpstr>
      <vt:lpstr>此作法的效益及優勢</vt:lpstr>
      <vt:lpstr>缺點</vt:lpstr>
      <vt:lpstr>建置費用</vt:lpstr>
      <vt:lpstr>網路架構環境建置 Phase II</vt:lpstr>
      <vt:lpstr>PowerPoint 簡報</vt:lpstr>
      <vt:lpstr>縱深防禦概念與本案關係</vt:lpstr>
      <vt:lpstr>網路線路規劃</vt:lpstr>
      <vt:lpstr>線路架構規劃</vt:lpstr>
      <vt:lpstr>線路價格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產品銷售建議案</dc:title>
  <dc:creator>Hilda Hu</dc:creator>
  <cp:lastModifiedBy>ㄚ凱</cp:lastModifiedBy>
  <cp:revision>1529</cp:revision>
  <cp:lastPrinted>2000-08-22T03:04:06Z</cp:lastPrinted>
  <dcterms:created xsi:type="dcterms:W3CDTF">1995-04-11T21:26:37Z</dcterms:created>
  <dcterms:modified xsi:type="dcterms:W3CDTF">2016-05-10T15:28:10Z</dcterms:modified>
</cp:coreProperties>
</file>